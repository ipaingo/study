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3"/>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12192000"/>
  <p:embeddedFontLst>
    <p:embeddedFont>
      <p:font typeface="Inter"/>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font" Target="fonts/Inter-bold.fntdata"/><Relationship Id="rId14" Type="http://schemas.openxmlformats.org/officeDocument/2006/relationships/font" Target="fonts/Inter-regular.fntdata"/><Relationship Id="rId17" Type="http://schemas.openxmlformats.org/officeDocument/2006/relationships/font" Target="fonts/Inter-boldItalic.fntdata"/><Relationship Id="rId16"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indent="-228600" lvl="1" marL="914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2pPr>
            <a:lvl3pPr indent="-228600" lvl="2" marL="1371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3pPr>
            <a:lvl4pPr indent="-228600" lvl="3" marL="1828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4pPr>
            <a:lvl5pPr indent="-228600" lvl="4" marL="22860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5pPr>
            <a:lvl6pPr indent="-228600" lvl="5" marL="2743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6pPr>
            <a:lvl7pPr indent="-228600" lvl="6" marL="3200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7pPr>
            <a:lvl8pPr indent="-228600" lvl="7" marL="3657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8pPr>
            <a:lvl9pPr indent="-228600" lvl="8" marL="4114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nter"/>
                <a:ea typeface="Inter"/>
                <a:cs typeface="Inter"/>
                <a:sym typeface="Inter"/>
              </a:rPr>
              <a:t>‹#›</a:t>
            </a:fld>
            <a:endParaRPr b="0" i="0" sz="1200" u="none" cap="none" strike="noStrike">
              <a:solidFill>
                <a:schemeClr val="dk1"/>
              </a:solidFill>
              <a:latin typeface="Inter"/>
              <a:ea typeface="Inter"/>
              <a:cs typeface="Inter"/>
              <a:sym typeface="Inte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h5e9491908ae5f0a7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h5e9491908ae5f0a7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Альтернативы сравниваем по четырем критериям, которые взяты из бизнес-стратегии на слайде 1: (1) вклад в цель «остаться №1 и зарабатывать сверх комиссии», (2) устойчивость к главным рискам: атаки на склады, закон о платформах, санкции, (3) есть ли у WB преимущество, которого нет у Ozon и Яндекса, (4) успеет ли ставка окупиться за два года при условии, что ресурсов хватает только на одну крупную ставку. Оценка от 1 до 3 по каждому критерию.</a:t>
            </a:r>
            <a:br>
              <a:rPr lang="en-US"/>
            </a:br>
            <a:br>
              <a:rPr lang="en-US"/>
            </a:br>
            <a:r>
              <a:rPr lang="en-US"/>
              <a:t>Доставка за час (5/12). Спрос на скорость реальный, и WB уже пилотирует собственный «Экспресс» в Москве. Но масштаб требует дарксторов в каждом городе, то есть еще больше физической инфраструктуры как раз тогда, когда склады атакуют дроны. В этом сегменте давно работают Яндекс Лавка и Самокат, так что мы бы догоняли, а не создавали отрыв. Что делаем вместо этого: пилот «Экспресса» остается в Москве, но не масштабируется.</a:t>
            </a:r>
            <a:br>
              <a:rPr lang="en-US"/>
            </a:br>
            <a:br>
              <a:rPr lang="en-US"/>
            </a:br>
            <a:r>
              <a:rPr lang="en-US"/>
              <a:t>Социальная коммерция (7/12). По рискам она лучшая: не зависит ни от складов, ни от банка. Но аудитория Wibes пока крошечная (около 170 тыс. человек в день весной 2025 года), а внимание пользователей держат VK, Telegram и видеосервисы. Нужны годы и бюджеты на авторов, отдачи за 2 года не будет. Что делаем вместо этого: видео и отзывы из Wibes становятся данными для ИИ-консультанта.</a:t>
            </a:r>
            <a:br>
              <a:rPr lang="en-US"/>
            </a:br>
            <a:br>
              <a:rPr lang="en-US"/>
            </a:br>
            <a:r>
              <a:rPr lang="en-US"/>
              <a:t>Финтех (7/12). Самый маржинальный доход, и пример Ozon это подтверждает: 195,2 млрд ₽ выручки финтеха (+120%) и 59,9 млрд ₽ прибыли до налогов за 2025 год. Но WB Банк в 20-м пакете санкций ЕС (23.04.2026), а с 1 октября 2026 года по 289-ФЗ площадка обязана показывать цену без скидки за карту своего банка, и главный рычаг привлечения клиентов слабеет. Ozon здесь опережает на годы. Что делаем вместо этого: рассрочка WB Банка встраивается в ответ консультанта как функция, а не как отдельная ставка.</a:t>
            </a:r>
            <a:br>
              <a:rPr lang="en-US"/>
            </a:br>
            <a:br>
              <a:rPr lang="en-US"/>
            </a:br>
            <a:r>
              <a:rPr lang="en-US"/>
              <a:t>Экспансия в СНГ (7/12). WB уже работает в странах СНГ и служит каналом для местных производителей (продажи узбекских товаров на WB за 2025 год больше $1,4 млрд). Но рынки покупателей малы: весь e-commerce Казахстана за первое полугодие 2025 года около 1,7 трлн тенге. Там сильны Kaspi и Uzum, а новые склады и ПВЗ требуют капитала, который сейчас нужен на восстановление складов в России. Что делаем вместо этого: органический рост через продавцов, без новых складов.</a:t>
            </a:r>
            <a:br>
              <a:rPr lang="en-US"/>
            </a:br>
            <a:br>
              <a:rPr lang="en-US"/>
            </a:br>
            <a:r>
              <a:rPr lang="en-US"/>
              <a:t>ИИ-консультант (10/12) выигрывает, потому что опирается на актив, которого нет у конкурентов: данные о поведении покупателей и собственную модель. Его нельзя унести вместе с карточкой и нельзя потерять при атаке на склад. Слабые места мы не скрываем: GPU и ML-специалисты дороги и дефицитны, поэтому по рискам и срокам ставка получает 2, а не 3. Отсюда и шаг «сначала пилот в трех категориях».</a:t>
            </a:r>
            <a:endParaRPr/>
          </a:p>
        </p:txBody>
      </p:sp>
      <p:sp>
        <p:nvSpPr>
          <p:cNvPr id="66" name="Google Shape;66;h5e9491908ae5f0a7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5e9491908ae5f0a7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h5e9491908ae5f0a7_0_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Любая ставка означает отказ от чего-то. Ниже четыре отказа, на которые мы идем сознательно.</a:t>
            </a:r>
            <a:br>
              <a:rPr lang="en-US"/>
            </a:br>
            <a:br>
              <a:rPr lang="en-US"/>
            </a:br>
            <a:r>
              <a:rPr lang="en-US"/>
              <a:t>1. Честный совет против рекламы в ответе. Выигрываем доверие: если покупатель считает, что консультант советует, а не продает место в выдаче, он возвращается с новыми вопросами, и конверсия растет. Жертвуем деньгами: реклама сейчас главный доход маркетплейсов сверх комиссии (по оценке Data Insight, у WB, Ozon и Яндекс Маркета вместе 500–600 млрд ₽ за 2025 год), а ответ ассистента самое ценное рекламное место. Последствие: рекламная выручка в 2027 году растет медленнее, чем могла бы. Управляем так: спонсорские позиции появляются только после пилота, всегда с пометкой «реклама» и не больше одной из пяти позиций в ответе.</a:t>
            </a:r>
            <a:br>
              <a:rPr lang="en-US"/>
            </a:br>
            <a:br>
              <a:rPr lang="en-US"/>
            </a:br>
            <a:r>
              <a:rPr lang="en-US"/>
              <a:t>2. Чистый GMV против валового. Выигрываем экономику заказа: подсказка по размеру убирает заказы «возьму три размера, оставлю один», меньше пустой логистики и меньше нагрузки на ПВЗ и склады, которых стало меньше после атак. Жертвуем валовым GMV: в 2025 году одежду на WB выкупали примерно на 42% в штуках (ECOMHUB), и часть «примерочных» заказов исчезнет. Валовой GMV это главная публичная цифра RWB (6,1 трлн ₽ за 2025 год), ее замедление заметят. Управляем так: цели команды и внутренние отчеты в GMV без возвратов на покупателя (та же метрика, что в пилоте на слайде 2), инвесторам объясняем смену фокуса заранее.</a:t>
            </a:r>
            <a:br>
              <a:rPr lang="en-US"/>
            </a:br>
            <a:br>
              <a:rPr lang="en-US"/>
            </a:br>
            <a:r>
              <a:rPr lang="en-US"/>
              <a:t>3. Ум продукта против скорости доставки. Выигрываем защищенность: деньги и команды идут в данные и модели, которые нельзя уничтожить атакой на склад. Жертвуем скоростью: срочные покупки остаются у Яндекс Лавки, Самоката и Ozon, а свой «Экспресс» WB (пилот с февраля 2026 года, 1,2 тыс. товаров за час в Москве) не масштабируем. Последствие: часть частых мелких заказов уходит конкурентам. Управляем так: консультант честно называет срок и предлагает ПВЗ у дома на завтра, чтобы покупатель планировал покупку заранее.</a:t>
            </a:r>
            <a:br>
              <a:rPr lang="en-US"/>
            </a:br>
            <a:br>
              <a:rPr lang="en-US"/>
            </a:br>
            <a:r>
              <a:rPr lang="en-US"/>
              <a:t>4. Точная подборка против длинного хвоста продавцов. Выигрываем скорость решения покупателя: вместо тысяч карточек он видит 3–5 подходящих вариантов. Жертвуем нейтральностью витрины: мелкие продавцы получают меньше показов, а логика ассистента выглядит непрозрачной. С 1 октября 2026 года действует 289-ФЗ, Минэк обсуждает передачу карточки продавцу, и недовольство продавцов может превратиться в претензии регулятора. Управляем так: публикуем правила подборки, даем продавцу отчет «почему товар не попал в ответ», в подборку попадают по отзывам и выкупу, а не по рекламному бюджету.</a:t>
            </a:r>
            <a:endParaRPr/>
          </a:p>
        </p:txBody>
      </p:sp>
      <p:sp>
        <p:nvSpPr>
          <p:cNvPr id="129" name="Google Shape;129;h5e9491908ae5f0a7_0_1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h6a75c99fcd534b2f_3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h6a75c99fcd534b2f_3_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Роадмап собран из обещаний со слайдов 2–4. Порядок держат три правила: сначала польза в пилоте, мощности раньше аудитории, деньги только после развилки июля. Условия развилок разобраны на слайде 6, действия при сбое на слайде 7. Если пилот продлевается до октября 2027 года, остальные развилки сдвигаются на квартал. Пилот стартует не с нуля: ассистент WB с июня 2026 года проходит расширенное тестирование в поисковой выдаче. Тянуть нельзя: Ozon запустил пилот своего ассистента в августе 2026 года.</a:t>
            </a:r>
            <a:br>
              <a:rPr lang="en-US"/>
            </a:br>
            <a:br>
              <a:rPr lang="en-US"/>
            </a:br>
            <a:r>
              <a:rPr lang="en-US"/>
              <a:t>Must have. (1) Консультант в поиске: пилот идет без рекламы, аудитория растет вслед за мощностями. Обычная выдача остается в один тап: статья 10 закона 289-ФЗ запрещает игнорировать сортировку, которую выбрал покупатель. (2) Память и точный совет: согласие на память оформляем отдельным документом, так с 1 сентября 2025 года требует закон о персональных данных. За ребенка согласие дает родитель. Обувь не входит в три пилотные категории, поэтому приходит с раскаткой. (3) Правила подборки публикуем до пилота: по статье 5 закона 289-ФЗ продавец должен знать принципы ранжирования и причины смены позиции карточки. (4) Мощности и цена ответа: GPU заказываем в 4 квартале 2026 года, потому что сроки поставки NVIDIA H200 доходят до 36–52 недель. На распродаже 2027 года действует лимит диалогов: при нехватке мощностей покупатель получает обычный поиск. (5) Спонсорские места дают доход сверх комиссии из бизнес-цели слайда 1, поэтому они в Must have. Тест идет после развилки июля, с пометкой «реклама», не больше одной позиции из пяти и на равных условиях для продавцов (статья 10).</a:t>
            </a:r>
            <a:br>
              <a:rPr lang="en-US"/>
            </a:br>
            <a:br>
              <a:rPr lang="en-US"/>
            </a:br>
            <a:r>
              <a:rPr lang="en-US"/>
              <a:t>Should have. (6) Рассрочка в ответе: покупки в рассрочку WB запустил еще в 2021 году, в том числе через банки-партнеры. Это не скидка за карту, и новой банковской программы мы не строим. Финтех остается функцией ответа, а не отдельной ставкой (слайд 3).</a:t>
            </a:r>
            <a:br>
              <a:rPr lang="en-US"/>
            </a:br>
            <a:br>
              <a:rPr lang="en-US"/>
            </a:br>
            <a:r>
              <a:rPr lang="en-US"/>
              <a:t>Won't do, откладываем до развилки декабря 2028 года. (7) Новые дарксторы и склады: «Экспресс» остается пилотом в Москве, в СНГ растем через местных продавцов. (8) Гонка Wibes за аудиторией: без бюджета на авторов и раскрутку, видео и отзывы работают как данные для точного совета. Это три отвергнутые альтернативы слайда 3, четвертая (финтех) сведена до функции в ответе.</a:t>
            </a:r>
            <a:endParaRPr/>
          </a:p>
        </p:txBody>
      </p:sp>
      <p:sp>
        <p:nvSpPr>
          <p:cNvPr id="168" name="Google Shape;168;h6a75c99fcd534b2f_3_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6a75c99fcd534b2f_3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h6a75c99fcd534b2f_3_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Условия взяты из слабых мест, которые мы сами назвали: доверие покупателя (трейд-офф 1), цена GPU и команды (слайд 3), претензии продавцов и закон о платформах (трейд-офф 4). По ним решаются развилки роадмапа: июль 2027 года по условию 01, январь 2028 года по условиям 02 и 03, декабрь 2028 года по всем трем. Действия при сбое разобраны на слайде 7.</a:t>
            </a:r>
            <a:br>
              <a:rPr lang="en-US"/>
            </a:br>
            <a:br>
              <a:rPr lang="en-US"/>
            </a:br>
            <a:r>
              <a:rPr lang="en-US"/>
              <a:t>01. Покупатель доверяет совету. Сигналы сравниваем с альтернативой: к консультанту или к поиску возвращается попробовавший, и как тест отличается от контроля. Ориентир по возвратам: у Zalando подсказка размера сократила возвраты из-за размера на 10%. Порог июля двойной: GMV без возвратов на покупателя минимум на 2% выше контроля и окупаемость диалога не ниже 1. Одной статистической значимости мало: на 5–10% аудитории WB значимым будет почти любой эффект. Ориентир для 2%: глава Amazon ожидает от ассистента Rufus больше 10 млрд $ дополнительных продаж в год, это около 1,7% продаж торговых сегментов Amazon за 2025 год.</a:t>
            </a:r>
            <a:br>
              <a:rPr lang="en-US"/>
            </a:br>
            <a:br>
              <a:rPr lang="en-US"/>
            </a:br>
            <a:r>
              <a:rPr lang="en-US"/>
              <a:t>02. Ответ окупается. Окупаемость диалога считаем осторожно с обеих сторон. В числителе только добавленная маржа от покупок, без дохода от спонсорских мест, иначе тест рекламы завысит показатель перед январской развилкой. В знаменателе полная стоимость диалогов вместе с амортизацией GPU. Своих GPU в пилоте еще нет: они заказаны в 4 квартале 2026 года и вводятся к ноябрьской распродаже 2027 года. Поэтому GPU-час и в июле, и в январе считаем по цене заказанных GPU с амортизацией. Формула одна, пороги 1 и 2 сравнивают одну и ту же величину.</a:t>
            </a:r>
            <a:br>
              <a:rPr lang="en-US"/>
            </a:br>
            <a:br>
              <a:rPr lang="en-US"/>
            </a:br>
            <a:r>
              <a:rPr lang="en-US"/>
              <a:t>03. Продавцы и закон принимают подборку. По статье 5 закона 289-ФЗ в договоре должно быть указано, как продавец получает сведения о принципах ранжирования и причинах смены позиции карточки. Отчет «почему товар не в ответе» открываем всем продавцам во втором полугодии 2027 года.</a:t>
            </a:r>
            <a:br>
              <a:rPr lang="en-US"/>
            </a:br>
            <a:br>
              <a:rPr lang="en-US"/>
            </a:br>
            <a:r>
              <a:rPr lang="en-US"/>
              <a:t>Риски ведем отдельно от сигналов: поставку GPU по графику и поправки к закону о платформенной экономике. Проект поправок вынесен на обсуждение в сентябре 2026 года, вступление в силу планируется с 1 марта 2027 года, то есть в середине пилота. Пороги на слайде рабочие: окончательные фиксируем после первого месяца пилота, когда известны базовые значения.</a:t>
            </a:r>
            <a:endParaRPr/>
          </a:p>
        </p:txBody>
      </p:sp>
      <p:sp>
        <p:nvSpPr>
          <p:cNvPr id="228" name="Google Shape;228;h6a75c99fcd534b2f_3_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h6a75c99fcd534b2f_3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h6a75c99fcd534b2f_3_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Что главнее. При сбое сначала применяем правку из строки условия. Ставку закрываем только в двух случаях: пилот не дал роста по условию 01, потому что без доверия покупателя остальное теряет смысл, или правка не вернула условие в норму к декабрю 2028 года. Закрыть ставку значит перестать вкладывать в нее как в единственную стратегическую: консультант остается в том виде, в котором окупается, а ресурсы уходят на пересмотр Won't do.</a:t>
            </a:r>
            <a:br>
              <a:rPr lang="en-US"/>
            </a:br>
            <a:br>
              <a:rPr lang="en-US"/>
            </a:br>
            <a:r>
              <a:rPr lang="en-US"/>
              <a:t>01. Если рост есть только в одной категории или окупаемость диалога ниже 1, пилот продлеваем до октября 2027 года с тем же порогом. Если роста нет в июле или его не хватило в октябре, ставку закрываем. Если в октябре рост есть, а окупаемость снова ниже 1, это два квартала подряд, и срабатывает правка условия 02: сужаем консультанта до запросов-задач. Рекламу убираем, если в тесте она снижает повторные диалоги.</a:t>
            </a:r>
            <a:br>
              <a:rPr lang="en-US"/>
            </a:br>
            <a:br>
              <a:rPr lang="en-US"/>
            </a:br>
            <a:r>
              <a:rPr lang="en-US"/>
              <a:t>02. При окупаемости от 1 до 2 диалог себя окупает, но запаса мало, чтобы отдавать ему строку поиска, поэтому консультант остается кнопкой. Запросами-задачами называем те, где покупатель описывает задачу, а не товар: там совет добавляет к покупке больше всего.</a:t>
            </a:r>
            <a:br>
              <a:rPr lang="en-US"/>
            </a:br>
            <a:br>
              <a:rPr lang="en-US"/>
            </a:br>
            <a:r>
              <a:rPr lang="en-US"/>
              <a:t>Заказ GPU идет до результатов пилота: по данным аналитиков, сроки поставки ускорителей NVIDIA H200 доходят до 36–52 недель, иначе к ноябрю 2027 года не успеть. Это не противоречит слайду 3. Пилот ограничивает необратимые траты: команду и разработку расширяем только после развилки. GPU можно переиспользовать: WB объявлял о планах ЦОД под ИИ и без этой ставки, а ИИ-инструменты на базе собственных моделей BerryLM, по оценке компании, уже дают больше 1 млрд ₽ дополнительной выручки в год.</a:t>
            </a:r>
            <a:br>
              <a:rPr lang="en-US"/>
            </a:br>
            <a:br>
              <a:rPr lang="en-US"/>
            </a:br>
            <a:r>
              <a:rPr lang="en-US"/>
              <a:t>03. Полная выдача рядом с ответом закрывает требование статьи 10 закона 289-ФЗ не игнорировать сортировку, которую выбрал покупатель. При предписании рекламу ставим на паузу, а не отключаем навсегда: правим правила показа и возвращаем ее. Окупаемость считается без дохода от рекламы, поэтому ставка обязана окупаться и без спонсорских мест. Но без них она не дает дохода сверх комиссии, то есть не выполняет бизнес-цель слайда 1. Если вернуть рекламу к декабрю 2028 года не удалось, это случай «правка не помогла».</a:t>
            </a:r>
            <a:endParaRPr/>
          </a:p>
        </p:txBody>
      </p:sp>
      <p:sp>
        <p:nvSpPr>
          <p:cNvPr id="265" name="Google Shape;265;h6a75c99fcd534b2f_3_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30457aa6ac715e7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h30457aa6ac715e7f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Условия взяты из слабых мест, которые мы сами назвали: доверие покупателя (трейд-офф 1), цена GPU и команды (слайд 3), претензии продавцов и закон о платформах (трейд-офф 4). По ним решаются развилки роадмапа: июль 2027 года по условию 01, январь 2028 года по условиям 02 и 03, декабрь 2028 года по всем трем. Действия при сбое разобраны на слайде 7.</a:t>
            </a:r>
            <a:br>
              <a:rPr lang="en-US"/>
            </a:br>
            <a:br>
              <a:rPr lang="en-US"/>
            </a:br>
            <a:r>
              <a:rPr lang="en-US"/>
              <a:t>01. Покупатель доверяет совету. Сигналы сравниваем с альтернативой: к консультанту или к поиску возвращается попробовавший, и как тест отличается от контроля. Ориентир по возвратам: у Zalando подсказка размера сократила возвраты из-за размера на 10%. Порог июля двойной: GMV без возвратов на покупателя минимум на 2% выше контроля и окупаемость диалога не ниже 1. Одной статистической значимости мало: на 5–10% аудитории WB значимым будет почти любой эффект. Ориентир для 2%: глава Amazon ожидает от ассистента Rufus больше 10 млрд $ дополнительных продаж в год, это около 1,7% продаж торговых сегментов Amazon за 2025 год.</a:t>
            </a:r>
            <a:br>
              <a:rPr lang="en-US"/>
            </a:br>
            <a:br>
              <a:rPr lang="en-US"/>
            </a:br>
            <a:r>
              <a:rPr lang="en-US"/>
              <a:t>02. Ответ окупается. Окупаемость диалога считаем осторожно с обеих сторон. В числителе только добавленная маржа от покупок, без дохода от спонсорских мест, иначе тест рекламы завысит показатель перед январской развилкой. В знаменателе полная стоимость диалогов вместе с амортизацией GPU. Своих GPU в пилоте еще нет: они заказаны в 4 квартале 2026 года и вводятся к ноябрьской распродаже 2027 года. Поэтому GPU-час и в июле, и в январе считаем по цене заказанных GPU с амортизацией. Формула одна, пороги 1 и 2 сравнивают одну и ту же величину.</a:t>
            </a:r>
            <a:br>
              <a:rPr lang="en-US"/>
            </a:br>
            <a:br>
              <a:rPr lang="en-US"/>
            </a:br>
            <a:r>
              <a:rPr lang="en-US"/>
              <a:t>03. Продавцы и закон принимают подборку. По статье 5 закона 289-ФЗ в договоре должно быть указано, как продавец получает сведения о принципах ранжирования и причинах смены позиции карточки. Отчет «почему товар не в ответе» открываем всем продавцам во втором полугодии 2027 года.</a:t>
            </a:r>
            <a:br>
              <a:rPr lang="en-US"/>
            </a:br>
            <a:br>
              <a:rPr lang="en-US"/>
            </a:br>
            <a:r>
              <a:rPr lang="en-US"/>
              <a:t>Риски ведем отдельно от сигналов: поставку GPU по графику и поправки к закону о платформенной экономике. Проект поправок вынесен на обсуждение в сентябре 2026 года, вступление в силу планируется с 1 марта 2027 года, то есть в середине пилота. Пороги на слайде рабочие: окончательные фиксируем после первого месяца пилота, когда известны базовые значения.</a:t>
            </a:r>
            <a:endParaRPr/>
          </a:p>
        </p:txBody>
      </p:sp>
      <p:sp>
        <p:nvSpPr>
          <p:cNvPr id="306" name="Google Shape;306;h30457aa6ac715e7f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7F4F9"/>
        </a:solidFill>
      </p:bgPr>
    </p:bg>
    <p:spTree>
      <p:nvGrpSpPr>
        <p:cNvPr id="12" name="Shape 12"/>
        <p:cNvGrpSpPr/>
        <p:nvPr/>
      </p:nvGrpSpPr>
      <p:grpSpPr>
        <a:xfrm>
          <a:off x="0" y="0"/>
          <a:ext cx="0" cy="0"/>
          <a:chOff x="0" y="0"/>
          <a:chExt cx="0" cy="0"/>
        </a:xfrm>
      </p:grpSpPr>
      <p:sp>
        <p:nvSpPr>
          <p:cNvPr id="13" name="Google Shape;13;p2"/>
          <p:cNvSpPr txBox="1"/>
          <p:nvPr>
            <p:ph type="title"/>
          </p:nvPr>
        </p:nvSpPr>
        <p:spPr>
          <a:xfrm>
            <a:off x="711200" y="797560"/>
            <a:ext cx="10769600" cy="71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41036"/>
              </a:buClr>
              <a:buSzPts val="2500"/>
              <a:buFont typeface="Inter"/>
              <a:buNone/>
              <a:defRPr sz="2500">
                <a:solidFill>
                  <a:srgbClr val="241036"/>
                </a:solidFill>
                <a:latin typeface="Inter"/>
                <a:ea typeface="Inter"/>
                <a:cs typeface="Inter"/>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711200" y="1813560"/>
            <a:ext cx="10668000" cy="423164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3D2A4F"/>
              </a:buClr>
              <a:buSzPts val="1600"/>
              <a:buNone/>
              <a:defRPr sz="1600">
                <a:solidFill>
                  <a:srgbClr val="3D2A4F"/>
                </a:solidFill>
                <a:latin typeface="Inter"/>
                <a:ea typeface="Inter"/>
                <a:cs typeface="Inter"/>
                <a:sym typeface="Inte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7F4F9"/>
        </a:solidFill>
      </p:bgPr>
    </p:bg>
    <p:spTree>
      <p:nvGrpSpPr>
        <p:cNvPr id="19" name="Shape 19"/>
        <p:cNvGrpSpPr/>
        <p:nvPr/>
      </p:nvGrpSpPr>
      <p:grpSpPr>
        <a:xfrm>
          <a:off x="0" y="0"/>
          <a:ext cx="0" cy="0"/>
          <a:chOff x="0" y="0"/>
          <a:chExt cx="0" cy="0"/>
        </a:xfrm>
      </p:grpSpPr>
      <p:sp>
        <p:nvSpPr>
          <p:cNvPr id="20" name="Google Shape;20;p5"/>
          <p:cNvSpPr txBox="1"/>
          <p:nvPr>
            <p:ph type="title"/>
          </p:nvPr>
        </p:nvSpPr>
        <p:spPr>
          <a:xfrm>
            <a:off x="711200" y="797560"/>
            <a:ext cx="10769700" cy="7113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41036"/>
              </a:buClr>
              <a:buSzPts val="2500"/>
              <a:buFont typeface="Inter"/>
              <a:buNone/>
              <a:defRPr sz="2500">
                <a:solidFill>
                  <a:srgbClr val="241036"/>
                </a:solidFill>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
          <p:cNvSpPr txBox="1"/>
          <p:nvPr>
            <p:ph idx="1" type="body"/>
          </p:nvPr>
        </p:nvSpPr>
        <p:spPr>
          <a:xfrm>
            <a:off x="711200" y="1813560"/>
            <a:ext cx="10668000" cy="42315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3D2A4F"/>
              </a:buClr>
              <a:buSzPts val="1600"/>
              <a:buNone/>
              <a:defRPr sz="1600">
                <a:solidFill>
                  <a:srgbClr val="3D2A4F"/>
                </a:solidFill>
                <a:latin typeface="Inter"/>
                <a:ea typeface="Inter"/>
                <a:cs typeface="Inter"/>
                <a:sym typeface="Inte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2" name="Shape 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11200" y="797560"/>
            <a:ext cx="10769600" cy="7112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241036"/>
              </a:buClr>
              <a:buSzPts val="2500"/>
              <a:buFont typeface="Inter"/>
              <a:buNone/>
              <a:defRPr b="0" i="0" sz="2500" u="none" cap="none" strike="noStrike">
                <a:solidFill>
                  <a:srgbClr val="241036"/>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711200" y="1813560"/>
            <a:ext cx="10668000" cy="423164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3D2A4F"/>
              </a:buClr>
              <a:buSzPts val="1600"/>
              <a:buFont typeface="Arial"/>
              <a:buNone/>
              <a:defRPr b="0" i="0" sz="1600" u="none" cap="none" strike="noStrike">
                <a:solidFill>
                  <a:srgbClr val="3D2A4F"/>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16" name="Shape 16"/>
        <p:cNvGrpSpPr/>
        <p:nvPr/>
      </p:nvGrpSpPr>
      <p:grpSpPr>
        <a:xfrm>
          <a:off x="0" y="0"/>
          <a:ext cx="0" cy="0"/>
          <a:chOff x="0" y="0"/>
          <a:chExt cx="0" cy="0"/>
        </a:xfrm>
      </p:grpSpPr>
      <p:sp>
        <p:nvSpPr>
          <p:cNvPr id="17" name="Google Shape;17;p4"/>
          <p:cNvSpPr txBox="1"/>
          <p:nvPr>
            <p:ph type="title"/>
          </p:nvPr>
        </p:nvSpPr>
        <p:spPr>
          <a:xfrm>
            <a:off x="711200" y="797560"/>
            <a:ext cx="10769700" cy="7113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241036"/>
              </a:buClr>
              <a:buSzPts val="2500"/>
              <a:buFont typeface="Inter"/>
              <a:buNone/>
              <a:defRPr b="0" i="0" spc="0" sz="2500" u="none" cap="none" strike="noStrike">
                <a:solidFill>
                  <a:srgbClr val="241036"/>
                </a:solidFill>
                <a:latin typeface="Inter"/>
                <a:ea typeface="Inter"/>
                <a:cs typeface="Inter"/>
                <a:sym typeface="Inter"/>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8" name="Google Shape;18;p4"/>
          <p:cNvSpPr txBox="1"/>
          <p:nvPr>
            <p:ph idx="1" type="body"/>
          </p:nvPr>
        </p:nvSpPr>
        <p:spPr>
          <a:xfrm>
            <a:off x="711200" y="1813560"/>
            <a:ext cx="10668000" cy="423150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3D2A4F"/>
              </a:buClr>
              <a:buSzPts val="1600"/>
              <a:buFont typeface="Arial"/>
              <a:buNone/>
              <a:defRPr b="0" i="0" spc="0" sz="1600" u="none" cap="none" strike="noStrike">
                <a:solidFill>
                  <a:srgbClr val="3D2A4F"/>
                </a:solidFill>
                <a:latin typeface="Inter"/>
                <a:ea typeface="Inter"/>
                <a:cs typeface="Inter"/>
                <a:sym typeface="Inter"/>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Inter"/>
                <a:ea typeface="Inter"/>
                <a:cs typeface="Inter"/>
                <a:sym typeface="Inter"/>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Inter"/>
                <a:ea typeface="Inter"/>
                <a:cs typeface="Inter"/>
                <a:sym typeface="Inter"/>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50" r:id="rId1"/>
    <p:sldLayoutId id="214748365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retail.ru/news/oborot-rwb-v-2025-godu-prevysil-6-1-trln-rub-1-aprelya-2026-276206/" TargetMode="External"/><Relationship Id="rId4" Type="http://schemas.openxmlformats.org/officeDocument/2006/relationships/hyperlink" Target="https://selsup.ru/blog/itogi-e-commerce-2025-rynok-prevysil-13-trln-rublej-no-selleram-predstoit-adaptirovatsya-k-novoj-realnosti/" TargetMode="External"/><Relationship Id="rId9" Type="http://schemas.openxmlformats.org/officeDocument/2006/relationships/hyperlink" Target="https://expert.ru/news/es-vvel-sanktsii-protiv-vayldberriz-banka-i-pochta-banka" TargetMode="External"/><Relationship Id="rId5" Type="http://schemas.openxmlformats.org/officeDocument/2006/relationships/hyperlink" Target="https://uniseller.io/blog/top-100-ecom-2025-lidery-i-autsajdery/" TargetMode="External"/><Relationship Id="rId6" Type="http://schemas.openxmlformats.org/officeDocument/2006/relationships/hyperlink" Target="https://selsup.ru/blog/wildberries-v-2025-godu-oborot-6-1-trln-rublej-chistaya-pribyl-175-mlrd-i-investitsii-bolee-310-mlrd/" TargetMode="External"/><Relationship Id="rId7" Type="http://schemas.openxmlformats.org/officeDocument/2006/relationships/hyperlink" Target="https://profile.ru/news/society/ushherb-ot-ataki-bpla-na-sklady-wildberries-mozhet-dostich-50-mlrd-rublej-1882341/amp/" TargetMode="External"/><Relationship Id="rId8" Type="http://schemas.openxmlformats.org/officeDocument/2006/relationships/hyperlink" Target="https://sberbusiness.live/news/selleram-mogut-razreshit-perenosit-kartochki-tovarov-mezhdu-marketpleisami"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3dnews.ru/1144134/iimodel-wildberries-voshla-v-top3-russkoyazichnogo-benchmarka-mera" TargetMode="External"/><Relationship Id="rId4" Type="http://schemas.openxmlformats.org/officeDocument/2006/relationships/hyperlink" Target="https://selsup.ru/blog/itogi-e-commerce-2025-rynok-prevysil-13-trln-rublej-no-selleram-predstoit-adaptirovatsya-k-novoj-realnosti/" TargetMode="External"/><Relationship Id="rId10" Type="http://schemas.openxmlformats.org/officeDocument/2006/relationships/hyperlink" Target="https://incrussia.ru/news/blogery-smogut-zarabatyvat-po-100-rub-za-kazhdyuyu-tysyachu-prosmotrov/" TargetMode="External"/><Relationship Id="rId9" Type="http://schemas.openxmlformats.org/officeDocument/2006/relationships/hyperlink" Target="https://hi-tech.mail.ru/news/148960-na-wildberries-poyavitsya-ii-assistent-dlya-poiska-tovarov/" TargetMode="External"/><Relationship Id="rId5" Type="http://schemas.openxmlformats.org/officeDocument/2006/relationships/hyperlink" Target="https://finance.mail.ru/article/marketplejsyi-dozreli-do-zamedleniya-69206592/" TargetMode="External"/><Relationship Id="rId6" Type="http://schemas.openxmlformats.org/officeDocument/2006/relationships/hyperlink" Target="https://sberbusiness.live/news/selleram-mogut-razreshit-perenosit-kartochki-tovarov-mezhdu-marketpleisami" TargetMode="External"/><Relationship Id="rId7" Type="http://schemas.openxmlformats.org/officeDocument/2006/relationships/hyperlink" Target="https://profile.ru/news/society/ushherb-ot-ataki-bpla-na-sklady-wildberries-mozhet-dostich-50-mlrd-rublej-1882341/amp/" TargetMode="External"/><Relationship Id="rId8" Type="http://schemas.openxmlformats.org/officeDocument/2006/relationships/hyperlink" Target="https://uniseller.io/blog/tema/ekspress-dostavk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cnews.ru/news/line/2026-02-11_wildberries_zapuskaet_sobstvennuyu" TargetMode="External"/><Relationship Id="rId4" Type="http://schemas.openxmlformats.org/officeDocument/2006/relationships/hyperlink" Target="https://ria.ru/20250329/wibes-2008136381.html" TargetMode="External"/><Relationship Id="rId10" Type="http://schemas.openxmlformats.org/officeDocument/2006/relationships/hyperlink" Target="https://www.lada.kz/kazakhstan-news/156126-kazakhstanskii-biznes-gotovit-zamenu-wildberries-prodavtsy-nashli-novyi-rynok.html" TargetMode="External"/><Relationship Id="rId9" Type="http://schemas.openxmlformats.org/officeDocument/2006/relationships/hyperlink" Target="https://www.pwc.com/kz/ru/publications/e-commerce-analysis/e-commerce-6m2025.html" TargetMode="External"/><Relationship Id="rId5" Type="http://schemas.openxmlformats.org/officeDocument/2006/relationships/hyperlink" Target="https://bosfera.ru/press-release/vyruchka-finteh-segmenta-ozon-za-2025-god-uvelichilas-na-120" TargetMode="External"/><Relationship Id="rId6" Type="http://schemas.openxmlformats.org/officeDocument/2006/relationships/hyperlink" Target="https://www.fontanka.ru/2026/04/23/76382979/" TargetMode="External"/><Relationship Id="rId7" Type="http://schemas.openxmlformats.org/officeDocument/2006/relationships/hyperlink" Target="https://www1.ru/news/2026/09/29/pokupateliam-pokazut-realnuiu-cenu-dlia-marketpleisov-vvodiat-novye-pravila.html" TargetMode="External"/><Relationship Id="rId8" Type="http://schemas.openxmlformats.org/officeDocument/2006/relationships/hyperlink" Target="https://www.spot.uz/ru/2026/04/23/wildberri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oborot.ru/news/summarnaya-reklamnaya-vyruchka-wildberries-ozon-i-yandeks-market-v-2025-godu-prevysila-500-mlrd-rublej-i267915.html" TargetMode="External"/><Relationship Id="rId4" Type="http://schemas.openxmlformats.org/officeDocument/2006/relationships/hyperlink" Target="https://ecomhub.ru/wildberries-clothing-2025-demand-buyout-analysis/" TargetMode="External"/><Relationship Id="rId5" Type="http://schemas.openxmlformats.org/officeDocument/2006/relationships/hyperlink" Target="https://www.cnews.ru/news/line/2026-02-11_wildberries_zapuskaet_sobstvennuyu" TargetMode="External"/><Relationship Id="rId6" Type="http://schemas.openxmlformats.org/officeDocument/2006/relationships/hyperlink" Target="https://www1.ru/news/2026/09/29/pokupateliam-pokazut-realnuiu-cenu-dlia-marketpleisov-vvodiat-novye-pravila.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27" name="Shape 27"/>
        <p:cNvGrpSpPr/>
        <p:nvPr/>
      </p:nvGrpSpPr>
      <p:grpSpPr>
        <a:xfrm>
          <a:off x="0" y="0"/>
          <a:ext cx="0" cy="0"/>
          <a:chOff x="0" y="0"/>
          <a:chExt cx="0" cy="0"/>
        </a:xfrm>
      </p:grpSpPr>
      <p:sp>
        <p:nvSpPr>
          <p:cNvPr id="28" name="Google Shape;28;p7"/>
          <p:cNvSpPr txBox="1"/>
          <p:nvPr>
            <p:ph type="title"/>
          </p:nvPr>
        </p:nvSpPr>
        <p:spPr>
          <a:xfrm>
            <a:off x="711200" y="768985"/>
            <a:ext cx="11092800" cy="736500"/>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241036"/>
              </a:buClr>
              <a:buSzPts val="2500"/>
              <a:buFont typeface="Inter"/>
              <a:buNone/>
            </a:pPr>
            <a:r>
              <a:rPr b="1" lang="en-US" sz="2300">
                <a:solidFill>
                  <a:srgbClr val="2A0B45"/>
                </a:solidFill>
                <a:latin typeface="Arial"/>
                <a:ea typeface="Arial"/>
                <a:cs typeface="Arial"/>
                <a:sym typeface="Arial"/>
              </a:rPr>
              <a:t>Из крупнейшего маркетплейса в экосистему, которая зарабатывает на каждой покупке</a:t>
            </a:r>
            <a:r>
              <a:rPr lang="en-US" sz="2300">
                <a:solidFill>
                  <a:srgbClr val="000000"/>
                </a:solidFill>
                <a:latin typeface="Arial"/>
                <a:ea typeface="Arial"/>
                <a:cs typeface="Arial"/>
                <a:sym typeface="Arial"/>
              </a:rPr>
              <a:t> </a:t>
            </a:r>
            <a:endParaRPr sz="2300">
              <a:latin typeface="Arial"/>
              <a:ea typeface="Arial"/>
              <a:cs typeface="Arial"/>
              <a:sym typeface="Arial"/>
            </a:endParaRPr>
          </a:p>
        </p:txBody>
      </p:sp>
      <p:sp>
        <p:nvSpPr>
          <p:cNvPr id="29" name="Google Shape;29;p7"/>
          <p:cNvSpPr/>
          <p:nvPr/>
        </p:nvSpPr>
        <p:spPr>
          <a:xfrm>
            <a:off x="711200" y="1957403"/>
            <a:ext cx="30087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A80E8E"/>
              </a:buClr>
              <a:buSzPts val="3200"/>
              <a:buFont typeface="Inter"/>
              <a:buNone/>
            </a:pPr>
            <a:r>
              <a:rPr b="1" i="0" lang="en-US" spc="-50" sz="3200" u="none" cap="none" strike="noStrike">
                <a:solidFill>
                  <a:srgbClr val="A80E8E"/>
                </a:solidFill>
                <a:latin typeface="Inter"/>
                <a:ea typeface="Inter"/>
                <a:cs typeface="Inter"/>
                <a:sym typeface="Inter"/>
              </a:rPr>
              <a:t>6,1 трлн ₽</a:t>
            </a:r>
            <a:endParaRPr b="0" i="0" sz="3200" u="none" cap="none" strike="noStrike">
              <a:solidFill>
                <a:schemeClr val="dk1"/>
              </a:solidFill>
              <a:latin typeface="Inter"/>
              <a:ea typeface="Inter"/>
              <a:cs typeface="Inter"/>
              <a:sym typeface="Inter"/>
            </a:endParaRPr>
          </a:p>
        </p:txBody>
      </p:sp>
      <p:sp>
        <p:nvSpPr>
          <p:cNvPr id="30" name="Google Shape;30;p7"/>
          <p:cNvSpPr/>
          <p:nvPr/>
        </p:nvSpPr>
        <p:spPr>
          <a:xfrm>
            <a:off x="711200" y="2519161"/>
            <a:ext cx="3008700" cy="436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E4D6E"/>
              </a:buClr>
              <a:buSzPts val="1200"/>
              <a:buFont typeface="Inter"/>
              <a:buNone/>
            </a:pPr>
            <a:r>
              <a:rPr i="0" lang="en-US" sz="1300" u="none" cap="none" strike="noStrike">
                <a:solidFill>
                  <a:srgbClr val="5E4D6E"/>
                </a:solidFill>
              </a:rPr>
              <a:t>GMV группы за 2025 год, +49% к 2024-му</a:t>
            </a:r>
            <a:endParaRPr i="0" sz="1300" u="none" cap="none" strike="noStrike">
              <a:solidFill>
                <a:schemeClr val="dk1"/>
              </a:solidFill>
            </a:endParaRPr>
          </a:p>
        </p:txBody>
      </p:sp>
      <p:sp>
        <p:nvSpPr>
          <p:cNvPr id="31" name="Google Shape;31;p7"/>
          <p:cNvSpPr/>
          <p:nvPr/>
        </p:nvSpPr>
        <p:spPr>
          <a:xfrm>
            <a:off x="711200" y="3095323"/>
            <a:ext cx="30087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A80E8E"/>
              </a:buClr>
              <a:buSzPts val="3200"/>
              <a:buFont typeface="Inter"/>
              <a:buNone/>
            </a:pPr>
            <a:r>
              <a:rPr b="1" i="0" lang="en-US" spc="-50" sz="3200" u="none" cap="none" strike="noStrike">
                <a:solidFill>
                  <a:srgbClr val="A80E8E"/>
                </a:solidFill>
                <a:latin typeface="Inter"/>
                <a:ea typeface="Inter"/>
                <a:cs typeface="Inter"/>
                <a:sym typeface="Inter"/>
              </a:rPr>
              <a:t>175 млрд ₽</a:t>
            </a:r>
            <a:endParaRPr b="0" i="0" sz="3200" u="none" cap="none" strike="noStrike">
              <a:solidFill>
                <a:schemeClr val="dk1"/>
              </a:solidFill>
              <a:latin typeface="Inter"/>
              <a:ea typeface="Inter"/>
              <a:cs typeface="Inter"/>
              <a:sym typeface="Inter"/>
            </a:endParaRPr>
          </a:p>
        </p:txBody>
      </p:sp>
      <p:sp>
        <p:nvSpPr>
          <p:cNvPr id="32" name="Google Shape;32;p7"/>
          <p:cNvSpPr/>
          <p:nvPr/>
        </p:nvSpPr>
        <p:spPr>
          <a:xfrm>
            <a:off x="711200" y="3657081"/>
            <a:ext cx="3008700" cy="231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E4D6E"/>
              </a:buClr>
              <a:buSzPts val="1200"/>
              <a:buFont typeface="Inter"/>
              <a:buNone/>
            </a:pPr>
            <a:r>
              <a:rPr i="0" lang="en-US" sz="1300" u="none" cap="none" strike="noStrike">
                <a:solidFill>
                  <a:srgbClr val="5E4D6E"/>
                </a:solidFill>
              </a:rPr>
              <a:t>чистая прибыль за 2025 год</a:t>
            </a:r>
            <a:endParaRPr i="0" sz="1300" u="none" cap="none" strike="noStrike">
              <a:solidFill>
                <a:schemeClr val="dk1"/>
              </a:solidFill>
            </a:endParaRPr>
          </a:p>
        </p:txBody>
      </p:sp>
      <p:sp>
        <p:nvSpPr>
          <p:cNvPr id="33" name="Google Shape;33;p7"/>
          <p:cNvSpPr/>
          <p:nvPr/>
        </p:nvSpPr>
        <p:spPr>
          <a:xfrm>
            <a:off x="711200" y="4027503"/>
            <a:ext cx="30087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41036"/>
              </a:buClr>
              <a:buSzPts val="3200"/>
              <a:buFont typeface="Inter"/>
              <a:buNone/>
            </a:pPr>
            <a:r>
              <a:rPr b="1" i="0" lang="en-US" spc="-50" sz="1300" u="none" cap="none" strike="noStrike">
                <a:solidFill>
                  <a:srgbClr val="241036"/>
                </a:solidFill>
              </a:rPr>
              <a:t>+25% и +42%</a:t>
            </a:r>
            <a:endParaRPr i="0" sz="1300" u="none" cap="none" strike="noStrike">
              <a:solidFill>
                <a:schemeClr val="dk1"/>
              </a:solidFill>
            </a:endParaRPr>
          </a:p>
        </p:txBody>
      </p:sp>
      <p:sp>
        <p:nvSpPr>
          <p:cNvPr id="34" name="Google Shape;34;p7"/>
          <p:cNvSpPr/>
          <p:nvPr/>
        </p:nvSpPr>
        <p:spPr>
          <a:xfrm>
            <a:off x="711200" y="4499943"/>
            <a:ext cx="3008700" cy="436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E4D6E"/>
              </a:buClr>
              <a:buSzPts val="1200"/>
              <a:buFont typeface="Inter"/>
              <a:buNone/>
            </a:pPr>
            <a:r>
              <a:rPr i="0" lang="en-US" sz="1300" u="none" cap="none" strike="noStrike">
                <a:solidFill>
                  <a:srgbClr val="5E4D6E"/>
                </a:solidFill>
              </a:rPr>
              <a:t>рост онлайн-продаж Wildberries и Ozon в 2025 году. Отрыв лидера тает</a:t>
            </a:r>
            <a:endParaRPr i="0" sz="1300" u="none" cap="none" strike="noStrike">
              <a:solidFill>
                <a:schemeClr val="dk1"/>
              </a:solidFill>
            </a:endParaRPr>
          </a:p>
        </p:txBody>
      </p:sp>
      <p:cxnSp>
        <p:nvCxnSpPr>
          <p:cNvPr id="35" name="Google Shape;35;p7"/>
          <p:cNvCxnSpPr/>
          <p:nvPr/>
        </p:nvCxnSpPr>
        <p:spPr>
          <a:xfrm>
            <a:off x="3990975" y="1686560"/>
            <a:ext cx="0" cy="4104640"/>
          </a:xfrm>
          <a:prstGeom prst="straightConnector1">
            <a:avLst/>
          </a:prstGeom>
          <a:noFill/>
          <a:ln cap="flat" cmpd="sng" w="9525">
            <a:solidFill>
              <a:srgbClr val="DDD0E6"/>
            </a:solidFill>
            <a:prstDash val="solid"/>
            <a:round/>
            <a:headEnd len="sm" w="sm" type="none"/>
            <a:tailEnd len="sm" w="sm" type="none"/>
          </a:ln>
        </p:spPr>
      </p:cxnSp>
      <p:sp>
        <p:nvSpPr>
          <p:cNvPr id="36" name="Google Shape;36;p7"/>
          <p:cNvSpPr/>
          <p:nvPr/>
        </p:nvSpPr>
        <p:spPr>
          <a:xfrm>
            <a:off x="4348425" y="1624349"/>
            <a:ext cx="7346400" cy="258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41036"/>
              </a:buClr>
              <a:buSzPts val="1400"/>
              <a:buFont typeface="Inter"/>
              <a:buNone/>
            </a:pPr>
            <a:r>
              <a:rPr b="1" i="0" lang="en-US" u="none" cap="none" strike="noStrike">
                <a:solidFill>
                  <a:srgbClr val="241036"/>
                </a:solidFill>
              </a:rPr>
              <a:t>Чего хочет компания</a:t>
            </a:r>
            <a:endParaRPr i="0" u="none" cap="none" strike="noStrike">
              <a:solidFill>
                <a:schemeClr val="dk1"/>
              </a:solidFill>
            </a:endParaRPr>
          </a:p>
        </p:txBody>
      </p:sp>
      <p:sp>
        <p:nvSpPr>
          <p:cNvPr id="37" name="Google Shape;37;p7"/>
          <p:cNvSpPr/>
          <p:nvPr/>
        </p:nvSpPr>
        <p:spPr>
          <a:xfrm>
            <a:off x="4348425" y="1882651"/>
            <a:ext cx="7346400" cy="794400"/>
          </a:xfrm>
          <a:prstGeom prst="rect">
            <a:avLst/>
          </a:prstGeom>
          <a:noFill/>
          <a:ln>
            <a:noFill/>
          </a:ln>
        </p:spPr>
        <p:txBody>
          <a:bodyPr anchorCtr="0" anchor="t" bIns="0" lIns="0" spcFirstLastPara="1" rIns="0" wrap="square" tIns="0">
            <a:noAutofit/>
          </a:bodyPr>
          <a:lstStyle/>
          <a:p>
            <a:pPr indent="0" lvl="0" marL="0" marR="0" rtl="0" algn="l">
              <a:lnSpc>
                <a:spcPct val="138000"/>
              </a:lnSpc>
              <a:spcBef>
                <a:spcPts val="0"/>
              </a:spcBef>
              <a:spcAft>
                <a:spcPts val="0"/>
              </a:spcAft>
              <a:buClr>
                <a:srgbClr val="3D2A4F"/>
              </a:buClr>
              <a:buSzPts val="1250"/>
              <a:buFont typeface="Inter"/>
              <a:buNone/>
            </a:pPr>
            <a:r>
              <a:rPr i="0" lang="en-US" u="none" cap="none" strike="noStrike">
                <a:solidFill>
                  <a:srgbClr val="3D2A4F"/>
                </a:solidFill>
              </a:rPr>
              <a:t>Оставаться </a:t>
            </a:r>
            <a:r>
              <a:rPr lang="en-US">
                <a:solidFill>
                  <a:srgbClr val="3D2A4F"/>
                </a:solidFill>
              </a:rPr>
              <a:t>№1 </a:t>
            </a:r>
            <a:r>
              <a:rPr i="0" lang="en-US" u="none" cap="none" strike="noStrike">
                <a:solidFill>
                  <a:srgbClr val="3D2A4F"/>
                </a:solidFill>
              </a:rPr>
              <a:t>в онлайн-торговле России и СНГ, но зарабатывать вс</a:t>
            </a:r>
            <a:r>
              <a:rPr lang="en-US">
                <a:solidFill>
                  <a:srgbClr val="3D2A4F"/>
                </a:solidFill>
              </a:rPr>
              <a:t>е</a:t>
            </a:r>
            <a:r>
              <a:rPr i="0" lang="en-US" u="none" cap="none" strike="noStrike">
                <a:solidFill>
                  <a:srgbClr val="3D2A4F"/>
                </a:solidFill>
              </a:rPr>
              <a:t> больше не </a:t>
            </a:r>
            <a:r>
              <a:rPr lang="en-US">
                <a:solidFill>
                  <a:srgbClr val="3D2A4F"/>
                </a:solidFill>
              </a:rPr>
              <a:t>за счет</a:t>
            </a:r>
            <a:r>
              <a:rPr i="0" lang="en-US" u="none" cap="none" strike="noStrike">
                <a:solidFill>
                  <a:srgbClr val="3D2A4F"/>
                </a:solidFill>
              </a:rPr>
              <a:t> комиссии, а на рекламе, финансах и сервисах вокруг покупки</a:t>
            </a:r>
            <a:r>
              <a:rPr lang="en-US">
                <a:solidFill>
                  <a:srgbClr val="3D2A4F"/>
                </a:solidFill>
              </a:rPr>
              <a:t>, при этом т</a:t>
            </a:r>
            <a:r>
              <a:rPr i="0" lang="en-US" u="none" cap="none" strike="noStrike">
                <a:solidFill>
                  <a:srgbClr val="3D2A4F"/>
                </a:solidFill>
              </a:rPr>
              <a:t>орговля сама по себе замедляется: рынок за 2025 год вырос всего на 16%.</a:t>
            </a:r>
            <a:endParaRPr i="0" u="none" cap="none" strike="noStrike">
              <a:solidFill>
                <a:schemeClr val="dk1"/>
              </a:solidFill>
            </a:endParaRPr>
          </a:p>
        </p:txBody>
      </p:sp>
      <p:sp>
        <p:nvSpPr>
          <p:cNvPr id="38" name="Google Shape;38;p7"/>
          <p:cNvSpPr/>
          <p:nvPr/>
        </p:nvSpPr>
        <p:spPr>
          <a:xfrm>
            <a:off x="4348480" y="2896091"/>
            <a:ext cx="73464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41036"/>
              </a:buClr>
              <a:buSzPts val="1400"/>
              <a:buFont typeface="Inter"/>
              <a:buNone/>
            </a:pPr>
            <a:r>
              <a:rPr b="1" i="0" lang="en-US" u="none" cap="none" strike="noStrike">
                <a:solidFill>
                  <a:srgbClr val="241036"/>
                </a:solidFill>
              </a:rPr>
              <a:t>На ч</a:t>
            </a:r>
            <a:r>
              <a:rPr b="1" lang="en-US">
                <a:solidFill>
                  <a:srgbClr val="241036"/>
                </a:solidFill>
              </a:rPr>
              <a:t>е</a:t>
            </a:r>
            <a:r>
              <a:rPr b="1" i="0" lang="en-US" u="none" cap="none" strike="noStrike">
                <a:solidFill>
                  <a:srgbClr val="241036"/>
                </a:solidFill>
              </a:rPr>
              <a:t>м держится лидерство</a:t>
            </a:r>
            <a:endParaRPr i="0" u="none" cap="none" strike="noStrike">
              <a:solidFill>
                <a:schemeClr val="dk1"/>
              </a:solidFill>
            </a:endParaRPr>
          </a:p>
        </p:txBody>
      </p:sp>
      <p:sp>
        <p:nvSpPr>
          <p:cNvPr id="39" name="Google Shape;39;p7"/>
          <p:cNvSpPr/>
          <p:nvPr/>
        </p:nvSpPr>
        <p:spPr>
          <a:xfrm>
            <a:off x="4348480" y="4216403"/>
            <a:ext cx="73464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41036"/>
              </a:buClr>
              <a:buSzPts val="1400"/>
              <a:buFont typeface="Inter"/>
              <a:buNone/>
            </a:pPr>
            <a:r>
              <a:rPr b="1" i="0" lang="en-US" u="none" cap="none" strike="noStrike">
                <a:solidFill>
                  <a:srgbClr val="241036"/>
                </a:solidFill>
              </a:rPr>
              <a:t>Что может помешать</a:t>
            </a:r>
            <a:endParaRPr i="0" u="none" cap="none" strike="noStrike">
              <a:solidFill>
                <a:schemeClr val="dk1"/>
              </a:solidFill>
            </a:endParaRPr>
          </a:p>
        </p:txBody>
      </p:sp>
      <p:sp>
        <p:nvSpPr>
          <p:cNvPr id="40" name="Google Shape;40;p7"/>
          <p:cNvSpPr/>
          <p:nvPr/>
        </p:nvSpPr>
        <p:spPr>
          <a:xfrm>
            <a:off x="4348475" y="4548413"/>
            <a:ext cx="7346400" cy="975600"/>
          </a:xfrm>
          <a:prstGeom prst="rect">
            <a:avLst/>
          </a:prstGeom>
          <a:noFill/>
          <a:ln>
            <a:noFill/>
          </a:ln>
        </p:spPr>
        <p:txBody>
          <a:bodyPr anchorCtr="0" anchor="t" bIns="0" lIns="0" spcFirstLastPara="1" rIns="0" wrap="square" tIns="0">
            <a:noAutofit/>
          </a:bodyPr>
          <a:lstStyle/>
          <a:p>
            <a:pPr indent="0" lvl="0" marL="0" marR="0" rtl="0" algn="l">
              <a:lnSpc>
                <a:spcPct val="138000"/>
              </a:lnSpc>
              <a:spcBef>
                <a:spcPts val="0"/>
              </a:spcBef>
              <a:spcAft>
                <a:spcPts val="0"/>
              </a:spcAft>
              <a:buClr>
                <a:srgbClr val="3D2A4F"/>
              </a:buClr>
              <a:buSzPts val="1250"/>
              <a:buFont typeface="Inter"/>
              <a:buNone/>
            </a:pPr>
            <a:r>
              <a:rPr i="0" lang="en-US" u="none" cap="none" strike="noStrike">
                <a:solidFill>
                  <a:srgbClr val="3D2A4F"/>
                </a:solidFill>
              </a:rPr>
              <a:t>Летом дроны вывели из строя около 7% складских площадей, ущерб оценивают до 50 млрд ₽. С 1 октября действует закон о платформах, а Минэк предлагает отдать карточку товара продавцу. WB Банк попал под санкции ЕС.</a:t>
            </a:r>
            <a:r>
              <a:rPr lang="en-US">
                <a:solidFill>
                  <a:srgbClr val="3D2A4F"/>
                </a:solidFill>
              </a:rPr>
              <a:t>+ </a:t>
            </a:r>
            <a:r>
              <a:rPr i="0" lang="en-US" u="none" cap="none" strike="noStrike">
                <a:solidFill>
                  <a:srgbClr val="3D2A4F"/>
                </a:solidFill>
              </a:rPr>
              <a:t>Ozon раст</a:t>
            </a:r>
            <a:r>
              <a:rPr lang="en-US">
                <a:solidFill>
                  <a:srgbClr val="3D2A4F"/>
                </a:solidFill>
              </a:rPr>
              <a:t>е</a:t>
            </a:r>
            <a:r>
              <a:rPr i="0" lang="en-US" u="none" cap="none" strike="noStrike">
                <a:solidFill>
                  <a:srgbClr val="3D2A4F"/>
                </a:solidFill>
              </a:rPr>
              <a:t>т почти вдвое быстрее.</a:t>
            </a:r>
            <a:endParaRPr i="0" u="none" cap="none" strike="noStrike">
              <a:solidFill>
                <a:schemeClr val="dk1"/>
              </a:solidFill>
            </a:endParaRPr>
          </a:p>
        </p:txBody>
      </p:sp>
      <p:cxnSp>
        <p:nvCxnSpPr>
          <p:cNvPr id="41" name="Google Shape;41;p7"/>
          <p:cNvCxnSpPr/>
          <p:nvPr/>
        </p:nvCxnSpPr>
        <p:spPr>
          <a:xfrm>
            <a:off x="711200" y="5972175"/>
            <a:ext cx="10769600" cy="0"/>
          </a:xfrm>
          <a:prstGeom prst="straightConnector1">
            <a:avLst/>
          </a:prstGeom>
          <a:noFill/>
          <a:ln cap="flat" cmpd="sng" w="9525">
            <a:solidFill>
              <a:srgbClr val="DDD0E6"/>
            </a:solidFill>
            <a:prstDash val="solid"/>
            <a:round/>
            <a:headEnd len="sm" w="sm" type="none"/>
            <a:tailEnd len="sm" w="sm" type="none"/>
          </a:ln>
        </p:spPr>
      </p:cxnSp>
      <p:sp>
        <p:nvSpPr>
          <p:cNvPr id="42" name="Google Shape;42;p7"/>
          <p:cNvSpPr/>
          <p:nvPr/>
        </p:nvSpPr>
        <p:spPr>
          <a:xfrm>
            <a:off x="711200" y="6075680"/>
            <a:ext cx="11092800" cy="45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E5E7D"/>
              </a:buClr>
              <a:buSzPts val="1200"/>
              <a:buFont typeface="Inter"/>
              <a:buNone/>
            </a:pPr>
            <a:r>
              <a:rPr lang="en-US" sz="1200">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3"/>
              </a:rPr>
              <a:t>Retail.ru, 01.04.2026</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a:t>
            </a:r>
            <a:r>
              <a:rPr b="0" i="0" lang="en-US" sz="1200" u="none" cap="none" strike="noStrike">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4"/>
              </a:rPr>
              <a:t>SelSup по данным Data Insight</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5"/>
              </a:rPr>
              <a:t>Uniseller по рейтингу Data Insight, 08.06.2026</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a:t>
            </a:r>
            <a:r>
              <a:rPr b="0" i="0" lang="en-US" sz="1200" u="none" cap="none" strike="noStrike">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6"/>
              </a:rPr>
              <a:t>SelSup, 01.04.2026</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a:t>
            </a:r>
            <a:r>
              <a:rPr b="0" i="0" lang="en-US" sz="1200" u="none" cap="none" strike="noStrike">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7"/>
              </a:rPr>
              <a:t>Профиль по Ведомостям, 18.07.2026</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a:t>
            </a:r>
            <a:r>
              <a:rPr b="0" i="0" lang="en-US" sz="1200" u="none" cap="none" strike="noStrike">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8"/>
              </a:rPr>
              <a:t>СберБизнес Live, 07.2026</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a:t>
            </a:r>
            <a:r>
              <a:rPr b="0" i="0" lang="en-US" sz="1200" u="none" cap="none" strike="noStrike">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9"/>
              </a:rPr>
              <a:t>Эксперт, 04.2026</a:t>
            </a:r>
            <a:endParaRPr b="0" i="0" sz="1200" u="none" cap="none" strike="noStrike">
              <a:solidFill>
                <a:schemeClr val="dk1"/>
              </a:solidFill>
              <a:latin typeface="Inter"/>
              <a:ea typeface="Inter"/>
              <a:cs typeface="Inter"/>
              <a:sym typeface="Inter"/>
            </a:endParaRPr>
          </a:p>
        </p:txBody>
      </p:sp>
      <p:sp>
        <p:nvSpPr>
          <p:cNvPr id="43" name="Google Shape;43;p7"/>
          <p:cNvSpPr txBox="1"/>
          <p:nvPr/>
        </p:nvSpPr>
        <p:spPr>
          <a:xfrm>
            <a:off x="4262050" y="3134900"/>
            <a:ext cx="7346400" cy="991500"/>
          </a:xfrm>
          <a:prstGeom prst="rect">
            <a:avLst/>
          </a:prstGeom>
          <a:noFill/>
          <a:ln>
            <a:noFill/>
          </a:ln>
        </p:spPr>
        <p:txBody>
          <a:bodyPr anchorCtr="0" anchor="t" bIns="91425" lIns="91425" spcFirstLastPara="1" rIns="91425" wrap="square" tIns="91425">
            <a:spAutoFit/>
          </a:bodyPr>
          <a:lstStyle/>
          <a:p>
            <a:pPr indent="0" lvl="0" marL="0" rtl="0" algn="l">
              <a:lnSpc>
                <a:spcPct val="137181"/>
              </a:lnSpc>
              <a:spcBef>
                <a:spcPts val="0"/>
              </a:spcBef>
              <a:spcAft>
                <a:spcPts val="0"/>
              </a:spcAft>
              <a:buNone/>
            </a:pPr>
            <a:r>
              <a:rPr lang="en-US">
                <a:solidFill>
                  <a:srgbClr val="4A3D57"/>
                </a:solidFill>
              </a:rPr>
              <a:t>Главные опоры: склады на 5,2 млн кв.м и плотная сеть ПВЗ, статус крупнейшего маркетплейса страны (вместе с Ozon это около 80% всех онлайн-заказов в России), реклама на данных о покупках и своя экосистема: банк, Wibes, ИИ. </a:t>
            </a:r>
            <a:endParaRPr>
              <a:solidFill>
                <a:srgbClr val="4A3D57"/>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48" name="Shape 48"/>
        <p:cNvGrpSpPr/>
        <p:nvPr/>
      </p:nvGrpSpPr>
      <p:grpSpPr>
        <a:xfrm>
          <a:off x="0" y="0"/>
          <a:ext cx="0" cy="0"/>
          <a:chOff x="0" y="0"/>
          <a:chExt cx="0" cy="0"/>
        </a:xfrm>
      </p:grpSpPr>
      <p:sp>
        <p:nvSpPr>
          <p:cNvPr id="49" name="Google Shape;49;p8"/>
          <p:cNvSpPr/>
          <p:nvPr/>
        </p:nvSpPr>
        <p:spPr>
          <a:xfrm>
            <a:off x="711200" y="406400"/>
            <a:ext cx="354110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7BD8"/>
              </a:buClr>
              <a:buSzPts val="1200"/>
              <a:buFont typeface="Inter"/>
              <a:buNone/>
            </a:pPr>
            <a:r>
              <a:rPr b="1" i="0" lang="en-US" sz="1200" u="none" cap="none" strike="noStrike">
                <a:solidFill>
                  <a:srgbClr val="F27BD8"/>
                </a:solidFill>
              </a:rPr>
              <a:t>Предложение · стратегическая ставка</a:t>
            </a:r>
            <a:endParaRPr i="0" sz="1200" u="none" cap="none" strike="noStrike">
              <a:solidFill>
                <a:schemeClr val="dk1"/>
              </a:solidFill>
            </a:endParaRPr>
          </a:p>
        </p:txBody>
      </p:sp>
      <p:sp>
        <p:nvSpPr>
          <p:cNvPr id="50" name="Google Shape;50;p8"/>
          <p:cNvSpPr txBox="1"/>
          <p:nvPr>
            <p:ph type="title"/>
          </p:nvPr>
        </p:nvSpPr>
        <p:spPr>
          <a:xfrm>
            <a:off x="711200" y="772160"/>
            <a:ext cx="11092688" cy="736600"/>
          </a:xfrm>
          <a:prstGeom prst="rect">
            <a:avLst/>
          </a:prstGeom>
          <a:noFill/>
          <a:ln>
            <a:noFill/>
          </a:ln>
        </p:spPr>
        <p:txBody>
          <a:bodyPr anchorCtr="0" anchor="t" bIns="0" lIns="0" spcFirstLastPara="1" rIns="0" wrap="square" tIns="0">
            <a:normAutofit fontScale="90000"/>
          </a:bodyPr>
          <a:lstStyle/>
          <a:p>
            <a:pPr indent="0" lvl="0" marL="0" rtl="0" algn="l">
              <a:lnSpc>
                <a:spcPct val="112000"/>
              </a:lnSpc>
              <a:spcBef>
                <a:spcPts val="0"/>
              </a:spcBef>
              <a:spcAft>
                <a:spcPts val="0"/>
              </a:spcAft>
              <a:buClr>
                <a:srgbClr val="FBF6FD"/>
              </a:buClr>
              <a:buSzPct val="100000"/>
              <a:buFont typeface="Inter"/>
              <a:buNone/>
            </a:pPr>
            <a:r>
              <a:rPr b="1" i="0" lang="en-US" spc="-50" sz="2500">
                <a:solidFill>
                  <a:srgbClr val="FBF6FD"/>
                </a:solidFill>
                <a:latin typeface="Arial"/>
                <a:ea typeface="Arial"/>
                <a:cs typeface="Arial"/>
                <a:sym typeface="Arial"/>
              </a:rPr>
              <a:t>Ставка: сделать ИИ-консультанта главной дверью в покупку, а не ещ</a:t>
            </a:r>
            <a:r>
              <a:rPr b="1" lang="en-US" spc="-50">
                <a:solidFill>
                  <a:srgbClr val="FBF6FD"/>
                </a:solidFill>
                <a:latin typeface="Arial"/>
                <a:ea typeface="Arial"/>
                <a:cs typeface="Arial"/>
                <a:sym typeface="Arial"/>
              </a:rPr>
              <a:t>е</a:t>
            </a:r>
            <a:r>
              <a:rPr b="1" i="0" lang="en-US" spc="-50" sz="2500">
                <a:solidFill>
                  <a:srgbClr val="FBF6FD"/>
                </a:solidFill>
                <a:latin typeface="Arial"/>
                <a:ea typeface="Arial"/>
                <a:cs typeface="Arial"/>
                <a:sym typeface="Arial"/>
              </a:rPr>
              <a:t> одной кнопкой в приложении</a:t>
            </a:r>
            <a:endParaRPr sz="2500">
              <a:latin typeface="Arial"/>
              <a:ea typeface="Arial"/>
              <a:cs typeface="Arial"/>
              <a:sym typeface="Arial"/>
            </a:endParaRPr>
          </a:p>
        </p:txBody>
      </p:sp>
      <p:cxnSp>
        <p:nvCxnSpPr>
          <p:cNvPr id="51" name="Google Shape;51;p8"/>
          <p:cNvCxnSpPr/>
          <p:nvPr/>
        </p:nvCxnSpPr>
        <p:spPr>
          <a:xfrm>
            <a:off x="711200" y="1727090"/>
            <a:ext cx="3352800" cy="0"/>
          </a:xfrm>
          <a:prstGeom prst="straightConnector1">
            <a:avLst/>
          </a:prstGeom>
          <a:noFill/>
          <a:ln cap="flat" cmpd="sng" w="19050">
            <a:solidFill>
              <a:srgbClr val="F27BD8"/>
            </a:solidFill>
            <a:prstDash val="solid"/>
            <a:round/>
            <a:headEnd len="sm" w="sm" type="none"/>
            <a:tailEnd len="sm" w="sm" type="none"/>
          </a:ln>
        </p:spPr>
      </p:cxnSp>
      <p:sp>
        <p:nvSpPr>
          <p:cNvPr id="52" name="Google Shape;52;p8"/>
          <p:cNvSpPr/>
          <p:nvPr/>
        </p:nvSpPr>
        <p:spPr>
          <a:xfrm>
            <a:off x="711125" y="1859825"/>
            <a:ext cx="34533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BF6FD"/>
              </a:buClr>
              <a:buSzPts val="1400"/>
              <a:buFont typeface="Inter"/>
              <a:buNone/>
            </a:pPr>
            <a:r>
              <a:rPr b="1" i="0" lang="en-US" u="none" cap="none" strike="noStrike">
                <a:solidFill>
                  <a:srgbClr val="FBF6FD"/>
                </a:solidFill>
              </a:rPr>
              <a:t>Почему именно она</a:t>
            </a:r>
            <a:endParaRPr i="0" u="none" cap="none" strike="noStrike">
              <a:solidFill>
                <a:schemeClr val="dk1"/>
              </a:solidFill>
            </a:endParaRPr>
          </a:p>
        </p:txBody>
      </p:sp>
      <p:sp>
        <p:nvSpPr>
          <p:cNvPr id="53" name="Google Shape;53;p8"/>
          <p:cNvSpPr/>
          <p:nvPr/>
        </p:nvSpPr>
        <p:spPr>
          <a:xfrm>
            <a:off x="711125" y="2225255"/>
            <a:ext cx="3453300" cy="2904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CCE8"/>
              </a:buClr>
              <a:buSzPts val="1200"/>
              <a:buFont typeface="Inter"/>
              <a:buNone/>
            </a:pPr>
            <a:r>
              <a:rPr i="0" lang="en-US" u="none" cap="none" strike="noStrike">
                <a:solidFill>
                  <a:srgbClr val="DCCCE8"/>
                </a:solidFill>
              </a:rPr>
              <a:t>Карточку товара возможно скоро</a:t>
            </a:r>
            <a:r>
              <a:rPr lang="en-US">
                <a:solidFill>
                  <a:srgbClr val="DCCCE8"/>
                </a:solidFill>
              </a:rPr>
              <a:t> </a:t>
            </a:r>
            <a:r>
              <a:rPr i="0" lang="en-US" u="none" cap="none" strike="noStrike">
                <a:solidFill>
                  <a:srgbClr val="DCCCE8"/>
                </a:solidFill>
              </a:rPr>
              <a:t>разрешат переносить на другие площадки, склады уязвимы. </a:t>
            </a:r>
            <a:r>
              <a:rPr lang="en-US">
                <a:solidFill>
                  <a:srgbClr val="DCCCE8"/>
                </a:solidFill>
              </a:rPr>
              <a:t>Но з</a:t>
            </a:r>
            <a:r>
              <a:rPr i="0" lang="en-US" u="none" cap="none" strike="noStrike">
                <a:solidFill>
                  <a:srgbClr val="DCCCE8"/>
                </a:solidFill>
              </a:rPr>
              <a:t>нание покупателя не переносится и не сгорает. </a:t>
            </a:r>
            <a:r>
              <a:rPr lang="en-US">
                <a:solidFill>
                  <a:srgbClr val="DCCCE8"/>
                </a:solidFill>
              </a:rPr>
              <a:t>Сейчас </a:t>
            </a:r>
            <a:r>
              <a:rPr i="0" lang="en-US" u="none" cap="none" strike="noStrike">
                <a:solidFill>
                  <a:srgbClr val="DCCCE8"/>
                </a:solidFill>
              </a:rPr>
              <a:t>уже есть своя модель BerryLM-XL третья в рейтинге MERA</a:t>
            </a:r>
            <a:r>
              <a:rPr lang="en-US">
                <a:solidFill>
                  <a:srgbClr val="DCCCE8"/>
                </a:solidFill>
              </a:rPr>
              <a:t>+ </a:t>
            </a:r>
            <a:r>
              <a:rPr i="0" lang="en-US" u="none" cap="none" strike="noStrike">
                <a:solidFill>
                  <a:srgbClr val="DCCCE8"/>
                </a:solidFill>
              </a:rPr>
              <a:t>ИИ-инструменты приносят больше 1 млрд ₽ в год. В быстрой доставке у конкурентов уже своя сеть, финтех давно подел</a:t>
            </a:r>
            <a:r>
              <a:rPr lang="en-US">
                <a:solidFill>
                  <a:srgbClr val="DCCCE8"/>
                </a:solidFill>
              </a:rPr>
              <a:t>е</a:t>
            </a:r>
            <a:r>
              <a:rPr i="0" lang="en-US" u="none" cap="none" strike="noStrike">
                <a:solidFill>
                  <a:srgbClr val="DCCCE8"/>
                </a:solidFill>
              </a:rPr>
              <a:t>н</a:t>
            </a:r>
            <a:endParaRPr i="0" u="none" cap="none" strike="noStrike">
              <a:solidFill>
                <a:schemeClr val="dk1"/>
              </a:solidFill>
            </a:endParaRPr>
          </a:p>
        </p:txBody>
      </p:sp>
      <p:cxnSp>
        <p:nvCxnSpPr>
          <p:cNvPr id="54" name="Google Shape;54;p8"/>
          <p:cNvCxnSpPr/>
          <p:nvPr/>
        </p:nvCxnSpPr>
        <p:spPr>
          <a:xfrm>
            <a:off x="4419600" y="1727090"/>
            <a:ext cx="3352800" cy="0"/>
          </a:xfrm>
          <a:prstGeom prst="straightConnector1">
            <a:avLst/>
          </a:prstGeom>
          <a:noFill/>
          <a:ln cap="flat" cmpd="sng" w="19050">
            <a:solidFill>
              <a:srgbClr val="F27BD8"/>
            </a:solidFill>
            <a:prstDash val="solid"/>
            <a:round/>
            <a:headEnd len="sm" w="sm" type="none"/>
            <a:tailEnd len="sm" w="sm" type="none"/>
          </a:ln>
        </p:spPr>
      </p:cxnSp>
      <p:sp>
        <p:nvSpPr>
          <p:cNvPr id="55" name="Google Shape;55;p8"/>
          <p:cNvSpPr/>
          <p:nvPr/>
        </p:nvSpPr>
        <p:spPr>
          <a:xfrm>
            <a:off x="4419600" y="1859805"/>
            <a:ext cx="34533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BF6FD"/>
              </a:buClr>
              <a:buSzPts val="1400"/>
              <a:buFont typeface="Inter"/>
              <a:buNone/>
            </a:pPr>
            <a:r>
              <a:rPr b="1" i="0" lang="en-US" u="none" cap="none" strike="noStrike">
                <a:solidFill>
                  <a:srgbClr val="FBF6FD"/>
                </a:solidFill>
              </a:rPr>
              <a:t>Что за ней стоит</a:t>
            </a:r>
            <a:endParaRPr i="0" u="none" cap="none" strike="noStrike">
              <a:solidFill>
                <a:schemeClr val="dk1"/>
              </a:solidFill>
            </a:endParaRPr>
          </a:p>
        </p:txBody>
      </p:sp>
      <p:sp>
        <p:nvSpPr>
          <p:cNvPr id="56" name="Google Shape;56;p8"/>
          <p:cNvSpPr/>
          <p:nvPr/>
        </p:nvSpPr>
        <p:spPr>
          <a:xfrm>
            <a:off x="4369350" y="2298587"/>
            <a:ext cx="3453300" cy="2757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CCE8"/>
              </a:buClr>
              <a:buSzPts val="1200"/>
              <a:buFont typeface="Inter"/>
              <a:buNone/>
            </a:pPr>
            <a:r>
              <a:rPr i="0" lang="en-US" u="none" cap="none" strike="noStrike">
                <a:solidFill>
                  <a:srgbClr val="DCCCE8"/>
                </a:solidFill>
              </a:rPr>
              <a:t>Рынок взрослеет</a:t>
            </a:r>
            <a:r>
              <a:rPr lang="en-US">
                <a:solidFill>
                  <a:srgbClr val="DCCCE8"/>
                </a:solidFill>
              </a:rPr>
              <a:t>, рост идет из конверсии, а не из новых покупателей</a:t>
            </a:r>
            <a:r>
              <a:rPr lang="en-US" sz="1100"/>
              <a:t> </a:t>
            </a:r>
            <a:r>
              <a:rPr i="0" lang="en-US" u="none" cap="none" strike="noStrike">
                <a:solidFill>
                  <a:srgbClr val="DCCCE8"/>
                </a:solidFill>
              </a:rPr>
              <a:t> Люди экономят</a:t>
            </a:r>
            <a:r>
              <a:rPr lang="en-US">
                <a:solidFill>
                  <a:srgbClr val="DCCCE8"/>
                </a:solidFill>
              </a:rPr>
              <a:t>,</a:t>
            </a:r>
            <a:r>
              <a:rPr i="0" lang="en-US" u="none" cap="none" strike="noStrike">
                <a:solidFill>
                  <a:srgbClr val="DCCCE8"/>
                </a:solidFill>
              </a:rPr>
              <a:t> в марте траты на одежду и мебель на маркетплейсах снизились, и совет «что взять за эти деньги» стоит дороже. Запрос вс</a:t>
            </a:r>
            <a:r>
              <a:rPr lang="en-US">
                <a:solidFill>
                  <a:srgbClr val="DCCCE8"/>
                </a:solidFill>
              </a:rPr>
              <a:t>е</a:t>
            </a:r>
            <a:r>
              <a:rPr i="0" lang="en-US" u="none" cap="none" strike="noStrike">
                <a:solidFill>
                  <a:srgbClr val="DCCCE8"/>
                </a:solidFill>
              </a:rPr>
              <a:t> чаще пишут словами, и ассистент WB уже это понимает</a:t>
            </a:r>
            <a:r>
              <a:rPr lang="en-US">
                <a:solidFill>
                  <a:srgbClr val="DCCCE8"/>
                </a:solidFill>
              </a:rPr>
              <a:t>, благодаря обучению на контенте в</a:t>
            </a:r>
            <a:r>
              <a:rPr i="0" lang="en-US" u="none" cap="none" strike="noStrike">
                <a:solidFill>
                  <a:srgbClr val="DCCCE8"/>
                </a:solidFill>
              </a:rPr>
              <a:t>идео из Wibes и отзыв</a:t>
            </a:r>
            <a:r>
              <a:rPr lang="en-US">
                <a:solidFill>
                  <a:srgbClr val="DCCCE8"/>
                </a:solidFill>
              </a:rPr>
              <a:t>ов</a:t>
            </a:r>
            <a:endParaRPr i="0" u="none" cap="none" strike="noStrike">
              <a:solidFill>
                <a:schemeClr val="dk1"/>
              </a:solidFill>
            </a:endParaRPr>
          </a:p>
        </p:txBody>
      </p:sp>
      <p:cxnSp>
        <p:nvCxnSpPr>
          <p:cNvPr id="57" name="Google Shape;57;p8"/>
          <p:cNvCxnSpPr/>
          <p:nvPr/>
        </p:nvCxnSpPr>
        <p:spPr>
          <a:xfrm>
            <a:off x="8073550" y="1728510"/>
            <a:ext cx="3352800" cy="0"/>
          </a:xfrm>
          <a:prstGeom prst="straightConnector1">
            <a:avLst/>
          </a:prstGeom>
          <a:noFill/>
          <a:ln cap="flat" cmpd="sng" w="19050">
            <a:solidFill>
              <a:srgbClr val="F27BD8"/>
            </a:solidFill>
            <a:prstDash val="solid"/>
            <a:round/>
            <a:headEnd len="sm" w="sm" type="none"/>
            <a:tailEnd len="sm" w="sm" type="none"/>
          </a:ln>
        </p:spPr>
      </p:cxnSp>
      <p:sp>
        <p:nvSpPr>
          <p:cNvPr id="58" name="Google Shape;58;p8"/>
          <p:cNvSpPr/>
          <p:nvPr/>
        </p:nvSpPr>
        <p:spPr>
          <a:xfrm>
            <a:off x="8128000" y="1859805"/>
            <a:ext cx="34533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BF6FD"/>
              </a:buClr>
              <a:buSzPts val="1400"/>
              <a:buFont typeface="Inter"/>
              <a:buNone/>
            </a:pPr>
            <a:r>
              <a:rPr b="1" i="0" lang="en-US" u="none" cap="none" strike="noStrike">
                <a:solidFill>
                  <a:srgbClr val="FBF6FD"/>
                </a:solidFill>
              </a:rPr>
              <a:t>Что получит бизнес</a:t>
            </a:r>
            <a:endParaRPr i="0" u="none" cap="none" strike="noStrike">
              <a:solidFill>
                <a:schemeClr val="dk1"/>
              </a:solidFill>
            </a:endParaRPr>
          </a:p>
        </p:txBody>
      </p:sp>
      <p:sp>
        <p:nvSpPr>
          <p:cNvPr id="59" name="Google Shape;59;p8"/>
          <p:cNvSpPr/>
          <p:nvPr/>
        </p:nvSpPr>
        <p:spPr>
          <a:xfrm>
            <a:off x="8240800" y="2229893"/>
            <a:ext cx="3340500" cy="3106500"/>
          </a:xfrm>
          <a:prstGeom prst="rect">
            <a:avLst/>
          </a:prstGeom>
          <a:noFill/>
          <a:ln>
            <a:noFill/>
          </a:ln>
        </p:spPr>
        <p:txBody>
          <a:bodyPr anchorCtr="0" anchor="t" bIns="0" lIns="0" spcFirstLastPara="1" rIns="0" wrap="square" tIns="0">
            <a:noAutofit/>
          </a:bodyPr>
          <a:lstStyle/>
          <a:p>
            <a:pPr indent="-161544" lvl="0" marL="148844" marR="0" rtl="0" algn="l">
              <a:lnSpc>
                <a:spcPct val="140000"/>
              </a:lnSpc>
              <a:spcBef>
                <a:spcPts val="0"/>
              </a:spcBef>
              <a:spcAft>
                <a:spcPts val="0"/>
              </a:spcAft>
              <a:buClr>
                <a:srgbClr val="DCCCE8"/>
              </a:buClr>
              <a:buSzPts val="1400"/>
              <a:buChar char="•"/>
            </a:pPr>
            <a:r>
              <a:rPr i="0" lang="en-US" u="none" cap="none" strike="noStrike">
                <a:solidFill>
                  <a:srgbClr val="DCCCE8"/>
                </a:solidFill>
              </a:rPr>
              <a:t>Конверсия: меньше брошенных поисков</a:t>
            </a:r>
            <a:endParaRPr i="0" u="none" cap="none" strike="noStrike">
              <a:solidFill>
                <a:schemeClr val="dk1"/>
              </a:solidFill>
            </a:endParaRPr>
          </a:p>
          <a:p>
            <a:pPr indent="-161544" lvl="0" marL="148844" marR="0" rtl="0" algn="l">
              <a:lnSpc>
                <a:spcPct val="140000"/>
              </a:lnSpc>
              <a:spcBef>
                <a:spcPts val="0"/>
              </a:spcBef>
              <a:spcAft>
                <a:spcPts val="0"/>
              </a:spcAft>
              <a:buClr>
                <a:srgbClr val="DCCCE8"/>
              </a:buClr>
              <a:buSzPts val="1400"/>
              <a:buChar char="•"/>
            </a:pPr>
            <a:r>
              <a:rPr i="0" lang="en-US" u="none" cap="none" strike="noStrike">
                <a:solidFill>
                  <a:srgbClr val="DCCCE8"/>
                </a:solidFill>
              </a:rPr>
              <a:t>Средний чек: подборки под задачу, а не под запрос</a:t>
            </a:r>
            <a:endParaRPr i="0" u="none" cap="none" strike="noStrike">
              <a:solidFill>
                <a:schemeClr val="dk1"/>
              </a:solidFill>
            </a:endParaRPr>
          </a:p>
          <a:p>
            <a:pPr indent="-161544" lvl="0" marL="148844" marR="0" rtl="0" algn="l">
              <a:lnSpc>
                <a:spcPct val="140000"/>
              </a:lnSpc>
              <a:spcBef>
                <a:spcPts val="0"/>
              </a:spcBef>
              <a:spcAft>
                <a:spcPts val="0"/>
              </a:spcAft>
              <a:buClr>
                <a:srgbClr val="DCCCE8"/>
              </a:buClr>
              <a:buSzPts val="1400"/>
              <a:buChar char="•"/>
            </a:pPr>
            <a:r>
              <a:rPr i="0" lang="en-US" u="none" cap="none" strike="noStrike">
                <a:solidFill>
                  <a:srgbClr val="DCCCE8"/>
                </a:solidFill>
              </a:rPr>
              <a:t>Возвраты: подсказка по размеру в одежде и обуви</a:t>
            </a:r>
            <a:endParaRPr i="0" u="none" cap="none" strike="noStrike">
              <a:solidFill>
                <a:schemeClr val="dk1"/>
              </a:solidFill>
            </a:endParaRPr>
          </a:p>
          <a:p>
            <a:pPr indent="-161544" lvl="0" marL="148844" marR="0" rtl="0" algn="l">
              <a:lnSpc>
                <a:spcPct val="140000"/>
              </a:lnSpc>
              <a:spcBef>
                <a:spcPts val="0"/>
              </a:spcBef>
              <a:spcAft>
                <a:spcPts val="0"/>
              </a:spcAft>
              <a:buClr>
                <a:srgbClr val="DCCCE8"/>
              </a:buClr>
              <a:buSzPts val="1400"/>
              <a:buChar char="•"/>
            </a:pPr>
            <a:r>
              <a:rPr i="0" lang="en-US" u="none" cap="none" strike="noStrike">
                <a:solidFill>
                  <a:srgbClr val="DCCCE8"/>
                </a:solidFill>
              </a:rPr>
              <a:t>Удержание: ассистент помнит размеры и бюджет</a:t>
            </a:r>
            <a:endParaRPr i="0" u="none" cap="none" strike="noStrike">
              <a:solidFill>
                <a:schemeClr val="dk1"/>
              </a:solidFill>
            </a:endParaRPr>
          </a:p>
          <a:p>
            <a:pPr indent="-161544" lvl="0" marL="148844" marR="0" rtl="0" algn="l">
              <a:lnSpc>
                <a:spcPct val="140000"/>
              </a:lnSpc>
              <a:spcBef>
                <a:spcPts val="0"/>
              </a:spcBef>
              <a:spcAft>
                <a:spcPts val="0"/>
              </a:spcAft>
              <a:buClr>
                <a:srgbClr val="DCCCE8"/>
              </a:buClr>
              <a:buSzPts val="1400"/>
              <a:buChar char="•"/>
            </a:pPr>
            <a:r>
              <a:rPr i="0" lang="en-US" u="none" cap="none" strike="noStrike">
                <a:solidFill>
                  <a:srgbClr val="DCCCE8"/>
                </a:solidFill>
              </a:rPr>
              <a:t>Новый доход: спонсорские рекомендации и рассрочка WB Банка</a:t>
            </a:r>
            <a:endParaRPr i="0" u="none" cap="none" strike="noStrike">
              <a:solidFill>
                <a:schemeClr val="dk1"/>
              </a:solidFill>
            </a:endParaRPr>
          </a:p>
        </p:txBody>
      </p:sp>
      <p:cxnSp>
        <p:nvCxnSpPr>
          <p:cNvPr id="60" name="Google Shape;60;p8"/>
          <p:cNvCxnSpPr/>
          <p:nvPr/>
        </p:nvCxnSpPr>
        <p:spPr>
          <a:xfrm>
            <a:off x="656650" y="5255863"/>
            <a:ext cx="10769700" cy="0"/>
          </a:xfrm>
          <a:prstGeom prst="straightConnector1">
            <a:avLst/>
          </a:prstGeom>
          <a:noFill/>
          <a:ln cap="flat" cmpd="sng" w="9525">
            <a:solidFill>
              <a:srgbClr val="57376F"/>
            </a:solidFill>
            <a:prstDash val="solid"/>
            <a:round/>
            <a:headEnd len="sm" w="sm" type="none"/>
            <a:tailEnd len="sm" w="sm" type="none"/>
          </a:ln>
        </p:spPr>
      </p:cxnSp>
      <p:sp>
        <p:nvSpPr>
          <p:cNvPr id="61" name="Google Shape;61;p8"/>
          <p:cNvSpPr/>
          <p:nvPr/>
        </p:nvSpPr>
        <p:spPr>
          <a:xfrm>
            <a:off x="711200" y="5467668"/>
            <a:ext cx="11092688" cy="481012"/>
          </a:xfrm>
          <a:prstGeom prst="rect">
            <a:avLst/>
          </a:prstGeom>
          <a:noFill/>
          <a:ln>
            <a:noFill/>
          </a:ln>
        </p:spPr>
        <p:txBody>
          <a:bodyPr anchorCtr="0" anchor="t" bIns="0" lIns="0" spcFirstLastPara="1" rIns="0" wrap="square" tIns="0">
            <a:noAutofit/>
          </a:bodyPr>
          <a:lstStyle/>
          <a:p>
            <a:pPr indent="0" lvl="0" marL="0" marR="0" rtl="0" algn="l">
              <a:lnSpc>
                <a:spcPct val="138000"/>
              </a:lnSpc>
              <a:spcBef>
                <a:spcPts val="0"/>
              </a:spcBef>
              <a:spcAft>
                <a:spcPts val="0"/>
              </a:spcAft>
              <a:buClr>
                <a:srgbClr val="F3ECF7"/>
              </a:buClr>
              <a:buSzPts val="1300"/>
              <a:buFont typeface="Inter"/>
              <a:buNone/>
            </a:pPr>
            <a:r>
              <a:rPr b="1" i="0" lang="en-US" sz="1300" u="none" cap="none" strike="noStrike">
                <a:solidFill>
                  <a:srgbClr val="F3ECF7"/>
                </a:solidFill>
                <a:latin typeface="Inter"/>
                <a:ea typeface="Inter"/>
                <a:cs typeface="Inter"/>
                <a:sym typeface="Inter"/>
              </a:rPr>
              <a:t>Первый шаг.</a:t>
            </a:r>
            <a:r>
              <a:rPr b="0" i="0" lang="en-US" sz="1300" u="none" cap="none" strike="noStrike">
                <a:solidFill>
                  <a:srgbClr val="F3ECF7"/>
                </a:solidFill>
                <a:latin typeface="Inter"/>
                <a:ea typeface="Inter"/>
                <a:cs typeface="Inter"/>
                <a:sym typeface="Inter"/>
              </a:rPr>
              <a:t> Полгода пилота в тр</a:t>
            </a:r>
            <a:r>
              <a:rPr lang="en-US" sz="1300">
                <a:solidFill>
                  <a:srgbClr val="F3ECF7"/>
                </a:solidFill>
                <a:latin typeface="Inter"/>
                <a:ea typeface="Inter"/>
                <a:cs typeface="Inter"/>
                <a:sym typeface="Inter"/>
              </a:rPr>
              <a:t>е</a:t>
            </a:r>
            <a:r>
              <a:rPr b="0" i="0" lang="en-US" sz="1300" u="none" cap="none" strike="noStrike">
                <a:solidFill>
                  <a:srgbClr val="F3ECF7"/>
                </a:solidFill>
                <a:latin typeface="Inter"/>
                <a:ea typeface="Inter"/>
                <a:cs typeface="Inter"/>
                <a:sym typeface="Inter"/>
              </a:rPr>
              <a:t>х категориях: детские товары, одежда, электроника. A/B-тест на 5–10% аудитории, без рекламы внутри ассистента. Смотрим на одно число: GMV без возвратов на покупателя после разговора с ассистентом.</a:t>
            </a:r>
            <a:endParaRPr b="0" i="0" sz="1300" u="none" cap="none" strike="noStrike">
              <a:solidFill>
                <a:schemeClr val="dk1"/>
              </a:solidFill>
              <a:latin typeface="Inter"/>
              <a:ea typeface="Inter"/>
              <a:cs typeface="Inter"/>
              <a:sym typeface="Inter"/>
            </a:endParaRPr>
          </a:p>
        </p:txBody>
      </p:sp>
      <p:sp>
        <p:nvSpPr>
          <p:cNvPr id="62" name="Google Shape;62;p8"/>
          <p:cNvSpPr/>
          <p:nvPr/>
        </p:nvSpPr>
        <p:spPr>
          <a:xfrm>
            <a:off x="711200" y="6160480"/>
            <a:ext cx="11092800" cy="45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BA6CC"/>
              </a:buClr>
              <a:buSzPts val="1200"/>
              <a:buFont typeface="Inter"/>
              <a:buNone/>
            </a:pPr>
            <a:r>
              <a:rPr lang="en-US" sz="1200">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3">
                  <a:extLst>
                    <a:ext uri="{A12FA001-AC4F-418D-AE19-62706E023703}">
                      <ahyp:hlinkClr val="tx"/>
                    </a:ext>
                  </a:extLst>
                </a:hlinkClick>
              </a:rPr>
              <a:t>3DNews, 25.06.2026</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4">
                  <a:extLst>
                    <a:ext uri="{A12FA001-AC4F-418D-AE19-62706E023703}">
                      <ahyp:hlinkClr val="tx"/>
                    </a:ext>
                  </a:extLst>
                </a:hlinkClick>
              </a:rPr>
              <a:t>SelSup по данным Data Insight</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5">
                  <a:extLst>
                    <a:ext uri="{A12FA001-AC4F-418D-AE19-62706E023703}">
                      <ahyp:hlinkClr val="tx"/>
                    </a:ext>
                  </a:extLst>
                </a:hlinkClick>
              </a:rPr>
              <a:t>Коммерсантъ, 27.04.2026</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6">
                  <a:extLst>
                    <a:ext uri="{A12FA001-AC4F-418D-AE19-62706E023703}">
                      <ahyp:hlinkClr val="tx"/>
                    </a:ext>
                  </a:extLst>
                </a:hlinkClick>
              </a:rPr>
              <a:t>СберБизнес Live, 07.2026</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7">
                  <a:extLst>
                    <a:ext uri="{A12FA001-AC4F-418D-AE19-62706E023703}">
                      <ahyp:hlinkClr val="tx"/>
                    </a:ext>
                  </a:extLst>
                </a:hlinkClick>
              </a:rPr>
              <a:t>Профиль по Ведомостям, 18.07.2026</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8">
                  <a:extLst>
                    <a:ext uri="{A12FA001-AC4F-418D-AE19-62706E023703}">
                      <ahyp:hlinkClr val="tx"/>
                    </a:ext>
                  </a:extLst>
                </a:hlinkClick>
              </a:rPr>
              <a:t>Uniseller, экспресс-доставка, 2026</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9">
                  <a:extLst>
                    <a:ext uri="{A12FA001-AC4F-418D-AE19-62706E023703}">
                      <ahyp:hlinkClr val="tx"/>
                    </a:ext>
                  </a:extLst>
                </a:hlinkClick>
              </a:rPr>
              <a:t>Hi-Tech Mail</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10">
                  <a:extLst>
                    <a:ext uri="{A12FA001-AC4F-418D-AE19-62706E023703}">
                      <ahyp:hlinkClr val="tx"/>
                    </a:ext>
                  </a:extLst>
                </a:hlinkClick>
              </a:rPr>
              <a:t>Inc. Russia</a:t>
            </a:r>
            <a:endParaRPr b="0" i="0" sz="1200" u="none" cap="none" strike="noStrike">
              <a:solidFill>
                <a:schemeClr val="lt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67" name="Shape 67"/>
        <p:cNvGrpSpPr/>
        <p:nvPr/>
      </p:nvGrpSpPr>
      <p:grpSpPr>
        <a:xfrm>
          <a:off x="0" y="0"/>
          <a:ext cx="0" cy="0"/>
          <a:chOff x="0" y="0"/>
          <a:chExt cx="0" cy="0"/>
        </a:xfrm>
      </p:grpSpPr>
      <p:sp>
        <p:nvSpPr>
          <p:cNvPr id="68" name="Google Shape;68;p9"/>
          <p:cNvSpPr txBox="1"/>
          <p:nvPr>
            <p:ph type="title"/>
          </p:nvPr>
        </p:nvSpPr>
        <p:spPr>
          <a:xfrm>
            <a:off x="711200" y="797560"/>
            <a:ext cx="10769700" cy="711300"/>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Font typeface="Arial"/>
              <a:buNone/>
            </a:pPr>
            <a:r>
              <a:rPr b="1" lang="en-US" sz="2300">
                <a:solidFill>
                  <a:schemeClr val="accent3"/>
                </a:solidFill>
                <a:latin typeface="Arial"/>
                <a:ea typeface="Arial"/>
                <a:cs typeface="Arial"/>
                <a:sym typeface="Arial"/>
              </a:rPr>
              <a:t>Каждая из альтернатив сильна, но упирается в санкции, склады или слишком долгую отдачу</a:t>
            </a:r>
            <a:endParaRPr/>
          </a:p>
        </p:txBody>
      </p:sp>
      <p:sp>
        <p:nvSpPr>
          <p:cNvPr id="69" name="Google Shape;69;p9"/>
          <p:cNvSpPr txBox="1"/>
          <p:nvPr/>
        </p:nvSpPr>
        <p:spPr>
          <a:xfrm>
            <a:off x="711200" y="406400"/>
            <a:ext cx="6350100" cy="241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i="0" lang="en-US" spc="0" sz="1200" u="none" cap="none" strike="noStrike">
                <a:solidFill>
                  <a:srgbClr val="A80E8E"/>
                </a:solidFill>
                <a:latin typeface="Arial"/>
                <a:ea typeface="Arial"/>
                <a:cs typeface="Arial"/>
                <a:sym typeface="Arial"/>
              </a:rPr>
              <a:t>Анализ · отвергнутые альтернативы</a:t>
            </a:r>
            <a:endParaRPr/>
          </a:p>
        </p:txBody>
      </p:sp>
      <p:sp>
        <p:nvSpPr>
          <p:cNvPr id="70" name="Google Shape;70;p9"/>
          <p:cNvSpPr txBox="1"/>
          <p:nvPr/>
        </p:nvSpPr>
        <p:spPr>
          <a:xfrm>
            <a:off x="711200" y="1651000"/>
            <a:ext cx="1714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100" u="none" cap="none" strike="noStrike">
                <a:solidFill>
                  <a:srgbClr val="6E5E7D"/>
                </a:solidFill>
                <a:latin typeface="Arial"/>
                <a:ea typeface="Arial"/>
                <a:cs typeface="Arial"/>
                <a:sym typeface="Arial"/>
              </a:rPr>
              <a:t>Ставка</a:t>
            </a:r>
            <a:endParaRPr/>
          </a:p>
        </p:txBody>
      </p:sp>
      <p:sp>
        <p:nvSpPr>
          <p:cNvPr id="71" name="Google Shape;71;p9"/>
          <p:cNvSpPr txBox="1"/>
          <p:nvPr/>
        </p:nvSpPr>
        <p:spPr>
          <a:xfrm>
            <a:off x="2552700" y="1651000"/>
            <a:ext cx="3022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100" u="none" cap="none" strike="noStrike">
                <a:solidFill>
                  <a:srgbClr val="6E5E7D"/>
                </a:solidFill>
                <a:latin typeface="Arial"/>
                <a:ea typeface="Arial"/>
                <a:cs typeface="Arial"/>
                <a:sym typeface="Arial"/>
              </a:rPr>
              <a:t>Чем привлекательна</a:t>
            </a:r>
            <a:endParaRPr/>
          </a:p>
        </p:txBody>
      </p:sp>
      <p:sp>
        <p:nvSpPr>
          <p:cNvPr id="72" name="Google Shape;72;p9"/>
          <p:cNvSpPr txBox="1"/>
          <p:nvPr/>
        </p:nvSpPr>
        <p:spPr>
          <a:xfrm>
            <a:off x="5727700" y="1651000"/>
            <a:ext cx="35559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100" u="none" cap="none" strike="noStrike">
                <a:solidFill>
                  <a:srgbClr val="6E5E7D"/>
                </a:solidFill>
                <a:latin typeface="Arial"/>
                <a:ea typeface="Arial"/>
                <a:cs typeface="Arial"/>
                <a:sym typeface="Arial"/>
              </a:rPr>
              <a:t>Почему не выбираем сейчас</a:t>
            </a:r>
            <a:endParaRPr/>
          </a:p>
        </p:txBody>
      </p:sp>
      <p:sp>
        <p:nvSpPr>
          <p:cNvPr id="73" name="Google Shape;73;p9"/>
          <p:cNvSpPr txBox="1"/>
          <p:nvPr/>
        </p:nvSpPr>
        <p:spPr>
          <a:xfrm>
            <a:off x="9334500" y="1651000"/>
            <a:ext cx="558900" cy="203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Цель</a:t>
            </a:r>
            <a:endParaRPr/>
          </a:p>
        </p:txBody>
      </p:sp>
      <p:sp>
        <p:nvSpPr>
          <p:cNvPr id="74" name="Google Shape;74;p9"/>
          <p:cNvSpPr txBox="1"/>
          <p:nvPr/>
        </p:nvSpPr>
        <p:spPr>
          <a:xfrm>
            <a:off x="9817100" y="1651000"/>
            <a:ext cx="558900" cy="203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Риски</a:t>
            </a:r>
            <a:endParaRPr/>
          </a:p>
        </p:txBody>
      </p:sp>
      <p:sp>
        <p:nvSpPr>
          <p:cNvPr id="75" name="Google Shape;75;p9"/>
          <p:cNvSpPr txBox="1"/>
          <p:nvPr/>
        </p:nvSpPr>
        <p:spPr>
          <a:xfrm>
            <a:off x="10299700" y="1651000"/>
            <a:ext cx="558900" cy="203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Отрыв</a:t>
            </a:r>
            <a:endParaRPr/>
          </a:p>
        </p:txBody>
      </p:sp>
      <p:sp>
        <p:nvSpPr>
          <p:cNvPr id="76" name="Google Shape;76;p9"/>
          <p:cNvSpPr txBox="1"/>
          <p:nvPr/>
        </p:nvSpPr>
        <p:spPr>
          <a:xfrm>
            <a:off x="10782300" y="1651000"/>
            <a:ext cx="558900" cy="203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2 года</a:t>
            </a:r>
            <a:endParaRPr/>
          </a:p>
        </p:txBody>
      </p:sp>
      <p:sp>
        <p:nvSpPr>
          <p:cNvPr id="77" name="Google Shape;77;p9"/>
          <p:cNvSpPr txBox="1"/>
          <p:nvPr/>
        </p:nvSpPr>
        <p:spPr>
          <a:xfrm>
            <a:off x="11341100" y="16510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Итог</a:t>
            </a:r>
            <a:endParaRPr/>
          </a:p>
        </p:txBody>
      </p:sp>
      <p:cxnSp>
        <p:nvCxnSpPr>
          <p:cNvPr id="78" name="Google Shape;78;p9"/>
          <p:cNvCxnSpPr/>
          <p:nvPr/>
        </p:nvCxnSpPr>
        <p:spPr>
          <a:xfrm>
            <a:off x="711200" y="1905000"/>
            <a:ext cx="11087100" cy="0"/>
          </a:xfrm>
          <a:prstGeom prst="straightConnector1">
            <a:avLst/>
          </a:prstGeom>
          <a:noFill/>
          <a:ln cap="flat" cmpd="sng" w="9525">
            <a:solidFill>
              <a:srgbClr val="DDD0E6"/>
            </a:solidFill>
            <a:prstDash val="solid"/>
            <a:round/>
            <a:headEnd len="sm" w="sm" type="none"/>
            <a:tailEnd len="sm" w="sm" type="none"/>
          </a:ln>
        </p:spPr>
      </p:cxnSp>
      <p:sp>
        <p:nvSpPr>
          <p:cNvPr id="79" name="Google Shape;79;p9"/>
          <p:cNvSpPr txBox="1"/>
          <p:nvPr/>
        </p:nvSpPr>
        <p:spPr>
          <a:xfrm>
            <a:off x="711200" y="1981200"/>
            <a:ext cx="1714500" cy="723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241036"/>
                </a:solidFill>
                <a:latin typeface="Arial"/>
                <a:ea typeface="Arial"/>
                <a:cs typeface="Arial"/>
                <a:sym typeface="Arial"/>
              </a:rPr>
              <a:t>Доставка за час</a:t>
            </a:r>
            <a:endParaRPr/>
          </a:p>
          <a:p>
            <a:pPr indent="0" lvl="0" marL="0" marR="0" rtl="0" algn="l">
              <a:lnSpc>
                <a:spcPct val="110000"/>
              </a:lnSpc>
              <a:spcBef>
                <a:spcPts val="200"/>
              </a:spcBef>
              <a:spcAft>
                <a:spcPts val="0"/>
              </a:spcAft>
              <a:buNone/>
            </a:pPr>
            <a:r>
              <a:rPr b="0" i="0" lang="en-US" spc="0" sz="1100" u="none" cap="none" strike="noStrike">
                <a:solidFill>
                  <a:srgbClr val="6E5E7D"/>
                </a:solidFill>
                <a:latin typeface="Arial"/>
                <a:ea typeface="Arial"/>
                <a:cs typeface="Arial"/>
                <a:sym typeface="Arial"/>
              </a:rPr>
              <a:t>экспресс из дарксторов</a:t>
            </a:r>
            <a:endParaRPr/>
          </a:p>
        </p:txBody>
      </p:sp>
      <p:sp>
        <p:nvSpPr>
          <p:cNvPr id="80" name="Google Shape;80;p9"/>
          <p:cNvSpPr txBox="1"/>
          <p:nvPr/>
        </p:nvSpPr>
        <p:spPr>
          <a:xfrm>
            <a:off x="2552700" y="1981200"/>
            <a:ext cx="30225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Скорость стала нормой. WB уже тестирует свой «Экспресс»: с февраля 2026 года хаб в Чертаново привозит 1,2 тыс. товаров за час.</a:t>
            </a:r>
            <a:endParaRPr/>
          </a:p>
        </p:txBody>
      </p:sp>
      <p:sp>
        <p:nvSpPr>
          <p:cNvPr id="81" name="Google Shape;81;p9"/>
          <p:cNvSpPr txBox="1"/>
          <p:nvPr/>
        </p:nvSpPr>
        <p:spPr>
          <a:xfrm>
            <a:off x="5727700" y="1981200"/>
            <a:ext cx="35559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Нужны дарксторы в каждом городе, а склады и так под ударом дронов. В сегменте давно Лавка и Самокат: мы догоняем, а заказ от 500 ₽ дорого везти за час.</a:t>
            </a:r>
            <a:endParaRPr/>
          </a:p>
        </p:txBody>
      </p:sp>
      <p:sp>
        <p:nvSpPr>
          <p:cNvPr id="82" name="Google Shape;82;p9"/>
          <p:cNvSpPr txBox="1"/>
          <p:nvPr/>
        </p:nvSpPr>
        <p:spPr>
          <a:xfrm>
            <a:off x="9385300" y="20066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83" name="Google Shape;83;p9"/>
          <p:cNvSpPr txBox="1"/>
          <p:nvPr/>
        </p:nvSpPr>
        <p:spPr>
          <a:xfrm>
            <a:off x="9867900" y="20066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84" name="Google Shape;84;p9"/>
          <p:cNvSpPr txBox="1"/>
          <p:nvPr/>
        </p:nvSpPr>
        <p:spPr>
          <a:xfrm>
            <a:off x="10350500" y="20066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85" name="Google Shape;85;p9"/>
          <p:cNvSpPr txBox="1"/>
          <p:nvPr/>
        </p:nvSpPr>
        <p:spPr>
          <a:xfrm>
            <a:off x="10833100" y="20066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86" name="Google Shape;86;p9"/>
          <p:cNvSpPr txBox="1"/>
          <p:nvPr/>
        </p:nvSpPr>
        <p:spPr>
          <a:xfrm>
            <a:off x="11341100" y="19939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200" u="none" cap="none" strike="noStrike">
                <a:solidFill>
                  <a:srgbClr val="5E4D6E"/>
                </a:solidFill>
                <a:latin typeface="Arial"/>
                <a:ea typeface="Arial"/>
                <a:cs typeface="Arial"/>
                <a:sym typeface="Arial"/>
              </a:rPr>
              <a:t>5/12</a:t>
            </a:r>
            <a:endParaRPr/>
          </a:p>
        </p:txBody>
      </p:sp>
      <p:cxnSp>
        <p:nvCxnSpPr>
          <p:cNvPr id="87" name="Google Shape;87;p9"/>
          <p:cNvCxnSpPr/>
          <p:nvPr/>
        </p:nvCxnSpPr>
        <p:spPr>
          <a:xfrm>
            <a:off x="711200" y="2730500"/>
            <a:ext cx="11087100" cy="0"/>
          </a:xfrm>
          <a:prstGeom prst="straightConnector1">
            <a:avLst/>
          </a:prstGeom>
          <a:noFill/>
          <a:ln cap="flat" cmpd="sng" w="9525">
            <a:solidFill>
              <a:srgbClr val="DDD0E6"/>
            </a:solidFill>
            <a:prstDash val="solid"/>
            <a:round/>
            <a:headEnd len="sm" w="sm" type="none"/>
            <a:tailEnd len="sm" w="sm" type="none"/>
          </a:ln>
        </p:spPr>
      </p:cxnSp>
      <p:sp>
        <p:nvSpPr>
          <p:cNvPr id="88" name="Google Shape;88;p9"/>
          <p:cNvSpPr txBox="1"/>
          <p:nvPr/>
        </p:nvSpPr>
        <p:spPr>
          <a:xfrm>
            <a:off x="711200" y="2781300"/>
            <a:ext cx="1714500" cy="723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241036"/>
                </a:solidFill>
                <a:latin typeface="Arial"/>
                <a:ea typeface="Arial"/>
                <a:cs typeface="Arial"/>
                <a:sym typeface="Arial"/>
              </a:rPr>
              <a:t>Социальная коммерция</a:t>
            </a:r>
            <a:endParaRPr/>
          </a:p>
          <a:p>
            <a:pPr indent="0" lvl="0" marL="0" marR="0" rtl="0" algn="l">
              <a:lnSpc>
                <a:spcPct val="110000"/>
              </a:lnSpc>
              <a:spcBef>
                <a:spcPts val="200"/>
              </a:spcBef>
              <a:spcAft>
                <a:spcPts val="0"/>
              </a:spcAft>
              <a:buNone/>
            </a:pPr>
            <a:r>
              <a:rPr b="0" i="0" lang="en-US" spc="0" sz="1100" u="none" cap="none" strike="noStrike">
                <a:solidFill>
                  <a:srgbClr val="6E5E7D"/>
                </a:solidFill>
                <a:latin typeface="Arial"/>
                <a:ea typeface="Arial"/>
                <a:cs typeface="Arial"/>
                <a:sym typeface="Arial"/>
              </a:rPr>
              <a:t>Wibes и видео с товарами</a:t>
            </a:r>
            <a:endParaRPr/>
          </a:p>
        </p:txBody>
      </p:sp>
      <p:sp>
        <p:nvSpPr>
          <p:cNvPr id="89" name="Google Shape;89;p9"/>
          <p:cNvSpPr txBox="1"/>
          <p:nvPr/>
        </p:nvSpPr>
        <p:spPr>
          <a:xfrm>
            <a:off x="2552700" y="2781300"/>
            <a:ext cx="30225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Видео созда</a:t>
            </a:r>
            <a:r>
              <a:rPr lang="en-US" sz="1200">
                <a:solidFill>
                  <a:srgbClr val="3D2A4F"/>
                </a:solidFill>
              </a:rPr>
              <a:t>е</a:t>
            </a:r>
            <a:r>
              <a:rPr b="0" i="0" lang="en-US" spc="0" sz="1200" u="none" cap="none" strike="noStrike">
                <a:solidFill>
                  <a:srgbClr val="3D2A4F"/>
                </a:solidFill>
                <a:latin typeface="Arial"/>
                <a:ea typeface="Arial"/>
                <a:cs typeface="Arial"/>
                <a:sym typeface="Arial"/>
              </a:rPr>
              <a:t>т спрос там, где человек ничего не искал. У RWB есть рекламный холдинг Russ и готовая платформа Wibes.</a:t>
            </a:r>
            <a:endParaRPr/>
          </a:p>
        </p:txBody>
      </p:sp>
      <p:sp>
        <p:nvSpPr>
          <p:cNvPr id="90" name="Google Shape;90;p9"/>
          <p:cNvSpPr txBox="1"/>
          <p:nvPr/>
        </p:nvSpPr>
        <p:spPr>
          <a:xfrm>
            <a:off x="5727700" y="2781300"/>
            <a:ext cx="35559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Wibes смотрели около 170 тыс. человек в день, капля рядом с аудиторией WB. Отбить внимание у VK и Telegram за 2 года не выйдет, а видео пригодятся консультанту.</a:t>
            </a:r>
            <a:endParaRPr/>
          </a:p>
        </p:txBody>
      </p:sp>
      <p:sp>
        <p:nvSpPr>
          <p:cNvPr id="91" name="Google Shape;91;p9"/>
          <p:cNvSpPr txBox="1"/>
          <p:nvPr/>
        </p:nvSpPr>
        <p:spPr>
          <a:xfrm>
            <a:off x="9385300" y="28067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92" name="Google Shape;92;p9"/>
          <p:cNvSpPr txBox="1"/>
          <p:nvPr/>
        </p:nvSpPr>
        <p:spPr>
          <a:xfrm>
            <a:off x="9867900" y="28067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endParaRPr/>
          </a:p>
        </p:txBody>
      </p:sp>
      <p:sp>
        <p:nvSpPr>
          <p:cNvPr id="93" name="Google Shape;93;p9"/>
          <p:cNvSpPr txBox="1"/>
          <p:nvPr/>
        </p:nvSpPr>
        <p:spPr>
          <a:xfrm>
            <a:off x="10350500" y="28067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94" name="Google Shape;94;p9"/>
          <p:cNvSpPr txBox="1"/>
          <p:nvPr/>
        </p:nvSpPr>
        <p:spPr>
          <a:xfrm>
            <a:off x="10833100" y="28067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95" name="Google Shape;95;p9"/>
          <p:cNvSpPr txBox="1"/>
          <p:nvPr/>
        </p:nvSpPr>
        <p:spPr>
          <a:xfrm>
            <a:off x="11341100" y="27940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200" u="none" cap="none" strike="noStrike">
                <a:solidFill>
                  <a:srgbClr val="5E4D6E"/>
                </a:solidFill>
                <a:latin typeface="Arial"/>
                <a:ea typeface="Arial"/>
                <a:cs typeface="Arial"/>
                <a:sym typeface="Arial"/>
              </a:rPr>
              <a:t>7/12</a:t>
            </a:r>
            <a:endParaRPr/>
          </a:p>
        </p:txBody>
      </p:sp>
      <p:cxnSp>
        <p:nvCxnSpPr>
          <p:cNvPr id="96" name="Google Shape;96;p9"/>
          <p:cNvCxnSpPr/>
          <p:nvPr/>
        </p:nvCxnSpPr>
        <p:spPr>
          <a:xfrm>
            <a:off x="711200" y="3530600"/>
            <a:ext cx="11087100" cy="0"/>
          </a:xfrm>
          <a:prstGeom prst="straightConnector1">
            <a:avLst/>
          </a:prstGeom>
          <a:noFill/>
          <a:ln cap="flat" cmpd="sng" w="9525">
            <a:solidFill>
              <a:srgbClr val="DDD0E6"/>
            </a:solidFill>
            <a:prstDash val="solid"/>
            <a:round/>
            <a:headEnd len="sm" w="sm" type="none"/>
            <a:tailEnd len="sm" w="sm" type="none"/>
          </a:ln>
        </p:spPr>
      </p:cxnSp>
      <p:sp>
        <p:nvSpPr>
          <p:cNvPr id="97" name="Google Shape;97;p9"/>
          <p:cNvSpPr txBox="1"/>
          <p:nvPr/>
        </p:nvSpPr>
        <p:spPr>
          <a:xfrm>
            <a:off x="711200" y="3581400"/>
            <a:ext cx="1714500" cy="723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241036"/>
                </a:solidFill>
                <a:latin typeface="Arial"/>
                <a:ea typeface="Arial"/>
                <a:cs typeface="Arial"/>
                <a:sym typeface="Arial"/>
              </a:rPr>
              <a:t>Финтех вокруг покупки</a:t>
            </a:r>
            <a:endParaRPr/>
          </a:p>
          <a:p>
            <a:pPr indent="0" lvl="0" marL="0" marR="0" rtl="0" algn="l">
              <a:lnSpc>
                <a:spcPct val="110000"/>
              </a:lnSpc>
              <a:spcBef>
                <a:spcPts val="200"/>
              </a:spcBef>
              <a:spcAft>
                <a:spcPts val="0"/>
              </a:spcAft>
              <a:buNone/>
            </a:pPr>
            <a:r>
              <a:rPr b="0" i="0" lang="en-US" spc="0" sz="1100" u="none" cap="none" strike="noStrike">
                <a:solidFill>
                  <a:srgbClr val="6E5E7D"/>
                </a:solidFill>
                <a:latin typeface="Arial"/>
                <a:ea typeface="Arial"/>
                <a:cs typeface="Arial"/>
                <a:sym typeface="Arial"/>
              </a:rPr>
              <a:t>WB Банк и рассрочка</a:t>
            </a:r>
            <a:endParaRPr/>
          </a:p>
        </p:txBody>
      </p:sp>
      <p:sp>
        <p:nvSpPr>
          <p:cNvPr id="98" name="Google Shape;98;p9"/>
          <p:cNvSpPr txBox="1"/>
          <p:nvPr/>
        </p:nvSpPr>
        <p:spPr>
          <a:xfrm>
            <a:off x="2552700" y="3581400"/>
            <a:ext cx="30225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Самый маржинальный доход сверх комиссии. Финтех Ozon за 2025 год: 195 млрд ₽ выручки (+120%) и 60 млрд ₽ прибыли до налогов.</a:t>
            </a:r>
            <a:endParaRPr/>
          </a:p>
        </p:txBody>
      </p:sp>
      <p:sp>
        <p:nvSpPr>
          <p:cNvPr id="99" name="Google Shape;99;p9"/>
          <p:cNvSpPr txBox="1"/>
          <p:nvPr/>
        </p:nvSpPr>
        <p:spPr>
          <a:xfrm>
            <a:off x="5727700" y="3581400"/>
            <a:ext cx="35559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WB Банк с апреля 2026 года под санкциями ЕС. С 1 октября 289-ФЗ требует показывать цену без скидки за карту банка, и этот рычаг слабеет. Ozon далеко впереди.</a:t>
            </a:r>
            <a:endParaRPr/>
          </a:p>
        </p:txBody>
      </p:sp>
      <p:sp>
        <p:nvSpPr>
          <p:cNvPr id="100" name="Google Shape;100;p9"/>
          <p:cNvSpPr txBox="1"/>
          <p:nvPr/>
        </p:nvSpPr>
        <p:spPr>
          <a:xfrm>
            <a:off x="9385300" y="36068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endParaRPr/>
          </a:p>
        </p:txBody>
      </p:sp>
      <p:sp>
        <p:nvSpPr>
          <p:cNvPr id="101" name="Google Shape;101;p9"/>
          <p:cNvSpPr txBox="1"/>
          <p:nvPr/>
        </p:nvSpPr>
        <p:spPr>
          <a:xfrm>
            <a:off x="9867900" y="36068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02" name="Google Shape;102;p9"/>
          <p:cNvSpPr txBox="1"/>
          <p:nvPr/>
        </p:nvSpPr>
        <p:spPr>
          <a:xfrm>
            <a:off x="10350500" y="36068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03" name="Google Shape;103;p9"/>
          <p:cNvSpPr txBox="1"/>
          <p:nvPr/>
        </p:nvSpPr>
        <p:spPr>
          <a:xfrm>
            <a:off x="10833100" y="36068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04" name="Google Shape;104;p9"/>
          <p:cNvSpPr txBox="1"/>
          <p:nvPr/>
        </p:nvSpPr>
        <p:spPr>
          <a:xfrm>
            <a:off x="11341100" y="35941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200" u="none" cap="none" strike="noStrike">
                <a:solidFill>
                  <a:srgbClr val="5E4D6E"/>
                </a:solidFill>
                <a:latin typeface="Arial"/>
                <a:ea typeface="Arial"/>
                <a:cs typeface="Arial"/>
                <a:sym typeface="Arial"/>
              </a:rPr>
              <a:t>7/12</a:t>
            </a:r>
            <a:endParaRPr/>
          </a:p>
        </p:txBody>
      </p:sp>
      <p:cxnSp>
        <p:nvCxnSpPr>
          <p:cNvPr id="105" name="Google Shape;105;p9"/>
          <p:cNvCxnSpPr/>
          <p:nvPr/>
        </p:nvCxnSpPr>
        <p:spPr>
          <a:xfrm>
            <a:off x="711200" y="4330700"/>
            <a:ext cx="11087100" cy="0"/>
          </a:xfrm>
          <a:prstGeom prst="straightConnector1">
            <a:avLst/>
          </a:prstGeom>
          <a:noFill/>
          <a:ln cap="flat" cmpd="sng" w="9525">
            <a:solidFill>
              <a:srgbClr val="DDD0E6"/>
            </a:solidFill>
            <a:prstDash val="solid"/>
            <a:round/>
            <a:headEnd len="sm" w="sm" type="none"/>
            <a:tailEnd len="sm" w="sm" type="none"/>
          </a:ln>
        </p:spPr>
      </p:cxnSp>
      <p:sp>
        <p:nvSpPr>
          <p:cNvPr id="106" name="Google Shape;106;p9"/>
          <p:cNvSpPr txBox="1"/>
          <p:nvPr/>
        </p:nvSpPr>
        <p:spPr>
          <a:xfrm>
            <a:off x="711200" y="4381500"/>
            <a:ext cx="1714500" cy="723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241036"/>
                </a:solidFill>
                <a:latin typeface="Arial"/>
                <a:ea typeface="Arial"/>
                <a:cs typeface="Arial"/>
                <a:sym typeface="Arial"/>
              </a:rPr>
              <a:t>Экспансия в СНГ</a:t>
            </a:r>
            <a:endParaRPr/>
          </a:p>
          <a:p>
            <a:pPr indent="0" lvl="0" marL="0" marR="0" rtl="0" algn="l">
              <a:lnSpc>
                <a:spcPct val="110000"/>
              </a:lnSpc>
              <a:spcBef>
                <a:spcPts val="200"/>
              </a:spcBef>
              <a:spcAft>
                <a:spcPts val="0"/>
              </a:spcAft>
              <a:buNone/>
            </a:pPr>
            <a:r>
              <a:rPr b="0" i="0" lang="en-US" spc="0" sz="1100" u="none" cap="none" strike="noStrike">
                <a:solidFill>
                  <a:srgbClr val="6E5E7D"/>
                </a:solidFill>
                <a:latin typeface="Arial"/>
                <a:ea typeface="Arial"/>
                <a:cs typeface="Arial"/>
                <a:sym typeface="Arial"/>
              </a:rPr>
              <a:t>Казахстан, Узбекистан, Кыргызстан</a:t>
            </a:r>
            <a:endParaRPr/>
          </a:p>
        </p:txBody>
      </p:sp>
      <p:sp>
        <p:nvSpPr>
          <p:cNvPr id="107" name="Google Shape;107;p9"/>
          <p:cNvSpPr txBox="1"/>
          <p:nvPr/>
        </p:nvSpPr>
        <p:spPr>
          <a:xfrm>
            <a:off x="2552700" y="4381500"/>
            <a:ext cx="30225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Рост за пределами замедлившегося рынка РФ. WB уже мост для местных продавцов: продажи узбекских товаров на WB в 2025 году превысили $1,4 млрд.</a:t>
            </a:r>
            <a:endParaRPr/>
          </a:p>
        </p:txBody>
      </p:sp>
      <p:sp>
        <p:nvSpPr>
          <p:cNvPr id="108" name="Google Shape;108;p9"/>
          <p:cNvSpPr txBox="1"/>
          <p:nvPr/>
        </p:nvSpPr>
        <p:spPr>
          <a:xfrm>
            <a:off x="5727700" y="4381500"/>
            <a:ext cx="35559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Рынки малы: весь онлайн Казахстана за полгода 2025-го около $3,3 млрд. Там сильны Kaspi и Uzum, а новым складам пришлось бы делить капитал с ремонтом складов в РФ.</a:t>
            </a:r>
            <a:endParaRPr/>
          </a:p>
        </p:txBody>
      </p:sp>
      <p:sp>
        <p:nvSpPr>
          <p:cNvPr id="109" name="Google Shape;109;p9"/>
          <p:cNvSpPr txBox="1"/>
          <p:nvPr/>
        </p:nvSpPr>
        <p:spPr>
          <a:xfrm>
            <a:off x="9385300" y="44069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10" name="Google Shape;110;p9"/>
          <p:cNvSpPr txBox="1"/>
          <p:nvPr/>
        </p:nvSpPr>
        <p:spPr>
          <a:xfrm>
            <a:off x="9867900" y="44069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11" name="Google Shape;111;p9"/>
          <p:cNvSpPr txBox="1"/>
          <p:nvPr/>
        </p:nvSpPr>
        <p:spPr>
          <a:xfrm>
            <a:off x="10350500" y="44069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12" name="Google Shape;112;p9"/>
          <p:cNvSpPr txBox="1"/>
          <p:nvPr/>
        </p:nvSpPr>
        <p:spPr>
          <a:xfrm>
            <a:off x="10833100" y="44069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13" name="Google Shape;113;p9"/>
          <p:cNvSpPr txBox="1"/>
          <p:nvPr/>
        </p:nvSpPr>
        <p:spPr>
          <a:xfrm>
            <a:off x="11341100" y="43942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200" u="none" cap="none" strike="noStrike">
                <a:solidFill>
                  <a:srgbClr val="5E4D6E"/>
                </a:solidFill>
                <a:latin typeface="Arial"/>
                <a:ea typeface="Arial"/>
                <a:cs typeface="Arial"/>
                <a:sym typeface="Arial"/>
              </a:rPr>
              <a:t>7/12</a:t>
            </a:r>
            <a:endParaRPr/>
          </a:p>
        </p:txBody>
      </p:sp>
      <p:cxnSp>
        <p:nvCxnSpPr>
          <p:cNvPr id="114" name="Google Shape;114;p9"/>
          <p:cNvCxnSpPr/>
          <p:nvPr/>
        </p:nvCxnSpPr>
        <p:spPr>
          <a:xfrm>
            <a:off x="711200" y="5130800"/>
            <a:ext cx="11087100" cy="0"/>
          </a:xfrm>
          <a:prstGeom prst="straightConnector1">
            <a:avLst/>
          </a:prstGeom>
          <a:noFill/>
          <a:ln cap="flat" cmpd="sng" w="9525">
            <a:solidFill>
              <a:srgbClr val="DDD0E6"/>
            </a:solidFill>
            <a:prstDash val="solid"/>
            <a:round/>
            <a:headEnd len="sm" w="sm" type="none"/>
            <a:tailEnd len="sm" w="sm" type="none"/>
          </a:ln>
        </p:spPr>
      </p:cxnSp>
      <p:sp>
        <p:nvSpPr>
          <p:cNvPr id="115" name="Google Shape;115;p9"/>
          <p:cNvSpPr/>
          <p:nvPr/>
        </p:nvSpPr>
        <p:spPr>
          <a:xfrm>
            <a:off x="609600" y="5207000"/>
            <a:ext cx="11290200" cy="533400"/>
          </a:xfrm>
          <a:prstGeom prst="roundRect">
            <a:avLst>
              <a:gd fmla="val 12000" name="adj"/>
            </a:avLst>
          </a:prstGeom>
          <a:solidFill>
            <a:srgbClr val="EDE2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chemeClr val="lt1"/>
              </a:solidFill>
              <a:latin typeface="Arial"/>
              <a:ea typeface="Arial"/>
              <a:cs typeface="Arial"/>
              <a:sym typeface="Arial"/>
            </a:endParaRPr>
          </a:p>
        </p:txBody>
      </p:sp>
      <p:sp>
        <p:nvSpPr>
          <p:cNvPr id="116" name="Google Shape;116;p9"/>
          <p:cNvSpPr txBox="1"/>
          <p:nvPr/>
        </p:nvSpPr>
        <p:spPr>
          <a:xfrm>
            <a:off x="711200" y="5283200"/>
            <a:ext cx="1714500" cy="406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A80E8E"/>
                </a:solidFill>
                <a:latin typeface="Arial"/>
                <a:ea typeface="Arial"/>
                <a:cs typeface="Arial"/>
                <a:sym typeface="Arial"/>
              </a:rPr>
              <a:t>ИИ-консультант</a:t>
            </a:r>
            <a:endParaRPr/>
          </a:p>
          <a:p>
            <a:pPr indent="0" lvl="0" marL="0" marR="0" rtl="0" algn="l">
              <a:lnSpc>
                <a:spcPct val="110000"/>
              </a:lnSpc>
              <a:spcBef>
                <a:spcPts val="0"/>
              </a:spcBef>
              <a:spcAft>
                <a:spcPts val="0"/>
              </a:spcAft>
              <a:buNone/>
            </a:pPr>
            <a:r>
              <a:rPr b="0" i="0" lang="en-US" spc="0" sz="1100" u="none" cap="none" strike="noStrike">
                <a:solidFill>
                  <a:srgbClr val="6E5E7D"/>
                </a:solidFill>
                <a:latin typeface="Arial"/>
                <a:ea typeface="Arial"/>
                <a:cs typeface="Arial"/>
                <a:sym typeface="Arial"/>
              </a:rPr>
              <a:t>выбранная ставка</a:t>
            </a:r>
            <a:endParaRPr/>
          </a:p>
        </p:txBody>
      </p:sp>
      <p:sp>
        <p:nvSpPr>
          <p:cNvPr id="117" name="Google Shape;117;p9"/>
          <p:cNvSpPr txBox="1"/>
          <p:nvPr/>
        </p:nvSpPr>
        <p:spPr>
          <a:xfrm>
            <a:off x="2552700" y="5283200"/>
            <a:ext cx="6731100" cy="406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pc="0" sz="1200" u="none" cap="none" strike="noStrike">
                <a:solidFill>
                  <a:srgbClr val="241036"/>
                </a:solidFill>
                <a:latin typeface="Arial"/>
                <a:ea typeface="Arial"/>
                <a:cs typeface="Arial"/>
                <a:sym typeface="Arial"/>
              </a:rPr>
              <a:t>Держится на знании покупателя: его не унести с карточкой и не потерять при атаке на склад. Слабое место: GPU и ML-команда дороги, поэтому начинаем с пилота.</a:t>
            </a:r>
            <a:endParaRPr/>
          </a:p>
        </p:txBody>
      </p:sp>
      <p:sp>
        <p:nvSpPr>
          <p:cNvPr id="118" name="Google Shape;118;p9"/>
          <p:cNvSpPr txBox="1"/>
          <p:nvPr/>
        </p:nvSpPr>
        <p:spPr>
          <a:xfrm>
            <a:off x="9385300" y="53721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endParaRPr/>
          </a:p>
        </p:txBody>
      </p:sp>
      <p:sp>
        <p:nvSpPr>
          <p:cNvPr id="119" name="Google Shape;119;p9"/>
          <p:cNvSpPr txBox="1"/>
          <p:nvPr/>
        </p:nvSpPr>
        <p:spPr>
          <a:xfrm>
            <a:off x="9867900" y="53721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CDBBDA"/>
                </a:solidFill>
                <a:latin typeface="Arial"/>
                <a:ea typeface="Arial"/>
                <a:cs typeface="Arial"/>
                <a:sym typeface="Arial"/>
              </a:rPr>
              <a:t>●</a:t>
            </a:r>
            <a:endParaRPr/>
          </a:p>
        </p:txBody>
      </p:sp>
      <p:sp>
        <p:nvSpPr>
          <p:cNvPr id="120" name="Google Shape;120;p9"/>
          <p:cNvSpPr txBox="1"/>
          <p:nvPr/>
        </p:nvSpPr>
        <p:spPr>
          <a:xfrm>
            <a:off x="10350500" y="53721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endParaRPr/>
          </a:p>
        </p:txBody>
      </p:sp>
      <p:sp>
        <p:nvSpPr>
          <p:cNvPr id="121" name="Google Shape;121;p9"/>
          <p:cNvSpPr txBox="1"/>
          <p:nvPr/>
        </p:nvSpPr>
        <p:spPr>
          <a:xfrm>
            <a:off x="10833100" y="53721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CDBBDA"/>
                </a:solidFill>
                <a:latin typeface="Arial"/>
                <a:ea typeface="Arial"/>
                <a:cs typeface="Arial"/>
                <a:sym typeface="Arial"/>
              </a:rPr>
              <a:t>●</a:t>
            </a:r>
            <a:endParaRPr/>
          </a:p>
        </p:txBody>
      </p:sp>
      <p:sp>
        <p:nvSpPr>
          <p:cNvPr id="122" name="Google Shape;122;p9"/>
          <p:cNvSpPr txBox="1"/>
          <p:nvPr/>
        </p:nvSpPr>
        <p:spPr>
          <a:xfrm>
            <a:off x="11341100" y="53594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200" u="none" cap="none" strike="noStrike">
                <a:solidFill>
                  <a:srgbClr val="A80E8E"/>
                </a:solidFill>
                <a:latin typeface="Arial"/>
                <a:ea typeface="Arial"/>
                <a:cs typeface="Arial"/>
                <a:sym typeface="Arial"/>
              </a:rPr>
              <a:t>10/12</a:t>
            </a:r>
            <a:endParaRPr/>
          </a:p>
        </p:txBody>
      </p:sp>
      <p:sp>
        <p:nvSpPr>
          <p:cNvPr id="123" name="Google Shape;123;p9"/>
          <p:cNvSpPr txBox="1"/>
          <p:nvPr/>
        </p:nvSpPr>
        <p:spPr>
          <a:xfrm>
            <a:off x="711200" y="5816600"/>
            <a:ext cx="11087100" cy="177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Критерии (1–3 балла):</a:t>
            </a:r>
            <a:r>
              <a:rPr b="0" i="0" lang="en-US" spc="0" sz="1000" u="none" cap="none" strike="noStrike">
                <a:solidFill>
                  <a:srgbClr val="6E5E7D"/>
                </a:solidFill>
                <a:latin typeface="Arial"/>
                <a:ea typeface="Arial"/>
                <a:cs typeface="Arial"/>
                <a:sym typeface="Arial"/>
              </a:rPr>
              <a:t> Цель: вклад в №1 и доход сверх комиссии · Риски: дроны, закон, санкции · Отрыв: фора перед Ozon и Яндексом · 2 года: отдача в срок</a:t>
            </a:r>
            <a:endParaRPr/>
          </a:p>
        </p:txBody>
      </p:sp>
      <p:cxnSp>
        <p:nvCxnSpPr>
          <p:cNvPr id="124" name="Google Shape;124;p9"/>
          <p:cNvCxnSpPr/>
          <p:nvPr/>
        </p:nvCxnSpPr>
        <p:spPr>
          <a:xfrm>
            <a:off x="711200" y="6070600"/>
            <a:ext cx="10769700" cy="0"/>
          </a:xfrm>
          <a:prstGeom prst="straightConnector1">
            <a:avLst/>
          </a:prstGeom>
          <a:noFill/>
          <a:ln cap="flat" cmpd="sng" w="9525">
            <a:solidFill>
              <a:srgbClr val="DDD0E6"/>
            </a:solidFill>
            <a:prstDash val="solid"/>
            <a:round/>
            <a:headEnd len="sm" w="sm" type="none"/>
            <a:tailEnd len="sm" w="sm" type="none"/>
          </a:ln>
        </p:spPr>
      </p:cxnSp>
      <p:sp>
        <p:nvSpPr>
          <p:cNvPr id="125" name="Google Shape;125;p9"/>
          <p:cNvSpPr txBox="1"/>
          <p:nvPr/>
        </p:nvSpPr>
        <p:spPr>
          <a:xfrm>
            <a:off x="711200" y="6146800"/>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i="0" lang="en-US" spc="0" sz="1100" u="none" cap="none" strike="noStrike">
                <a:solidFill>
                  <a:srgbClr val="6E5E7D"/>
                </a:solidFill>
                <a:latin typeface="Arial"/>
                <a:ea typeface="Arial"/>
                <a:cs typeface="Arial"/>
                <a:sym typeface="Arial"/>
              </a:rPr>
              <a:t>- </a:t>
            </a:r>
            <a:r>
              <a:rPr b="0" i="0" lang="en-US" spc="0" sz="1100" u="sng" cap="none" strike="noStrike">
                <a:solidFill>
                  <a:schemeClr val="hlink"/>
                </a:solidFill>
                <a:latin typeface="Arial"/>
                <a:ea typeface="Arial"/>
                <a:cs typeface="Arial"/>
                <a:sym typeface="Arial"/>
                <a:hlinkClick r:id="rId3"/>
              </a:rPr>
              <a:t>CNews, 11.02.2026</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4"/>
              </a:rPr>
              <a:t>РИА Новости, 29.03.2025</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5"/>
              </a:rPr>
              <a:t>Bosfera, 26.02.2026</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6"/>
              </a:rPr>
              <a:t>Фонтанка, 23.04.2026</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7"/>
              </a:rPr>
              <a:t>www1.ru, 29.09.2026</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8"/>
              </a:rPr>
              <a:t>Spot.uz, 23.04.2026</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9"/>
              </a:rPr>
              <a:t>PwC Казахстан, 1П 2025</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10"/>
              </a:rPr>
              <a:t>Forbes.kz через Lada.kz, 31.07.2026</a:t>
            </a:r>
            <a:endParaRPr b="0" i="0" spc="0" sz="1100" u="none" cap="none" strike="noStrike">
              <a:solidFill>
                <a:srgbClr val="6E5E7D"/>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130" name="Shape 130"/>
        <p:cNvGrpSpPr/>
        <p:nvPr/>
      </p:nvGrpSpPr>
      <p:grpSpPr>
        <a:xfrm>
          <a:off x="0" y="0"/>
          <a:ext cx="0" cy="0"/>
          <a:chOff x="0" y="0"/>
          <a:chExt cx="0" cy="0"/>
        </a:xfrm>
      </p:grpSpPr>
      <p:sp>
        <p:nvSpPr>
          <p:cNvPr id="131" name="Google Shape;131;p10"/>
          <p:cNvSpPr txBox="1"/>
          <p:nvPr>
            <p:ph type="title"/>
          </p:nvPr>
        </p:nvSpPr>
        <p:spPr>
          <a:xfrm>
            <a:off x="711200" y="797560"/>
            <a:ext cx="10769700" cy="71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241036"/>
              </a:buClr>
              <a:buSzPts val="2500"/>
              <a:buFont typeface="Inter"/>
              <a:buNone/>
            </a:pPr>
            <a:r>
              <a:t/>
            </a:r>
            <a:endParaRPr/>
          </a:p>
        </p:txBody>
      </p:sp>
      <p:sp>
        <p:nvSpPr>
          <p:cNvPr id="132" name="Google Shape;132;p10"/>
          <p:cNvSpPr txBox="1"/>
          <p:nvPr/>
        </p:nvSpPr>
        <p:spPr>
          <a:xfrm>
            <a:off x="711200" y="406400"/>
            <a:ext cx="6350100" cy="241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i="0" lang="en-US" spc="0" sz="1200" u="none" cap="none" strike="noStrike">
                <a:solidFill>
                  <a:srgbClr val="F27BD8"/>
                </a:solidFill>
                <a:latin typeface="Arial"/>
                <a:ea typeface="Arial"/>
                <a:cs typeface="Arial"/>
                <a:sym typeface="Arial"/>
              </a:rPr>
              <a:t>Анализ · ключевые трейд-оффы</a:t>
            </a:r>
            <a:endParaRPr/>
          </a:p>
        </p:txBody>
      </p:sp>
      <p:sp>
        <p:nvSpPr>
          <p:cNvPr id="133" name="Google Shape;133;p10"/>
          <p:cNvSpPr txBox="1"/>
          <p:nvPr/>
        </p:nvSpPr>
        <p:spPr>
          <a:xfrm>
            <a:off x="711200" y="774700"/>
            <a:ext cx="11087100" cy="7365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i="0" lang="en-US" spc="0" sz="2300" u="none" cap="none" strike="noStrike">
                <a:solidFill>
                  <a:srgbClr val="FBF6FD"/>
                </a:solidFill>
                <a:latin typeface="Arial"/>
                <a:ea typeface="Arial"/>
                <a:cs typeface="Arial"/>
                <a:sym typeface="Arial"/>
              </a:rPr>
              <a:t>Мы покупаем доверие и чистую экономику заказа и платим за это быстрыми деньгами и скоростью</a:t>
            </a:r>
            <a:endParaRPr/>
          </a:p>
        </p:txBody>
      </p:sp>
      <p:sp>
        <p:nvSpPr>
          <p:cNvPr id="134" name="Google Shape;134;p10"/>
          <p:cNvSpPr txBox="1"/>
          <p:nvPr/>
        </p:nvSpPr>
        <p:spPr>
          <a:xfrm>
            <a:off x="1168400" y="1651000"/>
            <a:ext cx="20319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Трейд-офф</a:t>
            </a:r>
            <a:endParaRPr/>
          </a:p>
        </p:txBody>
      </p:sp>
      <p:sp>
        <p:nvSpPr>
          <p:cNvPr id="135" name="Google Shape;135;p10"/>
          <p:cNvSpPr txBox="1"/>
          <p:nvPr/>
        </p:nvSpPr>
        <p:spPr>
          <a:xfrm>
            <a:off x="3378200" y="1651000"/>
            <a:ext cx="26034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 Что выигрываем</a:t>
            </a:r>
            <a:endParaRPr/>
          </a:p>
        </p:txBody>
      </p:sp>
      <p:sp>
        <p:nvSpPr>
          <p:cNvPr id="136" name="Google Shape;136;p10"/>
          <p:cNvSpPr txBox="1"/>
          <p:nvPr/>
        </p:nvSpPr>
        <p:spPr>
          <a:xfrm>
            <a:off x="6159500" y="1651000"/>
            <a:ext cx="26034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 Чем жертвуем</a:t>
            </a:r>
            <a:endParaRPr/>
          </a:p>
        </p:txBody>
      </p:sp>
      <p:sp>
        <p:nvSpPr>
          <p:cNvPr id="137" name="Google Shape;137;p10"/>
          <p:cNvSpPr txBox="1"/>
          <p:nvPr/>
        </p:nvSpPr>
        <p:spPr>
          <a:xfrm>
            <a:off x="8940800" y="1651000"/>
            <a:ext cx="2857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К чему вед</a:t>
            </a:r>
            <a:r>
              <a:rPr b="1" lang="en-US" sz="1200">
                <a:solidFill>
                  <a:srgbClr val="F27BD8"/>
                </a:solidFill>
              </a:rPr>
              <a:t>е</a:t>
            </a:r>
            <a:r>
              <a:rPr b="1" i="0" lang="en-US" spc="0" sz="1200" u="none" cap="none" strike="noStrike">
                <a:solidFill>
                  <a:srgbClr val="F27BD8"/>
                </a:solidFill>
                <a:latin typeface="Arial"/>
                <a:ea typeface="Arial"/>
                <a:cs typeface="Arial"/>
                <a:sym typeface="Arial"/>
              </a:rPr>
              <a:t>т и как управляем</a:t>
            </a:r>
            <a:endParaRPr/>
          </a:p>
        </p:txBody>
      </p:sp>
      <p:cxnSp>
        <p:nvCxnSpPr>
          <p:cNvPr id="138" name="Google Shape;138;p10"/>
          <p:cNvCxnSpPr/>
          <p:nvPr/>
        </p:nvCxnSpPr>
        <p:spPr>
          <a:xfrm>
            <a:off x="711200" y="1917700"/>
            <a:ext cx="11087100" cy="0"/>
          </a:xfrm>
          <a:prstGeom prst="straightConnector1">
            <a:avLst/>
          </a:prstGeom>
          <a:noFill/>
          <a:ln cap="flat" cmpd="sng" w="19050">
            <a:solidFill>
              <a:srgbClr val="F27BD8"/>
            </a:solidFill>
            <a:prstDash val="solid"/>
            <a:round/>
            <a:headEnd len="sm" w="sm" type="none"/>
            <a:tailEnd len="sm" w="sm" type="none"/>
          </a:ln>
        </p:spPr>
      </p:cxnSp>
      <p:sp>
        <p:nvSpPr>
          <p:cNvPr id="139" name="Google Shape;139;p10"/>
          <p:cNvSpPr txBox="1"/>
          <p:nvPr/>
        </p:nvSpPr>
        <p:spPr>
          <a:xfrm>
            <a:off x="711200" y="1981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01</a:t>
            </a:r>
            <a:endParaRPr/>
          </a:p>
        </p:txBody>
      </p:sp>
      <p:sp>
        <p:nvSpPr>
          <p:cNvPr id="140" name="Google Shape;140;p10"/>
          <p:cNvSpPr txBox="1"/>
          <p:nvPr/>
        </p:nvSpPr>
        <p:spPr>
          <a:xfrm>
            <a:off x="1168400" y="2006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Честный совет против рекламы в ответе</a:t>
            </a:r>
            <a:endParaRPr/>
          </a:p>
        </p:txBody>
      </p:sp>
      <p:sp>
        <p:nvSpPr>
          <p:cNvPr id="141" name="Google Shape;141;p10"/>
          <p:cNvSpPr txBox="1"/>
          <p:nvPr/>
        </p:nvSpPr>
        <p:spPr>
          <a:xfrm>
            <a:off x="3378200" y="2006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Ответу консультанта верят как совету продавца в магазине, а не как баннеру. Растут конверсия и число повторных вопросов.</a:t>
            </a:r>
            <a:endParaRPr/>
          </a:p>
        </p:txBody>
      </p:sp>
      <p:sp>
        <p:nvSpPr>
          <p:cNvPr id="142" name="Google Shape;142;p10"/>
          <p:cNvSpPr txBox="1"/>
          <p:nvPr/>
        </p:nvSpPr>
        <p:spPr>
          <a:xfrm>
            <a:off x="6159500" y="2006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В самой ценной точке выдачи на пилоте нет рекламы, хотя реклама принесла тройке маркетплейсов 500–600 млрд ₽ за 2025 год.</a:t>
            </a:r>
            <a:endParaRPr/>
          </a:p>
        </p:txBody>
      </p:sp>
      <p:sp>
        <p:nvSpPr>
          <p:cNvPr id="143" name="Google Shape;143;p10"/>
          <p:cNvSpPr txBox="1"/>
          <p:nvPr/>
        </p:nvSpPr>
        <p:spPr>
          <a:xfrm>
            <a:off x="8940800" y="2006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Рекламная выручка в 2027 году раст</a:t>
            </a:r>
            <a:r>
              <a:rPr lang="en-US" sz="1200">
                <a:solidFill>
                  <a:srgbClr val="F3ECF7"/>
                </a:solidFill>
              </a:rPr>
              <a:t>е</a:t>
            </a:r>
            <a:r>
              <a:rPr b="0" i="0" lang="en-US" spc="0" sz="1200" u="none" cap="none" strike="noStrike">
                <a:solidFill>
                  <a:srgbClr val="F3ECF7"/>
                </a:solidFill>
                <a:latin typeface="Arial"/>
                <a:ea typeface="Arial"/>
                <a:cs typeface="Arial"/>
                <a:sym typeface="Arial"/>
              </a:rPr>
              <a:t>т медленнее. Спонсорские места вводим только после пилота, с пометкой «реклама» и не больше 1 из 5 позиций.</a:t>
            </a:r>
            <a:endParaRPr/>
          </a:p>
        </p:txBody>
      </p:sp>
      <p:cxnSp>
        <p:nvCxnSpPr>
          <p:cNvPr id="144" name="Google Shape;144;p10"/>
          <p:cNvCxnSpPr/>
          <p:nvPr/>
        </p:nvCxnSpPr>
        <p:spPr>
          <a:xfrm>
            <a:off x="711200" y="2832100"/>
            <a:ext cx="11087100" cy="0"/>
          </a:xfrm>
          <a:prstGeom prst="straightConnector1">
            <a:avLst/>
          </a:prstGeom>
          <a:noFill/>
          <a:ln cap="flat" cmpd="sng" w="9525">
            <a:solidFill>
              <a:srgbClr val="57376F"/>
            </a:solidFill>
            <a:prstDash val="solid"/>
            <a:round/>
            <a:headEnd len="sm" w="sm" type="none"/>
            <a:tailEnd len="sm" w="sm" type="none"/>
          </a:ln>
        </p:spPr>
      </p:cxnSp>
      <p:sp>
        <p:nvSpPr>
          <p:cNvPr id="145" name="Google Shape;145;p10"/>
          <p:cNvSpPr txBox="1"/>
          <p:nvPr/>
        </p:nvSpPr>
        <p:spPr>
          <a:xfrm>
            <a:off x="711200" y="2870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02</a:t>
            </a:r>
            <a:endParaRPr/>
          </a:p>
        </p:txBody>
      </p:sp>
      <p:sp>
        <p:nvSpPr>
          <p:cNvPr id="146" name="Google Shape;146;p10"/>
          <p:cNvSpPr txBox="1"/>
          <p:nvPr/>
        </p:nvSpPr>
        <p:spPr>
          <a:xfrm>
            <a:off x="1168400" y="2895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Чистый GMV против валового</a:t>
            </a:r>
            <a:endParaRPr/>
          </a:p>
        </p:txBody>
      </p:sp>
      <p:sp>
        <p:nvSpPr>
          <p:cNvPr id="147" name="Google Shape;147;p10"/>
          <p:cNvSpPr txBox="1"/>
          <p:nvPr/>
        </p:nvSpPr>
        <p:spPr>
          <a:xfrm>
            <a:off x="3378200" y="2895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Подсказка по размеру сокращает заказы «на примерку»: меньше пустых перевозок и очередей в ПВЗ, пока складов не хватает.</a:t>
            </a:r>
            <a:endParaRPr/>
          </a:p>
        </p:txBody>
      </p:sp>
      <p:sp>
        <p:nvSpPr>
          <p:cNvPr id="148" name="Google Shape;148;p10"/>
          <p:cNvSpPr txBox="1"/>
          <p:nvPr/>
        </p:nvSpPr>
        <p:spPr>
          <a:xfrm>
            <a:off x="6159500" y="2895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Одежду выкупали лишь на 42% в штуках (2025). Часть заказов уйд</a:t>
            </a:r>
            <a:r>
              <a:rPr lang="en-US" sz="1200">
                <a:solidFill>
                  <a:srgbClr val="DCCCE8"/>
                </a:solidFill>
              </a:rPr>
              <a:t>е</a:t>
            </a:r>
            <a:r>
              <a:rPr b="0" i="0" lang="en-US" spc="0" sz="1200" u="none" cap="none" strike="noStrike">
                <a:solidFill>
                  <a:srgbClr val="DCCCE8"/>
                </a:solidFill>
                <a:latin typeface="Arial"/>
                <a:ea typeface="Arial"/>
                <a:cs typeface="Arial"/>
                <a:sym typeface="Arial"/>
              </a:rPr>
              <a:t>т, и валовой GMV, главная публичная цифра RWB, замедлится.</a:t>
            </a:r>
            <a:endParaRPr/>
          </a:p>
        </p:txBody>
      </p:sp>
      <p:sp>
        <p:nvSpPr>
          <p:cNvPr id="149" name="Google Shape;149;p10"/>
          <p:cNvSpPr txBox="1"/>
          <p:nvPr/>
        </p:nvSpPr>
        <p:spPr>
          <a:xfrm>
            <a:off x="8940800" y="2895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Цели команды считаем в GMV без возвратов на покупателя. Инвесторам заранее объясняем, почему валовой рост ниже.</a:t>
            </a:r>
            <a:endParaRPr/>
          </a:p>
        </p:txBody>
      </p:sp>
      <p:cxnSp>
        <p:nvCxnSpPr>
          <p:cNvPr id="150" name="Google Shape;150;p10"/>
          <p:cNvCxnSpPr/>
          <p:nvPr/>
        </p:nvCxnSpPr>
        <p:spPr>
          <a:xfrm>
            <a:off x="711200" y="3721100"/>
            <a:ext cx="11087100" cy="0"/>
          </a:xfrm>
          <a:prstGeom prst="straightConnector1">
            <a:avLst/>
          </a:prstGeom>
          <a:noFill/>
          <a:ln cap="flat" cmpd="sng" w="9525">
            <a:solidFill>
              <a:srgbClr val="57376F"/>
            </a:solidFill>
            <a:prstDash val="solid"/>
            <a:round/>
            <a:headEnd len="sm" w="sm" type="none"/>
            <a:tailEnd len="sm" w="sm" type="none"/>
          </a:ln>
        </p:spPr>
      </p:cxnSp>
      <p:sp>
        <p:nvSpPr>
          <p:cNvPr id="151" name="Google Shape;151;p10"/>
          <p:cNvSpPr txBox="1"/>
          <p:nvPr/>
        </p:nvSpPr>
        <p:spPr>
          <a:xfrm>
            <a:off x="711200" y="3759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03</a:t>
            </a:r>
            <a:endParaRPr/>
          </a:p>
        </p:txBody>
      </p:sp>
      <p:sp>
        <p:nvSpPr>
          <p:cNvPr id="152" name="Google Shape;152;p10"/>
          <p:cNvSpPr txBox="1"/>
          <p:nvPr/>
        </p:nvSpPr>
        <p:spPr>
          <a:xfrm>
            <a:off x="1168400" y="3784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Ум продукта против скорости доставки</a:t>
            </a:r>
            <a:endParaRPr/>
          </a:p>
        </p:txBody>
      </p:sp>
      <p:sp>
        <p:nvSpPr>
          <p:cNvPr id="153" name="Google Shape;153;p10"/>
          <p:cNvSpPr txBox="1"/>
          <p:nvPr/>
        </p:nvSpPr>
        <p:spPr>
          <a:xfrm>
            <a:off x="3378200" y="3784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Деньги и люди идут в данные и модели, а не в дарксторы, которые можно потерять за одну ночь.</a:t>
            </a:r>
            <a:endParaRPr/>
          </a:p>
        </p:txBody>
      </p:sp>
      <p:sp>
        <p:nvSpPr>
          <p:cNvPr id="154" name="Google Shape;154;p10"/>
          <p:cNvSpPr txBox="1"/>
          <p:nvPr/>
        </p:nvSpPr>
        <p:spPr>
          <a:xfrm>
            <a:off x="6159500" y="3784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Срочные покупки («нужно сегодня»: продукты, аптека) остаются у Лавки, Самоката и Ozon. «Экспресс» WB оста</a:t>
            </a:r>
            <a:r>
              <a:rPr lang="en-US" sz="1200">
                <a:solidFill>
                  <a:srgbClr val="DCCCE8"/>
                </a:solidFill>
              </a:rPr>
              <a:t>е</a:t>
            </a:r>
            <a:r>
              <a:rPr b="0" i="0" lang="en-US" spc="0" sz="1200" u="none" cap="none" strike="noStrike">
                <a:solidFill>
                  <a:srgbClr val="DCCCE8"/>
                </a:solidFill>
                <a:latin typeface="Arial"/>
                <a:ea typeface="Arial"/>
                <a:cs typeface="Arial"/>
                <a:sym typeface="Arial"/>
              </a:rPr>
              <a:t>тся пилотом в Москве.</a:t>
            </a:r>
            <a:endParaRPr/>
          </a:p>
        </p:txBody>
      </p:sp>
      <p:sp>
        <p:nvSpPr>
          <p:cNvPr id="155" name="Google Shape;155;p10"/>
          <p:cNvSpPr txBox="1"/>
          <p:nvPr/>
        </p:nvSpPr>
        <p:spPr>
          <a:xfrm>
            <a:off x="8940800" y="3784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Часть частых мелких заказов уходит к конкурентам. Компенсируем честным сроком в ответе: «завтра в ПВЗ у дома» вместо «за час».</a:t>
            </a:r>
            <a:endParaRPr/>
          </a:p>
        </p:txBody>
      </p:sp>
      <p:cxnSp>
        <p:nvCxnSpPr>
          <p:cNvPr id="156" name="Google Shape;156;p10"/>
          <p:cNvCxnSpPr/>
          <p:nvPr/>
        </p:nvCxnSpPr>
        <p:spPr>
          <a:xfrm>
            <a:off x="711200" y="4610100"/>
            <a:ext cx="11087100" cy="0"/>
          </a:xfrm>
          <a:prstGeom prst="straightConnector1">
            <a:avLst/>
          </a:prstGeom>
          <a:noFill/>
          <a:ln cap="flat" cmpd="sng" w="9525">
            <a:solidFill>
              <a:srgbClr val="57376F"/>
            </a:solidFill>
            <a:prstDash val="solid"/>
            <a:round/>
            <a:headEnd len="sm" w="sm" type="none"/>
            <a:tailEnd len="sm" w="sm" type="none"/>
          </a:ln>
        </p:spPr>
      </p:cxnSp>
      <p:sp>
        <p:nvSpPr>
          <p:cNvPr id="157" name="Google Shape;157;p10"/>
          <p:cNvSpPr txBox="1"/>
          <p:nvPr/>
        </p:nvSpPr>
        <p:spPr>
          <a:xfrm>
            <a:off x="711200" y="4648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04</a:t>
            </a:r>
            <a:endParaRPr/>
          </a:p>
        </p:txBody>
      </p:sp>
      <p:sp>
        <p:nvSpPr>
          <p:cNvPr id="158" name="Google Shape;158;p10"/>
          <p:cNvSpPr txBox="1"/>
          <p:nvPr/>
        </p:nvSpPr>
        <p:spPr>
          <a:xfrm>
            <a:off x="1168400" y="4673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Точная подборка против длинного хвоста продавцов</a:t>
            </a:r>
            <a:endParaRPr/>
          </a:p>
        </p:txBody>
      </p:sp>
      <p:sp>
        <p:nvSpPr>
          <p:cNvPr id="159" name="Google Shape;159;p10"/>
          <p:cNvSpPr txBox="1"/>
          <p:nvPr/>
        </p:nvSpPr>
        <p:spPr>
          <a:xfrm>
            <a:off x="3378200" y="4673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Вместо тысяч карточек покупатель видит 3–5 подходящих товаров и решает быстрее.</a:t>
            </a:r>
            <a:endParaRPr/>
          </a:p>
        </p:txBody>
      </p:sp>
      <p:sp>
        <p:nvSpPr>
          <p:cNvPr id="160" name="Google Shape;160;p10"/>
          <p:cNvSpPr txBox="1"/>
          <p:nvPr/>
        </p:nvSpPr>
        <p:spPr>
          <a:xfrm>
            <a:off x="6159500" y="4673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Мелкие продавцы теряют показы, а ассистент кажется «ч</a:t>
            </a:r>
            <a:r>
              <a:rPr lang="en-US" sz="1200">
                <a:solidFill>
                  <a:srgbClr val="DCCCE8"/>
                </a:solidFill>
              </a:rPr>
              <a:t>е</a:t>
            </a:r>
            <a:r>
              <a:rPr b="0" i="0" lang="en-US" spc="0" sz="1200" u="none" cap="none" strike="noStrike">
                <a:solidFill>
                  <a:srgbClr val="DCCCE8"/>
                </a:solidFill>
                <a:latin typeface="Arial"/>
                <a:ea typeface="Arial"/>
                <a:cs typeface="Arial"/>
                <a:sym typeface="Arial"/>
              </a:rPr>
              <a:t>рным ящиком». При 289-ФЗ это повод для претензий к WB.</a:t>
            </a:r>
            <a:endParaRPr/>
          </a:p>
        </p:txBody>
      </p:sp>
      <p:sp>
        <p:nvSpPr>
          <p:cNvPr id="161" name="Google Shape;161;p10"/>
          <p:cNvSpPr txBox="1"/>
          <p:nvPr/>
        </p:nvSpPr>
        <p:spPr>
          <a:xfrm>
            <a:off x="8940800" y="4673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Публикуем правила подборки, продавцу показываем, почему товар не попал в ответ. Решают отзывы и выкуп, а не рекламный бюджет.</a:t>
            </a:r>
            <a:endParaRPr/>
          </a:p>
        </p:txBody>
      </p:sp>
      <p:cxnSp>
        <p:nvCxnSpPr>
          <p:cNvPr id="162" name="Google Shape;162;p10"/>
          <p:cNvCxnSpPr/>
          <p:nvPr/>
        </p:nvCxnSpPr>
        <p:spPr>
          <a:xfrm>
            <a:off x="711200" y="5524500"/>
            <a:ext cx="11087100" cy="0"/>
          </a:xfrm>
          <a:prstGeom prst="straightConnector1">
            <a:avLst/>
          </a:prstGeom>
          <a:noFill/>
          <a:ln cap="flat" cmpd="sng" w="9525">
            <a:solidFill>
              <a:srgbClr val="57376F"/>
            </a:solidFill>
            <a:prstDash val="solid"/>
            <a:round/>
            <a:headEnd len="sm" w="sm" type="none"/>
            <a:tailEnd len="sm" w="sm" type="none"/>
          </a:ln>
        </p:spPr>
      </p:cxnSp>
      <p:sp>
        <p:nvSpPr>
          <p:cNvPr id="163" name="Google Shape;163;p10"/>
          <p:cNvSpPr txBox="1"/>
          <p:nvPr/>
        </p:nvSpPr>
        <p:spPr>
          <a:xfrm>
            <a:off x="711200" y="5613400"/>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pc="0" sz="1300" u="none" cap="none" strike="noStrike">
                <a:solidFill>
                  <a:srgbClr val="F3ECF7"/>
                </a:solidFill>
                <a:latin typeface="Arial"/>
                <a:ea typeface="Arial"/>
                <a:cs typeface="Arial"/>
                <a:sym typeface="Arial"/>
              </a:rPr>
              <a:t>Общий принцип.</a:t>
            </a:r>
            <a:r>
              <a:rPr b="0" i="0" lang="en-US" spc="0" sz="1300" u="none" cap="none" strike="noStrike">
                <a:solidFill>
                  <a:srgbClr val="F3ECF7"/>
                </a:solidFill>
                <a:latin typeface="Arial"/>
                <a:ea typeface="Arial"/>
                <a:cs typeface="Arial"/>
                <a:sym typeface="Arial"/>
              </a:rPr>
              <a:t> Везде выбираем долгую выгоду: доверие покупателя, чистую экономику заказа и </a:t>
            </a:r>
            <a:r>
              <a:rPr lang="en-US" sz="1300">
                <a:solidFill>
                  <a:srgbClr val="F3ECF7"/>
                </a:solidFill>
              </a:rPr>
              <a:t>защищенность</a:t>
            </a:r>
            <a:r>
              <a:rPr b="0" i="0" lang="en-US" spc="0" sz="1300" u="none" cap="none" strike="noStrike">
                <a:solidFill>
                  <a:srgbClr val="F3ECF7"/>
                </a:solidFill>
                <a:latin typeface="Arial"/>
                <a:ea typeface="Arial"/>
                <a:cs typeface="Arial"/>
                <a:sym typeface="Arial"/>
              </a:rPr>
              <a:t> от рисков. Каждый отказ пересматриваем, если пилот не да</a:t>
            </a:r>
            <a:r>
              <a:rPr lang="en-US" sz="1300">
                <a:solidFill>
                  <a:srgbClr val="F3ECF7"/>
                </a:solidFill>
              </a:rPr>
              <a:t>е</a:t>
            </a:r>
            <a:r>
              <a:rPr b="0" i="0" lang="en-US" spc="0" sz="1300" u="none" cap="none" strike="noStrike">
                <a:solidFill>
                  <a:srgbClr val="F3ECF7"/>
                </a:solidFill>
                <a:latin typeface="Arial"/>
                <a:ea typeface="Arial"/>
                <a:cs typeface="Arial"/>
                <a:sym typeface="Arial"/>
              </a:rPr>
              <a:t>т роста GMV без возвратов на покупателя.</a:t>
            </a:r>
            <a:endParaRPr/>
          </a:p>
        </p:txBody>
      </p:sp>
      <p:sp>
        <p:nvSpPr>
          <p:cNvPr id="164" name="Google Shape;164;p10"/>
          <p:cNvSpPr txBox="1"/>
          <p:nvPr/>
        </p:nvSpPr>
        <p:spPr>
          <a:xfrm>
            <a:off x="711200" y="6248400"/>
            <a:ext cx="11087100" cy="381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i="0" lang="en-US" spc="0" sz="1100" u="none" cap="none" strike="noStrike">
                <a:solidFill>
                  <a:srgbClr val="F7F4F9"/>
                </a:solidFill>
                <a:latin typeface="Arial"/>
                <a:ea typeface="Arial"/>
                <a:cs typeface="Arial"/>
                <a:sym typeface="Arial"/>
              </a:rPr>
              <a:t>- </a:t>
            </a:r>
            <a:r>
              <a:rPr b="0" i="0" lang="en-US" spc="0" sz="1100" u="sng" cap="none" strike="noStrike">
                <a:solidFill>
                  <a:schemeClr val="hlink"/>
                </a:solidFill>
                <a:latin typeface="Arial"/>
                <a:ea typeface="Arial"/>
                <a:cs typeface="Arial"/>
                <a:sym typeface="Arial"/>
                <a:hlinkClick r:id="rId3"/>
              </a:rPr>
              <a:t>Oborot.ru по данным Data Insight, 14.04.2026</a:t>
            </a:r>
            <a:r>
              <a:rPr b="0" i="0" lang="en-US" spc="0" sz="1100" u="none" cap="none" strike="noStrike">
                <a:solidFill>
                  <a:srgbClr val="F7F4F9"/>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4"/>
              </a:rPr>
              <a:t>ECOMHUB, 11.01.2026</a:t>
            </a:r>
            <a:r>
              <a:rPr b="0" i="0" lang="en-US" spc="0" sz="1100" u="none" cap="none" strike="noStrike">
                <a:solidFill>
                  <a:srgbClr val="F7F4F9"/>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5"/>
              </a:rPr>
              <a:t>CNews, 11.02.2026</a:t>
            </a:r>
            <a:r>
              <a:rPr b="0" i="0" lang="en-US" spc="0" sz="1100" u="none" cap="none" strike="noStrike">
                <a:solidFill>
                  <a:srgbClr val="F7F4F9"/>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6"/>
              </a:rPr>
              <a:t>www1.ru, 29.09.2026</a:t>
            </a:r>
            <a:endParaRPr b="0" i="0" spc="0" sz="1100" u="none" cap="none" strike="noStrike">
              <a:solidFill>
                <a:srgbClr val="F7F4F9"/>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169" name="Shape 169"/>
        <p:cNvGrpSpPr/>
        <p:nvPr/>
      </p:nvGrpSpPr>
      <p:grpSpPr>
        <a:xfrm>
          <a:off x="0" y="0"/>
          <a:ext cx="0" cy="0"/>
          <a:chOff x="0" y="0"/>
          <a:chExt cx="0" cy="0"/>
        </a:xfrm>
      </p:grpSpPr>
      <p:sp>
        <p:nvSpPr>
          <p:cNvPr id="170" name="Google Shape;170;p11"/>
          <p:cNvSpPr txBox="1"/>
          <p:nvPr>
            <p:ph type="title"/>
          </p:nvPr>
        </p:nvSpPr>
        <p:spPr>
          <a:xfrm>
            <a:off x="711403" y="797357"/>
            <a:ext cx="10769803" cy="711403"/>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chemeClr val="accent3"/>
                </a:solidFill>
                <a:latin typeface="Arial"/>
                <a:ea typeface="Arial"/>
                <a:cs typeface="Arial"/>
                <a:sym typeface="Arial"/>
              </a:rPr>
              <a:t>Сначала доказываем пользу, мощности вводим раньше аудитории, а зарабатывать начинаем только после пилота</a:t>
            </a:r>
            <a:endParaRPr/>
          </a:p>
        </p:txBody>
      </p:sp>
      <p:sp>
        <p:nvSpPr>
          <p:cNvPr id="171" name="Google Shape;171;p11"/>
          <p:cNvSpPr txBox="1"/>
          <p:nvPr/>
        </p:nvSpPr>
        <p:spPr>
          <a:xfrm>
            <a:off x="711403" y="405994"/>
            <a:ext cx="6350508" cy="241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План · роадмап на 2027–2028 годы</a:t>
            </a:r>
            <a:endParaRPr b="0" i="0" spc="0" sz="1400" u="none" cap="none" strike="noStrike">
              <a:solidFill>
                <a:srgbClr val="000000"/>
              </a:solidFill>
              <a:latin typeface="Arial"/>
              <a:ea typeface="Arial"/>
              <a:cs typeface="Arial"/>
              <a:sym typeface="Arial"/>
            </a:endParaRPr>
          </a:p>
        </p:txBody>
      </p:sp>
      <p:sp>
        <p:nvSpPr>
          <p:cNvPr id="172" name="Google Shape;172;p11"/>
          <p:cNvSpPr txBox="1"/>
          <p:nvPr/>
        </p:nvSpPr>
        <p:spPr>
          <a:xfrm>
            <a:off x="711403" y="1792224"/>
            <a:ext cx="233172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6E5E7D"/>
                </a:solidFill>
                <a:latin typeface="Arial"/>
                <a:ea typeface="Arial"/>
                <a:cs typeface="Arial"/>
                <a:sym typeface="Arial"/>
              </a:rPr>
              <a:t>Инициатива</a:t>
            </a:r>
            <a:endParaRPr b="0" i="0" spc="0" sz="1400" u="none" cap="none" strike="noStrike">
              <a:solidFill>
                <a:srgbClr val="000000"/>
              </a:solidFill>
              <a:latin typeface="Arial"/>
              <a:ea typeface="Arial"/>
              <a:cs typeface="Arial"/>
              <a:sym typeface="Arial"/>
            </a:endParaRPr>
          </a:p>
        </p:txBody>
      </p:sp>
      <p:sp>
        <p:nvSpPr>
          <p:cNvPr id="173" name="Google Shape;173;p11"/>
          <p:cNvSpPr txBox="1"/>
          <p:nvPr/>
        </p:nvSpPr>
        <p:spPr>
          <a:xfrm>
            <a:off x="3182112" y="1636776"/>
            <a:ext cx="1673901"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241036"/>
                </a:solidFill>
                <a:latin typeface="Arial"/>
                <a:ea typeface="Arial"/>
                <a:cs typeface="Arial"/>
                <a:sym typeface="Arial"/>
              </a:rPr>
              <a:t>4 кв. 2026</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подготовка</a:t>
            </a:r>
            <a:endParaRPr b="0" i="0" spc="0" sz="1400" u="none" cap="none" strike="noStrike">
              <a:solidFill>
                <a:srgbClr val="000000"/>
              </a:solidFill>
              <a:latin typeface="Arial"/>
              <a:ea typeface="Arial"/>
              <a:cs typeface="Arial"/>
              <a:sym typeface="Arial"/>
            </a:endParaRPr>
          </a:p>
        </p:txBody>
      </p:sp>
      <p:sp>
        <p:nvSpPr>
          <p:cNvPr id="174" name="Google Shape;174;p11"/>
          <p:cNvSpPr txBox="1"/>
          <p:nvPr/>
        </p:nvSpPr>
        <p:spPr>
          <a:xfrm>
            <a:off x="4910877" y="1636776"/>
            <a:ext cx="1673901"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241036"/>
                </a:solidFill>
                <a:latin typeface="Arial"/>
                <a:ea typeface="Arial"/>
                <a:cs typeface="Arial"/>
                <a:sym typeface="Arial"/>
              </a:rPr>
              <a:t>1П 2027</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пилот</a:t>
            </a:r>
            <a:endParaRPr b="0" i="0" spc="0" sz="1400" u="none" cap="none" strike="noStrike">
              <a:solidFill>
                <a:srgbClr val="000000"/>
              </a:solidFill>
              <a:latin typeface="Arial"/>
              <a:ea typeface="Arial"/>
              <a:cs typeface="Arial"/>
              <a:sym typeface="Arial"/>
            </a:endParaRPr>
          </a:p>
        </p:txBody>
      </p:sp>
      <p:sp>
        <p:nvSpPr>
          <p:cNvPr id="175" name="Google Shape;175;p11"/>
          <p:cNvSpPr txBox="1"/>
          <p:nvPr/>
        </p:nvSpPr>
        <p:spPr>
          <a:xfrm>
            <a:off x="6639641" y="1636776"/>
            <a:ext cx="1673901"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241036"/>
                </a:solidFill>
                <a:latin typeface="Arial"/>
                <a:ea typeface="Arial"/>
                <a:cs typeface="Arial"/>
                <a:sym typeface="Arial"/>
              </a:rPr>
              <a:t>2П 2027</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раскатка</a:t>
            </a:r>
            <a:endParaRPr b="0" i="0" spc="0" sz="1400" u="none" cap="none" strike="noStrike">
              <a:solidFill>
                <a:srgbClr val="000000"/>
              </a:solidFill>
              <a:latin typeface="Arial"/>
              <a:ea typeface="Arial"/>
              <a:cs typeface="Arial"/>
              <a:sym typeface="Arial"/>
            </a:endParaRPr>
          </a:p>
        </p:txBody>
      </p:sp>
      <p:sp>
        <p:nvSpPr>
          <p:cNvPr id="176" name="Google Shape;176;p11"/>
          <p:cNvSpPr txBox="1"/>
          <p:nvPr/>
        </p:nvSpPr>
        <p:spPr>
          <a:xfrm>
            <a:off x="8368406" y="1636776"/>
            <a:ext cx="1673901"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241036"/>
                </a:solidFill>
                <a:latin typeface="Arial"/>
                <a:ea typeface="Arial"/>
                <a:cs typeface="Arial"/>
                <a:sym typeface="Arial"/>
              </a:rPr>
              <a:t>1П 2028</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главная дверь</a:t>
            </a:r>
            <a:endParaRPr b="0" i="0" spc="0" sz="1400" u="none" cap="none" strike="noStrike">
              <a:solidFill>
                <a:srgbClr val="000000"/>
              </a:solidFill>
              <a:latin typeface="Arial"/>
              <a:ea typeface="Arial"/>
              <a:cs typeface="Arial"/>
              <a:sym typeface="Arial"/>
            </a:endParaRPr>
          </a:p>
        </p:txBody>
      </p:sp>
      <p:sp>
        <p:nvSpPr>
          <p:cNvPr id="177" name="Google Shape;177;p11"/>
          <p:cNvSpPr txBox="1"/>
          <p:nvPr/>
        </p:nvSpPr>
        <p:spPr>
          <a:xfrm>
            <a:off x="10097171" y="1636776"/>
            <a:ext cx="1673901"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241036"/>
                </a:solidFill>
                <a:latin typeface="Arial"/>
                <a:ea typeface="Arial"/>
                <a:cs typeface="Arial"/>
                <a:sym typeface="Arial"/>
              </a:rPr>
              <a:t>2П 2028</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полный масштаб</a:t>
            </a:r>
            <a:endParaRPr b="0" i="0" spc="0" sz="1400" u="none" cap="none" strike="noStrike">
              <a:solidFill>
                <a:srgbClr val="000000"/>
              </a:solidFill>
              <a:latin typeface="Arial"/>
              <a:ea typeface="Arial"/>
              <a:cs typeface="Arial"/>
              <a:sym typeface="Arial"/>
            </a:endParaRPr>
          </a:p>
        </p:txBody>
      </p:sp>
      <p:cxnSp>
        <p:nvCxnSpPr>
          <p:cNvPr id="178" name="Google Shape;178;p11"/>
          <p:cNvCxnSpPr/>
          <p:nvPr/>
        </p:nvCxnSpPr>
        <p:spPr>
          <a:xfrm>
            <a:off x="4883450" y="1993400"/>
            <a:ext cx="0" cy="2946900"/>
          </a:xfrm>
          <a:prstGeom prst="straightConnector1">
            <a:avLst/>
          </a:prstGeom>
          <a:noFill/>
          <a:ln cap="flat" cmpd="sng" w="9525">
            <a:solidFill>
              <a:srgbClr val="DDD0E6"/>
            </a:solidFill>
            <a:prstDash val="solid"/>
            <a:round/>
            <a:headEnd len="sm" w="sm" type="none"/>
            <a:tailEnd len="sm" w="sm" type="none"/>
          </a:ln>
        </p:spPr>
      </p:cxnSp>
      <p:cxnSp>
        <p:nvCxnSpPr>
          <p:cNvPr id="179" name="Google Shape;179;p11"/>
          <p:cNvCxnSpPr/>
          <p:nvPr/>
        </p:nvCxnSpPr>
        <p:spPr>
          <a:xfrm>
            <a:off x="6612216" y="1993400"/>
            <a:ext cx="0" cy="2946900"/>
          </a:xfrm>
          <a:prstGeom prst="straightConnector1">
            <a:avLst/>
          </a:prstGeom>
          <a:noFill/>
          <a:ln cap="flat" cmpd="sng" w="9525">
            <a:solidFill>
              <a:srgbClr val="DDD0E6"/>
            </a:solidFill>
            <a:prstDash val="solid"/>
            <a:round/>
            <a:headEnd len="sm" w="sm" type="none"/>
            <a:tailEnd len="sm" w="sm" type="none"/>
          </a:ln>
        </p:spPr>
      </p:cxnSp>
      <p:cxnSp>
        <p:nvCxnSpPr>
          <p:cNvPr id="180" name="Google Shape;180;p11"/>
          <p:cNvCxnSpPr/>
          <p:nvPr/>
        </p:nvCxnSpPr>
        <p:spPr>
          <a:xfrm>
            <a:off x="8340983" y="1993400"/>
            <a:ext cx="0" cy="2946900"/>
          </a:xfrm>
          <a:prstGeom prst="straightConnector1">
            <a:avLst/>
          </a:prstGeom>
          <a:noFill/>
          <a:ln cap="flat" cmpd="sng" w="9525">
            <a:solidFill>
              <a:srgbClr val="DDD0E6"/>
            </a:solidFill>
            <a:prstDash val="solid"/>
            <a:round/>
            <a:headEnd len="sm" w="sm" type="none"/>
            <a:tailEnd len="sm" w="sm" type="none"/>
          </a:ln>
        </p:spPr>
      </p:cxnSp>
      <p:cxnSp>
        <p:nvCxnSpPr>
          <p:cNvPr id="181" name="Google Shape;181;p11"/>
          <p:cNvCxnSpPr/>
          <p:nvPr/>
        </p:nvCxnSpPr>
        <p:spPr>
          <a:xfrm>
            <a:off x="10069750" y="1993400"/>
            <a:ext cx="0" cy="2946900"/>
          </a:xfrm>
          <a:prstGeom prst="straightConnector1">
            <a:avLst/>
          </a:prstGeom>
          <a:noFill/>
          <a:ln cap="flat" cmpd="sng" w="9525">
            <a:solidFill>
              <a:srgbClr val="DDD0E6"/>
            </a:solidFill>
            <a:prstDash val="solid"/>
            <a:round/>
            <a:headEnd len="sm" w="sm" type="none"/>
            <a:tailEnd len="sm" w="sm" type="none"/>
          </a:ln>
        </p:spPr>
      </p:cxnSp>
      <p:cxnSp>
        <p:nvCxnSpPr>
          <p:cNvPr id="182" name="Google Shape;182;p11"/>
          <p:cNvCxnSpPr/>
          <p:nvPr/>
        </p:nvCxnSpPr>
        <p:spPr>
          <a:xfrm>
            <a:off x="711403" y="1993392"/>
            <a:ext cx="11087100" cy="0"/>
          </a:xfrm>
          <a:prstGeom prst="straightConnector1">
            <a:avLst/>
          </a:prstGeom>
          <a:noFill/>
          <a:ln cap="flat" cmpd="sng" w="9525">
            <a:solidFill>
              <a:srgbClr val="DDD0E6"/>
            </a:solidFill>
            <a:prstDash val="solid"/>
            <a:round/>
            <a:headEnd len="sm" w="sm" type="none"/>
            <a:tailEnd len="sm" w="sm" type="none"/>
          </a:ln>
        </p:spPr>
      </p:cxnSp>
      <p:sp>
        <p:nvSpPr>
          <p:cNvPr id="183" name="Google Shape;183;p11"/>
          <p:cNvSpPr txBox="1"/>
          <p:nvPr/>
        </p:nvSpPr>
        <p:spPr>
          <a:xfrm>
            <a:off x="711403" y="2029968"/>
            <a:ext cx="42062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Must have</a:t>
            </a:r>
            <a:r>
              <a:rPr b="0" i="0" lang="en-US" spc="0" sz="1000" u="none" cap="none" strike="noStrike">
                <a:solidFill>
                  <a:srgbClr val="6E5E7D"/>
                </a:solidFill>
                <a:latin typeface="Arial"/>
                <a:ea typeface="Arial"/>
                <a:cs typeface="Arial"/>
                <a:sym typeface="Arial"/>
              </a:rPr>
              <a:t>   без этого ставка не работает</a:t>
            </a:r>
            <a:endParaRPr b="0" i="0" spc="0" sz="1400" u="none" cap="none" strike="noStrike">
              <a:solidFill>
                <a:srgbClr val="000000"/>
              </a:solidFill>
              <a:latin typeface="Arial"/>
              <a:ea typeface="Arial"/>
              <a:cs typeface="Arial"/>
              <a:sym typeface="Arial"/>
            </a:endParaRPr>
          </a:p>
        </p:txBody>
      </p:sp>
      <p:sp>
        <p:nvSpPr>
          <p:cNvPr id="184" name="Google Shape;184;p11"/>
          <p:cNvSpPr txBox="1"/>
          <p:nvPr/>
        </p:nvSpPr>
        <p:spPr>
          <a:xfrm>
            <a:off x="711403" y="2249424"/>
            <a:ext cx="2331720"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Консультант в поиске</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от кнопки к главной двери</a:t>
            </a:r>
            <a:endParaRPr b="0" i="0" spc="0" sz="1400" u="none" cap="none" strike="noStrike">
              <a:solidFill>
                <a:srgbClr val="000000"/>
              </a:solidFill>
              <a:latin typeface="Arial"/>
              <a:ea typeface="Arial"/>
              <a:cs typeface="Arial"/>
              <a:sym typeface="Arial"/>
            </a:endParaRPr>
          </a:p>
        </p:txBody>
      </p:sp>
      <p:sp>
        <p:nvSpPr>
          <p:cNvPr id="185" name="Google Shape;185;p11"/>
          <p:cNvSpPr/>
          <p:nvPr/>
        </p:nvSpPr>
        <p:spPr>
          <a:xfrm>
            <a:off x="4910877" y="225399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3 категории, 5–10% аудитории</a:t>
            </a:r>
            <a:endParaRPr b="0" i="0" spc="0" sz="1400" u="none" cap="none" strike="noStrike">
              <a:solidFill>
                <a:srgbClr val="000000"/>
              </a:solidFill>
              <a:latin typeface="Arial"/>
              <a:ea typeface="Arial"/>
              <a:cs typeface="Arial"/>
              <a:sym typeface="Arial"/>
            </a:endParaRPr>
          </a:p>
        </p:txBody>
      </p:sp>
      <p:sp>
        <p:nvSpPr>
          <p:cNvPr id="186" name="Google Shape;186;p11"/>
          <p:cNvSpPr/>
          <p:nvPr/>
        </p:nvSpPr>
        <p:spPr>
          <a:xfrm>
            <a:off x="6639641" y="225399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все категории, аудитория ступенями</a:t>
            </a:r>
            <a:endParaRPr b="0" i="0" spc="0" sz="1400" u="none" cap="none" strike="noStrike">
              <a:solidFill>
                <a:srgbClr val="000000"/>
              </a:solidFill>
              <a:latin typeface="Arial"/>
              <a:ea typeface="Arial"/>
              <a:cs typeface="Arial"/>
              <a:sym typeface="Arial"/>
            </a:endParaRPr>
          </a:p>
        </p:txBody>
      </p:sp>
      <p:sp>
        <p:nvSpPr>
          <p:cNvPr id="187" name="Google Shape;187;p11"/>
          <p:cNvSpPr/>
          <p:nvPr/>
        </p:nvSpPr>
        <p:spPr>
          <a:xfrm>
            <a:off x="8368406" y="225399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вся аудитория, диалог из поиска</a:t>
            </a:r>
            <a:endParaRPr b="0" i="0" spc="0" sz="1400" u="none" cap="none" strike="noStrike">
              <a:solidFill>
                <a:srgbClr val="000000"/>
              </a:solidFill>
              <a:latin typeface="Arial"/>
              <a:ea typeface="Arial"/>
              <a:cs typeface="Arial"/>
              <a:sym typeface="Arial"/>
            </a:endParaRPr>
          </a:p>
        </p:txBody>
      </p:sp>
      <p:sp>
        <p:nvSpPr>
          <p:cNvPr id="188" name="Google Shape;188;p11"/>
          <p:cNvSpPr/>
          <p:nvPr/>
        </p:nvSpPr>
        <p:spPr>
          <a:xfrm>
            <a:off x="10097171" y="225399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первая распродажа в роли главной двери</a:t>
            </a:r>
            <a:endParaRPr b="0" i="0" spc="0" sz="1400" u="none" cap="none" strike="noStrike">
              <a:solidFill>
                <a:srgbClr val="000000"/>
              </a:solidFill>
              <a:latin typeface="Arial"/>
              <a:ea typeface="Arial"/>
              <a:cs typeface="Arial"/>
              <a:sym typeface="Arial"/>
            </a:endParaRPr>
          </a:p>
        </p:txBody>
      </p:sp>
      <p:sp>
        <p:nvSpPr>
          <p:cNvPr id="189" name="Google Shape;189;p11"/>
          <p:cNvSpPr txBox="1"/>
          <p:nvPr/>
        </p:nvSpPr>
        <p:spPr>
          <a:xfrm>
            <a:off x="711403" y="2638044"/>
            <a:ext cx="2331720"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Память и точный совет</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размеры, бюджет, срок</a:t>
            </a:r>
            <a:endParaRPr b="0" i="0" spc="0" sz="1400" u="none" cap="none" strike="noStrike">
              <a:solidFill>
                <a:srgbClr val="000000"/>
              </a:solidFill>
              <a:latin typeface="Arial"/>
              <a:ea typeface="Arial"/>
              <a:cs typeface="Arial"/>
              <a:sym typeface="Arial"/>
            </a:endParaRPr>
          </a:p>
        </p:txBody>
      </p:sp>
      <p:sp>
        <p:nvSpPr>
          <p:cNvPr id="190" name="Google Shape;190;p11"/>
          <p:cNvSpPr/>
          <p:nvPr/>
        </p:nvSpPr>
        <p:spPr>
          <a:xfrm>
            <a:off x="3182112" y="264261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согласие на память и данные о реб</a:t>
            </a:r>
            <a:r>
              <a:rPr lang="en-US" sz="1100">
                <a:solidFill>
                  <a:srgbClr val="FFFFFF"/>
                </a:solidFill>
              </a:rPr>
              <a:t>е</a:t>
            </a:r>
            <a:r>
              <a:rPr b="0" i="0" lang="en-US" spc="0" sz="1100" u="none" cap="none" strike="noStrike">
                <a:solidFill>
                  <a:srgbClr val="FFFFFF"/>
                </a:solidFill>
                <a:latin typeface="Arial"/>
                <a:ea typeface="Arial"/>
                <a:cs typeface="Arial"/>
                <a:sym typeface="Arial"/>
              </a:rPr>
              <a:t>нке</a:t>
            </a:r>
            <a:endParaRPr b="0" i="0" spc="0" sz="1400" u="none" cap="none" strike="noStrike">
              <a:solidFill>
                <a:srgbClr val="000000"/>
              </a:solidFill>
              <a:latin typeface="Arial"/>
              <a:ea typeface="Arial"/>
              <a:cs typeface="Arial"/>
              <a:sym typeface="Arial"/>
            </a:endParaRPr>
          </a:p>
        </p:txBody>
      </p:sp>
      <p:sp>
        <p:nvSpPr>
          <p:cNvPr id="191" name="Google Shape;191;p11"/>
          <p:cNvSpPr/>
          <p:nvPr/>
        </p:nvSpPr>
        <p:spPr>
          <a:xfrm>
            <a:off x="4910877" y="264261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размер в одежде, бюджет, срок до ПВЗ</a:t>
            </a:r>
            <a:endParaRPr b="0" i="0" spc="0" sz="1400" u="none" cap="none" strike="noStrike">
              <a:solidFill>
                <a:srgbClr val="000000"/>
              </a:solidFill>
              <a:latin typeface="Arial"/>
              <a:ea typeface="Arial"/>
              <a:cs typeface="Arial"/>
              <a:sym typeface="Arial"/>
            </a:endParaRPr>
          </a:p>
        </p:txBody>
      </p:sp>
      <p:sp>
        <p:nvSpPr>
          <p:cNvPr id="192" name="Google Shape;192;p11"/>
          <p:cNvSpPr/>
          <p:nvPr/>
        </p:nvSpPr>
        <p:spPr>
          <a:xfrm>
            <a:off x="6639641" y="264261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обувь; сверка по отзывам и Wibes</a:t>
            </a:r>
            <a:endParaRPr b="0" i="0" spc="0" sz="1400" u="none" cap="none" strike="noStrike">
              <a:solidFill>
                <a:srgbClr val="000000"/>
              </a:solidFill>
              <a:latin typeface="Arial"/>
              <a:ea typeface="Arial"/>
              <a:cs typeface="Arial"/>
              <a:sym typeface="Arial"/>
            </a:endParaRPr>
          </a:p>
        </p:txBody>
      </p:sp>
      <p:sp>
        <p:nvSpPr>
          <p:cNvPr id="193" name="Google Shape;193;p11"/>
          <p:cNvSpPr txBox="1"/>
          <p:nvPr/>
        </p:nvSpPr>
        <p:spPr>
          <a:xfrm>
            <a:off x="711403" y="3026664"/>
            <a:ext cx="2331720"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Правила подборки</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прозрачность для продавцов</a:t>
            </a:r>
            <a:endParaRPr b="0" i="0" spc="0" sz="1400" u="none" cap="none" strike="noStrike">
              <a:solidFill>
                <a:srgbClr val="000000"/>
              </a:solidFill>
              <a:latin typeface="Arial"/>
              <a:ea typeface="Arial"/>
              <a:cs typeface="Arial"/>
              <a:sym typeface="Arial"/>
            </a:endParaRPr>
          </a:p>
        </p:txBody>
      </p:sp>
      <p:sp>
        <p:nvSpPr>
          <p:cNvPr id="194" name="Google Shape;194;p11"/>
          <p:cNvSpPr/>
          <p:nvPr/>
        </p:nvSpPr>
        <p:spPr>
          <a:xfrm>
            <a:off x="3182112" y="303123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публикуем правила до пилота</a:t>
            </a:r>
            <a:endParaRPr b="0" i="0" spc="0" sz="1400" u="none" cap="none" strike="noStrike">
              <a:solidFill>
                <a:srgbClr val="000000"/>
              </a:solidFill>
              <a:latin typeface="Arial"/>
              <a:ea typeface="Arial"/>
              <a:cs typeface="Arial"/>
              <a:sym typeface="Arial"/>
            </a:endParaRPr>
          </a:p>
        </p:txBody>
      </p:sp>
      <p:sp>
        <p:nvSpPr>
          <p:cNvPr id="195" name="Google Shape;195;p11"/>
          <p:cNvSpPr/>
          <p:nvPr/>
        </p:nvSpPr>
        <p:spPr>
          <a:xfrm>
            <a:off x="6639641" y="303123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отч</a:t>
            </a:r>
            <a:r>
              <a:rPr lang="en-US" sz="1100">
                <a:solidFill>
                  <a:srgbClr val="FFFFFF"/>
                </a:solidFill>
              </a:rPr>
              <a:t>е</a:t>
            </a:r>
            <a:r>
              <a:rPr b="0" i="0" lang="en-US" spc="0" sz="1100" u="none" cap="none" strike="noStrike">
                <a:solidFill>
                  <a:srgbClr val="FFFFFF"/>
                </a:solidFill>
                <a:latin typeface="Arial"/>
                <a:ea typeface="Arial"/>
                <a:cs typeface="Arial"/>
                <a:sym typeface="Arial"/>
              </a:rPr>
              <a:t>т «почему товар не в ответе»</a:t>
            </a:r>
            <a:endParaRPr b="0" i="0" spc="0" sz="1400" u="none" cap="none" strike="noStrike">
              <a:solidFill>
                <a:srgbClr val="000000"/>
              </a:solidFill>
              <a:latin typeface="Arial"/>
              <a:ea typeface="Arial"/>
              <a:cs typeface="Arial"/>
              <a:sym typeface="Arial"/>
            </a:endParaRPr>
          </a:p>
        </p:txBody>
      </p:sp>
      <p:sp>
        <p:nvSpPr>
          <p:cNvPr id="196" name="Google Shape;196;p11"/>
          <p:cNvSpPr txBox="1"/>
          <p:nvPr/>
        </p:nvSpPr>
        <p:spPr>
          <a:xfrm>
            <a:off x="711403" y="3415284"/>
            <a:ext cx="2331720"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Мощности и цена ответа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свои GPU, л</a:t>
            </a:r>
            <a:r>
              <a:rPr lang="en-US" sz="1000">
                <a:solidFill>
                  <a:srgbClr val="6E5E7D"/>
                </a:solidFill>
              </a:rPr>
              <a:t>е</a:t>
            </a:r>
            <a:r>
              <a:rPr b="0" i="0" lang="en-US" spc="0" sz="1000" u="none" cap="none" strike="noStrike">
                <a:solidFill>
                  <a:srgbClr val="6E5E7D"/>
                </a:solidFill>
                <a:latin typeface="Arial"/>
                <a:ea typeface="Arial"/>
                <a:cs typeface="Arial"/>
                <a:sym typeface="Arial"/>
              </a:rPr>
              <a:t>гкая модель</a:t>
            </a:r>
            <a:endParaRPr b="0" i="0" spc="0" sz="1400" u="none" cap="none" strike="noStrike">
              <a:solidFill>
                <a:srgbClr val="000000"/>
              </a:solidFill>
              <a:latin typeface="Arial"/>
              <a:ea typeface="Arial"/>
              <a:cs typeface="Arial"/>
              <a:sym typeface="Arial"/>
            </a:endParaRPr>
          </a:p>
        </p:txBody>
      </p:sp>
      <p:sp>
        <p:nvSpPr>
          <p:cNvPr id="197" name="Google Shape;197;p11"/>
          <p:cNvSpPr/>
          <p:nvPr/>
        </p:nvSpPr>
        <p:spPr>
          <a:xfrm>
            <a:off x="3182112" y="341985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заказ GPU, поставка до года</a:t>
            </a:r>
            <a:endParaRPr b="0" i="0" spc="0" sz="1400" u="none" cap="none" strike="noStrike">
              <a:solidFill>
                <a:srgbClr val="000000"/>
              </a:solidFill>
              <a:latin typeface="Arial"/>
              <a:ea typeface="Arial"/>
              <a:cs typeface="Arial"/>
              <a:sym typeface="Arial"/>
            </a:endParaRPr>
          </a:p>
        </p:txBody>
      </p:sp>
      <p:sp>
        <p:nvSpPr>
          <p:cNvPr id="198" name="Google Shape;198;p11"/>
          <p:cNvSpPr/>
          <p:nvPr/>
        </p:nvSpPr>
        <p:spPr>
          <a:xfrm>
            <a:off x="4910877" y="341985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л</a:t>
            </a:r>
            <a:r>
              <a:rPr lang="en-US" sz="1100">
                <a:solidFill>
                  <a:srgbClr val="FFFFFF"/>
                </a:solidFill>
              </a:rPr>
              <a:t>е</a:t>
            </a:r>
            <a:r>
              <a:rPr b="0" i="0" lang="en-US" spc="0" sz="1100" u="none" cap="none" strike="noStrike">
                <a:solidFill>
                  <a:srgbClr val="FFFFFF"/>
                </a:solidFill>
                <a:latin typeface="Arial"/>
                <a:ea typeface="Arial"/>
                <a:cs typeface="Arial"/>
                <a:sym typeface="Arial"/>
              </a:rPr>
              <a:t>гкая модель, цена диалога</a:t>
            </a:r>
            <a:endParaRPr b="0" i="0" spc="0" sz="1400" u="none" cap="none" strike="noStrike">
              <a:solidFill>
                <a:srgbClr val="000000"/>
              </a:solidFill>
              <a:latin typeface="Arial"/>
              <a:ea typeface="Arial"/>
              <a:cs typeface="Arial"/>
              <a:sym typeface="Arial"/>
            </a:endParaRPr>
          </a:p>
        </p:txBody>
      </p:sp>
      <p:sp>
        <p:nvSpPr>
          <p:cNvPr id="199" name="Google Shape;199;p11"/>
          <p:cNvSpPr/>
          <p:nvPr/>
        </p:nvSpPr>
        <p:spPr>
          <a:xfrm>
            <a:off x="6639641" y="341985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GPU до распродажи, на пике лимит</a:t>
            </a:r>
            <a:endParaRPr b="0" i="0" spc="0" sz="1400" u="none" cap="none" strike="noStrike">
              <a:solidFill>
                <a:srgbClr val="000000"/>
              </a:solidFill>
              <a:latin typeface="Arial"/>
              <a:ea typeface="Arial"/>
              <a:cs typeface="Arial"/>
              <a:sym typeface="Arial"/>
            </a:endParaRPr>
          </a:p>
        </p:txBody>
      </p:sp>
      <p:sp>
        <p:nvSpPr>
          <p:cNvPr id="200" name="Google Shape;200;p11"/>
          <p:cNvSpPr/>
          <p:nvPr/>
        </p:nvSpPr>
        <p:spPr>
          <a:xfrm>
            <a:off x="8368406" y="341985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запас под всю аудиторию</a:t>
            </a:r>
            <a:endParaRPr b="0" i="0" spc="0" sz="1400" u="none" cap="none" strike="noStrike">
              <a:solidFill>
                <a:srgbClr val="000000"/>
              </a:solidFill>
              <a:latin typeface="Arial"/>
              <a:ea typeface="Arial"/>
              <a:cs typeface="Arial"/>
              <a:sym typeface="Arial"/>
            </a:endParaRPr>
          </a:p>
        </p:txBody>
      </p:sp>
      <p:sp>
        <p:nvSpPr>
          <p:cNvPr id="201" name="Google Shape;201;p11"/>
          <p:cNvSpPr txBox="1"/>
          <p:nvPr/>
        </p:nvSpPr>
        <p:spPr>
          <a:xfrm>
            <a:off x="711403" y="3803904"/>
            <a:ext cx="2331720"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Спонсорские места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доход сверх комиссии</a:t>
            </a:r>
            <a:endParaRPr b="0" i="0" spc="0" sz="1400" u="none" cap="none" strike="noStrike">
              <a:solidFill>
                <a:srgbClr val="000000"/>
              </a:solidFill>
              <a:latin typeface="Arial"/>
              <a:ea typeface="Arial"/>
              <a:cs typeface="Arial"/>
              <a:sym typeface="Arial"/>
            </a:endParaRPr>
          </a:p>
        </p:txBody>
      </p:sp>
      <p:sp>
        <p:nvSpPr>
          <p:cNvPr id="202" name="Google Shape;202;p11"/>
          <p:cNvSpPr/>
          <p:nvPr/>
        </p:nvSpPr>
        <p:spPr>
          <a:xfrm>
            <a:off x="6639641" y="380847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тест в тр</a:t>
            </a:r>
            <a:r>
              <a:rPr lang="en-US" sz="1100">
                <a:solidFill>
                  <a:srgbClr val="FFFFFF"/>
                </a:solidFill>
              </a:rPr>
              <a:t>е</a:t>
            </a:r>
            <a:r>
              <a:rPr b="0" i="0" lang="en-US" spc="0" sz="1100" u="none" cap="none" strike="noStrike">
                <a:solidFill>
                  <a:srgbClr val="FFFFFF"/>
                </a:solidFill>
                <a:latin typeface="Arial"/>
                <a:ea typeface="Arial"/>
                <a:cs typeface="Arial"/>
                <a:sym typeface="Arial"/>
              </a:rPr>
              <a:t>х пилотных категориях</a:t>
            </a:r>
            <a:endParaRPr b="0" i="0" spc="0" sz="1400" u="none" cap="none" strike="noStrike">
              <a:solidFill>
                <a:srgbClr val="000000"/>
              </a:solidFill>
              <a:latin typeface="Arial"/>
              <a:ea typeface="Arial"/>
              <a:cs typeface="Arial"/>
              <a:sym typeface="Arial"/>
            </a:endParaRPr>
          </a:p>
        </p:txBody>
      </p:sp>
      <p:sp>
        <p:nvSpPr>
          <p:cNvPr id="203" name="Google Shape;203;p11"/>
          <p:cNvSpPr/>
          <p:nvPr/>
        </p:nvSpPr>
        <p:spPr>
          <a:xfrm>
            <a:off x="8368406" y="3808476"/>
            <a:ext cx="3402665"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все категории: пометка «реклама», до 1 из 5 позиций, равные условия продавцам</a:t>
            </a:r>
            <a:endParaRPr b="0" i="0" spc="0" sz="1400" u="none" cap="none" strike="noStrike">
              <a:solidFill>
                <a:srgbClr val="000000"/>
              </a:solidFill>
              <a:latin typeface="Arial"/>
              <a:ea typeface="Arial"/>
              <a:cs typeface="Arial"/>
              <a:sym typeface="Arial"/>
            </a:endParaRPr>
          </a:p>
        </p:txBody>
      </p:sp>
      <p:cxnSp>
        <p:nvCxnSpPr>
          <p:cNvPr id="204" name="Google Shape;204;p11"/>
          <p:cNvCxnSpPr/>
          <p:nvPr/>
        </p:nvCxnSpPr>
        <p:spPr>
          <a:xfrm>
            <a:off x="711403" y="4187952"/>
            <a:ext cx="11087100" cy="0"/>
          </a:xfrm>
          <a:prstGeom prst="straightConnector1">
            <a:avLst/>
          </a:prstGeom>
          <a:noFill/>
          <a:ln cap="flat" cmpd="sng" w="9525">
            <a:solidFill>
              <a:srgbClr val="DDD0E6"/>
            </a:solidFill>
            <a:prstDash val="solid"/>
            <a:round/>
            <a:headEnd len="sm" w="sm" type="none"/>
            <a:tailEnd len="sm" w="sm" type="none"/>
          </a:ln>
        </p:spPr>
      </p:cxnSp>
      <p:sp>
        <p:nvSpPr>
          <p:cNvPr id="205" name="Google Shape;205;p11"/>
          <p:cNvSpPr txBox="1"/>
          <p:nvPr/>
        </p:nvSpPr>
        <p:spPr>
          <a:xfrm>
            <a:off x="711403" y="4280649"/>
            <a:ext cx="42063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Should have</a:t>
            </a:r>
            <a:r>
              <a:rPr b="0" i="0" lang="en-US" spc="0" sz="1000" u="none" cap="none" strike="noStrike">
                <a:solidFill>
                  <a:srgbClr val="6E5E7D"/>
                </a:solidFill>
                <a:latin typeface="Arial"/>
                <a:ea typeface="Arial"/>
                <a:cs typeface="Arial"/>
                <a:sym typeface="Arial"/>
              </a:rPr>
              <a:t>   усиливает ставку</a:t>
            </a:r>
            <a:endParaRPr b="0" i="0" spc="0" sz="1400" u="none" cap="none" strike="noStrike">
              <a:solidFill>
                <a:srgbClr val="000000"/>
              </a:solidFill>
              <a:latin typeface="Arial"/>
              <a:ea typeface="Arial"/>
              <a:cs typeface="Arial"/>
              <a:sym typeface="Arial"/>
            </a:endParaRPr>
          </a:p>
        </p:txBody>
      </p:sp>
      <p:sp>
        <p:nvSpPr>
          <p:cNvPr id="206" name="Google Shape;206;p11"/>
          <p:cNvSpPr txBox="1"/>
          <p:nvPr/>
        </p:nvSpPr>
        <p:spPr>
          <a:xfrm>
            <a:off x="711403" y="4500105"/>
            <a:ext cx="2331600" cy="34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Рассрочка в ответе</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действующая, не скидка за карту</a:t>
            </a:r>
            <a:endParaRPr b="0" i="0" spc="0" sz="1400" u="none" cap="none" strike="noStrike">
              <a:solidFill>
                <a:srgbClr val="000000"/>
              </a:solidFill>
              <a:latin typeface="Arial"/>
              <a:ea typeface="Arial"/>
              <a:cs typeface="Arial"/>
              <a:sym typeface="Arial"/>
            </a:endParaRPr>
          </a:p>
        </p:txBody>
      </p:sp>
      <p:sp>
        <p:nvSpPr>
          <p:cNvPr id="207" name="Google Shape;207;p11"/>
          <p:cNvSpPr/>
          <p:nvPr/>
        </p:nvSpPr>
        <p:spPr>
          <a:xfrm>
            <a:off x="6639641" y="4504677"/>
            <a:ext cx="1674000" cy="333900"/>
          </a:xfrm>
          <a:prstGeom prst="roundRect">
            <a:avLst>
              <a:gd fmla="val 18000" name="adj"/>
            </a:avLst>
          </a:prstGeom>
          <a:solidFill>
            <a:srgbClr val="EDE2F4"/>
          </a:solidFill>
          <a:ln cap="flat" cmpd="sng" w="9525">
            <a:solidFill>
              <a:srgbClr val="CDBBDA"/>
            </a:solidFill>
            <a:prstDash val="solid"/>
            <a:round/>
            <a:headEnd len="sm" w="sm" type="none"/>
            <a:tailEnd len="sm" w="sm" type="none"/>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3D2A4F"/>
                </a:solidFill>
                <a:latin typeface="Arial"/>
                <a:ea typeface="Arial"/>
                <a:cs typeface="Arial"/>
                <a:sym typeface="Arial"/>
              </a:rPr>
              <a:t>в пилотных категориях</a:t>
            </a:r>
            <a:endParaRPr b="0" i="0" spc="0" sz="1400" u="none" cap="none" strike="noStrike">
              <a:solidFill>
                <a:srgbClr val="000000"/>
              </a:solidFill>
              <a:latin typeface="Arial"/>
              <a:ea typeface="Arial"/>
              <a:cs typeface="Arial"/>
              <a:sym typeface="Arial"/>
            </a:endParaRPr>
          </a:p>
        </p:txBody>
      </p:sp>
      <p:sp>
        <p:nvSpPr>
          <p:cNvPr id="208" name="Google Shape;208;p11"/>
          <p:cNvSpPr/>
          <p:nvPr/>
        </p:nvSpPr>
        <p:spPr>
          <a:xfrm>
            <a:off x="8368406" y="4504677"/>
            <a:ext cx="3402600" cy="333900"/>
          </a:xfrm>
          <a:prstGeom prst="roundRect">
            <a:avLst>
              <a:gd fmla="val 18000" name="adj"/>
            </a:avLst>
          </a:prstGeom>
          <a:solidFill>
            <a:srgbClr val="EDE2F4"/>
          </a:solidFill>
          <a:ln cap="flat" cmpd="sng" w="9525">
            <a:solidFill>
              <a:srgbClr val="CDBBDA"/>
            </a:solidFill>
            <a:prstDash val="solid"/>
            <a:round/>
            <a:headEnd len="sm" w="sm" type="none"/>
            <a:tailEnd len="sm" w="sm" type="none"/>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3D2A4F"/>
                </a:solidFill>
                <a:latin typeface="Arial"/>
                <a:ea typeface="Arial"/>
                <a:cs typeface="Arial"/>
                <a:sym typeface="Arial"/>
              </a:rPr>
              <a:t>во всех категориях</a:t>
            </a:r>
            <a:endParaRPr b="0" i="0" spc="0" sz="1400" u="none" cap="none" strike="noStrike">
              <a:solidFill>
                <a:srgbClr val="000000"/>
              </a:solidFill>
              <a:latin typeface="Arial"/>
              <a:ea typeface="Arial"/>
              <a:cs typeface="Arial"/>
              <a:sym typeface="Arial"/>
            </a:endParaRPr>
          </a:p>
        </p:txBody>
      </p:sp>
      <p:cxnSp>
        <p:nvCxnSpPr>
          <p:cNvPr id="209" name="Google Shape;209;p11"/>
          <p:cNvCxnSpPr/>
          <p:nvPr/>
        </p:nvCxnSpPr>
        <p:spPr>
          <a:xfrm>
            <a:off x="711403" y="4940274"/>
            <a:ext cx="11087100" cy="0"/>
          </a:xfrm>
          <a:prstGeom prst="straightConnector1">
            <a:avLst/>
          </a:prstGeom>
          <a:noFill/>
          <a:ln cap="flat" cmpd="sng" w="9525">
            <a:solidFill>
              <a:srgbClr val="DDD0E6"/>
            </a:solidFill>
            <a:prstDash val="solid"/>
            <a:round/>
            <a:headEnd len="sm" w="sm" type="none"/>
            <a:tailEnd len="sm" w="sm" type="none"/>
          </a:ln>
        </p:spPr>
      </p:cxnSp>
      <p:sp>
        <p:nvSpPr>
          <p:cNvPr id="210" name="Google Shape;210;p11"/>
          <p:cNvSpPr txBox="1"/>
          <p:nvPr/>
        </p:nvSpPr>
        <p:spPr>
          <a:xfrm>
            <a:off x="711403" y="5032971"/>
            <a:ext cx="42063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Won't do</a:t>
            </a:r>
            <a:r>
              <a:rPr b="0" i="0" lang="en-US" spc="0" sz="1000" u="none" cap="none" strike="noStrike">
                <a:solidFill>
                  <a:srgbClr val="6E5E7D"/>
                </a:solidFill>
                <a:latin typeface="Arial"/>
                <a:ea typeface="Arial"/>
                <a:cs typeface="Arial"/>
                <a:sym typeface="Arial"/>
              </a:rPr>
              <a:t>   откладываем до развилки декабря 2028</a:t>
            </a:r>
            <a:endParaRPr b="0" i="0" spc="0" sz="1400" u="none" cap="none" strike="noStrike">
              <a:solidFill>
                <a:srgbClr val="000000"/>
              </a:solidFill>
              <a:latin typeface="Arial"/>
              <a:ea typeface="Arial"/>
              <a:cs typeface="Arial"/>
              <a:sym typeface="Arial"/>
            </a:endParaRPr>
          </a:p>
        </p:txBody>
      </p:sp>
      <p:sp>
        <p:nvSpPr>
          <p:cNvPr id="211" name="Google Shape;211;p11"/>
          <p:cNvSpPr txBox="1"/>
          <p:nvPr/>
        </p:nvSpPr>
        <p:spPr>
          <a:xfrm>
            <a:off x="711403" y="5252427"/>
            <a:ext cx="23316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Новые дарксторы и склады</a:t>
            </a:r>
            <a:endParaRPr b="0" i="0" spc="0" sz="1400" u="none" cap="none" strike="noStrike">
              <a:solidFill>
                <a:srgbClr val="000000"/>
              </a:solidFill>
              <a:latin typeface="Arial"/>
              <a:ea typeface="Arial"/>
              <a:cs typeface="Arial"/>
              <a:sym typeface="Arial"/>
            </a:endParaRPr>
          </a:p>
        </p:txBody>
      </p:sp>
      <p:sp>
        <p:nvSpPr>
          <p:cNvPr id="212" name="Google Shape;212;p11"/>
          <p:cNvSpPr/>
          <p:nvPr/>
        </p:nvSpPr>
        <p:spPr>
          <a:xfrm>
            <a:off x="3182112" y="5252427"/>
            <a:ext cx="8589000" cy="242400"/>
          </a:xfrm>
          <a:prstGeom prst="roundRect">
            <a:avLst>
              <a:gd fmla="val 18000" name="adj"/>
            </a:avLst>
          </a:prstGeom>
          <a:noFill/>
          <a:ln cap="flat" cmpd="sng" w="9525">
            <a:solidFill>
              <a:srgbClr val="BBA6CC"/>
            </a:solidFill>
            <a:prstDash val="dash"/>
            <a:round/>
            <a:headEnd len="sm" w="sm" type="none"/>
            <a:tailEnd len="sm" w="sm" type="none"/>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6E5E7D"/>
                </a:solidFill>
                <a:latin typeface="Arial"/>
                <a:ea typeface="Arial"/>
                <a:cs typeface="Arial"/>
                <a:sym typeface="Arial"/>
              </a:rPr>
              <a:t>«Экспресс» оста</a:t>
            </a:r>
            <a:r>
              <a:rPr lang="en-US" sz="1100">
                <a:solidFill>
                  <a:srgbClr val="6E5E7D"/>
                </a:solidFill>
              </a:rPr>
              <a:t>е</a:t>
            </a:r>
            <a:r>
              <a:rPr b="0" i="0" lang="en-US" spc="0" sz="1100" u="none" cap="none" strike="noStrike">
                <a:solidFill>
                  <a:srgbClr val="6E5E7D"/>
                </a:solidFill>
                <a:latin typeface="Arial"/>
                <a:ea typeface="Arial"/>
                <a:cs typeface="Arial"/>
                <a:sym typeface="Arial"/>
              </a:rPr>
              <a:t>тся пилотом в Москве, в СНГ раст</a:t>
            </a:r>
            <a:r>
              <a:rPr lang="en-US" sz="1100">
                <a:solidFill>
                  <a:srgbClr val="6E5E7D"/>
                </a:solidFill>
              </a:rPr>
              <a:t>е</a:t>
            </a:r>
            <a:r>
              <a:rPr b="0" i="0" lang="en-US" spc="0" sz="1100" u="none" cap="none" strike="noStrike">
                <a:solidFill>
                  <a:srgbClr val="6E5E7D"/>
                </a:solidFill>
                <a:latin typeface="Arial"/>
                <a:ea typeface="Arial"/>
                <a:cs typeface="Arial"/>
                <a:sym typeface="Arial"/>
              </a:rPr>
              <a:t>м через местных продавцов, капитал ид</a:t>
            </a:r>
            <a:r>
              <a:rPr lang="en-US" sz="1100">
                <a:solidFill>
                  <a:srgbClr val="6E5E7D"/>
                </a:solidFill>
              </a:rPr>
              <a:t>е</a:t>
            </a:r>
            <a:r>
              <a:rPr b="0" i="0" lang="en-US" spc="0" sz="1100" u="none" cap="none" strike="noStrike">
                <a:solidFill>
                  <a:srgbClr val="6E5E7D"/>
                </a:solidFill>
                <a:latin typeface="Arial"/>
                <a:ea typeface="Arial"/>
                <a:cs typeface="Arial"/>
                <a:sym typeface="Arial"/>
              </a:rPr>
              <a:t>т на склады в России</a:t>
            </a:r>
            <a:endParaRPr b="0" i="0" spc="0" sz="1400" u="none" cap="none" strike="noStrike">
              <a:solidFill>
                <a:srgbClr val="000000"/>
              </a:solidFill>
              <a:latin typeface="Arial"/>
              <a:ea typeface="Arial"/>
              <a:cs typeface="Arial"/>
              <a:sym typeface="Arial"/>
            </a:endParaRPr>
          </a:p>
        </p:txBody>
      </p:sp>
      <p:sp>
        <p:nvSpPr>
          <p:cNvPr id="213" name="Google Shape;213;p11"/>
          <p:cNvSpPr txBox="1"/>
          <p:nvPr/>
        </p:nvSpPr>
        <p:spPr>
          <a:xfrm>
            <a:off x="711403" y="5535891"/>
            <a:ext cx="23316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Гонка Wibes за аудиторией</a:t>
            </a:r>
            <a:endParaRPr b="0" i="0" spc="0" sz="1400" u="none" cap="none" strike="noStrike">
              <a:solidFill>
                <a:srgbClr val="000000"/>
              </a:solidFill>
              <a:latin typeface="Arial"/>
              <a:ea typeface="Arial"/>
              <a:cs typeface="Arial"/>
              <a:sym typeface="Arial"/>
            </a:endParaRPr>
          </a:p>
        </p:txBody>
      </p:sp>
      <p:sp>
        <p:nvSpPr>
          <p:cNvPr id="214" name="Google Shape;214;p11"/>
          <p:cNvSpPr/>
          <p:nvPr/>
        </p:nvSpPr>
        <p:spPr>
          <a:xfrm>
            <a:off x="3182112" y="5535891"/>
            <a:ext cx="8589000" cy="242400"/>
          </a:xfrm>
          <a:prstGeom prst="roundRect">
            <a:avLst>
              <a:gd fmla="val 18000" name="adj"/>
            </a:avLst>
          </a:prstGeom>
          <a:noFill/>
          <a:ln cap="flat" cmpd="sng" w="9525">
            <a:solidFill>
              <a:srgbClr val="BBA6CC"/>
            </a:solidFill>
            <a:prstDash val="dash"/>
            <a:round/>
            <a:headEnd len="sm" w="sm" type="none"/>
            <a:tailEnd len="sm" w="sm" type="none"/>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6E5E7D"/>
                </a:solidFill>
                <a:latin typeface="Arial"/>
                <a:ea typeface="Arial"/>
                <a:cs typeface="Arial"/>
                <a:sym typeface="Arial"/>
              </a:rPr>
              <a:t>без бюджета на авторов и раскрутку, видео и отзывы идут в данные для точного совета</a:t>
            </a:r>
            <a:endParaRPr b="0" i="0" spc="0" sz="1400" u="none" cap="none" strike="noStrike">
              <a:solidFill>
                <a:srgbClr val="000000"/>
              </a:solidFill>
              <a:latin typeface="Arial"/>
              <a:ea typeface="Arial"/>
              <a:cs typeface="Arial"/>
              <a:sym typeface="Arial"/>
            </a:endParaRPr>
          </a:p>
        </p:txBody>
      </p:sp>
      <p:sp>
        <p:nvSpPr>
          <p:cNvPr id="215" name="Google Shape;215;p11"/>
          <p:cNvSpPr/>
          <p:nvPr/>
        </p:nvSpPr>
        <p:spPr>
          <a:xfrm>
            <a:off x="6548201" y="1929384"/>
            <a:ext cx="128016" cy="128016"/>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6" name="Google Shape;216;p11"/>
          <p:cNvSpPr/>
          <p:nvPr/>
        </p:nvSpPr>
        <p:spPr>
          <a:xfrm>
            <a:off x="8276966" y="1929384"/>
            <a:ext cx="128016" cy="128016"/>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7" name="Google Shape;217;p11"/>
          <p:cNvSpPr/>
          <p:nvPr/>
        </p:nvSpPr>
        <p:spPr>
          <a:xfrm>
            <a:off x="11734495" y="1929384"/>
            <a:ext cx="128016" cy="128016"/>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8" name="Google Shape;218;p11"/>
          <p:cNvSpPr/>
          <p:nvPr/>
        </p:nvSpPr>
        <p:spPr>
          <a:xfrm>
            <a:off x="711403" y="5966916"/>
            <a:ext cx="100500" cy="100500"/>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9" name="Google Shape;219;p11"/>
          <p:cNvSpPr txBox="1"/>
          <p:nvPr/>
        </p:nvSpPr>
        <p:spPr>
          <a:xfrm>
            <a:off x="894283" y="5939484"/>
            <a:ext cx="10904100" cy="150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pc="0" sz="1000" u="none" cap="none" strike="noStrike">
                <a:solidFill>
                  <a:srgbClr val="6E5E7D"/>
                </a:solidFill>
                <a:latin typeface="Arial"/>
                <a:ea typeface="Arial"/>
                <a:cs typeface="Arial"/>
                <a:sym typeface="Arial"/>
              </a:rPr>
              <a:t>Июль 2027, при продлении октябрь · условие 01:</a:t>
            </a:r>
            <a:r>
              <a:rPr b="0" i="0" lang="en-US" spc="0" sz="1000" u="none" cap="none" strike="noStrike">
                <a:solidFill>
                  <a:srgbClr val="6E5E7D"/>
                </a:solidFill>
                <a:latin typeface="Arial"/>
                <a:ea typeface="Arial"/>
                <a:cs typeface="Arial"/>
                <a:sym typeface="Arial"/>
              </a:rPr>
              <a:t> GMV без возвратов на покупателя выше контроля минимум на 2% в 2 из 3 категорий, окупаемость диалога не ниже 1</a:t>
            </a:r>
            <a:endParaRPr b="0" i="0" spc="0" sz="1400" u="none" cap="none" strike="noStrike">
              <a:solidFill>
                <a:srgbClr val="000000"/>
              </a:solidFill>
              <a:latin typeface="Arial"/>
              <a:ea typeface="Arial"/>
              <a:cs typeface="Arial"/>
              <a:sym typeface="Arial"/>
            </a:endParaRPr>
          </a:p>
        </p:txBody>
      </p:sp>
      <p:sp>
        <p:nvSpPr>
          <p:cNvPr id="220" name="Google Shape;220;p11"/>
          <p:cNvSpPr/>
          <p:nvPr/>
        </p:nvSpPr>
        <p:spPr>
          <a:xfrm>
            <a:off x="711403" y="6117792"/>
            <a:ext cx="100500" cy="100500"/>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1" name="Google Shape;221;p11"/>
          <p:cNvSpPr txBox="1"/>
          <p:nvPr/>
        </p:nvSpPr>
        <p:spPr>
          <a:xfrm>
            <a:off x="894283" y="6090360"/>
            <a:ext cx="10904100" cy="150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pc="0" sz="1000" u="none" cap="none" strike="noStrike">
                <a:solidFill>
                  <a:srgbClr val="6E5E7D"/>
                </a:solidFill>
                <a:latin typeface="Arial"/>
                <a:ea typeface="Arial"/>
                <a:cs typeface="Arial"/>
                <a:sym typeface="Arial"/>
              </a:rPr>
              <a:t>Январь 2028 · условия 02 и 03:</a:t>
            </a:r>
            <a:r>
              <a:rPr b="0" i="0" lang="en-US" spc="0" sz="1000" u="none" cap="none" strike="noStrike">
                <a:solidFill>
                  <a:srgbClr val="6E5E7D"/>
                </a:solidFill>
                <a:latin typeface="Arial"/>
                <a:ea typeface="Arial"/>
                <a:cs typeface="Arial"/>
                <a:sym typeface="Arial"/>
              </a:rPr>
              <a:t> окупаемость диалога не ниже 2, мощностей хватает на пик, предписаний регулятора нет</a:t>
            </a:r>
            <a:endParaRPr b="0" i="0" spc="0" sz="1400" u="none" cap="none" strike="noStrike">
              <a:solidFill>
                <a:srgbClr val="000000"/>
              </a:solidFill>
              <a:latin typeface="Arial"/>
              <a:ea typeface="Arial"/>
              <a:cs typeface="Arial"/>
              <a:sym typeface="Arial"/>
            </a:endParaRPr>
          </a:p>
        </p:txBody>
      </p:sp>
      <p:sp>
        <p:nvSpPr>
          <p:cNvPr id="222" name="Google Shape;222;p11"/>
          <p:cNvSpPr/>
          <p:nvPr/>
        </p:nvSpPr>
        <p:spPr>
          <a:xfrm>
            <a:off x="711403" y="6268668"/>
            <a:ext cx="100500" cy="100500"/>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3" name="Google Shape;223;p11"/>
          <p:cNvSpPr txBox="1"/>
          <p:nvPr/>
        </p:nvSpPr>
        <p:spPr>
          <a:xfrm>
            <a:off x="894283" y="6241236"/>
            <a:ext cx="10904100" cy="150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pc="0" sz="1000" u="none" cap="none" strike="noStrike">
                <a:solidFill>
                  <a:srgbClr val="6E5E7D"/>
                </a:solidFill>
                <a:latin typeface="Arial"/>
                <a:ea typeface="Arial"/>
                <a:cs typeface="Arial"/>
                <a:sym typeface="Arial"/>
              </a:rPr>
              <a:t>Декабрь 2028 · итог:</a:t>
            </a:r>
            <a:r>
              <a:rPr b="0" i="0" lang="en-US" spc="0" sz="1000" u="none" cap="none" strike="noStrike">
                <a:solidFill>
                  <a:srgbClr val="6E5E7D"/>
                </a:solidFill>
                <a:latin typeface="Arial"/>
                <a:ea typeface="Arial"/>
                <a:cs typeface="Arial"/>
                <a:sym typeface="Arial"/>
              </a:rPr>
              <a:t> продолжаем или закрываем ставку и пересматриваем Won't do. Что делаем при сбое на развилке, на слайде 7</a:t>
            </a:r>
            <a:endParaRPr b="0" i="0" spc="0" sz="1400" u="none" cap="none" strike="noStrike">
              <a:solidFill>
                <a:srgbClr val="000000"/>
              </a:solidFill>
              <a:latin typeface="Arial"/>
              <a:ea typeface="Arial"/>
              <a:cs typeface="Arial"/>
              <a:sym typeface="Arial"/>
            </a:endParaRPr>
          </a:p>
        </p:txBody>
      </p:sp>
      <p:cxnSp>
        <p:nvCxnSpPr>
          <p:cNvPr id="224" name="Google Shape;224;p11"/>
          <p:cNvCxnSpPr/>
          <p:nvPr/>
        </p:nvCxnSpPr>
        <p:spPr>
          <a:xfrm>
            <a:off x="711403" y="6456120"/>
            <a:ext cx="10769700" cy="0"/>
          </a:xfrm>
          <a:prstGeom prst="straightConnector1">
            <a:avLst/>
          </a:prstGeom>
          <a:noFill/>
          <a:ln cap="flat" cmpd="sng" w="9525">
            <a:solidFill>
              <a:srgbClr val="DDD0E6"/>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229" name="Shape 229"/>
        <p:cNvGrpSpPr/>
        <p:nvPr/>
      </p:nvGrpSpPr>
      <p:grpSpPr>
        <a:xfrm>
          <a:off x="0" y="0"/>
          <a:ext cx="0" cy="0"/>
          <a:chOff x="0" y="0"/>
          <a:chExt cx="0" cy="0"/>
        </a:xfrm>
      </p:grpSpPr>
      <p:sp>
        <p:nvSpPr>
          <p:cNvPr id="230" name="Google Shape;230;p12"/>
          <p:cNvSpPr txBox="1"/>
          <p:nvPr>
            <p:ph type="title"/>
          </p:nvPr>
        </p:nvSpPr>
        <p:spPr>
          <a:xfrm>
            <a:off x="711403" y="774497"/>
            <a:ext cx="11087100" cy="736092"/>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rgbClr val="FBF6FD"/>
                </a:solidFill>
                <a:latin typeface="Arial"/>
                <a:ea typeface="Arial"/>
                <a:cs typeface="Arial"/>
                <a:sym typeface="Arial"/>
              </a:rPr>
              <a:t>Ставка работает при трех условиях: покупатель доверяет совету, ответ окупается, продавцы и закон принимают подборку</a:t>
            </a:r>
            <a:endParaRPr/>
          </a:p>
        </p:txBody>
      </p:sp>
      <p:sp>
        <p:nvSpPr>
          <p:cNvPr id="231" name="Google Shape;231;p12"/>
          <p:cNvSpPr txBox="1"/>
          <p:nvPr/>
        </p:nvSpPr>
        <p:spPr>
          <a:xfrm>
            <a:off x="711403" y="405994"/>
            <a:ext cx="6350508" cy="241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План · условия успеха</a:t>
            </a:r>
            <a:endParaRPr b="0" i="0" spc="0" sz="1400" u="none" cap="none" strike="noStrike">
              <a:solidFill>
                <a:srgbClr val="000000"/>
              </a:solidFill>
              <a:latin typeface="Arial"/>
              <a:ea typeface="Arial"/>
              <a:cs typeface="Arial"/>
              <a:sym typeface="Arial"/>
            </a:endParaRPr>
          </a:p>
        </p:txBody>
      </p:sp>
      <p:sp>
        <p:nvSpPr>
          <p:cNvPr id="232" name="Google Shape;232;p12"/>
          <p:cNvSpPr txBox="1"/>
          <p:nvPr/>
        </p:nvSpPr>
        <p:spPr>
          <a:xfrm>
            <a:off x="1168603" y="1651406"/>
            <a:ext cx="2743200"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Условие</a:t>
            </a:r>
            <a:endParaRPr b="0" i="0" spc="0" sz="1400" u="none" cap="none" strike="noStrike">
              <a:solidFill>
                <a:srgbClr val="000000"/>
              </a:solidFill>
              <a:latin typeface="Arial"/>
              <a:ea typeface="Arial"/>
              <a:cs typeface="Arial"/>
              <a:sym typeface="Arial"/>
            </a:endParaRPr>
          </a:p>
        </p:txBody>
      </p:sp>
      <p:sp>
        <p:nvSpPr>
          <p:cNvPr id="233" name="Google Shape;233;p12"/>
          <p:cNvSpPr txBox="1"/>
          <p:nvPr/>
        </p:nvSpPr>
        <p:spPr>
          <a:xfrm>
            <a:off x="4206240" y="1651406"/>
            <a:ext cx="3337560"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Ранние сигналы</a:t>
            </a:r>
            <a:endParaRPr b="0" i="0" spc="0" sz="1400" u="none" cap="none" strike="noStrike">
              <a:solidFill>
                <a:srgbClr val="000000"/>
              </a:solidFill>
              <a:latin typeface="Arial"/>
              <a:ea typeface="Arial"/>
              <a:cs typeface="Arial"/>
              <a:sym typeface="Arial"/>
            </a:endParaRPr>
          </a:p>
        </p:txBody>
      </p:sp>
      <p:sp>
        <p:nvSpPr>
          <p:cNvPr id="234" name="Google Shape;234;p12"/>
          <p:cNvSpPr txBox="1"/>
          <p:nvPr/>
        </p:nvSpPr>
        <p:spPr>
          <a:xfrm>
            <a:off x="7863840" y="1651406"/>
            <a:ext cx="3934663"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Когда масштабируем</a:t>
            </a:r>
            <a:endParaRPr b="0" i="0" spc="0" sz="1400" u="none" cap="none" strike="noStrike">
              <a:solidFill>
                <a:srgbClr val="000000"/>
              </a:solidFill>
              <a:latin typeface="Arial"/>
              <a:ea typeface="Arial"/>
              <a:cs typeface="Arial"/>
              <a:sym typeface="Arial"/>
            </a:endParaRPr>
          </a:p>
        </p:txBody>
      </p:sp>
      <p:cxnSp>
        <p:nvCxnSpPr>
          <p:cNvPr id="235" name="Google Shape;235;p12"/>
          <p:cNvCxnSpPr/>
          <p:nvPr/>
        </p:nvCxnSpPr>
        <p:spPr>
          <a:xfrm>
            <a:off x="711403" y="1917497"/>
            <a:ext cx="11087100" cy="0"/>
          </a:xfrm>
          <a:prstGeom prst="straightConnector1">
            <a:avLst/>
          </a:prstGeom>
          <a:noFill/>
          <a:ln cap="flat" cmpd="sng" w="19050">
            <a:solidFill>
              <a:srgbClr val="F27BD8"/>
            </a:solidFill>
            <a:prstDash val="solid"/>
            <a:round/>
            <a:headEnd len="sm" w="sm" type="none"/>
            <a:tailEnd len="sm" w="sm" type="none"/>
          </a:ln>
        </p:spPr>
      </p:cxnSp>
      <p:sp>
        <p:nvSpPr>
          <p:cNvPr id="236" name="Google Shape;236;p12"/>
          <p:cNvSpPr txBox="1"/>
          <p:nvPr/>
        </p:nvSpPr>
        <p:spPr>
          <a:xfrm>
            <a:off x="711403" y="1998204"/>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01</a:t>
            </a:r>
            <a:endParaRPr b="0" i="0" spc="0" sz="1400" u="none" cap="none" strike="noStrike">
              <a:solidFill>
                <a:srgbClr val="000000"/>
              </a:solidFill>
              <a:latin typeface="Arial"/>
              <a:ea typeface="Arial"/>
              <a:cs typeface="Arial"/>
              <a:sym typeface="Arial"/>
            </a:endParaRPr>
          </a:p>
        </p:txBody>
      </p:sp>
      <p:sp>
        <p:nvSpPr>
          <p:cNvPr id="237" name="Google Shape;237;p12"/>
          <p:cNvSpPr txBox="1"/>
          <p:nvPr/>
        </p:nvSpPr>
        <p:spPr>
          <a:xfrm>
            <a:off x="1168603" y="2022892"/>
            <a:ext cx="2743200" cy="2086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Покупатель доверяет совету</a:t>
            </a:r>
            <a:endParaRPr b="0" i="0" spc="0" sz="1400" u="none" cap="none" strike="noStrike">
              <a:solidFill>
                <a:srgbClr val="000000"/>
              </a:solidFill>
              <a:latin typeface="Arial"/>
              <a:ea typeface="Arial"/>
              <a:cs typeface="Arial"/>
              <a:sym typeface="Arial"/>
            </a:endParaRPr>
          </a:p>
        </p:txBody>
      </p:sp>
      <p:sp>
        <p:nvSpPr>
          <p:cNvPr id="238" name="Google Shape;238;p12"/>
          <p:cNvSpPr txBox="1"/>
          <p:nvPr/>
        </p:nvSpPr>
        <p:spPr>
          <a:xfrm>
            <a:off x="4206240" y="2022892"/>
            <a:ext cx="3337560" cy="7639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Попробовавшие чаще начинают с консультанта, чем с поиска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Возвратов по размеру в одежде на 10% меньше, чем в контроле</a:t>
            </a:r>
            <a:endParaRPr b="0" i="0" spc="0" sz="1400" u="none" cap="none" strike="noStrike">
              <a:solidFill>
                <a:srgbClr val="000000"/>
              </a:solidFill>
              <a:latin typeface="Arial"/>
              <a:ea typeface="Arial"/>
              <a:cs typeface="Arial"/>
              <a:sym typeface="Arial"/>
            </a:endParaRPr>
          </a:p>
        </p:txBody>
      </p:sp>
      <p:sp>
        <p:nvSpPr>
          <p:cNvPr id="239" name="Google Shape;239;p12"/>
          <p:cNvSpPr/>
          <p:nvPr/>
        </p:nvSpPr>
        <p:spPr>
          <a:xfrm>
            <a:off x="7863840" y="2063374"/>
            <a:ext cx="86868" cy="86868"/>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0" name="Google Shape;240;p12"/>
          <p:cNvSpPr txBox="1"/>
          <p:nvPr/>
        </p:nvSpPr>
        <p:spPr>
          <a:xfrm>
            <a:off x="8019288" y="2022892"/>
            <a:ext cx="3779215" cy="1605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Июль 2027</a:t>
            </a:r>
            <a:endParaRPr b="0" i="0" spc="0" sz="1400" u="none" cap="none" strike="noStrike">
              <a:solidFill>
                <a:srgbClr val="000000"/>
              </a:solidFill>
              <a:latin typeface="Arial"/>
              <a:ea typeface="Arial"/>
              <a:cs typeface="Arial"/>
              <a:sym typeface="Arial"/>
            </a:endParaRPr>
          </a:p>
        </p:txBody>
      </p:sp>
      <p:sp>
        <p:nvSpPr>
          <p:cNvPr id="241" name="Google Shape;241;p12"/>
          <p:cNvSpPr txBox="1"/>
          <p:nvPr/>
        </p:nvSpPr>
        <p:spPr>
          <a:xfrm>
            <a:off x="7863840" y="2247416"/>
            <a:ext cx="3934663" cy="8655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GMV без возвратов на покупателя выше контроля </a:t>
            </a:r>
            <a:r>
              <a:rPr b="1" i="0" lang="en-US" spc="0" sz="1200" u="none" cap="none" strike="noStrike">
                <a:solidFill>
                  <a:srgbClr val="F3ECF7"/>
                </a:solidFill>
                <a:latin typeface="Arial"/>
                <a:ea typeface="Arial"/>
                <a:cs typeface="Arial"/>
                <a:sym typeface="Arial"/>
              </a:rPr>
              <a:t>минимум на 2%</a:t>
            </a:r>
            <a:r>
              <a:rPr b="0" i="0" lang="en-US" spc="0" sz="1200" u="none" cap="none" strike="noStrike">
                <a:solidFill>
                  <a:srgbClr val="DCCCE8"/>
                </a:solidFill>
                <a:latin typeface="Arial"/>
                <a:ea typeface="Arial"/>
                <a:cs typeface="Arial"/>
                <a:sym typeface="Arial"/>
              </a:rPr>
              <a:t> в 2 из 3 категорий</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Окупаемость диалога </a:t>
            </a:r>
            <a:r>
              <a:rPr b="1" i="0" lang="en-US" spc="0" sz="1200" u="none" cap="none" strike="noStrike">
                <a:solidFill>
                  <a:srgbClr val="F3ECF7"/>
                </a:solidFill>
                <a:latin typeface="Arial"/>
                <a:ea typeface="Arial"/>
                <a:cs typeface="Arial"/>
                <a:sym typeface="Arial"/>
              </a:rPr>
              <a:t>не ниже 1</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Открываем все категории</a:t>
            </a:r>
            <a:endParaRPr b="0" i="0" spc="0" sz="1400" u="none" cap="none" strike="noStrike">
              <a:solidFill>
                <a:srgbClr val="000000"/>
              </a:solidFill>
              <a:latin typeface="Arial"/>
              <a:ea typeface="Arial"/>
              <a:cs typeface="Arial"/>
              <a:sym typeface="Arial"/>
            </a:endParaRPr>
          </a:p>
        </p:txBody>
      </p:sp>
      <p:cxnSp>
        <p:nvCxnSpPr>
          <p:cNvPr id="242" name="Google Shape;242;p12"/>
          <p:cNvCxnSpPr/>
          <p:nvPr/>
        </p:nvCxnSpPr>
        <p:spPr>
          <a:xfrm>
            <a:off x="711403" y="3236671"/>
            <a:ext cx="11087100" cy="0"/>
          </a:xfrm>
          <a:prstGeom prst="straightConnector1">
            <a:avLst/>
          </a:prstGeom>
          <a:noFill/>
          <a:ln cap="flat" cmpd="sng" w="9525">
            <a:solidFill>
              <a:srgbClr val="57376F"/>
            </a:solidFill>
            <a:prstDash val="solid"/>
            <a:round/>
            <a:headEnd len="sm" w="sm" type="none"/>
            <a:tailEnd len="sm" w="sm" type="none"/>
          </a:ln>
        </p:spPr>
      </p:cxnSp>
      <p:sp>
        <p:nvSpPr>
          <p:cNvPr id="243" name="Google Shape;243;p12"/>
          <p:cNvSpPr txBox="1"/>
          <p:nvPr/>
        </p:nvSpPr>
        <p:spPr>
          <a:xfrm>
            <a:off x="711403" y="3317378"/>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02</a:t>
            </a:r>
            <a:endParaRPr b="0" i="0" spc="0" sz="1400" u="none" cap="none" strike="noStrike">
              <a:solidFill>
                <a:srgbClr val="000000"/>
              </a:solidFill>
              <a:latin typeface="Arial"/>
              <a:ea typeface="Arial"/>
              <a:cs typeface="Arial"/>
              <a:sym typeface="Arial"/>
            </a:endParaRPr>
          </a:p>
        </p:txBody>
      </p:sp>
      <p:sp>
        <p:nvSpPr>
          <p:cNvPr id="244" name="Google Shape;244;p12"/>
          <p:cNvSpPr txBox="1"/>
          <p:nvPr/>
        </p:nvSpPr>
        <p:spPr>
          <a:xfrm>
            <a:off x="1168603" y="3342067"/>
            <a:ext cx="2743200" cy="2086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Ответ окупается</a:t>
            </a:r>
            <a:endParaRPr b="0" i="0" spc="0" sz="1400" u="none" cap="none" strike="noStrike">
              <a:solidFill>
                <a:srgbClr val="000000"/>
              </a:solidFill>
              <a:latin typeface="Arial"/>
              <a:ea typeface="Arial"/>
              <a:cs typeface="Arial"/>
              <a:sym typeface="Arial"/>
            </a:endParaRPr>
          </a:p>
        </p:txBody>
      </p:sp>
      <p:sp>
        <p:nvSpPr>
          <p:cNvPr id="245" name="Google Shape;245;p12"/>
          <p:cNvSpPr txBox="1"/>
          <p:nvPr/>
        </p:nvSpPr>
        <p:spPr>
          <a:xfrm>
            <a:off x="1168603" y="3642177"/>
            <a:ext cx="2926080" cy="1459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DCCCE8"/>
                </a:solidFill>
                <a:latin typeface="Arial"/>
                <a:ea typeface="Arial"/>
                <a:cs typeface="Arial"/>
                <a:sym typeface="Arial"/>
              </a:rPr>
              <a:t>окупаемость диалога =</a:t>
            </a:r>
            <a:endParaRPr b="0" i="0" spc="0" sz="1400" u="none" cap="none" strike="noStrike">
              <a:solidFill>
                <a:srgbClr val="000000"/>
              </a:solidFill>
              <a:latin typeface="Arial"/>
              <a:ea typeface="Arial"/>
              <a:cs typeface="Arial"/>
              <a:sym typeface="Arial"/>
            </a:endParaRPr>
          </a:p>
        </p:txBody>
      </p:sp>
      <p:sp>
        <p:nvSpPr>
          <p:cNvPr id="246" name="Google Shape;246;p12"/>
          <p:cNvSpPr txBox="1"/>
          <p:nvPr/>
        </p:nvSpPr>
        <p:spPr>
          <a:xfrm>
            <a:off x="1168603" y="3797244"/>
            <a:ext cx="2926080" cy="1459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добавленная маржа от покупок без рекламы</a:t>
            </a:r>
            <a:endParaRPr b="0" i="0" spc="0" sz="1400" u="none" cap="none" strike="noStrike">
              <a:solidFill>
                <a:srgbClr val="000000"/>
              </a:solidFill>
              <a:latin typeface="Arial"/>
              <a:ea typeface="Arial"/>
              <a:cs typeface="Arial"/>
              <a:sym typeface="Arial"/>
            </a:endParaRPr>
          </a:p>
        </p:txBody>
      </p:sp>
      <p:cxnSp>
        <p:nvCxnSpPr>
          <p:cNvPr id="247" name="Google Shape;247;p12"/>
          <p:cNvCxnSpPr/>
          <p:nvPr/>
        </p:nvCxnSpPr>
        <p:spPr>
          <a:xfrm>
            <a:off x="1168603" y="3999859"/>
            <a:ext cx="2634586" cy="0"/>
          </a:xfrm>
          <a:prstGeom prst="straightConnector1">
            <a:avLst/>
          </a:prstGeom>
          <a:noFill/>
          <a:ln cap="flat" cmpd="sng" w="9525">
            <a:solidFill>
              <a:srgbClr val="DCCCE8"/>
            </a:solidFill>
            <a:prstDash val="solid"/>
            <a:round/>
            <a:headEnd len="sm" w="sm" type="none"/>
            <a:tailEnd len="sm" w="sm" type="none"/>
          </a:ln>
        </p:spPr>
      </p:cxnSp>
      <p:sp>
        <p:nvSpPr>
          <p:cNvPr id="248" name="Google Shape;248;p12"/>
          <p:cNvSpPr txBox="1"/>
          <p:nvPr/>
        </p:nvSpPr>
        <p:spPr>
          <a:xfrm>
            <a:off x="1168603" y="4018147"/>
            <a:ext cx="2926080" cy="1459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стоимость диалогов с амортизацией GPU</a:t>
            </a:r>
            <a:endParaRPr b="0" i="0" spc="0" sz="1400" u="none" cap="none" strike="noStrike">
              <a:solidFill>
                <a:srgbClr val="000000"/>
              </a:solidFill>
              <a:latin typeface="Arial"/>
              <a:ea typeface="Arial"/>
              <a:cs typeface="Arial"/>
              <a:sym typeface="Arial"/>
            </a:endParaRPr>
          </a:p>
        </p:txBody>
      </p:sp>
      <p:sp>
        <p:nvSpPr>
          <p:cNvPr id="249" name="Google Shape;249;p12"/>
          <p:cNvSpPr txBox="1"/>
          <p:nvPr/>
        </p:nvSpPr>
        <p:spPr>
          <a:xfrm>
            <a:off x="4206240" y="3342067"/>
            <a:ext cx="3337560" cy="5888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Диалог дешевеет каждый месяц</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Больше половины запросов закрывает л</a:t>
            </a:r>
            <a:r>
              <a:rPr lang="en-US" sz="1200">
                <a:solidFill>
                  <a:srgbClr val="DCCCE8"/>
                </a:solidFill>
              </a:rPr>
              <a:t>е</a:t>
            </a:r>
            <a:r>
              <a:rPr b="0" i="0" lang="en-US" spc="0" sz="1200" u="none" cap="none" strike="noStrike">
                <a:solidFill>
                  <a:srgbClr val="DCCCE8"/>
                </a:solidFill>
                <a:latin typeface="Arial"/>
                <a:ea typeface="Arial"/>
                <a:cs typeface="Arial"/>
                <a:sym typeface="Arial"/>
              </a:rPr>
              <a:t>гкая модель</a:t>
            </a:r>
            <a:endParaRPr b="0" i="0" spc="0" sz="1400" u="none" cap="none" strike="noStrike">
              <a:solidFill>
                <a:srgbClr val="000000"/>
              </a:solidFill>
              <a:latin typeface="Arial"/>
              <a:ea typeface="Arial"/>
              <a:cs typeface="Arial"/>
              <a:sym typeface="Arial"/>
            </a:endParaRPr>
          </a:p>
        </p:txBody>
      </p:sp>
      <p:sp>
        <p:nvSpPr>
          <p:cNvPr id="250" name="Google Shape;250;p12"/>
          <p:cNvSpPr/>
          <p:nvPr/>
        </p:nvSpPr>
        <p:spPr>
          <a:xfrm>
            <a:off x="7863840" y="3382548"/>
            <a:ext cx="86868" cy="86868"/>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1" name="Google Shape;251;p12"/>
          <p:cNvSpPr txBox="1"/>
          <p:nvPr/>
        </p:nvSpPr>
        <p:spPr>
          <a:xfrm>
            <a:off x="8019288" y="3342067"/>
            <a:ext cx="3779215" cy="1605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252" name="Google Shape;252;p12"/>
          <p:cNvSpPr txBox="1"/>
          <p:nvPr/>
        </p:nvSpPr>
        <p:spPr>
          <a:xfrm>
            <a:off x="7863840" y="3566590"/>
            <a:ext cx="3934663" cy="6904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Окупаемость диалога </a:t>
            </a:r>
            <a:r>
              <a:rPr b="1" i="0" lang="en-US" spc="0" sz="1200" u="none" cap="none" strike="noStrike">
                <a:solidFill>
                  <a:srgbClr val="F3ECF7"/>
                </a:solidFill>
                <a:latin typeface="Arial"/>
                <a:ea typeface="Arial"/>
                <a:cs typeface="Arial"/>
                <a:sym typeface="Arial"/>
              </a:rPr>
              <a:t>не ниже 2</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Мощностей хватает на пик</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Консультант становится главной дверью</a:t>
            </a:r>
            <a:endParaRPr b="0" i="0" spc="0" sz="1400" u="none" cap="none" strike="noStrike">
              <a:solidFill>
                <a:srgbClr val="000000"/>
              </a:solidFill>
              <a:latin typeface="Arial"/>
              <a:ea typeface="Arial"/>
              <a:cs typeface="Arial"/>
              <a:sym typeface="Arial"/>
            </a:endParaRPr>
          </a:p>
        </p:txBody>
      </p:sp>
      <p:cxnSp>
        <p:nvCxnSpPr>
          <p:cNvPr id="253" name="Google Shape;253;p12"/>
          <p:cNvCxnSpPr/>
          <p:nvPr/>
        </p:nvCxnSpPr>
        <p:spPr>
          <a:xfrm>
            <a:off x="711403" y="4380738"/>
            <a:ext cx="11087100" cy="0"/>
          </a:xfrm>
          <a:prstGeom prst="straightConnector1">
            <a:avLst/>
          </a:prstGeom>
          <a:noFill/>
          <a:ln cap="flat" cmpd="sng" w="9525">
            <a:solidFill>
              <a:srgbClr val="57376F"/>
            </a:solidFill>
            <a:prstDash val="solid"/>
            <a:round/>
            <a:headEnd len="sm" w="sm" type="none"/>
            <a:tailEnd len="sm" w="sm" type="none"/>
          </a:ln>
        </p:spPr>
      </p:cxnSp>
      <p:sp>
        <p:nvSpPr>
          <p:cNvPr id="254" name="Google Shape;254;p12"/>
          <p:cNvSpPr txBox="1"/>
          <p:nvPr/>
        </p:nvSpPr>
        <p:spPr>
          <a:xfrm>
            <a:off x="711403" y="4461445"/>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03</a:t>
            </a:r>
            <a:endParaRPr b="0" i="0" spc="0" sz="1400" u="none" cap="none" strike="noStrike">
              <a:solidFill>
                <a:srgbClr val="000000"/>
              </a:solidFill>
              <a:latin typeface="Arial"/>
              <a:ea typeface="Arial"/>
              <a:cs typeface="Arial"/>
              <a:sym typeface="Arial"/>
            </a:endParaRPr>
          </a:p>
        </p:txBody>
      </p:sp>
      <p:sp>
        <p:nvSpPr>
          <p:cNvPr id="255" name="Google Shape;255;p12"/>
          <p:cNvSpPr txBox="1"/>
          <p:nvPr/>
        </p:nvSpPr>
        <p:spPr>
          <a:xfrm>
            <a:off x="1168603" y="4486134"/>
            <a:ext cx="2743200" cy="4173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Продавцы и закон принимают подборку</a:t>
            </a:r>
            <a:endParaRPr b="0" i="0" spc="0" sz="1400" u="none" cap="none" strike="noStrike">
              <a:solidFill>
                <a:srgbClr val="000000"/>
              </a:solidFill>
              <a:latin typeface="Arial"/>
              <a:ea typeface="Arial"/>
              <a:cs typeface="Arial"/>
              <a:sym typeface="Arial"/>
            </a:endParaRPr>
          </a:p>
        </p:txBody>
      </p:sp>
      <p:sp>
        <p:nvSpPr>
          <p:cNvPr id="256" name="Google Shape;256;p12"/>
          <p:cNvSpPr txBox="1"/>
          <p:nvPr/>
        </p:nvSpPr>
        <p:spPr>
          <a:xfrm>
            <a:off x="4206240" y="4486134"/>
            <a:ext cx="3337560" cy="5888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Жалоб на подборку не больше, чем на обычную выдачу</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Продавцы правят карточки по отч</a:t>
            </a:r>
            <a:r>
              <a:rPr lang="en-US" sz="1200">
                <a:solidFill>
                  <a:srgbClr val="DCCCE8"/>
                </a:solidFill>
              </a:rPr>
              <a:t>е</a:t>
            </a:r>
            <a:r>
              <a:rPr b="0" i="0" lang="en-US" spc="0" sz="1200" u="none" cap="none" strike="noStrike">
                <a:solidFill>
                  <a:srgbClr val="DCCCE8"/>
                </a:solidFill>
                <a:latin typeface="Arial"/>
                <a:ea typeface="Arial"/>
                <a:cs typeface="Arial"/>
                <a:sym typeface="Arial"/>
              </a:rPr>
              <a:t>ту</a:t>
            </a:r>
            <a:endParaRPr b="0" i="0" spc="0" sz="1400" u="none" cap="none" strike="noStrike">
              <a:solidFill>
                <a:srgbClr val="000000"/>
              </a:solidFill>
              <a:latin typeface="Arial"/>
              <a:ea typeface="Arial"/>
              <a:cs typeface="Arial"/>
              <a:sym typeface="Arial"/>
            </a:endParaRPr>
          </a:p>
        </p:txBody>
      </p:sp>
      <p:sp>
        <p:nvSpPr>
          <p:cNvPr id="257" name="Google Shape;257;p12"/>
          <p:cNvSpPr/>
          <p:nvPr/>
        </p:nvSpPr>
        <p:spPr>
          <a:xfrm>
            <a:off x="7863840" y="4526615"/>
            <a:ext cx="86868" cy="86868"/>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8" name="Google Shape;258;p12"/>
          <p:cNvSpPr txBox="1"/>
          <p:nvPr/>
        </p:nvSpPr>
        <p:spPr>
          <a:xfrm>
            <a:off x="8019288" y="4486134"/>
            <a:ext cx="3779215" cy="1605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259" name="Google Shape;259;p12"/>
          <p:cNvSpPr txBox="1"/>
          <p:nvPr/>
        </p:nvSpPr>
        <p:spPr>
          <a:xfrm>
            <a:off x="7863840" y="4710657"/>
            <a:ext cx="3934663" cy="6904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Отч</a:t>
            </a:r>
            <a:r>
              <a:rPr lang="en-US" sz="1200">
                <a:solidFill>
                  <a:srgbClr val="DCCCE8"/>
                </a:solidFill>
              </a:rPr>
              <a:t>е</a:t>
            </a:r>
            <a:r>
              <a:rPr b="0" i="0" lang="en-US" spc="0" sz="1200" u="none" cap="none" strike="noStrike">
                <a:solidFill>
                  <a:srgbClr val="DCCCE8"/>
                </a:solidFill>
                <a:latin typeface="Arial"/>
                <a:ea typeface="Arial"/>
                <a:cs typeface="Arial"/>
                <a:sym typeface="Arial"/>
              </a:rPr>
              <a:t>т открыт всем продавцам</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Предписаний регулятора </a:t>
            </a:r>
            <a:r>
              <a:rPr b="1" i="0" lang="en-US" spc="0" sz="1200" u="none" cap="none" strike="noStrike">
                <a:solidFill>
                  <a:srgbClr val="F3ECF7"/>
                </a:solidFill>
                <a:latin typeface="Arial"/>
                <a:ea typeface="Arial"/>
                <a:cs typeface="Arial"/>
                <a:sym typeface="Arial"/>
              </a:rPr>
              <a:t>нет</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Реклама ид</a:t>
            </a:r>
            <a:r>
              <a:rPr lang="en-US" sz="1200">
                <a:solidFill>
                  <a:srgbClr val="FBF6FD"/>
                </a:solidFill>
              </a:rPr>
              <a:t>е</a:t>
            </a:r>
            <a:r>
              <a:rPr b="0" i="0" lang="en-US" spc="0" sz="1200" u="none" cap="none" strike="noStrike">
                <a:solidFill>
                  <a:srgbClr val="FBF6FD"/>
                </a:solidFill>
                <a:latin typeface="Arial"/>
                <a:ea typeface="Arial"/>
                <a:cs typeface="Arial"/>
                <a:sym typeface="Arial"/>
              </a:rPr>
              <a:t>т во все категории</a:t>
            </a:r>
            <a:endParaRPr b="0" i="0" spc="0" sz="1400" u="none" cap="none" strike="noStrike">
              <a:solidFill>
                <a:srgbClr val="000000"/>
              </a:solidFill>
              <a:latin typeface="Arial"/>
              <a:ea typeface="Arial"/>
              <a:cs typeface="Arial"/>
              <a:sym typeface="Arial"/>
            </a:endParaRPr>
          </a:p>
        </p:txBody>
      </p:sp>
      <p:cxnSp>
        <p:nvCxnSpPr>
          <p:cNvPr id="260" name="Google Shape;260;p12"/>
          <p:cNvCxnSpPr/>
          <p:nvPr/>
        </p:nvCxnSpPr>
        <p:spPr>
          <a:xfrm>
            <a:off x="711403" y="5524805"/>
            <a:ext cx="11087100" cy="0"/>
          </a:xfrm>
          <a:prstGeom prst="straightConnector1">
            <a:avLst/>
          </a:prstGeom>
          <a:noFill/>
          <a:ln cap="flat" cmpd="sng" w="9525">
            <a:solidFill>
              <a:srgbClr val="57376F"/>
            </a:solidFill>
            <a:prstDash val="solid"/>
            <a:round/>
            <a:headEnd len="sm" w="sm" type="none"/>
            <a:tailEnd len="sm" w="sm" type="none"/>
          </a:ln>
        </p:spPr>
      </p:cxnSp>
      <p:sp>
        <p:nvSpPr>
          <p:cNvPr id="261" name="Google Shape;261;p12"/>
          <p:cNvSpPr txBox="1"/>
          <p:nvPr/>
        </p:nvSpPr>
        <p:spPr>
          <a:xfrm>
            <a:off x="711403" y="5613502"/>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200"/>
              <a:buFont typeface="Arial"/>
              <a:buNone/>
            </a:pPr>
            <a:r>
              <a:rPr b="1" i="0" lang="en-US" spc="0" sz="1200" u="none" cap="none" strike="noStrike">
                <a:solidFill>
                  <a:srgbClr val="F3ECF7"/>
                </a:solidFill>
                <a:latin typeface="Arial"/>
                <a:ea typeface="Arial"/>
                <a:cs typeface="Arial"/>
                <a:sym typeface="Arial"/>
              </a:rPr>
              <a:t>Как измеряем.</a:t>
            </a:r>
            <a:r>
              <a:rPr b="0" i="0" lang="en-US" spc="0" sz="1200" u="none" cap="none" strike="noStrike">
                <a:solidFill>
                  <a:srgbClr val="F3ECF7"/>
                </a:solidFill>
                <a:latin typeface="Arial"/>
                <a:ea typeface="Arial"/>
                <a:cs typeface="Arial"/>
                <a:sym typeface="Arial"/>
              </a:rPr>
              <a:t> В пилоте GPU-час считаем по цене заказанных GPU с амортизацией, формула в июле и январе одна. Пороги рабочие, окончательные фиксируем после первого месяца пилота и дальше не двигаем.</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266" name="Shape 266"/>
        <p:cNvGrpSpPr/>
        <p:nvPr/>
      </p:nvGrpSpPr>
      <p:grpSpPr>
        <a:xfrm>
          <a:off x="0" y="0"/>
          <a:ext cx="0" cy="0"/>
          <a:chOff x="0" y="0"/>
          <a:chExt cx="0" cy="0"/>
        </a:xfrm>
      </p:grpSpPr>
      <p:sp>
        <p:nvSpPr>
          <p:cNvPr id="267" name="Google Shape;267;p13"/>
          <p:cNvSpPr txBox="1"/>
          <p:nvPr>
            <p:ph type="title"/>
          </p:nvPr>
        </p:nvSpPr>
        <p:spPr>
          <a:xfrm>
            <a:off x="711403" y="797357"/>
            <a:ext cx="10769803" cy="711403"/>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chemeClr val="accent3"/>
                </a:solidFill>
                <a:latin typeface="Arial"/>
                <a:ea typeface="Arial"/>
                <a:cs typeface="Arial"/>
                <a:sym typeface="Arial"/>
              </a:rPr>
              <a:t>При сбое сначала правим, а ставку закрываем только в двух случаях</a:t>
            </a:r>
            <a:endParaRPr/>
          </a:p>
        </p:txBody>
      </p:sp>
      <p:sp>
        <p:nvSpPr>
          <p:cNvPr id="268" name="Google Shape;268;p13"/>
          <p:cNvSpPr txBox="1"/>
          <p:nvPr/>
        </p:nvSpPr>
        <p:spPr>
          <a:xfrm>
            <a:off x="711403" y="405994"/>
            <a:ext cx="6350508" cy="241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План · условия пересмотра</a:t>
            </a:r>
            <a:endParaRPr b="0" i="0" spc="0" sz="1400" u="none" cap="none" strike="noStrike">
              <a:solidFill>
                <a:srgbClr val="000000"/>
              </a:solidFill>
              <a:latin typeface="Arial"/>
              <a:ea typeface="Arial"/>
              <a:cs typeface="Arial"/>
              <a:sym typeface="Arial"/>
            </a:endParaRPr>
          </a:p>
        </p:txBody>
      </p:sp>
      <p:sp>
        <p:nvSpPr>
          <p:cNvPr id="269" name="Google Shape;269;p13"/>
          <p:cNvSpPr txBox="1"/>
          <p:nvPr/>
        </p:nvSpPr>
        <p:spPr>
          <a:xfrm>
            <a:off x="1168603" y="1651406"/>
            <a:ext cx="2468880"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100"/>
              <a:buFont typeface="Arial"/>
              <a:buNone/>
            </a:pPr>
            <a:r>
              <a:rPr b="1" i="0" lang="en-US" spc="0" sz="1100" u="none" cap="none" strike="noStrike">
                <a:solidFill>
                  <a:srgbClr val="6E5E7D"/>
                </a:solidFill>
                <a:latin typeface="Arial"/>
                <a:ea typeface="Arial"/>
                <a:cs typeface="Arial"/>
                <a:sym typeface="Arial"/>
              </a:rPr>
              <a:t>Условие</a:t>
            </a:r>
            <a:endParaRPr b="0" i="0" spc="0" sz="1400" u="none" cap="none" strike="noStrike">
              <a:solidFill>
                <a:srgbClr val="000000"/>
              </a:solidFill>
              <a:latin typeface="Arial"/>
              <a:ea typeface="Arial"/>
              <a:cs typeface="Arial"/>
              <a:sym typeface="Arial"/>
            </a:endParaRPr>
          </a:p>
        </p:txBody>
      </p:sp>
      <p:sp>
        <p:nvSpPr>
          <p:cNvPr id="270" name="Google Shape;270;p13"/>
          <p:cNvSpPr txBox="1"/>
          <p:nvPr/>
        </p:nvSpPr>
        <p:spPr>
          <a:xfrm>
            <a:off x="3794760" y="1651406"/>
            <a:ext cx="3566160"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100"/>
              <a:buFont typeface="Arial"/>
              <a:buNone/>
            </a:pPr>
            <a:r>
              <a:rPr b="1" i="0" lang="en-US" spc="0" sz="1100" u="none" cap="none" strike="noStrike">
                <a:solidFill>
                  <a:srgbClr val="6E5E7D"/>
                </a:solidFill>
                <a:latin typeface="Arial"/>
                <a:ea typeface="Arial"/>
                <a:cs typeface="Arial"/>
                <a:sym typeface="Arial"/>
              </a:rPr>
              <a:t>Что видим</a:t>
            </a:r>
            <a:endParaRPr b="0" i="0" spc="0" sz="1400" u="none" cap="none" strike="noStrike">
              <a:solidFill>
                <a:srgbClr val="000000"/>
              </a:solidFill>
              <a:latin typeface="Arial"/>
              <a:ea typeface="Arial"/>
              <a:cs typeface="Arial"/>
              <a:sym typeface="Arial"/>
            </a:endParaRPr>
          </a:p>
        </p:txBody>
      </p:sp>
      <p:sp>
        <p:nvSpPr>
          <p:cNvPr id="271" name="Google Shape;271;p13"/>
          <p:cNvSpPr txBox="1"/>
          <p:nvPr/>
        </p:nvSpPr>
        <p:spPr>
          <a:xfrm>
            <a:off x="7726680" y="1651406"/>
            <a:ext cx="4071823"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100"/>
              <a:buFont typeface="Arial"/>
              <a:buNone/>
            </a:pPr>
            <a:r>
              <a:rPr b="1" i="0" lang="en-US" spc="0" sz="1100" u="none" cap="none" strike="noStrike">
                <a:solidFill>
                  <a:srgbClr val="6E5E7D"/>
                </a:solidFill>
                <a:latin typeface="Arial"/>
                <a:ea typeface="Arial"/>
                <a:cs typeface="Arial"/>
                <a:sym typeface="Arial"/>
              </a:rPr>
              <a:t>Что делаем</a:t>
            </a:r>
            <a:endParaRPr b="0" i="0" spc="0" sz="1400" u="none" cap="none" strike="noStrike">
              <a:solidFill>
                <a:srgbClr val="000000"/>
              </a:solidFill>
              <a:latin typeface="Arial"/>
              <a:ea typeface="Arial"/>
              <a:cs typeface="Arial"/>
              <a:sym typeface="Arial"/>
            </a:endParaRPr>
          </a:p>
        </p:txBody>
      </p:sp>
      <p:cxnSp>
        <p:nvCxnSpPr>
          <p:cNvPr id="272" name="Google Shape;272;p13"/>
          <p:cNvCxnSpPr/>
          <p:nvPr/>
        </p:nvCxnSpPr>
        <p:spPr>
          <a:xfrm>
            <a:off x="711403" y="1904695"/>
            <a:ext cx="11087100" cy="0"/>
          </a:xfrm>
          <a:prstGeom prst="straightConnector1">
            <a:avLst/>
          </a:prstGeom>
          <a:noFill/>
          <a:ln cap="flat" cmpd="sng" w="9525">
            <a:solidFill>
              <a:srgbClr val="DDD0E6"/>
            </a:solidFill>
            <a:prstDash val="solid"/>
            <a:round/>
            <a:headEnd len="sm" w="sm" type="none"/>
            <a:tailEnd len="sm" w="sm" type="none"/>
          </a:ln>
        </p:spPr>
      </p:cxnSp>
      <p:sp>
        <p:nvSpPr>
          <p:cNvPr id="273" name="Google Shape;273;p13"/>
          <p:cNvSpPr txBox="1"/>
          <p:nvPr/>
        </p:nvSpPr>
        <p:spPr>
          <a:xfrm>
            <a:off x="711403" y="2078431"/>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A80E8E"/>
                </a:solidFill>
                <a:latin typeface="Arial"/>
                <a:ea typeface="Arial"/>
                <a:cs typeface="Arial"/>
                <a:sym typeface="Arial"/>
              </a:rPr>
              <a:t>01</a:t>
            </a:r>
            <a:endParaRPr b="0" i="0" spc="0" sz="1400" u="none" cap="none" strike="noStrike">
              <a:solidFill>
                <a:srgbClr val="000000"/>
              </a:solidFill>
              <a:latin typeface="Arial"/>
              <a:ea typeface="Arial"/>
              <a:cs typeface="Arial"/>
              <a:sym typeface="Arial"/>
            </a:endParaRPr>
          </a:p>
        </p:txBody>
      </p:sp>
      <p:sp>
        <p:nvSpPr>
          <p:cNvPr id="274" name="Google Shape;274;p13"/>
          <p:cNvSpPr txBox="1"/>
          <p:nvPr/>
        </p:nvSpPr>
        <p:spPr>
          <a:xfrm>
            <a:off x="1168603" y="2108606"/>
            <a:ext cx="2468880" cy="2086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241036"/>
                </a:solidFill>
                <a:latin typeface="Arial"/>
                <a:ea typeface="Arial"/>
                <a:cs typeface="Arial"/>
                <a:sym typeface="Arial"/>
              </a:rPr>
              <a:t>Покупатель доверяет совету</a:t>
            </a:r>
            <a:endParaRPr b="0" i="0" spc="0" sz="1400" u="none" cap="none" strike="noStrike">
              <a:solidFill>
                <a:srgbClr val="000000"/>
              </a:solidFill>
              <a:latin typeface="Arial"/>
              <a:ea typeface="Arial"/>
              <a:cs typeface="Arial"/>
              <a:sym typeface="Arial"/>
            </a:endParaRPr>
          </a:p>
        </p:txBody>
      </p:sp>
      <p:sp>
        <p:nvSpPr>
          <p:cNvPr id="275" name="Google Shape;275;p13"/>
          <p:cNvSpPr txBox="1"/>
          <p:nvPr/>
        </p:nvSpPr>
        <p:spPr>
          <a:xfrm>
            <a:off x="3794760" y="2119579"/>
            <a:ext cx="356616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3D2A4F"/>
                </a:solidFill>
                <a:latin typeface="Arial"/>
                <a:ea typeface="Arial"/>
                <a:cs typeface="Arial"/>
                <a:sym typeface="Arial"/>
              </a:rPr>
              <a:t>Рост в одной категории или окупаемость ниже 1</a:t>
            </a:r>
            <a:endParaRPr b="0" i="0" spc="0" sz="1400" u="none" cap="none" strike="noStrike">
              <a:solidFill>
                <a:srgbClr val="000000"/>
              </a:solidFill>
              <a:latin typeface="Arial"/>
              <a:ea typeface="Arial"/>
              <a:cs typeface="Arial"/>
              <a:sym typeface="Arial"/>
            </a:endParaRPr>
          </a:p>
        </p:txBody>
      </p:sp>
      <p:sp>
        <p:nvSpPr>
          <p:cNvPr id="276" name="Google Shape;276;p13"/>
          <p:cNvSpPr txBox="1"/>
          <p:nvPr/>
        </p:nvSpPr>
        <p:spPr>
          <a:xfrm>
            <a:off x="7424928" y="2119579"/>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77" name="Google Shape;277;p13"/>
          <p:cNvSpPr txBox="1"/>
          <p:nvPr/>
        </p:nvSpPr>
        <p:spPr>
          <a:xfrm>
            <a:off x="7726680" y="2119579"/>
            <a:ext cx="4071823"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Пилот до октября 2027, порог тот же</a:t>
            </a:r>
            <a:endParaRPr b="0" i="0" spc="0" sz="1400" u="none" cap="none" strike="noStrike">
              <a:solidFill>
                <a:srgbClr val="000000"/>
              </a:solidFill>
              <a:latin typeface="Arial"/>
              <a:ea typeface="Arial"/>
              <a:cs typeface="Arial"/>
              <a:sym typeface="Arial"/>
            </a:endParaRPr>
          </a:p>
        </p:txBody>
      </p:sp>
      <p:sp>
        <p:nvSpPr>
          <p:cNvPr id="278" name="Google Shape;278;p13"/>
          <p:cNvSpPr/>
          <p:nvPr/>
        </p:nvSpPr>
        <p:spPr>
          <a:xfrm>
            <a:off x="3675888" y="2422703"/>
            <a:ext cx="8241487" cy="339700"/>
          </a:xfrm>
          <a:prstGeom prst="roundRect">
            <a:avLst>
              <a:gd fmla="val 22000" name="adj"/>
            </a:avLst>
          </a:prstGeom>
          <a:solidFill>
            <a:srgbClr val="EDE2F4"/>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9" name="Google Shape;279;p13"/>
          <p:cNvSpPr txBox="1"/>
          <p:nvPr/>
        </p:nvSpPr>
        <p:spPr>
          <a:xfrm>
            <a:off x="3794760" y="2504999"/>
            <a:ext cx="356616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241036"/>
                </a:solidFill>
                <a:latin typeface="Arial"/>
                <a:ea typeface="Arial"/>
                <a:cs typeface="Arial"/>
                <a:sym typeface="Arial"/>
              </a:rPr>
              <a:t>Роста нет или октябрь не пройден по росту</a:t>
            </a:r>
            <a:endParaRPr b="0" i="0" spc="0" sz="1400" u="none" cap="none" strike="noStrike">
              <a:solidFill>
                <a:srgbClr val="000000"/>
              </a:solidFill>
              <a:latin typeface="Arial"/>
              <a:ea typeface="Arial"/>
              <a:cs typeface="Arial"/>
              <a:sym typeface="Arial"/>
            </a:endParaRPr>
          </a:p>
        </p:txBody>
      </p:sp>
      <p:sp>
        <p:nvSpPr>
          <p:cNvPr id="280" name="Google Shape;280;p13"/>
          <p:cNvSpPr txBox="1"/>
          <p:nvPr/>
        </p:nvSpPr>
        <p:spPr>
          <a:xfrm>
            <a:off x="7424928" y="2504999"/>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81" name="Google Shape;281;p13"/>
          <p:cNvSpPr txBox="1"/>
          <p:nvPr/>
        </p:nvSpPr>
        <p:spPr>
          <a:xfrm>
            <a:off x="7726680" y="2504999"/>
            <a:ext cx="4071823"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Ставку закрываем</a:t>
            </a:r>
            <a:endParaRPr b="0" i="0" spc="0" sz="1400" u="none" cap="none" strike="noStrike">
              <a:solidFill>
                <a:srgbClr val="000000"/>
              </a:solidFill>
              <a:latin typeface="Arial"/>
              <a:ea typeface="Arial"/>
              <a:cs typeface="Arial"/>
              <a:sym typeface="Arial"/>
            </a:endParaRPr>
          </a:p>
        </p:txBody>
      </p:sp>
      <p:sp>
        <p:nvSpPr>
          <p:cNvPr id="282" name="Google Shape;282;p13"/>
          <p:cNvSpPr txBox="1"/>
          <p:nvPr/>
        </p:nvSpPr>
        <p:spPr>
          <a:xfrm>
            <a:off x="3794760" y="2890418"/>
            <a:ext cx="356616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3D2A4F"/>
                </a:solidFill>
                <a:latin typeface="Arial"/>
                <a:ea typeface="Arial"/>
                <a:cs typeface="Arial"/>
                <a:sym typeface="Arial"/>
              </a:rPr>
              <a:t>Реклама снижает повторные диалоги</a:t>
            </a:r>
            <a:endParaRPr b="0" i="0" spc="0" sz="1400" u="none" cap="none" strike="noStrike">
              <a:solidFill>
                <a:srgbClr val="000000"/>
              </a:solidFill>
              <a:latin typeface="Arial"/>
              <a:ea typeface="Arial"/>
              <a:cs typeface="Arial"/>
              <a:sym typeface="Arial"/>
            </a:endParaRPr>
          </a:p>
        </p:txBody>
      </p:sp>
      <p:sp>
        <p:nvSpPr>
          <p:cNvPr id="283" name="Google Shape;283;p13"/>
          <p:cNvSpPr txBox="1"/>
          <p:nvPr/>
        </p:nvSpPr>
        <p:spPr>
          <a:xfrm>
            <a:off x="7424928" y="2890418"/>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84" name="Google Shape;284;p13"/>
          <p:cNvSpPr txBox="1"/>
          <p:nvPr/>
        </p:nvSpPr>
        <p:spPr>
          <a:xfrm>
            <a:off x="7726680" y="2890418"/>
            <a:ext cx="4071823"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Убираем рекламу</a:t>
            </a:r>
            <a:endParaRPr b="0" i="0" spc="0" sz="1400" u="none" cap="none" strike="noStrike">
              <a:solidFill>
                <a:srgbClr val="000000"/>
              </a:solidFill>
              <a:latin typeface="Arial"/>
              <a:ea typeface="Arial"/>
              <a:cs typeface="Arial"/>
              <a:sym typeface="Arial"/>
            </a:endParaRPr>
          </a:p>
        </p:txBody>
      </p:sp>
      <p:cxnSp>
        <p:nvCxnSpPr>
          <p:cNvPr id="285" name="Google Shape;285;p13"/>
          <p:cNvCxnSpPr/>
          <p:nvPr/>
        </p:nvCxnSpPr>
        <p:spPr>
          <a:xfrm>
            <a:off x="711403" y="3280410"/>
            <a:ext cx="11087100" cy="0"/>
          </a:xfrm>
          <a:prstGeom prst="straightConnector1">
            <a:avLst/>
          </a:prstGeom>
          <a:noFill/>
          <a:ln cap="flat" cmpd="sng" w="9525">
            <a:solidFill>
              <a:srgbClr val="DDD0E6"/>
            </a:solidFill>
            <a:prstDash val="solid"/>
            <a:round/>
            <a:headEnd len="sm" w="sm" type="none"/>
            <a:tailEnd len="sm" w="sm" type="none"/>
          </a:ln>
        </p:spPr>
      </p:cxnSp>
      <p:sp>
        <p:nvSpPr>
          <p:cNvPr id="286" name="Google Shape;286;p13"/>
          <p:cNvSpPr txBox="1"/>
          <p:nvPr/>
        </p:nvSpPr>
        <p:spPr>
          <a:xfrm>
            <a:off x="711403" y="3454146"/>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A80E8E"/>
                </a:solidFill>
                <a:latin typeface="Arial"/>
                <a:ea typeface="Arial"/>
                <a:cs typeface="Arial"/>
                <a:sym typeface="Arial"/>
              </a:rPr>
              <a:t>02</a:t>
            </a:r>
            <a:endParaRPr b="0" i="0" spc="0" sz="1400" u="none" cap="none" strike="noStrike">
              <a:solidFill>
                <a:srgbClr val="000000"/>
              </a:solidFill>
              <a:latin typeface="Arial"/>
              <a:ea typeface="Arial"/>
              <a:cs typeface="Arial"/>
              <a:sym typeface="Arial"/>
            </a:endParaRPr>
          </a:p>
        </p:txBody>
      </p:sp>
      <p:sp>
        <p:nvSpPr>
          <p:cNvPr id="287" name="Google Shape;287;p13"/>
          <p:cNvSpPr txBox="1"/>
          <p:nvPr/>
        </p:nvSpPr>
        <p:spPr>
          <a:xfrm>
            <a:off x="1168603" y="3484321"/>
            <a:ext cx="2468880" cy="2086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241036"/>
                </a:solidFill>
                <a:latin typeface="Arial"/>
                <a:ea typeface="Arial"/>
                <a:cs typeface="Arial"/>
                <a:sym typeface="Arial"/>
              </a:rPr>
              <a:t>Ответ окупается</a:t>
            </a:r>
            <a:endParaRPr b="0" i="0" spc="0" sz="1400" u="none" cap="none" strike="noStrike">
              <a:solidFill>
                <a:srgbClr val="000000"/>
              </a:solidFill>
              <a:latin typeface="Arial"/>
              <a:ea typeface="Arial"/>
              <a:cs typeface="Arial"/>
              <a:sym typeface="Arial"/>
            </a:endParaRPr>
          </a:p>
        </p:txBody>
      </p:sp>
      <p:sp>
        <p:nvSpPr>
          <p:cNvPr id="288" name="Google Shape;288;p13"/>
          <p:cNvSpPr txBox="1"/>
          <p:nvPr/>
        </p:nvSpPr>
        <p:spPr>
          <a:xfrm>
            <a:off x="3794760" y="3495294"/>
            <a:ext cx="356616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3D2A4F"/>
                </a:solidFill>
                <a:latin typeface="Arial"/>
                <a:ea typeface="Arial"/>
                <a:cs typeface="Arial"/>
                <a:sym typeface="Arial"/>
              </a:rPr>
              <a:t>Окупаемость от 1 до 2</a:t>
            </a:r>
            <a:endParaRPr b="0" i="0" spc="0" sz="1400" u="none" cap="none" strike="noStrike">
              <a:solidFill>
                <a:srgbClr val="000000"/>
              </a:solidFill>
              <a:latin typeface="Arial"/>
              <a:ea typeface="Arial"/>
              <a:cs typeface="Arial"/>
              <a:sym typeface="Arial"/>
            </a:endParaRPr>
          </a:p>
        </p:txBody>
      </p:sp>
      <p:sp>
        <p:nvSpPr>
          <p:cNvPr id="289" name="Google Shape;289;p13"/>
          <p:cNvSpPr txBox="1"/>
          <p:nvPr/>
        </p:nvSpPr>
        <p:spPr>
          <a:xfrm>
            <a:off x="7424928" y="3495294"/>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90" name="Google Shape;290;p13"/>
          <p:cNvSpPr txBox="1"/>
          <p:nvPr/>
        </p:nvSpPr>
        <p:spPr>
          <a:xfrm>
            <a:off x="7726680" y="3495294"/>
            <a:ext cx="4071823"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Консультант оста</a:t>
            </a:r>
            <a:r>
              <a:rPr b="1" lang="en-US" sz="1200">
                <a:solidFill>
                  <a:srgbClr val="241036"/>
                </a:solidFill>
              </a:rPr>
              <a:t>е</a:t>
            </a:r>
            <a:r>
              <a:rPr b="1" i="0" lang="en-US" spc="0" sz="1200" u="none" cap="none" strike="noStrike">
                <a:solidFill>
                  <a:srgbClr val="241036"/>
                </a:solidFill>
                <a:latin typeface="Arial"/>
                <a:ea typeface="Arial"/>
                <a:cs typeface="Arial"/>
                <a:sym typeface="Arial"/>
              </a:rPr>
              <a:t>тся кнопкой</a:t>
            </a:r>
            <a:endParaRPr b="0" i="0" spc="0" sz="1400" u="none" cap="none" strike="noStrike">
              <a:solidFill>
                <a:srgbClr val="000000"/>
              </a:solidFill>
              <a:latin typeface="Arial"/>
              <a:ea typeface="Arial"/>
              <a:cs typeface="Arial"/>
              <a:sym typeface="Arial"/>
            </a:endParaRPr>
          </a:p>
        </p:txBody>
      </p:sp>
      <p:sp>
        <p:nvSpPr>
          <p:cNvPr id="291" name="Google Shape;291;p13"/>
          <p:cNvSpPr txBox="1"/>
          <p:nvPr/>
        </p:nvSpPr>
        <p:spPr>
          <a:xfrm>
            <a:off x="3794760" y="3880714"/>
            <a:ext cx="3566160" cy="350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3D2A4F"/>
                </a:solidFill>
                <a:latin typeface="Arial"/>
                <a:ea typeface="Arial"/>
                <a:cs typeface="Arial"/>
                <a:sym typeface="Arial"/>
              </a:rPr>
              <a:t>Окупаемость ниже 1 два квартала подряд, в том числе в июле и октябре 2027</a:t>
            </a:r>
            <a:endParaRPr b="0" i="0" spc="0" sz="1400" u="none" cap="none" strike="noStrike">
              <a:solidFill>
                <a:srgbClr val="000000"/>
              </a:solidFill>
              <a:latin typeface="Arial"/>
              <a:ea typeface="Arial"/>
              <a:cs typeface="Arial"/>
              <a:sym typeface="Arial"/>
            </a:endParaRPr>
          </a:p>
        </p:txBody>
      </p:sp>
      <p:sp>
        <p:nvSpPr>
          <p:cNvPr id="292" name="Google Shape;292;p13"/>
          <p:cNvSpPr txBox="1"/>
          <p:nvPr/>
        </p:nvSpPr>
        <p:spPr>
          <a:xfrm>
            <a:off x="7424928" y="3880714"/>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93" name="Google Shape;293;p13"/>
          <p:cNvSpPr txBox="1"/>
          <p:nvPr/>
        </p:nvSpPr>
        <p:spPr>
          <a:xfrm>
            <a:off x="7726680" y="3880714"/>
            <a:ext cx="4071823" cy="350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Сужаем консультанта до запросов-задач</a:t>
            </a:r>
            <a:endParaRPr b="0" i="0" spc="0" sz="1400" u="none" cap="none" strike="noStrike">
              <a:solidFill>
                <a:srgbClr val="000000"/>
              </a:solidFill>
              <a:latin typeface="Arial"/>
              <a:ea typeface="Arial"/>
              <a:cs typeface="Arial"/>
              <a:sym typeface="Arial"/>
            </a:endParaRPr>
          </a:p>
        </p:txBody>
      </p:sp>
      <p:cxnSp>
        <p:nvCxnSpPr>
          <p:cNvPr id="294" name="Google Shape;294;p13"/>
          <p:cNvCxnSpPr/>
          <p:nvPr/>
        </p:nvCxnSpPr>
        <p:spPr>
          <a:xfrm>
            <a:off x="711403" y="4445813"/>
            <a:ext cx="11087100" cy="0"/>
          </a:xfrm>
          <a:prstGeom prst="straightConnector1">
            <a:avLst/>
          </a:prstGeom>
          <a:noFill/>
          <a:ln cap="flat" cmpd="sng" w="9525">
            <a:solidFill>
              <a:srgbClr val="DDD0E6"/>
            </a:solidFill>
            <a:prstDash val="solid"/>
            <a:round/>
            <a:headEnd len="sm" w="sm" type="none"/>
            <a:tailEnd len="sm" w="sm" type="none"/>
          </a:ln>
        </p:spPr>
      </p:cxnSp>
      <p:sp>
        <p:nvSpPr>
          <p:cNvPr id="295" name="Google Shape;295;p13"/>
          <p:cNvSpPr txBox="1"/>
          <p:nvPr/>
        </p:nvSpPr>
        <p:spPr>
          <a:xfrm>
            <a:off x="711403" y="4619549"/>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A80E8E"/>
                </a:solidFill>
                <a:latin typeface="Arial"/>
                <a:ea typeface="Arial"/>
                <a:cs typeface="Arial"/>
                <a:sym typeface="Arial"/>
              </a:rPr>
              <a:t>03</a:t>
            </a:r>
            <a:endParaRPr b="0" i="0" spc="0" sz="1400" u="none" cap="none" strike="noStrike">
              <a:solidFill>
                <a:srgbClr val="000000"/>
              </a:solidFill>
              <a:latin typeface="Arial"/>
              <a:ea typeface="Arial"/>
              <a:cs typeface="Arial"/>
              <a:sym typeface="Arial"/>
            </a:endParaRPr>
          </a:p>
        </p:txBody>
      </p:sp>
      <p:sp>
        <p:nvSpPr>
          <p:cNvPr id="296" name="Google Shape;296;p13"/>
          <p:cNvSpPr txBox="1"/>
          <p:nvPr/>
        </p:nvSpPr>
        <p:spPr>
          <a:xfrm>
            <a:off x="1168603" y="4649724"/>
            <a:ext cx="2468880" cy="4173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241036"/>
                </a:solidFill>
                <a:latin typeface="Arial"/>
                <a:ea typeface="Arial"/>
                <a:cs typeface="Arial"/>
                <a:sym typeface="Arial"/>
              </a:rPr>
              <a:t>Продавцы и закон принимают подборку</a:t>
            </a:r>
            <a:endParaRPr b="0" i="0" spc="0" sz="1400" u="none" cap="none" strike="noStrike">
              <a:solidFill>
                <a:srgbClr val="000000"/>
              </a:solidFill>
              <a:latin typeface="Arial"/>
              <a:ea typeface="Arial"/>
              <a:cs typeface="Arial"/>
              <a:sym typeface="Arial"/>
            </a:endParaRPr>
          </a:p>
        </p:txBody>
      </p:sp>
      <p:sp>
        <p:nvSpPr>
          <p:cNvPr id="297" name="Google Shape;297;p13"/>
          <p:cNvSpPr txBox="1"/>
          <p:nvPr/>
        </p:nvSpPr>
        <p:spPr>
          <a:xfrm>
            <a:off x="3794760" y="4660697"/>
            <a:ext cx="3566160" cy="350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3D2A4F"/>
                </a:solidFill>
                <a:latin typeface="Arial"/>
                <a:ea typeface="Arial"/>
                <a:cs typeface="Arial"/>
                <a:sym typeface="Arial"/>
              </a:rPr>
              <a:t>Предписание или новая норма</a:t>
            </a:r>
            <a:endParaRPr b="0" i="0" spc="0" sz="1400" u="none" cap="none" strike="noStrike">
              <a:solidFill>
                <a:srgbClr val="000000"/>
              </a:solidFill>
              <a:latin typeface="Arial"/>
              <a:ea typeface="Arial"/>
              <a:cs typeface="Arial"/>
              <a:sym typeface="Arial"/>
            </a:endParaRPr>
          </a:p>
        </p:txBody>
      </p:sp>
      <p:sp>
        <p:nvSpPr>
          <p:cNvPr id="298" name="Google Shape;298;p13"/>
          <p:cNvSpPr txBox="1"/>
          <p:nvPr/>
        </p:nvSpPr>
        <p:spPr>
          <a:xfrm>
            <a:off x="7424928" y="4660697"/>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99" name="Google Shape;299;p13"/>
          <p:cNvSpPr txBox="1"/>
          <p:nvPr/>
        </p:nvSpPr>
        <p:spPr>
          <a:xfrm>
            <a:off x="7726680" y="4660697"/>
            <a:ext cx="4071823" cy="350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Показываем полную выдачу рядом с ответом, рекламу ставим на паузу до исправления</a:t>
            </a:r>
            <a:endParaRPr b="0" i="0" spc="0" sz="1400" u="none" cap="none" strike="noStrike">
              <a:solidFill>
                <a:srgbClr val="000000"/>
              </a:solidFill>
              <a:latin typeface="Arial"/>
              <a:ea typeface="Arial"/>
              <a:cs typeface="Arial"/>
              <a:sym typeface="Arial"/>
            </a:endParaRPr>
          </a:p>
        </p:txBody>
      </p:sp>
      <p:cxnSp>
        <p:nvCxnSpPr>
          <p:cNvPr id="300" name="Google Shape;300;p13"/>
          <p:cNvCxnSpPr/>
          <p:nvPr/>
        </p:nvCxnSpPr>
        <p:spPr>
          <a:xfrm>
            <a:off x="711403" y="5225796"/>
            <a:ext cx="11087100" cy="0"/>
          </a:xfrm>
          <a:prstGeom prst="straightConnector1">
            <a:avLst/>
          </a:prstGeom>
          <a:noFill/>
          <a:ln cap="flat" cmpd="sng" w="9525">
            <a:solidFill>
              <a:srgbClr val="DDD0E6"/>
            </a:solidFill>
            <a:prstDash val="solid"/>
            <a:round/>
            <a:headEnd len="sm" w="sm" type="none"/>
            <a:tailEnd len="sm" w="sm" type="none"/>
          </a:ln>
        </p:spPr>
      </p:cxnSp>
      <p:sp>
        <p:nvSpPr>
          <p:cNvPr id="301" name="Google Shape;301;p13"/>
          <p:cNvSpPr txBox="1"/>
          <p:nvPr/>
        </p:nvSpPr>
        <p:spPr>
          <a:xfrm>
            <a:off x="711403" y="5402759"/>
            <a:ext cx="11087100" cy="475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Как решаем.</a:t>
            </a:r>
            <a:r>
              <a:rPr b="0" i="0" lang="en-US" spc="0" sz="1200" u="none" cap="none" strike="noStrike">
                <a:solidFill>
                  <a:srgbClr val="3D2A4F"/>
                </a:solidFill>
                <a:latin typeface="Arial"/>
                <a:ea typeface="Arial"/>
                <a:cs typeface="Arial"/>
                <a:sym typeface="Arial"/>
              </a:rPr>
              <a:t> Сначала работает правка из строки условия. Ставку закрываем в двух случаях: пилот не дал роста по условию 01 или правка не помогла к декабрю 2028; заказанные GPU тогда уходят на другие ИИ-задачи WB.</a:t>
            </a:r>
            <a:endParaRPr b="0" i="0" spc="0" sz="1400" u="none" cap="none" strike="noStrike">
              <a:solidFill>
                <a:srgbClr val="000000"/>
              </a:solidFill>
              <a:latin typeface="Arial"/>
              <a:ea typeface="Arial"/>
              <a:cs typeface="Arial"/>
              <a:sym typeface="Arial"/>
            </a:endParaRPr>
          </a:p>
        </p:txBody>
      </p:sp>
      <p:cxnSp>
        <p:nvCxnSpPr>
          <p:cNvPr id="302" name="Google Shape;302;p13"/>
          <p:cNvCxnSpPr/>
          <p:nvPr/>
        </p:nvCxnSpPr>
        <p:spPr>
          <a:xfrm>
            <a:off x="711403" y="6070702"/>
            <a:ext cx="10769803" cy="0"/>
          </a:xfrm>
          <a:prstGeom prst="straightConnector1">
            <a:avLst/>
          </a:prstGeom>
          <a:noFill/>
          <a:ln cap="flat" cmpd="sng" w="9525">
            <a:solidFill>
              <a:srgbClr val="DDD0E6"/>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307" name="Shape 307"/>
        <p:cNvGrpSpPr/>
        <p:nvPr/>
      </p:nvGrpSpPr>
      <p:grpSpPr>
        <a:xfrm>
          <a:off x="0" y="0"/>
          <a:ext cx="0" cy="0"/>
          <a:chOff x="0" y="0"/>
          <a:chExt cx="0" cy="0"/>
        </a:xfrm>
      </p:grpSpPr>
      <p:sp>
        <p:nvSpPr>
          <p:cNvPr id="308" name="Google Shape;308;p14"/>
          <p:cNvSpPr txBox="1"/>
          <p:nvPr>
            <p:ph type="title"/>
          </p:nvPr>
        </p:nvSpPr>
        <p:spPr>
          <a:xfrm>
            <a:off x="711403" y="774497"/>
            <a:ext cx="11087100" cy="736200"/>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rgbClr val="FBF6FD"/>
                </a:solidFill>
                <a:latin typeface="Arial"/>
                <a:ea typeface="Arial"/>
                <a:cs typeface="Arial"/>
                <a:sym typeface="Arial"/>
              </a:rPr>
              <a:t>Ставка работает при трех условиях: покупатель доверяет совету, ответ окупается, продавцы и закон принимают подборку</a:t>
            </a:r>
            <a:endParaRPr/>
          </a:p>
        </p:txBody>
      </p:sp>
      <p:sp>
        <p:nvSpPr>
          <p:cNvPr id="309" name="Google Shape;309;p14"/>
          <p:cNvSpPr txBox="1"/>
          <p:nvPr/>
        </p:nvSpPr>
        <p:spPr>
          <a:xfrm>
            <a:off x="711403" y="405994"/>
            <a:ext cx="6350400" cy="241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lang="en-US" sz="1200">
                <a:solidFill>
                  <a:srgbClr val="F27BD8"/>
                </a:solidFill>
              </a:rPr>
              <a:t>Критика </a:t>
            </a:r>
            <a:r>
              <a:rPr b="1" i="0" lang="en-US" spc="0" sz="1200" u="none" cap="none" strike="noStrike">
                <a:solidFill>
                  <a:srgbClr val="F27BD8"/>
                </a:solidFill>
                <a:latin typeface="Arial"/>
                <a:ea typeface="Arial"/>
                <a:cs typeface="Arial"/>
                <a:sym typeface="Arial"/>
              </a:rPr>
              <a:t>· условия успеха</a:t>
            </a:r>
            <a:endParaRPr b="0" i="0" spc="0" sz="1400" u="none" cap="none" strike="noStrike">
              <a:solidFill>
                <a:srgbClr val="000000"/>
              </a:solidFill>
              <a:latin typeface="Arial"/>
              <a:ea typeface="Arial"/>
              <a:cs typeface="Arial"/>
              <a:sym typeface="Arial"/>
            </a:endParaRPr>
          </a:p>
        </p:txBody>
      </p:sp>
      <p:sp>
        <p:nvSpPr>
          <p:cNvPr id="310" name="Google Shape;310;p14"/>
          <p:cNvSpPr txBox="1"/>
          <p:nvPr/>
        </p:nvSpPr>
        <p:spPr>
          <a:xfrm>
            <a:off x="1168603" y="1651406"/>
            <a:ext cx="27432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Условие</a:t>
            </a:r>
            <a:endParaRPr b="0" i="0" spc="0" sz="1400" u="none" cap="none" strike="noStrike">
              <a:solidFill>
                <a:srgbClr val="000000"/>
              </a:solidFill>
              <a:latin typeface="Arial"/>
              <a:ea typeface="Arial"/>
              <a:cs typeface="Arial"/>
              <a:sym typeface="Arial"/>
            </a:endParaRPr>
          </a:p>
        </p:txBody>
      </p:sp>
      <p:sp>
        <p:nvSpPr>
          <p:cNvPr id="311" name="Google Shape;311;p14"/>
          <p:cNvSpPr txBox="1"/>
          <p:nvPr/>
        </p:nvSpPr>
        <p:spPr>
          <a:xfrm>
            <a:off x="4206240" y="1651406"/>
            <a:ext cx="3337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Ранние сигналы</a:t>
            </a:r>
            <a:endParaRPr b="0" i="0" spc="0" sz="1400" u="none" cap="none" strike="noStrike">
              <a:solidFill>
                <a:srgbClr val="000000"/>
              </a:solidFill>
              <a:latin typeface="Arial"/>
              <a:ea typeface="Arial"/>
              <a:cs typeface="Arial"/>
              <a:sym typeface="Arial"/>
            </a:endParaRPr>
          </a:p>
        </p:txBody>
      </p:sp>
      <p:sp>
        <p:nvSpPr>
          <p:cNvPr id="312" name="Google Shape;312;p14"/>
          <p:cNvSpPr txBox="1"/>
          <p:nvPr/>
        </p:nvSpPr>
        <p:spPr>
          <a:xfrm>
            <a:off x="7863840" y="1651406"/>
            <a:ext cx="39348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Когда масштабируем</a:t>
            </a:r>
            <a:endParaRPr b="0" i="0" spc="0" sz="1400" u="none" cap="none" strike="noStrike">
              <a:solidFill>
                <a:srgbClr val="000000"/>
              </a:solidFill>
              <a:latin typeface="Arial"/>
              <a:ea typeface="Arial"/>
              <a:cs typeface="Arial"/>
              <a:sym typeface="Arial"/>
            </a:endParaRPr>
          </a:p>
        </p:txBody>
      </p:sp>
      <p:cxnSp>
        <p:nvCxnSpPr>
          <p:cNvPr id="313" name="Google Shape;313;p14"/>
          <p:cNvCxnSpPr/>
          <p:nvPr/>
        </p:nvCxnSpPr>
        <p:spPr>
          <a:xfrm>
            <a:off x="711403" y="1917497"/>
            <a:ext cx="11087100" cy="0"/>
          </a:xfrm>
          <a:prstGeom prst="straightConnector1">
            <a:avLst/>
          </a:prstGeom>
          <a:noFill/>
          <a:ln cap="flat" cmpd="sng" w="19050">
            <a:solidFill>
              <a:srgbClr val="F27BD8"/>
            </a:solidFill>
            <a:prstDash val="solid"/>
            <a:round/>
            <a:headEnd len="sm" w="sm" type="none"/>
            <a:tailEnd len="sm" w="sm" type="none"/>
          </a:ln>
        </p:spPr>
      </p:cxnSp>
      <p:sp>
        <p:nvSpPr>
          <p:cNvPr id="314" name="Google Shape;314;p14"/>
          <p:cNvSpPr txBox="1"/>
          <p:nvPr/>
        </p:nvSpPr>
        <p:spPr>
          <a:xfrm>
            <a:off x="711403" y="1998204"/>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01</a:t>
            </a:r>
            <a:endParaRPr b="0" i="0" spc="0" sz="1400" u="none" cap="none" strike="noStrike">
              <a:solidFill>
                <a:srgbClr val="000000"/>
              </a:solidFill>
              <a:latin typeface="Arial"/>
              <a:ea typeface="Arial"/>
              <a:cs typeface="Arial"/>
              <a:sym typeface="Arial"/>
            </a:endParaRPr>
          </a:p>
        </p:txBody>
      </p:sp>
      <p:sp>
        <p:nvSpPr>
          <p:cNvPr id="315" name="Google Shape;315;p14"/>
          <p:cNvSpPr txBox="1"/>
          <p:nvPr/>
        </p:nvSpPr>
        <p:spPr>
          <a:xfrm>
            <a:off x="1168603" y="2022892"/>
            <a:ext cx="2743200" cy="20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Покупатель доверяет совету</a:t>
            </a:r>
            <a:endParaRPr b="0" i="0" spc="0" sz="1400" u="none" cap="none" strike="noStrike">
              <a:solidFill>
                <a:srgbClr val="000000"/>
              </a:solidFill>
              <a:latin typeface="Arial"/>
              <a:ea typeface="Arial"/>
              <a:cs typeface="Arial"/>
              <a:sym typeface="Arial"/>
            </a:endParaRPr>
          </a:p>
        </p:txBody>
      </p:sp>
      <p:sp>
        <p:nvSpPr>
          <p:cNvPr id="316" name="Google Shape;316;p14"/>
          <p:cNvSpPr txBox="1"/>
          <p:nvPr/>
        </p:nvSpPr>
        <p:spPr>
          <a:xfrm>
            <a:off x="4206240" y="2022892"/>
            <a:ext cx="3337500" cy="76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Попробовавшие чаще начинают с консультанта, чем с поиска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Возвратов по размеру в одежде на 10% меньше, чем в контроле</a:t>
            </a:r>
            <a:endParaRPr b="0" i="0" spc="0" sz="1400" u="none" cap="none" strike="noStrike">
              <a:solidFill>
                <a:srgbClr val="000000"/>
              </a:solidFill>
              <a:latin typeface="Arial"/>
              <a:ea typeface="Arial"/>
              <a:cs typeface="Arial"/>
              <a:sym typeface="Arial"/>
            </a:endParaRPr>
          </a:p>
        </p:txBody>
      </p:sp>
      <p:sp>
        <p:nvSpPr>
          <p:cNvPr id="317" name="Google Shape;317;p14"/>
          <p:cNvSpPr/>
          <p:nvPr/>
        </p:nvSpPr>
        <p:spPr>
          <a:xfrm>
            <a:off x="7863840" y="2063374"/>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8" name="Google Shape;318;p14"/>
          <p:cNvSpPr txBox="1"/>
          <p:nvPr/>
        </p:nvSpPr>
        <p:spPr>
          <a:xfrm>
            <a:off x="8019288" y="2022892"/>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Июль 2027</a:t>
            </a:r>
            <a:endParaRPr b="0" i="0" spc="0" sz="1400" u="none" cap="none" strike="noStrike">
              <a:solidFill>
                <a:srgbClr val="000000"/>
              </a:solidFill>
              <a:latin typeface="Arial"/>
              <a:ea typeface="Arial"/>
              <a:cs typeface="Arial"/>
              <a:sym typeface="Arial"/>
            </a:endParaRPr>
          </a:p>
        </p:txBody>
      </p:sp>
      <p:sp>
        <p:nvSpPr>
          <p:cNvPr id="319" name="Google Shape;319;p14"/>
          <p:cNvSpPr txBox="1"/>
          <p:nvPr/>
        </p:nvSpPr>
        <p:spPr>
          <a:xfrm>
            <a:off x="7863840" y="2247416"/>
            <a:ext cx="3934800" cy="86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GMV без возвратов на покупателя выше контроля </a:t>
            </a:r>
            <a:r>
              <a:rPr b="1" i="0" lang="en-US" spc="0" sz="1200" u="none" cap="none" strike="noStrike">
                <a:solidFill>
                  <a:srgbClr val="F3ECF7"/>
                </a:solidFill>
                <a:latin typeface="Arial"/>
                <a:ea typeface="Arial"/>
                <a:cs typeface="Arial"/>
                <a:sym typeface="Arial"/>
              </a:rPr>
              <a:t>минимум на 2%</a:t>
            </a:r>
            <a:r>
              <a:rPr b="0" i="0" lang="en-US" spc="0" sz="1200" u="none" cap="none" strike="noStrike">
                <a:solidFill>
                  <a:srgbClr val="DCCCE8"/>
                </a:solidFill>
                <a:latin typeface="Arial"/>
                <a:ea typeface="Arial"/>
                <a:cs typeface="Arial"/>
                <a:sym typeface="Arial"/>
              </a:rPr>
              <a:t> в 2 из 3 категорий</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Окупаемость диалога </a:t>
            </a:r>
            <a:r>
              <a:rPr b="1" i="0" lang="en-US" spc="0" sz="1200" u="none" cap="none" strike="noStrike">
                <a:solidFill>
                  <a:srgbClr val="F3ECF7"/>
                </a:solidFill>
                <a:latin typeface="Arial"/>
                <a:ea typeface="Arial"/>
                <a:cs typeface="Arial"/>
                <a:sym typeface="Arial"/>
              </a:rPr>
              <a:t>не ниже 1</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Открываем все категории</a:t>
            </a:r>
            <a:endParaRPr b="0" i="0" spc="0" sz="1400" u="none" cap="none" strike="noStrike">
              <a:solidFill>
                <a:srgbClr val="000000"/>
              </a:solidFill>
              <a:latin typeface="Arial"/>
              <a:ea typeface="Arial"/>
              <a:cs typeface="Arial"/>
              <a:sym typeface="Arial"/>
            </a:endParaRPr>
          </a:p>
        </p:txBody>
      </p:sp>
      <p:cxnSp>
        <p:nvCxnSpPr>
          <p:cNvPr id="320" name="Google Shape;320;p14"/>
          <p:cNvCxnSpPr/>
          <p:nvPr/>
        </p:nvCxnSpPr>
        <p:spPr>
          <a:xfrm>
            <a:off x="711403" y="3236671"/>
            <a:ext cx="11087100" cy="0"/>
          </a:xfrm>
          <a:prstGeom prst="straightConnector1">
            <a:avLst/>
          </a:prstGeom>
          <a:noFill/>
          <a:ln cap="flat" cmpd="sng" w="9525">
            <a:solidFill>
              <a:srgbClr val="57376F"/>
            </a:solidFill>
            <a:prstDash val="solid"/>
            <a:round/>
            <a:headEnd len="sm" w="sm" type="none"/>
            <a:tailEnd len="sm" w="sm" type="none"/>
          </a:ln>
        </p:spPr>
      </p:cxnSp>
      <p:sp>
        <p:nvSpPr>
          <p:cNvPr id="321" name="Google Shape;321;p14"/>
          <p:cNvSpPr txBox="1"/>
          <p:nvPr/>
        </p:nvSpPr>
        <p:spPr>
          <a:xfrm>
            <a:off x="711403" y="3317378"/>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02</a:t>
            </a:r>
            <a:endParaRPr b="0" i="0" spc="0" sz="1400" u="none" cap="none" strike="noStrike">
              <a:solidFill>
                <a:srgbClr val="000000"/>
              </a:solidFill>
              <a:latin typeface="Arial"/>
              <a:ea typeface="Arial"/>
              <a:cs typeface="Arial"/>
              <a:sym typeface="Arial"/>
            </a:endParaRPr>
          </a:p>
        </p:txBody>
      </p:sp>
      <p:sp>
        <p:nvSpPr>
          <p:cNvPr id="322" name="Google Shape;322;p14"/>
          <p:cNvSpPr txBox="1"/>
          <p:nvPr/>
        </p:nvSpPr>
        <p:spPr>
          <a:xfrm>
            <a:off x="1168603" y="3342067"/>
            <a:ext cx="2743200" cy="20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Ответ окупается</a:t>
            </a:r>
            <a:endParaRPr b="0" i="0" spc="0" sz="1400" u="none" cap="none" strike="noStrike">
              <a:solidFill>
                <a:srgbClr val="000000"/>
              </a:solidFill>
              <a:latin typeface="Arial"/>
              <a:ea typeface="Arial"/>
              <a:cs typeface="Arial"/>
              <a:sym typeface="Arial"/>
            </a:endParaRPr>
          </a:p>
        </p:txBody>
      </p:sp>
      <p:sp>
        <p:nvSpPr>
          <p:cNvPr id="323" name="Google Shape;323;p14"/>
          <p:cNvSpPr txBox="1"/>
          <p:nvPr/>
        </p:nvSpPr>
        <p:spPr>
          <a:xfrm>
            <a:off x="1168603" y="3642177"/>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DCCCE8"/>
                </a:solidFill>
                <a:latin typeface="Arial"/>
                <a:ea typeface="Arial"/>
                <a:cs typeface="Arial"/>
                <a:sym typeface="Arial"/>
              </a:rPr>
              <a:t>окупаемость диалога =</a:t>
            </a:r>
            <a:endParaRPr b="0" i="0" spc="0" sz="1400" u="none" cap="none" strike="noStrike">
              <a:solidFill>
                <a:srgbClr val="000000"/>
              </a:solidFill>
              <a:latin typeface="Arial"/>
              <a:ea typeface="Arial"/>
              <a:cs typeface="Arial"/>
              <a:sym typeface="Arial"/>
            </a:endParaRPr>
          </a:p>
        </p:txBody>
      </p:sp>
      <p:sp>
        <p:nvSpPr>
          <p:cNvPr id="324" name="Google Shape;324;p14"/>
          <p:cNvSpPr txBox="1"/>
          <p:nvPr/>
        </p:nvSpPr>
        <p:spPr>
          <a:xfrm>
            <a:off x="1168603" y="3797244"/>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добавленная маржа от покупок без рекламы</a:t>
            </a:r>
            <a:endParaRPr b="0" i="0" spc="0" sz="1400" u="none" cap="none" strike="noStrike">
              <a:solidFill>
                <a:srgbClr val="000000"/>
              </a:solidFill>
              <a:latin typeface="Arial"/>
              <a:ea typeface="Arial"/>
              <a:cs typeface="Arial"/>
              <a:sym typeface="Arial"/>
            </a:endParaRPr>
          </a:p>
        </p:txBody>
      </p:sp>
      <p:cxnSp>
        <p:nvCxnSpPr>
          <p:cNvPr id="325" name="Google Shape;325;p14"/>
          <p:cNvCxnSpPr/>
          <p:nvPr/>
        </p:nvCxnSpPr>
        <p:spPr>
          <a:xfrm>
            <a:off x="1168603" y="3999859"/>
            <a:ext cx="2634600" cy="0"/>
          </a:xfrm>
          <a:prstGeom prst="straightConnector1">
            <a:avLst/>
          </a:prstGeom>
          <a:noFill/>
          <a:ln cap="flat" cmpd="sng" w="9525">
            <a:solidFill>
              <a:srgbClr val="DCCCE8"/>
            </a:solidFill>
            <a:prstDash val="solid"/>
            <a:round/>
            <a:headEnd len="sm" w="sm" type="none"/>
            <a:tailEnd len="sm" w="sm" type="none"/>
          </a:ln>
        </p:spPr>
      </p:cxnSp>
      <p:sp>
        <p:nvSpPr>
          <p:cNvPr id="326" name="Google Shape;326;p14"/>
          <p:cNvSpPr txBox="1"/>
          <p:nvPr/>
        </p:nvSpPr>
        <p:spPr>
          <a:xfrm>
            <a:off x="1168603" y="4018147"/>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стоимость диалогов с амортизацией GPU</a:t>
            </a:r>
            <a:endParaRPr b="0" i="0" spc="0" sz="1400" u="none" cap="none" strike="noStrike">
              <a:solidFill>
                <a:srgbClr val="000000"/>
              </a:solidFill>
              <a:latin typeface="Arial"/>
              <a:ea typeface="Arial"/>
              <a:cs typeface="Arial"/>
              <a:sym typeface="Arial"/>
            </a:endParaRPr>
          </a:p>
        </p:txBody>
      </p:sp>
      <p:sp>
        <p:nvSpPr>
          <p:cNvPr id="327" name="Google Shape;327;p14"/>
          <p:cNvSpPr txBox="1"/>
          <p:nvPr/>
        </p:nvSpPr>
        <p:spPr>
          <a:xfrm>
            <a:off x="4206240" y="3342067"/>
            <a:ext cx="3337500" cy="58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Диалог дешевеет каждый месяц</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Больше половины запросов закрывает л</a:t>
            </a:r>
            <a:r>
              <a:rPr lang="en-US" sz="1200">
                <a:solidFill>
                  <a:srgbClr val="DCCCE8"/>
                </a:solidFill>
              </a:rPr>
              <a:t>е</a:t>
            </a:r>
            <a:r>
              <a:rPr b="0" i="0" lang="en-US" spc="0" sz="1200" u="none" cap="none" strike="noStrike">
                <a:solidFill>
                  <a:srgbClr val="DCCCE8"/>
                </a:solidFill>
                <a:latin typeface="Arial"/>
                <a:ea typeface="Arial"/>
                <a:cs typeface="Arial"/>
                <a:sym typeface="Arial"/>
              </a:rPr>
              <a:t>гкая модель</a:t>
            </a:r>
            <a:endParaRPr b="0" i="0" spc="0" sz="1400" u="none" cap="none" strike="noStrike">
              <a:solidFill>
                <a:srgbClr val="000000"/>
              </a:solidFill>
              <a:latin typeface="Arial"/>
              <a:ea typeface="Arial"/>
              <a:cs typeface="Arial"/>
              <a:sym typeface="Arial"/>
            </a:endParaRPr>
          </a:p>
        </p:txBody>
      </p:sp>
      <p:sp>
        <p:nvSpPr>
          <p:cNvPr id="328" name="Google Shape;328;p14"/>
          <p:cNvSpPr/>
          <p:nvPr/>
        </p:nvSpPr>
        <p:spPr>
          <a:xfrm>
            <a:off x="7863840" y="3382548"/>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9" name="Google Shape;329;p14"/>
          <p:cNvSpPr txBox="1"/>
          <p:nvPr/>
        </p:nvSpPr>
        <p:spPr>
          <a:xfrm>
            <a:off x="8019288" y="3342067"/>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330" name="Google Shape;330;p14"/>
          <p:cNvSpPr txBox="1"/>
          <p:nvPr/>
        </p:nvSpPr>
        <p:spPr>
          <a:xfrm>
            <a:off x="7863840" y="3566590"/>
            <a:ext cx="3934800" cy="69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Окупаемость диалога </a:t>
            </a:r>
            <a:r>
              <a:rPr b="1" i="0" lang="en-US" spc="0" sz="1200" u="none" cap="none" strike="noStrike">
                <a:solidFill>
                  <a:srgbClr val="F3ECF7"/>
                </a:solidFill>
                <a:latin typeface="Arial"/>
                <a:ea typeface="Arial"/>
                <a:cs typeface="Arial"/>
                <a:sym typeface="Arial"/>
              </a:rPr>
              <a:t>не ниже 2</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Мощностей хватает на пик</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Консультант становится главной дверью</a:t>
            </a:r>
            <a:endParaRPr b="0" i="0" spc="0" sz="1400" u="none" cap="none" strike="noStrike">
              <a:solidFill>
                <a:srgbClr val="000000"/>
              </a:solidFill>
              <a:latin typeface="Arial"/>
              <a:ea typeface="Arial"/>
              <a:cs typeface="Arial"/>
              <a:sym typeface="Arial"/>
            </a:endParaRPr>
          </a:p>
        </p:txBody>
      </p:sp>
      <p:cxnSp>
        <p:nvCxnSpPr>
          <p:cNvPr id="331" name="Google Shape;331;p14"/>
          <p:cNvCxnSpPr/>
          <p:nvPr/>
        </p:nvCxnSpPr>
        <p:spPr>
          <a:xfrm>
            <a:off x="711403" y="4380738"/>
            <a:ext cx="11087100" cy="0"/>
          </a:xfrm>
          <a:prstGeom prst="straightConnector1">
            <a:avLst/>
          </a:prstGeom>
          <a:noFill/>
          <a:ln cap="flat" cmpd="sng" w="9525">
            <a:solidFill>
              <a:srgbClr val="57376F"/>
            </a:solidFill>
            <a:prstDash val="solid"/>
            <a:round/>
            <a:headEnd len="sm" w="sm" type="none"/>
            <a:tailEnd len="sm" w="sm" type="none"/>
          </a:ln>
        </p:spPr>
      </p:cxnSp>
      <p:sp>
        <p:nvSpPr>
          <p:cNvPr id="332" name="Google Shape;332;p14"/>
          <p:cNvSpPr txBox="1"/>
          <p:nvPr/>
        </p:nvSpPr>
        <p:spPr>
          <a:xfrm>
            <a:off x="711403" y="4461445"/>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03</a:t>
            </a:r>
            <a:endParaRPr b="0" i="0" spc="0" sz="1400" u="none" cap="none" strike="noStrike">
              <a:solidFill>
                <a:srgbClr val="000000"/>
              </a:solidFill>
              <a:latin typeface="Arial"/>
              <a:ea typeface="Arial"/>
              <a:cs typeface="Arial"/>
              <a:sym typeface="Arial"/>
            </a:endParaRPr>
          </a:p>
        </p:txBody>
      </p:sp>
      <p:sp>
        <p:nvSpPr>
          <p:cNvPr id="333" name="Google Shape;333;p14"/>
          <p:cNvSpPr txBox="1"/>
          <p:nvPr/>
        </p:nvSpPr>
        <p:spPr>
          <a:xfrm>
            <a:off x="1168603" y="4486134"/>
            <a:ext cx="2743200" cy="417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Продавцы и закон принимают подборку</a:t>
            </a:r>
            <a:endParaRPr b="0" i="0" spc="0" sz="1400" u="none" cap="none" strike="noStrike">
              <a:solidFill>
                <a:srgbClr val="000000"/>
              </a:solidFill>
              <a:latin typeface="Arial"/>
              <a:ea typeface="Arial"/>
              <a:cs typeface="Arial"/>
              <a:sym typeface="Arial"/>
            </a:endParaRPr>
          </a:p>
        </p:txBody>
      </p:sp>
      <p:sp>
        <p:nvSpPr>
          <p:cNvPr id="334" name="Google Shape;334;p14"/>
          <p:cNvSpPr txBox="1"/>
          <p:nvPr/>
        </p:nvSpPr>
        <p:spPr>
          <a:xfrm>
            <a:off x="4206240" y="4486134"/>
            <a:ext cx="3337500" cy="58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Жалоб на подборку не больше, чем на обычную выдачу</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Продавцы правят карточки по отч</a:t>
            </a:r>
            <a:r>
              <a:rPr lang="en-US" sz="1200">
                <a:solidFill>
                  <a:srgbClr val="DCCCE8"/>
                </a:solidFill>
              </a:rPr>
              <a:t>е</a:t>
            </a:r>
            <a:r>
              <a:rPr b="0" i="0" lang="en-US" spc="0" sz="1200" u="none" cap="none" strike="noStrike">
                <a:solidFill>
                  <a:srgbClr val="DCCCE8"/>
                </a:solidFill>
                <a:latin typeface="Arial"/>
                <a:ea typeface="Arial"/>
                <a:cs typeface="Arial"/>
                <a:sym typeface="Arial"/>
              </a:rPr>
              <a:t>ту</a:t>
            </a:r>
            <a:endParaRPr b="0" i="0" spc="0" sz="1400" u="none" cap="none" strike="noStrike">
              <a:solidFill>
                <a:srgbClr val="000000"/>
              </a:solidFill>
              <a:latin typeface="Arial"/>
              <a:ea typeface="Arial"/>
              <a:cs typeface="Arial"/>
              <a:sym typeface="Arial"/>
            </a:endParaRPr>
          </a:p>
        </p:txBody>
      </p:sp>
      <p:sp>
        <p:nvSpPr>
          <p:cNvPr id="335" name="Google Shape;335;p14"/>
          <p:cNvSpPr/>
          <p:nvPr/>
        </p:nvSpPr>
        <p:spPr>
          <a:xfrm>
            <a:off x="7863840" y="4526615"/>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6" name="Google Shape;336;p14"/>
          <p:cNvSpPr txBox="1"/>
          <p:nvPr/>
        </p:nvSpPr>
        <p:spPr>
          <a:xfrm>
            <a:off x="8019288" y="4486134"/>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337" name="Google Shape;337;p14"/>
          <p:cNvSpPr txBox="1"/>
          <p:nvPr/>
        </p:nvSpPr>
        <p:spPr>
          <a:xfrm>
            <a:off x="7863840" y="4710657"/>
            <a:ext cx="3934800" cy="69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Отч</a:t>
            </a:r>
            <a:r>
              <a:rPr lang="en-US" sz="1200">
                <a:solidFill>
                  <a:srgbClr val="DCCCE8"/>
                </a:solidFill>
              </a:rPr>
              <a:t>е</a:t>
            </a:r>
            <a:r>
              <a:rPr b="0" i="0" lang="en-US" spc="0" sz="1200" u="none" cap="none" strike="noStrike">
                <a:solidFill>
                  <a:srgbClr val="DCCCE8"/>
                </a:solidFill>
                <a:latin typeface="Arial"/>
                <a:ea typeface="Arial"/>
                <a:cs typeface="Arial"/>
                <a:sym typeface="Arial"/>
              </a:rPr>
              <a:t>т открыт всем продавцам</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Предписаний регулятора </a:t>
            </a:r>
            <a:r>
              <a:rPr b="1" i="0" lang="en-US" spc="0" sz="1200" u="none" cap="none" strike="noStrike">
                <a:solidFill>
                  <a:srgbClr val="F3ECF7"/>
                </a:solidFill>
                <a:latin typeface="Arial"/>
                <a:ea typeface="Arial"/>
                <a:cs typeface="Arial"/>
                <a:sym typeface="Arial"/>
              </a:rPr>
              <a:t>нет</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Реклама ид</a:t>
            </a:r>
            <a:r>
              <a:rPr lang="en-US" sz="1200">
                <a:solidFill>
                  <a:srgbClr val="FBF6FD"/>
                </a:solidFill>
              </a:rPr>
              <a:t>е</a:t>
            </a:r>
            <a:r>
              <a:rPr b="0" i="0" lang="en-US" spc="0" sz="1200" u="none" cap="none" strike="noStrike">
                <a:solidFill>
                  <a:srgbClr val="FBF6FD"/>
                </a:solidFill>
                <a:latin typeface="Arial"/>
                <a:ea typeface="Arial"/>
                <a:cs typeface="Arial"/>
                <a:sym typeface="Arial"/>
              </a:rPr>
              <a:t>т во все категории</a:t>
            </a:r>
            <a:endParaRPr b="0" i="0" spc="0" sz="1400" u="none" cap="none" strike="noStrike">
              <a:solidFill>
                <a:srgbClr val="000000"/>
              </a:solidFill>
              <a:latin typeface="Arial"/>
              <a:ea typeface="Arial"/>
              <a:cs typeface="Arial"/>
              <a:sym typeface="Arial"/>
            </a:endParaRPr>
          </a:p>
        </p:txBody>
      </p:sp>
      <p:cxnSp>
        <p:nvCxnSpPr>
          <p:cNvPr id="338" name="Google Shape;338;p14"/>
          <p:cNvCxnSpPr/>
          <p:nvPr/>
        </p:nvCxnSpPr>
        <p:spPr>
          <a:xfrm>
            <a:off x="711403" y="5524805"/>
            <a:ext cx="11087100" cy="0"/>
          </a:xfrm>
          <a:prstGeom prst="straightConnector1">
            <a:avLst/>
          </a:prstGeom>
          <a:noFill/>
          <a:ln cap="flat" cmpd="sng" w="9525">
            <a:solidFill>
              <a:srgbClr val="57376F"/>
            </a:solidFill>
            <a:prstDash val="solid"/>
            <a:round/>
            <a:headEnd len="sm" w="sm" type="none"/>
            <a:tailEnd len="sm" w="sm" type="none"/>
          </a:ln>
        </p:spPr>
      </p:cxnSp>
      <p:sp>
        <p:nvSpPr>
          <p:cNvPr id="339" name="Google Shape;339;p14"/>
          <p:cNvSpPr txBox="1"/>
          <p:nvPr/>
        </p:nvSpPr>
        <p:spPr>
          <a:xfrm>
            <a:off x="711403" y="5613502"/>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200"/>
              <a:buFont typeface="Arial"/>
              <a:buNone/>
            </a:pPr>
            <a:r>
              <a:rPr b="1" i="0" lang="en-US" spc="0" sz="1200" u="none" cap="none" strike="noStrike">
                <a:solidFill>
                  <a:srgbClr val="F3ECF7"/>
                </a:solidFill>
                <a:latin typeface="Arial"/>
                <a:ea typeface="Arial"/>
                <a:cs typeface="Arial"/>
                <a:sym typeface="Arial"/>
              </a:rPr>
              <a:t>Как измеряем.</a:t>
            </a:r>
            <a:r>
              <a:rPr b="0" i="0" lang="en-US" spc="0" sz="1200" u="none" cap="none" strike="noStrike">
                <a:solidFill>
                  <a:srgbClr val="F3ECF7"/>
                </a:solidFill>
                <a:latin typeface="Arial"/>
                <a:ea typeface="Arial"/>
                <a:cs typeface="Arial"/>
                <a:sym typeface="Arial"/>
              </a:rPr>
              <a:t> В пилоте GPU-час считаем по цене заказанных GPU с амортизацией, формула в июле и январе одна. Пороги рабочие, окончательные фиксируем после первого месяца пилота и дальше не двигаем.</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Wildberries: стратегия и ставка">
  <a:themeElements>
    <a:clrScheme name="Wildberries: стратегия и ставка">
      <a:dk1>
        <a:srgbClr val="3D2A4F"/>
      </a:dk1>
      <a:lt1>
        <a:srgbClr val="F7F4F9"/>
      </a:lt1>
      <a:dk2>
        <a:srgbClr val="6C5D7A"/>
      </a:dk2>
      <a:lt2>
        <a:srgbClr val="E4E0E8"/>
      </a:lt2>
      <a:accent1>
        <a:srgbClr val="A80E8E"/>
      </a:accent1>
      <a:accent2>
        <a:srgbClr val="F27BD8"/>
      </a:accent2>
      <a:accent3>
        <a:srgbClr val="2A0B45"/>
      </a:accent3>
      <a:accent4>
        <a:srgbClr val="241036"/>
      </a:accent4>
      <a:accent5>
        <a:srgbClr val="5E4D6E"/>
      </a:accent5>
      <a:accent6>
        <a:srgbClr val="DCCCE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ildberries: стратегия и ставка">
  <a:themeElements>
    <a:clrScheme name="Wildberries: стратегия и ставка">
      <a:dk1>
        <a:srgbClr val="3D2A4F"/>
      </a:dk1>
      <a:lt1>
        <a:srgbClr val="F7F4F9"/>
      </a:lt1>
      <a:dk2>
        <a:srgbClr val="6C5D7A"/>
      </a:dk2>
      <a:lt2>
        <a:srgbClr val="E4E0E8"/>
      </a:lt2>
      <a:accent1>
        <a:srgbClr val="A80E8E"/>
      </a:accent1>
      <a:accent2>
        <a:srgbClr val="F27BD8"/>
      </a:accent2>
      <a:accent3>
        <a:srgbClr val="2A0B45"/>
      </a:accent3>
      <a:accent4>
        <a:srgbClr val="241036"/>
      </a:accent4>
      <a:accent5>
        <a:srgbClr val="5E4D6E"/>
      </a:accent5>
      <a:accent6>
        <a:srgbClr val="DCCCE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ildberries: стратегия и ставка">
  <a:themeElements>
    <a:clrScheme name="Wildberries: стратегия и ставка">
      <a:dk1>
        <a:srgbClr val="3D2A4F"/>
      </a:dk1>
      <a:lt1>
        <a:srgbClr val="F7F4F9"/>
      </a:lt1>
      <a:dk2>
        <a:srgbClr val="6C5D7A"/>
      </a:dk2>
      <a:lt2>
        <a:srgbClr val="E4E0E8"/>
      </a:lt2>
      <a:accent1>
        <a:srgbClr val="A80E8E"/>
      </a:accent1>
      <a:accent2>
        <a:srgbClr val="F27BD8"/>
      </a:accent2>
      <a:accent3>
        <a:srgbClr val="2A0B45"/>
      </a:accent3>
      <a:accent4>
        <a:srgbClr val="241036"/>
      </a:accent4>
      <a:accent5>
        <a:srgbClr val="5E4D6E"/>
      </a:accent5>
      <a:accent6>
        <a:srgbClr val="DCCCE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