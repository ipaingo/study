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slide+xml" PartName="/ppt/slides/slide9.xml"/>
  <Override ContentType="application/vnd.openxmlformats-officedocument.presentationml.notesSlide+xml" PartName="/ppt/notesSlides/notesSlide9.xml"/>
  <Override ContentType="application/vnd.openxmlformats-officedocument.presentationml.slide+xml" PartName="/ppt/slides/slide10.xml"/>
  <Override ContentType="application/vnd.openxmlformats-officedocument.presentationml.notesSlide+xml" PartName="/ppt/notesSlides/notesSlide10.xml"/>
  <Override ContentType="application/vnd.openxmlformats-officedocument.presentationml.slide+xml" PartName="/ppt/slides/slide11.xml"/>
  <Override ContentType="application/vnd.openxmlformats-officedocument.presentationml.notesSlide+xml" PartName="/ppt/notesSlides/notesSlide11.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2" r:id="rId3"/>
    <p:sldMasterId id="2147483653"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8"/>
    <p:sldId id="265" r:id="rId19"/>
    <p:sldId id="266" r:id="rId20"/>
  </p:sldIdLst>
  <p:sldSz cy="6858000" cx="12192000"/>
  <p:notesSz cx="6858000" cy="12192000"/>
  <p:embeddedFontLst>
    <p:embeddedFont>
      <p:font typeface="Inter"/>
      <p:regular r:id="rId14"/>
      <p:bold r:id="rId15"/>
      <p:italic r:id="rId16"/>
      <p:boldItalic r:id="rId1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15" Type="http://schemas.openxmlformats.org/officeDocument/2006/relationships/font" Target="fonts/Inter-bold.fntdata"/><Relationship Id="rId14" Type="http://schemas.openxmlformats.org/officeDocument/2006/relationships/font" Target="fonts/Inter-regular.fntdata"/><Relationship Id="rId17" Type="http://schemas.openxmlformats.org/officeDocument/2006/relationships/font" Target="fonts/Inter-boldItalic.fntdata"/><Relationship Id="rId16" Type="http://schemas.openxmlformats.org/officeDocument/2006/relationships/font" Target="fonts/Inter-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8" Type="http://schemas.openxmlformats.org/officeDocument/2006/relationships/slide" Target="slides/slide9.xml"/><Relationship Id="rId19" Type="http://schemas.openxmlformats.org/officeDocument/2006/relationships/slide" Target="slides/slide10.xml"/><Relationship Id="rId20"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Inter"/>
                <a:ea typeface="Inter"/>
                <a:cs typeface="Inter"/>
                <a:sym typeface="Inter"/>
              </a:defRPr>
            </a:lvl1pPr>
            <a:lvl2pPr lvl="1" marR="0" rtl="0" algn="l">
              <a:spcBef>
                <a:spcPts val="0"/>
              </a:spcBef>
              <a:spcAft>
                <a:spcPts val="0"/>
              </a:spcAft>
              <a:buSzPts val="1400"/>
              <a:buNone/>
              <a:defRPr b="0" i="0" sz="1800" u="none" cap="none" strike="noStrike">
                <a:solidFill>
                  <a:schemeClr val="dk1"/>
                </a:solidFill>
                <a:latin typeface="Inter"/>
                <a:ea typeface="Inter"/>
                <a:cs typeface="Inter"/>
                <a:sym typeface="Inter"/>
              </a:defRPr>
            </a:lvl2pPr>
            <a:lvl3pPr lvl="2" marR="0" rtl="0" algn="l">
              <a:spcBef>
                <a:spcPts val="0"/>
              </a:spcBef>
              <a:spcAft>
                <a:spcPts val="0"/>
              </a:spcAft>
              <a:buSzPts val="1400"/>
              <a:buNone/>
              <a:defRPr b="0" i="0" sz="1800" u="none" cap="none" strike="noStrike">
                <a:solidFill>
                  <a:schemeClr val="dk1"/>
                </a:solidFill>
                <a:latin typeface="Inter"/>
                <a:ea typeface="Inter"/>
                <a:cs typeface="Inter"/>
                <a:sym typeface="Inter"/>
              </a:defRPr>
            </a:lvl3pPr>
            <a:lvl4pPr lvl="3" marR="0" rtl="0" algn="l">
              <a:spcBef>
                <a:spcPts val="0"/>
              </a:spcBef>
              <a:spcAft>
                <a:spcPts val="0"/>
              </a:spcAft>
              <a:buSzPts val="1400"/>
              <a:buNone/>
              <a:defRPr b="0" i="0" sz="1800" u="none" cap="none" strike="noStrike">
                <a:solidFill>
                  <a:schemeClr val="dk1"/>
                </a:solidFill>
                <a:latin typeface="Inter"/>
                <a:ea typeface="Inter"/>
                <a:cs typeface="Inter"/>
                <a:sym typeface="Inter"/>
              </a:defRPr>
            </a:lvl4pPr>
            <a:lvl5pPr lvl="4" marR="0" rtl="0" algn="l">
              <a:spcBef>
                <a:spcPts val="0"/>
              </a:spcBef>
              <a:spcAft>
                <a:spcPts val="0"/>
              </a:spcAft>
              <a:buSzPts val="1400"/>
              <a:buNone/>
              <a:defRPr b="0" i="0" sz="1800" u="none" cap="none" strike="noStrike">
                <a:solidFill>
                  <a:schemeClr val="dk1"/>
                </a:solidFill>
                <a:latin typeface="Inter"/>
                <a:ea typeface="Inter"/>
                <a:cs typeface="Inter"/>
                <a:sym typeface="Inter"/>
              </a:defRPr>
            </a:lvl5pPr>
            <a:lvl6pPr lvl="5" marR="0" rtl="0" algn="l">
              <a:spcBef>
                <a:spcPts val="0"/>
              </a:spcBef>
              <a:spcAft>
                <a:spcPts val="0"/>
              </a:spcAft>
              <a:buSzPts val="1400"/>
              <a:buNone/>
              <a:defRPr b="0" i="0" sz="1800" u="none" cap="none" strike="noStrike">
                <a:solidFill>
                  <a:schemeClr val="dk1"/>
                </a:solidFill>
                <a:latin typeface="Inter"/>
                <a:ea typeface="Inter"/>
                <a:cs typeface="Inter"/>
                <a:sym typeface="Inter"/>
              </a:defRPr>
            </a:lvl6pPr>
            <a:lvl7pPr lvl="6" marR="0" rtl="0" algn="l">
              <a:spcBef>
                <a:spcPts val="0"/>
              </a:spcBef>
              <a:spcAft>
                <a:spcPts val="0"/>
              </a:spcAft>
              <a:buSzPts val="1400"/>
              <a:buNone/>
              <a:defRPr b="0" i="0" sz="1800" u="none" cap="none" strike="noStrike">
                <a:solidFill>
                  <a:schemeClr val="dk1"/>
                </a:solidFill>
                <a:latin typeface="Inter"/>
                <a:ea typeface="Inter"/>
                <a:cs typeface="Inter"/>
                <a:sym typeface="Inter"/>
              </a:defRPr>
            </a:lvl7pPr>
            <a:lvl8pPr lvl="7" marR="0" rtl="0" algn="l">
              <a:spcBef>
                <a:spcPts val="0"/>
              </a:spcBef>
              <a:spcAft>
                <a:spcPts val="0"/>
              </a:spcAft>
              <a:buSzPts val="1400"/>
              <a:buNone/>
              <a:defRPr b="0" i="0" sz="1800" u="none" cap="none" strike="noStrike">
                <a:solidFill>
                  <a:schemeClr val="dk1"/>
                </a:solidFill>
                <a:latin typeface="Inter"/>
                <a:ea typeface="Inter"/>
                <a:cs typeface="Inter"/>
                <a:sym typeface="Inter"/>
              </a:defRPr>
            </a:lvl8pPr>
            <a:lvl9pPr lvl="8" marR="0" rtl="0" algn="l">
              <a:spcBef>
                <a:spcPts val="0"/>
              </a:spcBef>
              <a:spcAft>
                <a:spcPts val="0"/>
              </a:spcAft>
              <a:buSzPts val="1400"/>
              <a:buNone/>
              <a:defRPr b="0" i="0" sz="1800" u="none" cap="none" strike="noStrike">
                <a:solidFill>
                  <a:schemeClr val="dk1"/>
                </a:solidFill>
                <a:latin typeface="Inter"/>
                <a:ea typeface="Inter"/>
                <a:cs typeface="Inter"/>
                <a:sym typeface="Inter"/>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Inter"/>
                <a:ea typeface="Inter"/>
                <a:cs typeface="Inter"/>
                <a:sym typeface="Inter"/>
              </a:defRPr>
            </a:lvl1pPr>
            <a:lvl2pPr lvl="1" marR="0" rtl="0" algn="l">
              <a:spcBef>
                <a:spcPts val="0"/>
              </a:spcBef>
              <a:spcAft>
                <a:spcPts val="0"/>
              </a:spcAft>
              <a:buSzPts val="1400"/>
              <a:buNone/>
              <a:defRPr b="0" i="0" sz="1800" u="none" cap="none" strike="noStrike">
                <a:solidFill>
                  <a:schemeClr val="dk1"/>
                </a:solidFill>
                <a:latin typeface="Inter"/>
                <a:ea typeface="Inter"/>
                <a:cs typeface="Inter"/>
                <a:sym typeface="Inter"/>
              </a:defRPr>
            </a:lvl2pPr>
            <a:lvl3pPr lvl="2" marR="0" rtl="0" algn="l">
              <a:spcBef>
                <a:spcPts val="0"/>
              </a:spcBef>
              <a:spcAft>
                <a:spcPts val="0"/>
              </a:spcAft>
              <a:buSzPts val="1400"/>
              <a:buNone/>
              <a:defRPr b="0" i="0" sz="1800" u="none" cap="none" strike="noStrike">
                <a:solidFill>
                  <a:schemeClr val="dk1"/>
                </a:solidFill>
                <a:latin typeface="Inter"/>
                <a:ea typeface="Inter"/>
                <a:cs typeface="Inter"/>
                <a:sym typeface="Inter"/>
              </a:defRPr>
            </a:lvl3pPr>
            <a:lvl4pPr lvl="3" marR="0" rtl="0" algn="l">
              <a:spcBef>
                <a:spcPts val="0"/>
              </a:spcBef>
              <a:spcAft>
                <a:spcPts val="0"/>
              </a:spcAft>
              <a:buSzPts val="1400"/>
              <a:buNone/>
              <a:defRPr b="0" i="0" sz="1800" u="none" cap="none" strike="noStrike">
                <a:solidFill>
                  <a:schemeClr val="dk1"/>
                </a:solidFill>
                <a:latin typeface="Inter"/>
                <a:ea typeface="Inter"/>
                <a:cs typeface="Inter"/>
                <a:sym typeface="Inter"/>
              </a:defRPr>
            </a:lvl4pPr>
            <a:lvl5pPr lvl="4" marR="0" rtl="0" algn="l">
              <a:spcBef>
                <a:spcPts val="0"/>
              </a:spcBef>
              <a:spcAft>
                <a:spcPts val="0"/>
              </a:spcAft>
              <a:buSzPts val="1400"/>
              <a:buNone/>
              <a:defRPr b="0" i="0" sz="1800" u="none" cap="none" strike="noStrike">
                <a:solidFill>
                  <a:schemeClr val="dk1"/>
                </a:solidFill>
                <a:latin typeface="Inter"/>
                <a:ea typeface="Inter"/>
                <a:cs typeface="Inter"/>
                <a:sym typeface="Inter"/>
              </a:defRPr>
            </a:lvl5pPr>
            <a:lvl6pPr lvl="5" marR="0" rtl="0" algn="l">
              <a:spcBef>
                <a:spcPts val="0"/>
              </a:spcBef>
              <a:spcAft>
                <a:spcPts val="0"/>
              </a:spcAft>
              <a:buSzPts val="1400"/>
              <a:buNone/>
              <a:defRPr b="0" i="0" sz="1800" u="none" cap="none" strike="noStrike">
                <a:solidFill>
                  <a:schemeClr val="dk1"/>
                </a:solidFill>
                <a:latin typeface="Inter"/>
                <a:ea typeface="Inter"/>
                <a:cs typeface="Inter"/>
                <a:sym typeface="Inter"/>
              </a:defRPr>
            </a:lvl6pPr>
            <a:lvl7pPr lvl="6" marR="0" rtl="0" algn="l">
              <a:spcBef>
                <a:spcPts val="0"/>
              </a:spcBef>
              <a:spcAft>
                <a:spcPts val="0"/>
              </a:spcAft>
              <a:buSzPts val="1400"/>
              <a:buNone/>
              <a:defRPr b="0" i="0" sz="1800" u="none" cap="none" strike="noStrike">
                <a:solidFill>
                  <a:schemeClr val="dk1"/>
                </a:solidFill>
                <a:latin typeface="Inter"/>
                <a:ea typeface="Inter"/>
                <a:cs typeface="Inter"/>
                <a:sym typeface="Inter"/>
              </a:defRPr>
            </a:lvl7pPr>
            <a:lvl8pPr lvl="7" marR="0" rtl="0" algn="l">
              <a:spcBef>
                <a:spcPts val="0"/>
              </a:spcBef>
              <a:spcAft>
                <a:spcPts val="0"/>
              </a:spcAft>
              <a:buSzPts val="1400"/>
              <a:buNone/>
              <a:defRPr b="0" i="0" sz="1800" u="none" cap="none" strike="noStrike">
                <a:solidFill>
                  <a:schemeClr val="dk1"/>
                </a:solidFill>
                <a:latin typeface="Inter"/>
                <a:ea typeface="Inter"/>
                <a:cs typeface="Inter"/>
                <a:sym typeface="Inter"/>
              </a:defRPr>
            </a:lvl8pPr>
            <a:lvl9pPr lvl="8" marR="0" rtl="0" algn="l">
              <a:spcBef>
                <a:spcPts val="0"/>
              </a:spcBef>
              <a:spcAft>
                <a:spcPts val="0"/>
              </a:spcAft>
              <a:buSzPts val="1400"/>
              <a:buNone/>
              <a:defRPr b="0" i="0" sz="1800" u="none" cap="none" strike="noStrike">
                <a:solidFill>
                  <a:schemeClr val="dk1"/>
                </a:solidFill>
                <a:latin typeface="Inter"/>
                <a:ea typeface="Inter"/>
                <a:cs typeface="Inter"/>
                <a:sym typeface="Inter"/>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Inter"/>
                <a:ea typeface="Inter"/>
                <a:cs typeface="Inter"/>
                <a:sym typeface="Inter"/>
              </a:defRPr>
            </a:lvl1pPr>
            <a:lvl2pPr indent="-228600" lvl="1" marL="914400" marR="0" rtl="0" algn="l">
              <a:spcBef>
                <a:spcPts val="0"/>
              </a:spcBef>
              <a:spcAft>
                <a:spcPts val="0"/>
              </a:spcAft>
              <a:buSzPts val="1400"/>
              <a:buNone/>
              <a:defRPr b="0" i="0" sz="1200" u="none" cap="none" strike="noStrike">
                <a:solidFill>
                  <a:schemeClr val="dk1"/>
                </a:solidFill>
                <a:latin typeface="Inter"/>
                <a:ea typeface="Inter"/>
                <a:cs typeface="Inter"/>
                <a:sym typeface="Inter"/>
              </a:defRPr>
            </a:lvl2pPr>
            <a:lvl3pPr indent="-228600" lvl="2" marL="1371600" marR="0" rtl="0" algn="l">
              <a:spcBef>
                <a:spcPts val="0"/>
              </a:spcBef>
              <a:spcAft>
                <a:spcPts val="0"/>
              </a:spcAft>
              <a:buSzPts val="1400"/>
              <a:buNone/>
              <a:defRPr b="0" i="0" sz="1200" u="none" cap="none" strike="noStrike">
                <a:solidFill>
                  <a:schemeClr val="dk1"/>
                </a:solidFill>
                <a:latin typeface="Inter"/>
                <a:ea typeface="Inter"/>
                <a:cs typeface="Inter"/>
                <a:sym typeface="Inter"/>
              </a:defRPr>
            </a:lvl3pPr>
            <a:lvl4pPr indent="-228600" lvl="3" marL="1828800" marR="0" rtl="0" algn="l">
              <a:spcBef>
                <a:spcPts val="0"/>
              </a:spcBef>
              <a:spcAft>
                <a:spcPts val="0"/>
              </a:spcAft>
              <a:buSzPts val="1400"/>
              <a:buNone/>
              <a:defRPr b="0" i="0" sz="1200" u="none" cap="none" strike="noStrike">
                <a:solidFill>
                  <a:schemeClr val="dk1"/>
                </a:solidFill>
                <a:latin typeface="Inter"/>
                <a:ea typeface="Inter"/>
                <a:cs typeface="Inter"/>
                <a:sym typeface="Inter"/>
              </a:defRPr>
            </a:lvl4pPr>
            <a:lvl5pPr indent="-228600" lvl="4" marL="2286000" marR="0" rtl="0" algn="l">
              <a:spcBef>
                <a:spcPts val="0"/>
              </a:spcBef>
              <a:spcAft>
                <a:spcPts val="0"/>
              </a:spcAft>
              <a:buSzPts val="1400"/>
              <a:buNone/>
              <a:defRPr b="0" i="0" sz="1200" u="none" cap="none" strike="noStrike">
                <a:solidFill>
                  <a:schemeClr val="dk1"/>
                </a:solidFill>
                <a:latin typeface="Inter"/>
                <a:ea typeface="Inter"/>
                <a:cs typeface="Inter"/>
                <a:sym typeface="Inter"/>
              </a:defRPr>
            </a:lvl5pPr>
            <a:lvl6pPr indent="-228600" lvl="5" marL="2743200" marR="0" rtl="0" algn="l">
              <a:spcBef>
                <a:spcPts val="0"/>
              </a:spcBef>
              <a:spcAft>
                <a:spcPts val="0"/>
              </a:spcAft>
              <a:buSzPts val="1400"/>
              <a:buNone/>
              <a:defRPr b="0" i="0" sz="1200" u="none" cap="none" strike="noStrike">
                <a:solidFill>
                  <a:schemeClr val="dk1"/>
                </a:solidFill>
                <a:latin typeface="Inter"/>
                <a:ea typeface="Inter"/>
                <a:cs typeface="Inter"/>
                <a:sym typeface="Inter"/>
              </a:defRPr>
            </a:lvl6pPr>
            <a:lvl7pPr indent="-228600" lvl="6" marL="3200400" marR="0" rtl="0" algn="l">
              <a:spcBef>
                <a:spcPts val="0"/>
              </a:spcBef>
              <a:spcAft>
                <a:spcPts val="0"/>
              </a:spcAft>
              <a:buSzPts val="1400"/>
              <a:buNone/>
              <a:defRPr b="0" i="0" sz="1200" u="none" cap="none" strike="noStrike">
                <a:solidFill>
                  <a:schemeClr val="dk1"/>
                </a:solidFill>
                <a:latin typeface="Inter"/>
                <a:ea typeface="Inter"/>
                <a:cs typeface="Inter"/>
                <a:sym typeface="Inter"/>
              </a:defRPr>
            </a:lvl7pPr>
            <a:lvl8pPr indent="-228600" lvl="7" marL="3657600" marR="0" rtl="0" algn="l">
              <a:spcBef>
                <a:spcPts val="0"/>
              </a:spcBef>
              <a:spcAft>
                <a:spcPts val="0"/>
              </a:spcAft>
              <a:buSzPts val="1400"/>
              <a:buNone/>
              <a:defRPr b="0" i="0" sz="1200" u="none" cap="none" strike="noStrike">
                <a:solidFill>
                  <a:schemeClr val="dk1"/>
                </a:solidFill>
                <a:latin typeface="Inter"/>
                <a:ea typeface="Inter"/>
                <a:cs typeface="Inter"/>
                <a:sym typeface="Inter"/>
              </a:defRPr>
            </a:lvl8pPr>
            <a:lvl9pPr indent="-228600" lvl="8" marL="4114800" marR="0" rtl="0" algn="l">
              <a:spcBef>
                <a:spcPts val="0"/>
              </a:spcBef>
              <a:spcAft>
                <a:spcPts val="0"/>
              </a:spcAft>
              <a:buSzPts val="1400"/>
              <a:buNone/>
              <a:defRPr b="0" i="0" sz="1200" u="none" cap="none" strike="noStrike">
                <a:solidFill>
                  <a:schemeClr val="dk1"/>
                </a:solidFill>
                <a:latin typeface="Inter"/>
                <a:ea typeface="Inter"/>
                <a:cs typeface="Inter"/>
                <a:sym typeface="Inter"/>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Inter"/>
                <a:ea typeface="Inter"/>
                <a:cs typeface="Inter"/>
                <a:sym typeface="Inter"/>
              </a:defRPr>
            </a:lvl1pPr>
            <a:lvl2pPr lvl="1" marR="0" rtl="0" algn="l">
              <a:spcBef>
                <a:spcPts val="0"/>
              </a:spcBef>
              <a:spcAft>
                <a:spcPts val="0"/>
              </a:spcAft>
              <a:buSzPts val="1400"/>
              <a:buNone/>
              <a:defRPr b="0" i="0" sz="1800" u="none" cap="none" strike="noStrike">
                <a:solidFill>
                  <a:schemeClr val="dk1"/>
                </a:solidFill>
                <a:latin typeface="Inter"/>
                <a:ea typeface="Inter"/>
                <a:cs typeface="Inter"/>
                <a:sym typeface="Inter"/>
              </a:defRPr>
            </a:lvl2pPr>
            <a:lvl3pPr lvl="2" marR="0" rtl="0" algn="l">
              <a:spcBef>
                <a:spcPts val="0"/>
              </a:spcBef>
              <a:spcAft>
                <a:spcPts val="0"/>
              </a:spcAft>
              <a:buSzPts val="1400"/>
              <a:buNone/>
              <a:defRPr b="0" i="0" sz="1800" u="none" cap="none" strike="noStrike">
                <a:solidFill>
                  <a:schemeClr val="dk1"/>
                </a:solidFill>
                <a:latin typeface="Inter"/>
                <a:ea typeface="Inter"/>
                <a:cs typeface="Inter"/>
                <a:sym typeface="Inter"/>
              </a:defRPr>
            </a:lvl3pPr>
            <a:lvl4pPr lvl="3" marR="0" rtl="0" algn="l">
              <a:spcBef>
                <a:spcPts val="0"/>
              </a:spcBef>
              <a:spcAft>
                <a:spcPts val="0"/>
              </a:spcAft>
              <a:buSzPts val="1400"/>
              <a:buNone/>
              <a:defRPr b="0" i="0" sz="1800" u="none" cap="none" strike="noStrike">
                <a:solidFill>
                  <a:schemeClr val="dk1"/>
                </a:solidFill>
                <a:latin typeface="Inter"/>
                <a:ea typeface="Inter"/>
                <a:cs typeface="Inter"/>
                <a:sym typeface="Inter"/>
              </a:defRPr>
            </a:lvl4pPr>
            <a:lvl5pPr lvl="4" marR="0" rtl="0" algn="l">
              <a:spcBef>
                <a:spcPts val="0"/>
              </a:spcBef>
              <a:spcAft>
                <a:spcPts val="0"/>
              </a:spcAft>
              <a:buSzPts val="1400"/>
              <a:buNone/>
              <a:defRPr b="0" i="0" sz="1800" u="none" cap="none" strike="noStrike">
                <a:solidFill>
                  <a:schemeClr val="dk1"/>
                </a:solidFill>
                <a:latin typeface="Inter"/>
                <a:ea typeface="Inter"/>
                <a:cs typeface="Inter"/>
                <a:sym typeface="Inter"/>
              </a:defRPr>
            </a:lvl5pPr>
            <a:lvl6pPr lvl="5" marR="0" rtl="0" algn="l">
              <a:spcBef>
                <a:spcPts val="0"/>
              </a:spcBef>
              <a:spcAft>
                <a:spcPts val="0"/>
              </a:spcAft>
              <a:buSzPts val="1400"/>
              <a:buNone/>
              <a:defRPr b="0" i="0" sz="1800" u="none" cap="none" strike="noStrike">
                <a:solidFill>
                  <a:schemeClr val="dk1"/>
                </a:solidFill>
                <a:latin typeface="Inter"/>
                <a:ea typeface="Inter"/>
                <a:cs typeface="Inter"/>
                <a:sym typeface="Inter"/>
              </a:defRPr>
            </a:lvl6pPr>
            <a:lvl7pPr lvl="6" marR="0" rtl="0" algn="l">
              <a:spcBef>
                <a:spcPts val="0"/>
              </a:spcBef>
              <a:spcAft>
                <a:spcPts val="0"/>
              </a:spcAft>
              <a:buSzPts val="1400"/>
              <a:buNone/>
              <a:defRPr b="0" i="0" sz="1800" u="none" cap="none" strike="noStrike">
                <a:solidFill>
                  <a:schemeClr val="dk1"/>
                </a:solidFill>
                <a:latin typeface="Inter"/>
                <a:ea typeface="Inter"/>
                <a:cs typeface="Inter"/>
                <a:sym typeface="Inter"/>
              </a:defRPr>
            </a:lvl7pPr>
            <a:lvl8pPr lvl="7" marR="0" rtl="0" algn="l">
              <a:spcBef>
                <a:spcPts val="0"/>
              </a:spcBef>
              <a:spcAft>
                <a:spcPts val="0"/>
              </a:spcAft>
              <a:buSzPts val="1400"/>
              <a:buNone/>
              <a:defRPr b="0" i="0" sz="1800" u="none" cap="none" strike="noStrike">
                <a:solidFill>
                  <a:schemeClr val="dk1"/>
                </a:solidFill>
                <a:latin typeface="Inter"/>
                <a:ea typeface="Inter"/>
                <a:cs typeface="Inter"/>
                <a:sym typeface="Inter"/>
              </a:defRPr>
            </a:lvl8pPr>
            <a:lvl9pPr lvl="8" marR="0" rtl="0" algn="l">
              <a:spcBef>
                <a:spcPts val="0"/>
              </a:spcBef>
              <a:spcAft>
                <a:spcPts val="0"/>
              </a:spcAft>
              <a:buSzPts val="1400"/>
              <a:buNone/>
              <a:defRPr b="0" i="0" sz="1800" u="none" cap="none" strike="noStrike">
                <a:solidFill>
                  <a:schemeClr val="dk1"/>
                </a:solidFill>
                <a:latin typeface="Inter"/>
                <a:ea typeface="Inter"/>
                <a:cs typeface="Inter"/>
                <a:sym typeface="Inter"/>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Inter"/>
                <a:ea typeface="Inter"/>
                <a:cs typeface="Inter"/>
                <a:sym typeface="Inter"/>
              </a:rPr>
              <a:t>‹#›</a:t>
            </a:fld>
            <a:endParaRPr b="0" i="0" sz="1200" u="none" cap="none" strike="noStrike">
              <a:solidFill>
                <a:schemeClr val="dk1"/>
              </a:solidFill>
              <a:latin typeface="Inter"/>
              <a:ea typeface="Inter"/>
              <a:cs typeface="Inter"/>
              <a:sym typeface="Inter"/>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 name="Shape 23"/>
        <p:cNvGrpSpPr/>
        <p:nvPr/>
      </p:nvGrpSpPr>
      <p:grpSpPr>
        <a:xfrm>
          <a:off x="0" y="0"/>
          <a:ext cx="0" cy="0"/>
          <a:chOff x="0" y="0"/>
          <a:chExt cx="0" cy="0"/>
        </a:xfrm>
      </p:grpSpPr>
      <p:sp>
        <p:nvSpPr>
          <p:cNvPr id="24" name="Google Shape;24;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 name="Google Shape;25;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 name="Google Shape;26;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 name="Shape 44"/>
        <p:cNvGrpSpPr/>
        <p:nvPr/>
      </p:nvGrpSpPr>
      <p:grpSpPr>
        <a:xfrm>
          <a:off x="0" y="0"/>
          <a:ext cx="0" cy="0"/>
          <a:chOff x="0" y="0"/>
          <a:chExt cx="0" cy="0"/>
        </a:xfrm>
      </p:grpSpPr>
      <p:sp>
        <p:nvSpPr>
          <p:cNvPr id="45" name="Google Shape;4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 name="Google Shape;46;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 name="Google Shape;47;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h5e9491908ae5f0a7_0_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 name="Google Shape;65;h5e9491908ae5f0a7_0_6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Альтернативы сравниваем по четырем критериям, которые взяты из бизнес-стратегии на слайде 1: (1) вклад в цель «остаться №1 и зарабатывать сверх комиссии», (2) устойчивость к главным рискам: атаки на склады, закон о платформах, санкции, (3) есть ли у WB преимущество, которого нет у Ozon и Яндекса, (4) успеет ли ставка окупиться за два года при условии, что ресурсов хватает только на одну крупную ставку. Оценка от 1 до 3 по каждому критерию.</a:t>
            </a:r>
            <a:br>
              <a:rPr lang="en-US"/>
            </a:br>
            <a:br>
              <a:rPr lang="en-US"/>
            </a:br>
            <a:r>
              <a:rPr lang="en-US"/>
              <a:t>Доставка за час (5/12). Спрос на скорость реальный, и WB уже пилотирует собственный «Экспресс» в Москве. Но масштаб требует дарксторов в каждом городе, то есть еще больше физической инфраструктуры как раз тогда, когда склады атакуют дроны. В этом сегменте давно работают Яндекс Лавка и Самокат, так что мы бы догоняли, а не создавали отрыв. Что делаем вместо этого: пилот «Экспресса» остается в Москве, но не масштабируется.</a:t>
            </a:r>
            <a:br>
              <a:rPr lang="en-US"/>
            </a:br>
            <a:br>
              <a:rPr lang="en-US"/>
            </a:br>
            <a:r>
              <a:rPr lang="en-US"/>
              <a:t>Социальная коммерция (7/12). По рискам она лучшая: не зависит ни от складов, ни от банка. Но аудитория Wibes пока крошечная (около 170 тыс. человек в день весной 2025 года), а внимание пользователей держат VK, Telegram и видеосервисы. Нужны годы и бюджеты на авторов, отдачи за 2 года не будет. Что делаем вместо этого: видео и отзывы из Wibes становятся данными для ИИ-консультанта.</a:t>
            </a:r>
            <a:br>
              <a:rPr lang="en-US"/>
            </a:br>
            <a:br>
              <a:rPr lang="en-US"/>
            </a:br>
            <a:r>
              <a:rPr lang="en-US"/>
              <a:t>Финтех (7/12). Самый маржинальный доход, и пример Ozon это подтверждает: 195,2 млрд ₽ выручки финтеха (+120%) и 59,9 млрд ₽ прибыли до налогов за 2025 год. Но WB Банк в 20-м пакете санкций ЕС (23.04.2026), а с 1 октября 2026 года по 289-ФЗ площадка обязана показывать цену без скидки за карту своего банка, и главный рычаг привлечения клиентов слабеет. Ozon здесь опережает на годы. Что делаем вместо этого: рассрочка WB Банка встраивается в ответ консультанта как функция, а не как отдельная ставка.</a:t>
            </a:r>
            <a:br>
              <a:rPr lang="en-US"/>
            </a:br>
            <a:br>
              <a:rPr lang="en-US"/>
            </a:br>
            <a:r>
              <a:rPr lang="en-US"/>
              <a:t>Экспансия в СНГ (7/12). WB уже работает в странах СНГ и служит каналом для местных производителей (продажи узбекских товаров на WB за 2025 год больше $1,4 млрд). Но рынки покупателей малы: весь e-commerce Казахстана за первое полугодие 2025 года около 1,7 трлн тенге. Там сильны Kaspi и Uzum, а новые склады и ПВЗ требуют капитала, который сейчас нужен на восстановление складов в России. Что делаем вместо этого: органический рост через продавцов, без новых складов.</a:t>
            </a:r>
            <a:br>
              <a:rPr lang="en-US"/>
            </a:br>
            <a:br>
              <a:rPr lang="en-US"/>
            </a:br>
            <a:r>
              <a:rPr lang="en-US"/>
              <a:t>ИИ-консультант (10/12) выигрывает, потому что опирается на актив, которого нет у конкурентов: данные о поведении покупателей и собственную модель. Его нельзя унести вместе с карточкой и нельзя потерять при атаке на склад. Слабые места мы не скрываем: GPU и ML-специалисты дороги и дефицитны, поэтому по рискам и срокам ставка получает 2, а не 3. Отсюда и шаг «сначала пилот в трех категориях».</a:t>
            </a:r>
            <a:endParaRPr/>
          </a:p>
        </p:txBody>
      </p:sp>
      <p:sp>
        <p:nvSpPr>
          <p:cNvPr id="66" name="Google Shape;66;h5e9491908ae5f0a7_0_6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h5e9491908ae5f0a7_0_1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8" name="Google Shape;128;h5e9491908ae5f0a7_0_13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Любая ставка означает отказ от чего-то. Ниже четыре отказа, на которые мы идем сознательно.</a:t>
            </a:r>
            <a:br>
              <a:rPr lang="en-US"/>
            </a:br>
            <a:br>
              <a:rPr lang="en-US"/>
            </a:br>
            <a:r>
              <a:rPr lang="en-US"/>
              <a:t>1. Честный совет против рекламы в ответе. Выигрываем доверие: если покупатель считает, что консультант советует, а не продает место в выдаче, он возвращается с новыми вопросами, и конверсия растет. Жертвуем деньгами: реклама сейчас главный доход маркетплейсов сверх комиссии (по оценке Data Insight, у WB, Ozon и Яндекс Маркета вместе 500–600 млрд ₽ за 2025 год), а ответ ассистента самое ценное рекламное место. Последствие: рекламная выручка в 2027 году растет медленнее, чем могла бы. Управляем так: спонсорские позиции появляются только после пилота, всегда с пометкой «реклама» и не больше одной из пяти позиций в ответе.</a:t>
            </a:r>
            <a:br>
              <a:rPr lang="en-US"/>
            </a:br>
            <a:br>
              <a:rPr lang="en-US"/>
            </a:br>
            <a:r>
              <a:rPr lang="en-US"/>
              <a:t>2. Чистый GMV против валового. Выигрываем экономику заказа: подсказка по размеру убирает заказы «возьму три размера, оставлю один», меньше пустой логистики и меньше нагрузки на ПВЗ и склады, которых стало меньше после атак. Жертвуем валовым GMV: в 2025 году одежду на WB выкупали примерно на 42% в штуках (ECOMHUB), и часть «примерочных» заказов исчезнет. Валовой GMV это главная публичная цифра RWB (6,1 трлн ₽ за 2025 год), ее замедление заметят. Управляем так: цели команды и внутренние отчеты в GMV без возвратов на покупателя (та же метрика, что в пилоте на слайде 2), инвесторам объясняем смену фокуса заранее.</a:t>
            </a:r>
            <a:br>
              <a:rPr lang="en-US"/>
            </a:br>
            <a:br>
              <a:rPr lang="en-US"/>
            </a:br>
            <a:r>
              <a:rPr lang="en-US"/>
              <a:t>3. Ум продукта против скорости доставки. Выигрываем защищенность: деньги и команды идут в данные и модели, которые нельзя уничтожить атакой на склад. Жертвуем скоростью: срочные покупки остаются у Яндекс Лавки, Самоката и Ozon, а свой «Экспресс» WB (пилот с февраля 2026 года, 1,2 тыс. товаров за час в Москве) не масштабируем. Последствие: часть частых мелких заказов уходит конкурентам. Управляем так: консультант честно называет срок и предлагает ПВЗ у дома на завтра, чтобы покупатель планировал покупку заранее.</a:t>
            </a:r>
            <a:br>
              <a:rPr lang="en-US"/>
            </a:br>
            <a:br>
              <a:rPr lang="en-US"/>
            </a:br>
            <a:r>
              <a:rPr lang="en-US"/>
              <a:t>4. Точная подборка против длинного хвоста продавцов. Выигрываем скорость решения покупателя: вместо тысяч карточек он видит 3–5 подходящих вариантов. Жертвуем нейтральностью витрины: мелкие продавцы получают меньше показов, а логика ассистента выглядит непрозрачной. С 1 октября 2026 года действует 289-ФЗ, Минэк обсуждает передачу карточки продавцу, и недовольство продавцов может превратиться в претензии регулятора. Управляем так: публикуем правила подборки, даем продавцу отчет «почему товар не попал в ответ», в подборку попадают по отзывам и выкупу, а не по рекламному бюджету.</a:t>
            </a:r>
            <a:endParaRPr/>
          </a:p>
        </p:txBody>
      </p:sp>
      <p:sp>
        <p:nvSpPr>
          <p:cNvPr id="129" name="Google Shape;129;h5e9491908ae5f0a7_0_13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h6a75c99fcd534b2f_3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7" name="Google Shape;167;h6a75c99fcd534b2f_3_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Роадмап собран из обещаний со слайдов 2–4. Порядок держат три правила: сначала польза в пилоте, мощности раньше аудитории, деньги только после развилки июля. Условия развилок разобраны на слайде 6, действия при сбое на слайде 7. Если пилот продлевается до октября 2027 года, остальные развилки сдвигаются на квартал. Пилот стартует не с нуля: ассистент WB с июня 2026 года проходит расширенное тестирование в поисковой выдаче. Тянуть нельзя: Ozon запустил пилот своего ассистента в августе 2026 года.</a:t>
            </a:r>
            <a:br>
              <a:rPr lang="en-US"/>
            </a:br>
            <a:br>
              <a:rPr lang="en-US"/>
            </a:br>
            <a:r>
              <a:rPr lang="en-US"/>
              <a:t>Must have. (1) Консультант в поиске: пилот идет без рекламы, аудитория растет вслед за мощностями. Обычная выдача остается в один тап: статья 10 закона 289-ФЗ запрещает игнорировать сортировку, которую выбрал покупатель. (2) Память и точный совет: согласие на память оформляем отдельным документом, так с 1 сентября 2025 года требует закон о персональных данных. За ребенка согласие дает родитель. Обувь не входит в три пилотные категории, поэтому приходит с раскаткой. (3) Правила подборки публикуем до пилота: по статье 5 закона 289-ФЗ продавец должен знать принципы ранжирования и причины смены позиции карточки. (4) Мощности и цена ответа: GPU заказываем в 4 квартале 2026 года, потому что сроки поставки NVIDIA H200 доходят до 36–52 недель. На распродаже 2027 года действует лимит диалогов: при нехватке мощностей покупатель получает обычный поиск. (5) Спонсорские места дают доход сверх комиссии из бизнес-цели слайда 1, поэтому они в Must have. Тест идет после развилки июля, с пометкой «реклама», не больше одной позиции из пяти и на равных условиях для продавцов (статья 10).</a:t>
            </a:r>
            <a:br>
              <a:rPr lang="en-US"/>
            </a:br>
            <a:br>
              <a:rPr lang="en-US"/>
            </a:br>
            <a:r>
              <a:rPr lang="en-US"/>
              <a:t>Should have. (6) Рассрочка в ответе: покупки в рассрочку WB запустил еще в 2021 году, в том числе через банки-партнеры. Это не скидка за карту, и новой банковской программы мы не строим. Финтех остается функцией ответа, а не отдельной ставкой (слайд 3).</a:t>
            </a:r>
            <a:br>
              <a:rPr lang="en-US"/>
            </a:br>
            <a:br>
              <a:rPr lang="en-US"/>
            </a:br>
            <a:r>
              <a:rPr lang="en-US"/>
              <a:t>Won't do, откладываем до развилки декабря 2028 года. (7) Новые дарксторы и склады: «Экспресс» остается пилотом в Москве, в СНГ растем через местных продавцов. (8) Гонка Wibes за аудиторией: без бюджета на авторов и раскрутку, видео и отзывы работают как данные для точного совета. Это три отвергнутые альтернативы слайда 3, четвертая (финтех) сведена до функции в ответе.</a:t>
            </a:r>
            <a:endParaRPr/>
          </a:p>
        </p:txBody>
      </p:sp>
      <p:sp>
        <p:nvSpPr>
          <p:cNvPr id="168" name="Google Shape;168;h6a75c99fcd534b2f_3_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h6a75c99fcd534b2f_3_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7" name="Google Shape;227;h6a75c99fcd534b2f_3_6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Условия взяты из слабых мест, которые мы сами назвали: доверие покупателя (трейд-офф 1), цена GPU и команды (слайд 3), претензии продавцов и закон о платформах (трейд-офф 4). По ним решаются развилки роадмапа: июль 2027 года по условию 01, январь 2028 года по условиям 02 и 03, декабрь 2028 года по всем трем. Действия при сбое разобраны на слайде 7.</a:t>
            </a:r>
            <a:br>
              <a:rPr lang="en-US"/>
            </a:br>
            <a:br>
              <a:rPr lang="en-US"/>
            </a:br>
            <a:r>
              <a:rPr lang="en-US"/>
              <a:t>01. Покупатель доверяет совету. Сигналы сравниваем с альтернативой: к консультанту или к поиску возвращается попробовавший, и как тест отличается от контроля. Ориентир по возвратам: у Zalando подсказка размера сократила возвраты из-за размера на 10%. Порог июля двойной: GMV без возвратов на покупателя минимум на 2% выше контроля и окупаемость диалога не ниже 1. Одной статистической значимости мало: на 5–10% аудитории WB значимым будет почти любой эффект. Ориентир для 2%: глава Amazon ожидает от ассистента Rufus больше 10 млрд $ дополнительных продаж в год, это около 1,7% продаж торговых сегментов Amazon за 2025 год.</a:t>
            </a:r>
            <a:br>
              <a:rPr lang="en-US"/>
            </a:br>
            <a:br>
              <a:rPr lang="en-US"/>
            </a:br>
            <a:r>
              <a:rPr lang="en-US"/>
              <a:t>02. Ответ окупается. Окупаемость диалога считаем осторожно с обеих сторон. В числителе только добавленная маржа от покупок, без дохода от спонсорских мест, иначе тест рекламы завысит показатель перед январской развилкой. В знаменателе полная стоимость диалогов вместе с амортизацией GPU. Своих GPU в пилоте еще нет: они заказаны в 4 квартале 2026 года и вводятся к ноябрьской распродаже 2027 года. Поэтому GPU-час и в июле, и в январе считаем по цене заказанных GPU с амортизацией. Формула одна, пороги 1 и 2 сравнивают одну и ту же величину.</a:t>
            </a:r>
            <a:br>
              <a:rPr lang="en-US"/>
            </a:br>
            <a:br>
              <a:rPr lang="en-US"/>
            </a:br>
            <a:r>
              <a:rPr lang="en-US"/>
              <a:t>03. Продавцы и закон принимают подборку. По статье 5 закона 289-ФЗ в договоре должно быть указано, как продавец получает сведения о принципах ранжирования и причинах смены позиции карточки. Отчет «почему товар не в ответе» открываем всем продавцам во втором полугодии 2027 года.</a:t>
            </a:r>
            <a:br>
              <a:rPr lang="en-US"/>
            </a:br>
            <a:br>
              <a:rPr lang="en-US"/>
            </a:br>
            <a:r>
              <a:rPr lang="en-US"/>
              <a:t>Риски ведем отдельно от сигналов: поставку GPU по графику и поправки к закону о платформенной экономике. Проект поправок вынесен на обсуждение в сентябре 2026 года, вступление в силу планируется с 1 марта 2027 года, то есть в середине пилота. Пороги на слайде рабочие: окончательные фиксируем после первого месяца пилота, когда известны базовые значения.</a:t>
            </a:r>
            <a:endParaRPr/>
          </a:p>
        </p:txBody>
      </p:sp>
      <p:sp>
        <p:nvSpPr>
          <p:cNvPr id="228" name="Google Shape;228;h6a75c99fcd534b2f_3_6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h6a75c99fcd534b2f_3_10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4" name="Google Shape;264;h6a75c99fcd534b2f_3_10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Что главнее. При сбое сначала применяем правку из строки условия. Ставку закрываем только в двух случаях: пилот не дал роста по условию 01, потому что без доверия покупателя остальное теряет смысл, или правка не вернула условие в норму к декабрю 2028 года. Закрыть ставку значит перестать вкладывать в нее как в единственную стратегическую: консультант остается в том виде, в котором окупается, а ресурсы уходят на пересмотр Won't do.</a:t>
            </a:r>
            <a:br>
              <a:rPr lang="en-US"/>
            </a:br>
            <a:br>
              <a:rPr lang="en-US"/>
            </a:br>
            <a:r>
              <a:rPr lang="en-US"/>
              <a:t>01. Если рост есть только в одной категории или окупаемость диалога ниже 1, пилот продлеваем до октября 2027 года с тем же порогом. Если роста нет в июле или его не хватило в октябре, ставку закрываем. Если в октябре рост есть, а окупаемость снова ниже 1, это два квартала подряд, и срабатывает правка условия 02: сужаем консультанта до запросов-задач. Рекламу убираем, если в тесте она снижает повторные диалоги.</a:t>
            </a:r>
            <a:br>
              <a:rPr lang="en-US"/>
            </a:br>
            <a:br>
              <a:rPr lang="en-US"/>
            </a:br>
            <a:r>
              <a:rPr lang="en-US"/>
              <a:t>02. При окупаемости от 1 до 2 диалог себя окупает, но запаса мало, чтобы отдавать ему строку поиска, поэтому консультант остается кнопкой. Запросами-задачами называем те, где покупатель описывает задачу, а не товар: там совет добавляет к покупке больше всего.</a:t>
            </a:r>
            <a:br>
              <a:rPr lang="en-US"/>
            </a:br>
            <a:br>
              <a:rPr lang="en-US"/>
            </a:br>
            <a:r>
              <a:rPr lang="en-US"/>
              <a:t>Заказ GPU идет до результатов пилота: по данным аналитиков, сроки поставки ускорителей NVIDIA H200 доходят до 36–52 недель, иначе к ноябрю 2027 года не успеть. Это не противоречит слайду 3. Пилот ограничивает необратимые траты: команду и разработку расширяем только после развилки. GPU можно переиспользовать: WB объявлял о планах ЦОД под ИИ и без этой ставки, а ИИ-инструменты на базе собственных моделей BerryLM, по оценке компании, уже дают больше 1 млрд ₽ дополнительной выручки в год.</a:t>
            </a:r>
            <a:br>
              <a:rPr lang="en-US"/>
            </a:br>
            <a:br>
              <a:rPr lang="en-US"/>
            </a:br>
            <a:r>
              <a:rPr lang="en-US"/>
              <a:t>03. Полная выдача рядом с ответом закрывает требование статьи 10 закона 289-ФЗ не игнорировать сортировку, которую выбрал покупатель. При предписании рекламу ставим на паузу, а не отключаем навсегда: правим правила показа и возвращаем ее. Окупаемость считается без дохода от рекламы, поэтому ставка обязана окупаться и без спонсорских мест. Но без них она не дает дохода сверх комиссии, то есть не выполняет бизнес-цель слайда 1. Если вернуть рекламу к декабрю 2028 года не удалось, это случай «правка не помогла».</a:t>
            </a:r>
            <a:endParaRPr/>
          </a:p>
        </p:txBody>
      </p:sp>
      <p:sp>
        <p:nvSpPr>
          <p:cNvPr id="265" name="Google Shape;265;h6a75c99fcd534b2f_3_10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h30457aa6ac715e7f_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5" name="Google Shape;305;h30457aa6ac715e7f_1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Условия взяты из слабых мест, которые мы сами назвали: доверие покупателя (трейд-офф 1), цена GPU и команды (слайд 3), претензии продавцов и закон о платформах (трейд-офф 4). По ним решаются развилки роадмапа: июль 2027 года по условию 01, январь 2028 года по условиям 02 и 03, декабрь 2028 года по всем трем. Действия при сбое разобраны на слайде 7.</a:t>
            </a:r>
            <a:br>
              <a:rPr lang="en-US"/>
            </a:br>
            <a:br>
              <a:rPr lang="en-US"/>
            </a:br>
            <a:r>
              <a:rPr lang="en-US"/>
              <a:t>01. Покупатель доверяет совету. Сигналы сравниваем с альтернативой: к консультанту или к поиску возвращается попробовавший, и как тест отличается от контроля. Ориентир по возвратам: у Zalando подсказка размера сократила возвраты из-за размера на 10%. Порог июля двойной: GMV без возвратов на покупателя минимум на 2% выше контроля и окупаемость диалога не ниже 1. Одной статистической значимости мало: на 5–10% аудитории WB значимым будет почти любой эффект. Ориентир для 2%: глава Amazon ожидает от ассистента Rufus больше 10 млрд $ дополнительных продаж в год, это около 1,7% продаж торговых сегментов Amazon за 2025 год.</a:t>
            </a:r>
            <a:br>
              <a:rPr lang="en-US"/>
            </a:br>
            <a:br>
              <a:rPr lang="en-US"/>
            </a:br>
            <a:r>
              <a:rPr lang="en-US"/>
              <a:t>02. Ответ окупается. Окупаемость диалога считаем осторожно с обеих сторон. В числителе только добавленная маржа от покупок, без дохода от спонсорских мест, иначе тест рекламы завысит показатель перед январской развилкой. В знаменателе полная стоимость диалогов вместе с амортизацией GPU. Своих GPU в пилоте еще нет: они заказаны в 4 квартале 2026 года и вводятся к ноябрьской распродаже 2027 года. Поэтому GPU-час и в июле, и в январе считаем по цене заказанных GPU с амортизацией. Формула одна, пороги 1 и 2 сравнивают одну и ту же величину.</a:t>
            </a:r>
            <a:br>
              <a:rPr lang="en-US"/>
            </a:br>
            <a:br>
              <a:rPr lang="en-US"/>
            </a:br>
            <a:r>
              <a:rPr lang="en-US"/>
              <a:t>03. Продавцы и закон принимают подборку. По статье 5 закона 289-ФЗ в договоре должно быть указано, как продавец получает сведения о принципах ранжирования и причинах смены позиции карточки. Отчет «почему товар не в ответе» открываем всем продавцам во втором полугодии 2027 года.</a:t>
            </a:r>
            <a:br>
              <a:rPr lang="en-US"/>
            </a:br>
            <a:br>
              <a:rPr lang="en-US"/>
            </a:br>
            <a:r>
              <a:rPr lang="en-US"/>
              <a:t>Риски ведем отдельно от сигналов: поставку GPU по графику и поправки к закону о платформенной экономике. Проект поправок вынесен на обсуждение в сентябре 2026 года, вступление в силу планируется с 1 марта 2027 года, то есть в середине пилота. Пороги на слайде рабочие: окончательные фиксируем после первого месяца пилота, когда известны базовые значения.</a:t>
            </a:r>
            <a:endParaRPr/>
          </a:p>
        </p:txBody>
      </p:sp>
      <p:sp>
        <p:nvSpPr>
          <p:cNvPr id="306" name="Google Shape;306;h30457aa6ac715e7f_1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h30457aa6ac715e7f_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5" name="Google Shape;305;h30457aa6ac715e7f_1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Этот слайд добавлен после обсуждения с продакт-лидером другой команды. Мы не оспариваем его факты: в пилоте нет рекламы, своих GPU и обуви; условие «предписаний регулятора нет» вне нашего контроля; ставка жертвует скоростью, валовым GMV и показами мелких продавцов. Слабости признаём полностью — и показываем следующим слайдом, почему они не отменяют решения.</a:t>
            </a:r>
          </a:p>
        </p:txBody>
      </p:sp>
      <p:sp>
        <p:nvSpPr>
          <p:cNvPr id="306" name="Google Shape;306;h30457aa6ac715e7f_1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h30457aa6ac715e7f_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5" name="Google Shape;305;h30457aa6ac715e7f_1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Ответ на каждую слабость. Пилот сознательно строже реального продукта: окупаемость считается без рекламного дохода и с полной амортизацией GPU, поэтому порог надёжнее реальной экономики. Регуляторный риск есть у всех альтернатив, а у доверия покупателя у регулятора нет рычага. Жертвы — размен на актив, который не отнимается: склады восстанавливаются, продавцам даём отчёт по статье 5, а при провале пилота ставка закрывается по слайду 7.</a:t>
            </a:r>
          </a:p>
        </p:txBody>
      </p:sp>
      <p:sp>
        <p:nvSpPr>
          <p:cNvPr id="306" name="Google Shape;306;h30457aa6ac715e7f_1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h5e9491908ae5f0a7_0_1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8" name="Google Shape;128;h5e9491908ae5f0a7_0_13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Слайд-рисунок 2029 года, три года после старта ставки. Говорим только о наблюдаемых изменениях, не о функциях: как изменилось поведение покупателей, каким стал продукт, что стало с деньгами и где компания стоит относительно конкурентов. Все четыре изменения опираются на развилки роадмапа: каждый уровень масштаба был открыт пройденным порогом июля 2027, января и декабря 2028 годов.</a:t>
            </a:r>
          </a:p>
        </p:txBody>
      </p:sp>
      <p:sp>
        <p:nvSpPr>
          <p:cNvPr id="129" name="Google Shape;129;h5e9491908ae5f0a7_0_13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bg>
      <p:bgPr>
        <a:solidFill>
          <a:srgbClr val="F7F4F9"/>
        </a:solidFill>
      </p:bgPr>
    </p:bg>
    <p:spTree>
      <p:nvGrpSpPr>
        <p:cNvPr id="12" name="Shape 12"/>
        <p:cNvGrpSpPr/>
        <p:nvPr/>
      </p:nvGrpSpPr>
      <p:grpSpPr>
        <a:xfrm>
          <a:off x="0" y="0"/>
          <a:ext cx="0" cy="0"/>
          <a:chOff x="0" y="0"/>
          <a:chExt cx="0" cy="0"/>
        </a:xfrm>
      </p:grpSpPr>
      <p:sp>
        <p:nvSpPr>
          <p:cNvPr id="13" name="Google Shape;13;p2"/>
          <p:cNvSpPr txBox="1"/>
          <p:nvPr>
            <p:ph type="title"/>
          </p:nvPr>
        </p:nvSpPr>
        <p:spPr>
          <a:xfrm>
            <a:off x="711200" y="797560"/>
            <a:ext cx="10769600" cy="711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41036"/>
              </a:buClr>
              <a:buSzPts val="2500"/>
              <a:buFont typeface="Inter"/>
              <a:buNone/>
              <a:defRPr sz="2500">
                <a:solidFill>
                  <a:srgbClr val="241036"/>
                </a:solidFill>
                <a:latin typeface="Inter"/>
                <a:ea typeface="Inter"/>
                <a:cs typeface="Inter"/>
                <a:sym typeface="Inter"/>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 name="Google Shape;14;p2"/>
          <p:cNvSpPr txBox="1"/>
          <p:nvPr>
            <p:ph idx="1" type="body"/>
          </p:nvPr>
        </p:nvSpPr>
        <p:spPr>
          <a:xfrm>
            <a:off x="711200" y="1813560"/>
            <a:ext cx="10668000" cy="4231640"/>
          </a:xfrm>
          <a:prstGeom prst="rect">
            <a:avLst/>
          </a:prstGeom>
          <a:noFill/>
          <a:ln>
            <a:noFill/>
          </a:ln>
        </p:spPr>
        <p:txBody>
          <a:bodyPr anchorCtr="0" anchor="t" bIns="0" lIns="0" spcFirstLastPara="1" rIns="0" wrap="square" tIns="0">
            <a:noAutofit/>
          </a:bodyPr>
          <a:lstStyle>
            <a:lvl1pPr indent="-228600" lvl="0" marL="457200" algn="l">
              <a:lnSpc>
                <a:spcPct val="140000"/>
              </a:lnSpc>
              <a:spcBef>
                <a:spcPts val="320"/>
              </a:spcBef>
              <a:spcAft>
                <a:spcPts val="0"/>
              </a:spcAft>
              <a:buClr>
                <a:srgbClr val="3D2A4F"/>
              </a:buClr>
              <a:buSzPts val="1600"/>
              <a:buNone/>
              <a:defRPr sz="1600">
                <a:solidFill>
                  <a:srgbClr val="3D2A4F"/>
                </a:solidFill>
                <a:latin typeface="Inter"/>
                <a:ea typeface="Inter"/>
                <a:cs typeface="Inter"/>
                <a:sym typeface="Inte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5" name="Shape 15"/>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bg>
      <p:bgPr>
        <a:solidFill>
          <a:srgbClr val="F7F4F9"/>
        </a:solidFill>
      </p:bgPr>
    </p:bg>
    <p:spTree>
      <p:nvGrpSpPr>
        <p:cNvPr id="19" name="Shape 19"/>
        <p:cNvGrpSpPr/>
        <p:nvPr/>
      </p:nvGrpSpPr>
      <p:grpSpPr>
        <a:xfrm>
          <a:off x="0" y="0"/>
          <a:ext cx="0" cy="0"/>
          <a:chOff x="0" y="0"/>
          <a:chExt cx="0" cy="0"/>
        </a:xfrm>
      </p:grpSpPr>
      <p:sp>
        <p:nvSpPr>
          <p:cNvPr id="20" name="Google Shape;20;p5"/>
          <p:cNvSpPr txBox="1"/>
          <p:nvPr>
            <p:ph type="title"/>
          </p:nvPr>
        </p:nvSpPr>
        <p:spPr>
          <a:xfrm>
            <a:off x="711200" y="797560"/>
            <a:ext cx="10769700" cy="7113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41036"/>
              </a:buClr>
              <a:buSzPts val="2500"/>
              <a:buFont typeface="Inter"/>
              <a:buNone/>
              <a:defRPr sz="2500">
                <a:solidFill>
                  <a:srgbClr val="241036"/>
                </a:solidFill>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5"/>
          <p:cNvSpPr txBox="1"/>
          <p:nvPr>
            <p:ph idx="1" type="body"/>
          </p:nvPr>
        </p:nvSpPr>
        <p:spPr>
          <a:xfrm>
            <a:off x="711200" y="1813560"/>
            <a:ext cx="10668000" cy="4231500"/>
          </a:xfrm>
          <a:prstGeom prst="rect">
            <a:avLst/>
          </a:prstGeom>
          <a:noFill/>
          <a:ln>
            <a:noFill/>
          </a:ln>
        </p:spPr>
        <p:txBody>
          <a:bodyPr anchorCtr="0" anchor="t" bIns="0" lIns="0" spcFirstLastPara="1" rIns="0" wrap="square" tIns="0">
            <a:noAutofit/>
          </a:bodyPr>
          <a:lstStyle>
            <a:lvl1pPr indent="-228600" lvl="0" marL="457200" algn="l">
              <a:lnSpc>
                <a:spcPct val="140000"/>
              </a:lnSpc>
              <a:spcBef>
                <a:spcPts val="320"/>
              </a:spcBef>
              <a:spcAft>
                <a:spcPts val="0"/>
              </a:spcAft>
              <a:buClr>
                <a:srgbClr val="3D2A4F"/>
              </a:buClr>
              <a:buSzPts val="1600"/>
              <a:buNone/>
              <a:defRPr sz="1600">
                <a:solidFill>
                  <a:srgbClr val="3D2A4F"/>
                </a:solidFill>
                <a:latin typeface="Inter"/>
                <a:ea typeface="Inter"/>
                <a:cs typeface="Inter"/>
                <a:sym typeface="Inte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22" name="Shape 22"/>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slideLayout" Target="../slideLayouts/slideLayout4.xml"/><Relationship Id="rId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F9"/>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711200" y="797560"/>
            <a:ext cx="10769600" cy="711200"/>
          </a:xfrm>
          <a:prstGeom prst="rect">
            <a:avLst/>
          </a:prstGeom>
          <a:noFill/>
          <a:ln>
            <a:noFill/>
          </a:ln>
        </p:spPr>
        <p:txBody>
          <a:bodyPr anchorCtr="0" anchor="t" bIns="0" lIns="0" spcFirstLastPara="1" rIns="0" wrap="square" tIns="0">
            <a:noAutofit/>
          </a:bodyPr>
          <a:lstStyle>
            <a:lvl1pPr lvl="0" marR="0" rtl="0" algn="l">
              <a:lnSpc>
                <a:spcPct val="115000"/>
              </a:lnSpc>
              <a:spcBef>
                <a:spcPts val="0"/>
              </a:spcBef>
              <a:spcAft>
                <a:spcPts val="0"/>
              </a:spcAft>
              <a:buClr>
                <a:srgbClr val="241036"/>
              </a:buClr>
              <a:buSzPts val="2500"/>
              <a:buFont typeface="Inter"/>
              <a:buNone/>
              <a:defRPr b="0" i="0" sz="2500" u="none" cap="none" strike="noStrike">
                <a:solidFill>
                  <a:srgbClr val="241036"/>
                </a:solidFill>
                <a:latin typeface="Inter"/>
                <a:ea typeface="Inter"/>
                <a:cs typeface="Inter"/>
                <a:sym typeface="Inter"/>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711200" y="1813560"/>
            <a:ext cx="10668000" cy="4231640"/>
          </a:xfrm>
          <a:prstGeom prst="rect">
            <a:avLst/>
          </a:prstGeom>
          <a:noFill/>
          <a:ln>
            <a:noFill/>
          </a:ln>
        </p:spPr>
        <p:txBody>
          <a:bodyPr anchorCtr="0" anchor="t" bIns="0" lIns="0" spcFirstLastPara="1" rIns="0" wrap="square" tIns="0">
            <a:noAutofit/>
          </a:bodyPr>
          <a:lstStyle>
            <a:lvl1pPr indent="-228600" lvl="0" marL="457200" marR="0" rtl="0" algn="l">
              <a:lnSpc>
                <a:spcPct val="140000"/>
              </a:lnSpc>
              <a:spcBef>
                <a:spcPts val="320"/>
              </a:spcBef>
              <a:spcAft>
                <a:spcPts val="0"/>
              </a:spcAft>
              <a:buClr>
                <a:srgbClr val="3D2A4F"/>
              </a:buClr>
              <a:buSzPts val="1600"/>
              <a:buFont typeface="Arial"/>
              <a:buNone/>
              <a:defRPr b="0" i="0" sz="1600" u="none" cap="none" strike="noStrike">
                <a:solidFill>
                  <a:srgbClr val="3D2A4F"/>
                </a:solidFill>
                <a:latin typeface="Inter"/>
                <a:ea typeface="Inter"/>
                <a:cs typeface="Inter"/>
                <a:sym typeface="Inter"/>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Inter"/>
                <a:ea typeface="Inter"/>
                <a:cs typeface="Inter"/>
                <a:sym typeface="Inter"/>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Inter"/>
                <a:ea typeface="Inter"/>
                <a:cs typeface="Inter"/>
                <a:sym typeface="Inter"/>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F9"/>
        </a:solidFill>
      </p:bgPr>
    </p:bg>
    <p:spTree>
      <p:nvGrpSpPr>
        <p:cNvPr id="16" name="Shape 16"/>
        <p:cNvGrpSpPr/>
        <p:nvPr/>
      </p:nvGrpSpPr>
      <p:grpSpPr>
        <a:xfrm>
          <a:off x="0" y="0"/>
          <a:ext cx="0" cy="0"/>
          <a:chOff x="0" y="0"/>
          <a:chExt cx="0" cy="0"/>
        </a:xfrm>
      </p:grpSpPr>
      <p:sp>
        <p:nvSpPr>
          <p:cNvPr id="17" name="Google Shape;17;p4"/>
          <p:cNvSpPr txBox="1"/>
          <p:nvPr>
            <p:ph type="title"/>
          </p:nvPr>
        </p:nvSpPr>
        <p:spPr>
          <a:xfrm>
            <a:off x="711200" y="797560"/>
            <a:ext cx="10769700" cy="711300"/>
          </a:xfrm>
          <a:prstGeom prst="rect">
            <a:avLst/>
          </a:prstGeom>
          <a:noFill/>
          <a:ln>
            <a:noFill/>
          </a:ln>
        </p:spPr>
        <p:txBody>
          <a:bodyPr anchorCtr="0" anchor="t" bIns="0" lIns="0" spcFirstLastPara="1" rIns="0" wrap="square" tIns="0">
            <a:noAutofit/>
          </a:bodyPr>
          <a:lstStyle>
            <a:lvl1pPr lvl="0" marR="0" rtl="0" algn="l">
              <a:lnSpc>
                <a:spcPct val="115000"/>
              </a:lnSpc>
              <a:spcBef>
                <a:spcPts val="0"/>
              </a:spcBef>
              <a:spcAft>
                <a:spcPts val="0"/>
              </a:spcAft>
              <a:buClr>
                <a:srgbClr val="241036"/>
              </a:buClr>
              <a:buSzPts val="2500"/>
              <a:buFont typeface="Inter"/>
              <a:buNone/>
              <a:defRPr b="0" i="0" spc="0" sz="2500" u="none" cap="none" strike="noStrike">
                <a:solidFill>
                  <a:srgbClr val="241036"/>
                </a:solidFill>
                <a:latin typeface="Inter"/>
                <a:ea typeface="Inter"/>
                <a:cs typeface="Inter"/>
                <a:sym typeface="Inter"/>
              </a:defRPr>
            </a:lvl1pPr>
            <a:lvl2pPr lvl="1"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9pPr>
          </a:lstStyle>
          <a:p/>
        </p:txBody>
      </p:sp>
      <p:sp>
        <p:nvSpPr>
          <p:cNvPr id="18" name="Google Shape;18;p4"/>
          <p:cNvSpPr txBox="1"/>
          <p:nvPr>
            <p:ph idx="1" type="body"/>
          </p:nvPr>
        </p:nvSpPr>
        <p:spPr>
          <a:xfrm>
            <a:off x="711200" y="1813560"/>
            <a:ext cx="10668000" cy="4231500"/>
          </a:xfrm>
          <a:prstGeom prst="rect">
            <a:avLst/>
          </a:prstGeom>
          <a:noFill/>
          <a:ln>
            <a:noFill/>
          </a:ln>
        </p:spPr>
        <p:txBody>
          <a:bodyPr anchorCtr="0" anchor="t" bIns="0" lIns="0" spcFirstLastPara="1" rIns="0" wrap="square" tIns="0">
            <a:noAutofit/>
          </a:bodyPr>
          <a:lstStyle>
            <a:lvl1pPr indent="-228600" lvl="0" marL="457200" marR="0" rtl="0" algn="l">
              <a:lnSpc>
                <a:spcPct val="140000"/>
              </a:lnSpc>
              <a:spcBef>
                <a:spcPts val="320"/>
              </a:spcBef>
              <a:spcAft>
                <a:spcPts val="0"/>
              </a:spcAft>
              <a:buClr>
                <a:srgbClr val="3D2A4F"/>
              </a:buClr>
              <a:buSzPts val="1600"/>
              <a:buFont typeface="Arial"/>
              <a:buNone/>
              <a:defRPr b="0" i="0" spc="0" sz="1600" u="none" cap="none" strike="noStrike">
                <a:solidFill>
                  <a:srgbClr val="3D2A4F"/>
                </a:solidFill>
                <a:latin typeface="Inter"/>
                <a:ea typeface="Inter"/>
                <a:cs typeface="Inter"/>
                <a:sym typeface="Inter"/>
              </a:defRPr>
            </a:lvl1pPr>
            <a:lvl2pPr indent="-406400" lvl="1" marL="914400" marR="0" rtl="0" algn="l">
              <a:lnSpc>
                <a:spcPct val="100000"/>
              </a:lnSpc>
              <a:spcBef>
                <a:spcPts val="560"/>
              </a:spcBef>
              <a:spcAft>
                <a:spcPts val="0"/>
              </a:spcAft>
              <a:buClr>
                <a:schemeClr val="dk1"/>
              </a:buClr>
              <a:buSzPts val="2800"/>
              <a:buFont typeface="Arial"/>
              <a:buChar char="–"/>
              <a:defRPr b="0" i="0" spc="0" sz="2800" u="none" cap="none" strike="noStrike">
                <a:solidFill>
                  <a:schemeClr val="dk1"/>
                </a:solidFill>
                <a:latin typeface="Inter"/>
                <a:ea typeface="Inter"/>
                <a:cs typeface="Inter"/>
                <a:sym typeface="Inter"/>
              </a:defRPr>
            </a:lvl2pPr>
            <a:lvl3pPr indent="-381000" lvl="2" marL="1371600" marR="0" rtl="0" algn="l">
              <a:lnSpc>
                <a:spcPct val="100000"/>
              </a:lnSpc>
              <a:spcBef>
                <a:spcPts val="480"/>
              </a:spcBef>
              <a:spcAft>
                <a:spcPts val="0"/>
              </a:spcAft>
              <a:buClr>
                <a:schemeClr val="dk1"/>
              </a:buClr>
              <a:buSzPts val="2400"/>
              <a:buFont typeface="Arial"/>
              <a:buChar char="•"/>
              <a:defRPr b="0" i="0" spc="0" sz="2400" u="none" cap="none" strike="noStrike">
                <a:solidFill>
                  <a:schemeClr val="dk1"/>
                </a:solidFill>
                <a:latin typeface="Inter"/>
                <a:ea typeface="Inter"/>
                <a:cs typeface="Inter"/>
                <a:sym typeface="Inter"/>
              </a:defRPr>
            </a:lvl3pPr>
            <a:lvl4pPr indent="-355600" lvl="3" marL="1828800" marR="0" rtl="0" algn="l">
              <a:lnSpc>
                <a:spcPct val="100000"/>
              </a:lnSpc>
              <a:spcBef>
                <a:spcPts val="400"/>
              </a:spcBef>
              <a:spcAft>
                <a:spcPts val="0"/>
              </a:spcAft>
              <a:buClr>
                <a:schemeClr val="dk1"/>
              </a:buClr>
              <a:buSzPts val="2000"/>
              <a:buFont typeface="Arial"/>
              <a:buChar char="–"/>
              <a:defRPr b="0" i="0" spc="0" sz="2000" u="none" cap="none" strike="noStrike">
                <a:solidFill>
                  <a:schemeClr val="dk1"/>
                </a:solidFill>
                <a:latin typeface="Inter"/>
                <a:ea typeface="Inter"/>
                <a:cs typeface="Inter"/>
                <a:sym typeface="Inter"/>
              </a:defRPr>
            </a:lvl4pPr>
            <a:lvl5pPr indent="-355600" lvl="4" marL="2286000" marR="0" rtl="0" algn="l">
              <a:lnSpc>
                <a:spcPct val="100000"/>
              </a:lnSpc>
              <a:spcBef>
                <a:spcPts val="400"/>
              </a:spcBef>
              <a:spcAft>
                <a:spcPts val="0"/>
              </a:spcAft>
              <a:buClr>
                <a:schemeClr val="dk1"/>
              </a:buClr>
              <a:buSzPts val="2000"/>
              <a:buFont typeface="Arial"/>
              <a:buChar char="»"/>
              <a:defRPr b="0" i="0" spc="0" sz="2000" u="none" cap="none" strike="noStrike">
                <a:solidFill>
                  <a:schemeClr val="dk1"/>
                </a:solidFill>
                <a:latin typeface="Inter"/>
                <a:ea typeface="Inter"/>
                <a:cs typeface="Inter"/>
                <a:sym typeface="Inter"/>
              </a:defRPr>
            </a:lvl5pPr>
            <a:lvl6pPr indent="-355600" lvl="5" marL="2743200" marR="0" rtl="0" algn="l">
              <a:lnSpc>
                <a:spcPct val="100000"/>
              </a:lnSpc>
              <a:spcBef>
                <a:spcPts val="400"/>
              </a:spcBef>
              <a:spcAft>
                <a:spcPts val="0"/>
              </a:spcAft>
              <a:buClr>
                <a:schemeClr val="dk1"/>
              </a:buClr>
              <a:buSzPts val="2000"/>
              <a:buFont typeface="Arial"/>
              <a:buChar char="•"/>
              <a:defRPr b="0" i="0" spc="0" sz="2000" u="none" cap="none" strike="noStrike">
                <a:solidFill>
                  <a:schemeClr val="dk1"/>
                </a:solidFill>
                <a:latin typeface="Inter"/>
                <a:ea typeface="Inter"/>
                <a:cs typeface="Inter"/>
                <a:sym typeface="Inter"/>
              </a:defRPr>
            </a:lvl6pPr>
            <a:lvl7pPr indent="-355600" lvl="6" marL="3200400" marR="0" rtl="0" algn="l">
              <a:lnSpc>
                <a:spcPct val="100000"/>
              </a:lnSpc>
              <a:spcBef>
                <a:spcPts val="400"/>
              </a:spcBef>
              <a:spcAft>
                <a:spcPts val="0"/>
              </a:spcAft>
              <a:buClr>
                <a:schemeClr val="dk1"/>
              </a:buClr>
              <a:buSzPts val="2000"/>
              <a:buFont typeface="Arial"/>
              <a:buChar char="•"/>
              <a:defRPr b="0" i="0" spc="0" sz="2000" u="none" cap="none" strike="noStrike">
                <a:solidFill>
                  <a:schemeClr val="dk1"/>
                </a:solidFill>
                <a:latin typeface="Inter"/>
                <a:ea typeface="Inter"/>
                <a:cs typeface="Inter"/>
                <a:sym typeface="Inter"/>
              </a:defRPr>
            </a:lvl7pPr>
            <a:lvl8pPr indent="-355600" lvl="7" marL="3657600" marR="0" rtl="0" algn="l">
              <a:lnSpc>
                <a:spcPct val="100000"/>
              </a:lnSpc>
              <a:spcBef>
                <a:spcPts val="400"/>
              </a:spcBef>
              <a:spcAft>
                <a:spcPts val="0"/>
              </a:spcAft>
              <a:buClr>
                <a:schemeClr val="dk1"/>
              </a:buClr>
              <a:buSzPts val="2000"/>
              <a:buFont typeface="Arial"/>
              <a:buChar char="•"/>
              <a:defRPr b="0" i="0" spc="0" sz="2000" u="none" cap="none" strike="noStrike">
                <a:solidFill>
                  <a:schemeClr val="dk1"/>
                </a:solidFill>
                <a:latin typeface="Inter"/>
                <a:ea typeface="Inter"/>
                <a:cs typeface="Inter"/>
                <a:sym typeface="Inter"/>
              </a:defRPr>
            </a:lvl8pPr>
            <a:lvl9pPr indent="-355600" lvl="8" marL="4114800" marR="0" rtl="0" algn="l">
              <a:lnSpc>
                <a:spcPct val="100000"/>
              </a:lnSpc>
              <a:spcBef>
                <a:spcPts val="400"/>
              </a:spcBef>
              <a:spcAft>
                <a:spcPts val="0"/>
              </a:spcAft>
              <a:buClr>
                <a:schemeClr val="dk1"/>
              </a:buClr>
              <a:buSzPts val="2000"/>
              <a:buFont typeface="Arial"/>
              <a:buChar char="•"/>
              <a:defRPr b="0" i="0" spc="0" sz="2000" u="none" cap="none" strike="noStrike">
                <a:solidFill>
                  <a:schemeClr val="dk1"/>
                </a:solidFill>
                <a:latin typeface="Inter"/>
                <a:ea typeface="Inter"/>
                <a:cs typeface="Inter"/>
                <a:sym typeface="Inter"/>
              </a:defRPr>
            </a:lvl9pPr>
          </a:lstStyle>
          <a:p/>
        </p:txBody>
      </p:sp>
    </p:spTree>
  </p:cSld>
  <p:clrMap accent1="accent1" accent2="accent2" accent3="accent3" accent4="accent4" accent5="accent5" accent6="accent6" bg1="lt1" bg2="dk2" tx1="dk1" tx2="lt2" folHlink="folHlink" hlink="hlink"/>
  <p:sldLayoutIdLst>
    <p:sldLayoutId id="2147483650" r:id="rId1"/>
    <p:sldLayoutId id="2147483651"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www.retail.ru/news/oborot-rwb-v-2025-godu-prevysil-6-1-trln-rub-1-aprelya-2026-276206/" TargetMode="External"/><Relationship Id="rId4" Type="http://schemas.openxmlformats.org/officeDocument/2006/relationships/hyperlink" Target="https://selsup.ru/blog/itogi-e-commerce-2025-rynok-prevysil-13-trln-rublej-no-selleram-predstoit-adaptirovatsya-k-novoj-realnosti/" TargetMode="External"/><Relationship Id="rId9" Type="http://schemas.openxmlformats.org/officeDocument/2006/relationships/hyperlink" Target="https://expert.ru/news/es-vvel-sanktsii-protiv-vayldberriz-banka-i-pochta-banka" TargetMode="External"/><Relationship Id="rId5" Type="http://schemas.openxmlformats.org/officeDocument/2006/relationships/hyperlink" Target="https://uniseller.io/blog/top-100-ecom-2025-lidery-i-autsajdery/" TargetMode="External"/><Relationship Id="rId6" Type="http://schemas.openxmlformats.org/officeDocument/2006/relationships/hyperlink" Target="https://selsup.ru/blog/wildberries-v-2025-godu-oborot-6-1-trln-rublej-chistaya-pribyl-175-mlrd-i-investitsii-bolee-310-mlrd/" TargetMode="External"/><Relationship Id="rId7" Type="http://schemas.openxmlformats.org/officeDocument/2006/relationships/hyperlink" Target="https://profile.ru/news/society/ushherb-ot-ataki-bpla-na-sklady-wildberries-mozhet-dostich-50-mlrd-rublej-1882341/amp/" TargetMode="External"/><Relationship Id="rId8" Type="http://schemas.openxmlformats.org/officeDocument/2006/relationships/hyperlink" Target="https://sberbusiness.live/news/selleram-mogut-razreshit-perenosit-kartochki-tovarov-mezhdu-marketpleisami"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hyperlink" Target="https://3dnews.ru/1144134/iimodel-wildberries-voshla-v-top3-russkoyazichnogo-benchmarka-mera" TargetMode="External"/><Relationship Id="rId4" Type="http://schemas.openxmlformats.org/officeDocument/2006/relationships/hyperlink" Target="https://selsup.ru/blog/itogi-e-commerce-2025-rynok-prevysil-13-trln-rublej-no-selleram-predstoit-adaptirovatsya-k-novoj-realnosti/" TargetMode="External"/><Relationship Id="rId10" Type="http://schemas.openxmlformats.org/officeDocument/2006/relationships/hyperlink" Target="https://incrussia.ru/news/blogery-smogut-zarabatyvat-po-100-rub-za-kazhdyuyu-tysyachu-prosmotrov/" TargetMode="External"/><Relationship Id="rId9" Type="http://schemas.openxmlformats.org/officeDocument/2006/relationships/hyperlink" Target="https://hi-tech.mail.ru/news/148960-na-wildberries-poyavitsya-ii-assistent-dlya-poiska-tovarov/" TargetMode="External"/><Relationship Id="rId5" Type="http://schemas.openxmlformats.org/officeDocument/2006/relationships/hyperlink" Target="https://finance.mail.ru/article/marketplejsyi-dozreli-do-zamedleniya-69206592/" TargetMode="External"/><Relationship Id="rId6" Type="http://schemas.openxmlformats.org/officeDocument/2006/relationships/hyperlink" Target="https://sberbusiness.live/news/selleram-mogut-razreshit-perenosit-kartochki-tovarov-mezhdu-marketpleisami" TargetMode="External"/><Relationship Id="rId7" Type="http://schemas.openxmlformats.org/officeDocument/2006/relationships/hyperlink" Target="https://profile.ru/news/society/ushherb-ot-ataki-bpla-na-sklady-wildberries-mozhet-dostich-50-mlrd-rublej-1882341/amp/" TargetMode="External"/><Relationship Id="rId8" Type="http://schemas.openxmlformats.org/officeDocument/2006/relationships/hyperlink" Target="https://uniseller.io/blog/tema/ekspress-dostavka/"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https://www.cnews.ru/news/line/2026-02-11_wildberries_zapuskaet_sobstvennuyu" TargetMode="External"/><Relationship Id="rId4" Type="http://schemas.openxmlformats.org/officeDocument/2006/relationships/hyperlink" Target="https://ria.ru/20250329/wibes-2008136381.html" TargetMode="External"/><Relationship Id="rId10" Type="http://schemas.openxmlformats.org/officeDocument/2006/relationships/hyperlink" Target="https://www.lada.kz/kazakhstan-news/156126-kazakhstanskii-biznes-gotovit-zamenu-wildberries-prodavtsy-nashli-novyi-rynok.html" TargetMode="External"/><Relationship Id="rId9" Type="http://schemas.openxmlformats.org/officeDocument/2006/relationships/hyperlink" Target="https://www.pwc.com/kz/ru/publications/e-commerce-analysis/e-commerce-6m2025.html" TargetMode="External"/><Relationship Id="rId5" Type="http://schemas.openxmlformats.org/officeDocument/2006/relationships/hyperlink" Target="https://bosfera.ru/press-release/vyruchka-finteh-segmenta-ozon-za-2025-god-uvelichilas-na-120" TargetMode="External"/><Relationship Id="rId6" Type="http://schemas.openxmlformats.org/officeDocument/2006/relationships/hyperlink" Target="https://www.fontanka.ru/2026/04/23/76382979/" TargetMode="External"/><Relationship Id="rId7" Type="http://schemas.openxmlformats.org/officeDocument/2006/relationships/hyperlink" Target="https://www1.ru/news/2026/09/29/pokupateliam-pokazut-realnuiu-cenu-dlia-marketpleisov-vvodiat-novye-pravila.html" TargetMode="External"/><Relationship Id="rId8" Type="http://schemas.openxmlformats.org/officeDocument/2006/relationships/hyperlink" Target="https://www.spot.uz/ru/2026/04/23/wildberries/"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oborot.ru/news/summarnaya-reklamnaya-vyruchka-wildberries-ozon-i-yandeks-market-v-2025-godu-prevysila-500-mlrd-rublej-i267915.html" TargetMode="External"/><Relationship Id="rId4" Type="http://schemas.openxmlformats.org/officeDocument/2006/relationships/hyperlink" Target="https://ecomhub.ru/wildberries-clothing-2025-demand-buyout-analysis/" TargetMode="External"/><Relationship Id="rId5" Type="http://schemas.openxmlformats.org/officeDocument/2006/relationships/hyperlink" Target="https://www.cnews.ru/news/line/2026-02-11_wildberries_zapuskaet_sobstvennuyu" TargetMode="External"/><Relationship Id="rId6" Type="http://schemas.openxmlformats.org/officeDocument/2006/relationships/hyperlink" Target="https://www1.ru/news/2026/09/29/pokupateliam-pokazut-realnuiu-cenu-dlia-marketpleisov-vvodiat-novye-pravila.html"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hyperlink" Target="https://oborot.ru/news/summarnaya-reklamnaya-vyruchka-wildberries-ozon-i-yandeks-market-v-2025-godu-prevysila-500-mlrd-rublej-i267915.html" TargetMode="External"/><Relationship Id="rId4" Type="http://schemas.openxmlformats.org/officeDocument/2006/relationships/hyperlink" Target="https://ecomhub.ru/wildberries-clothing-2025-demand-buyout-analysis/" TargetMode="External"/><Relationship Id="rId5" Type="http://schemas.openxmlformats.org/officeDocument/2006/relationships/hyperlink" Target="https://www.cnews.ru/news/line/2026-02-11_wildberries_zapuskaet_sobstvennuyu" TargetMode="External"/><Relationship Id="rId6" Type="http://schemas.openxmlformats.org/officeDocument/2006/relationships/hyperlink" Target="https://www1.ru/news/2026/09/29/pokupateliam-pokazut-realnuiu-cenu-dlia-marketpleisov-vvodiat-novye-pravila.html"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F9"/>
        </a:solidFill>
      </p:bgPr>
    </p:bg>
    <p:spTree>
      <p:nvGrpSpPr>
        <p:cNvPr id="27" name="Shape 27"/>
        <p:cNvGrpSpPr/>
        <p:nvPr/>
      </p:nvGrpSpPr>
      <p:grpSpPr>
        <a:xfrm>
          <a:off x="0" y="0"/>
          <a:ext cx="0" cy="0"/>
          <a:chOff x="0" y="0"/>
          <a:chExt cx="0" cy="0"/>
        </a:xfrm>
      </p:grpSpPr>
      <p:sp>
        <p:nvSpPr>
          <p:cNvPr id="28" name="Google Shape;28;p7"/>
          <p:cNvSpPr txBox="1"/>
          <p:nvPr>
            <p:ph type="title"/>
          </p:nvPr>
        </p:nvSpPr>
        <p:spPr>
          <a:xfrm>
            <a:off x="711200" y="768985"/>
            <a:ext cx="11092800" cy="736500"/>
          </a:xfrm>
          <a:prstGeom prst="rect">
            <a:avLst/>
          </a:prstGeom>
          <a:noFill/>
          <a:ln>
            <a:noFill/>
          </a:ln>
        </p:spPr>
        <p:txBody>
          <a:bodyPr anchorCtr="0" anchor="t" bIns="0" lIns="0" spcFirstLastPara="1" rIns="0" wrap="square" tIns="0">
            <a:noAutofit/>
          </a:bodyPr>
          <a:lstStyle/>
          <a:p>
            <a:pPr indent="0" lvl="0" marL="0" rtl="0" algn="l">
              <a:lnSpc>
                <a:spcPct val="112000"/>
              </a:lnSpc>
              <a:spcBef>
                <a:spcPts val="0"/>
              </a:spcBef>
              <a:spcAft>
                <a:spcPts val="0"/>
              </a:spcAft>
              <a:buClr>
                <a:srgbClr val="241036"/>
              </a:buClr>
              <a:buSzPts val="2500"/>
              <a:buFont typeface="Inter"/>
              <a:buNone/>
            </a:pPr>
            <a:r>
              <a:rPr b="1" lang="en-US" sz="2300">
                <a:solidFill>
                  <a:srgbClr val="2A0B45"/>
                </a:solidFill>
                <a:latin typeface="Arial"/>
                <a:ea typeface="Arial"/>
                <a:cs typeface="Arial"/>
                <a:sym typeface="Arial"/>
              </a:rPr>
              <a:t>Из крупнейшего маркетплейса в экосистему, которая зарабатывает на каждой покупке</a:t>
            </a:r>
            <a:r>
              <a:rPr lang="en-US" sz="2300">
                <a:solidFill>
                  <a:srgbClr val="000000"/>
                </a:solidFill>
                <a:latin typeface="Arial"/>
                <a:ea typeface="Arial"/>
                <a:cs typeface="Arial"/>
                <a:sym typeface="Arial"/>
              </a:rPr>
              <a:t> </a:t>
            </a:r>
            <a:endParaRPr sz="2300">
              <a:latin typeface="Arial"/>
              <a:ea typeface="Arial"/>
              <a:cs typeface="Arial"/>
              <a:sym typeface="Arial"/>
            </a:endParaRPr>
          </a:p>
        </p:txBody>
      </p:sp>
      <p:sp>
        <p:nvSpPr>
          <p:cNvPr id="29" name="Google Shape;29;p7"/>
          <p:cNvSpPr/>
          <p:nvPr/>
        </p:nvSpPr>
        <p:spPr>
          <a:xfrm>
            <a:off x="711200" y="1957403"/>
            <a:ext cx="3008700" cy="4725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A80E8E"/>
              </a:buClr>
              <a:buSzPts val="3200"/>
              <a:buFont typeface="Inter"/>
              <a:buNone/>
            </a:pPr>
            <a:r>
              <a:rPr b="1" i="0" lang="en-US" spc="-50" sz="3200" u="none" cap="none" strike="noStrike">
                <a:solidFill>
                  <a:srgbClr val="A80E8E"/>
                </a:solidFill>
                <a:latin typeface="Inter"/>
                <a:ea typeface="Inter"/>
                <a:cs typeface="Inter"/>
                <a:sym typeface="Inter"/>
              </a:rPr>
              <a:t>6,1 трлн ₽</a:t>
            </a:r>
            <a:endParaRPr b="0" i="0" sz="3200" u="none" cap="none" strike="noStrike">
              <a:solidFill>
                <a:schemeClr val="dk1"/>
              </a:solidFill>
              <a:latin typeface="Inter"/>
              <a:ea typeface="Inter"/>
              <a:cs typeface="Inter"/>
              <a:sym typeface="Inter"/>
            </a:endParaRPr>
          </a:p>
        </p:txBody>
      </p:sp>
      <p:sp>
        <p:nvSpPr>
          <p:cNvPr id="30" name="Google Shape;30;p7"/>
          <p:cNvSpPr/>
          <p:nvPr/>
        </p:nvSpPr>
        <p:spPr>
          <a:xfrm>
            <a:off x="711200" y="2519161"/>
            <a:ext cx="3008700" cy="4368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5E4D6E"/>
              </a:buClr>
              <a:buSzPts val="1200"/>
              <a:buFont typeface="Inter"/>
              <a:buNone/>
            </a:pPr>
            <a:r>
              <a:rPr i="0" lang="en-US" sz="1300" u="none" cap="none" strike="noStrike">
                <a:solidFill>
                  <a:srgbClr val="5E4D6E"/>
                </a:solidFill>
              </a:rPr>
              <a:t>GMV группы за 2025 год, +49% к 2024-му</a:t>
            </a:r>
            <a:endParaRPr i="0" sz="1300" u="none" cap="none" strike="noStrike">
              <a:solidFill>
                <a:schemeClr val="dk1"/>
              </a:solidFill>
            </a:endParaRPr>
          </a:p>
        </p:txBody>
      </p:sp>
      <p:sp>
        <p:nvSpPr>
          <p:cNvPr id="31" name="Google Shape;31;p7"/>
          <p:cNvSpPr/>
          <p:nvPr/>
        </p:nvSpPr>
        <p:spPr>
          <a:xfrm>
            <a:off x="711200" y="3095323"/>
            <a:ext cx="3008700" cy="4725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A80E8E"/>
              </a:buClr>
              <a:buSzPts val="3200"/>
              <a:buFont typeface="Inter"/>
              <a:buNone/>
            </a:pPr>
            <a:r>
              <a:rPr b="1" i="0" lang="en-US" spc="-50" sz="3200" u="none" cap="none" strike="noStrike">
                <a:solidFill>
                  <a:srgbClr val="A80E8E"/>
                </a:solidFill>
                <a:latin typeface="Inter"/>
                <a:ea typeface="Inter"/>
                <a:cs typeface="Inter"/>
                <a:sym typeface="Inter"/>
              </a:rPr>
              <a:t>175 млрд ₽</a:t>
            </a:r>
            <a:endParaRPr b="0" i="0" sz="3200" u="none" cap="none" strike="noStrike">
              <a:solidFill>
                <a:schemeClr val="dk1"/>
              </a:solidFill>
              <a:latin typeface="Inter"/>
              <a:ea typeface="Inter"/>
              <a:cs typeface="Inter"/>
              <a:sym typeface="Inter"/>
            </a:endParaRPr>
          </a:p>
        </p:txBody>
      </p:sp>
      <p:sp>
        <p:nvSpPr>
          <p:cNvPr id="32" name="Google Shape;32;p7"/>
          <p:cNvSpPr/>
          <p:nvPr/>
        </p:nvSpPr>
        <p:spPr>
          <a:xfrm>
            <a:off x="711200" y="3657081"/>
            <a:ext cx="3008700" cy="2310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5E4D6E"/>
              </a:buClr>
              <a:buSzPts val="1200"/>
              <a:buFont typeface="Inter"/>
              <a:buNone/>
            </a:pPr>
            <a:r>
              <a:rPr i="0" lang="en-US" sz="1300" u="none" cap="none" strike="noStrike">
                <a:solidFill>
                  <a:srgbClr val="5E4D6E"/>
                </a:solidFill>
              </a:rPr>
              <a:t>чистая прибыль за 2025 год</a:t>
            </a:r>
            <a:endParaRPr i="0" sz="1300" u="none" cap="none" strike="noStrike">
              <a:solidFill>
                <a:schemeClr val="dk1"/>
              </a:solidFill>
            </a:endParaRPr>
          </a:p>
        </p:txBody>
      </p:sp>
      <p:sp>
        <p:nvSpPr>
          <p:cNvPr id="33" name="Google Shape;33;p7"/>
          <p:cNvSpPr/>
          <p:nvPr/>
        </p:nvSpPr>
        <p:spPr>
          <a:xfrm>
            <a:off x="711200" y="4027503"/>
            <a:ext cx="3008700" cy="4725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241036"/>
              </a:buClr>
              <a:buSzPts val="3200"/>
              <a:buFont typeface="Inter"/>
              <a:buNone/>
            </a:pPr>
            <a:r>
              <a:rPr b="1" i="0" lang="en-US" spc="-50" sz="1300" u="none" cap="none" strike="noStrike">
                <a:solidFill>
                  <a:srgbClr val="241036"/>
                </a:solidFill>
              </a:rPr>
              <a:t>+25% и +42%</a:t>
            </a:r>
            <a:endParaRPr i="0" sz="1300" u="none" cap="none" strike="noStrike">
              <a:solidFill>
                <a:schemeClr val="dk1"/>
              </a:solidFill>
            </a:endParaRPr>
          </a:p>
        </p:txBody>
      </p:sp>
      <p:sp>
        <p:nvSpPr>
          <p:cNvPr id="34" name="Google Shape;34;p7"/>
          <p:cNvSpPr/>
          <p:nvPr/>
        </p:nvSpPr>
        <p:spPr>
          <a:xfrm>
            <a:off x="711200" y="4499943"/>
            <a:ext cx="3008700" cy="4368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5E4D6E"/>
              </a:buClr>
              <a:buSzPts val="1200"/>
              <a:buFont typeface="Inter"/>
              <a:buNone/>
            </a:pPr>
            <a:r>
              <a:rPr i="0" lang="en-US" sz="1300" u="none" cap="none" strike="noStrike">
                <a:solidFill>
                  <a:srgbClr val="5E4D6E"/>
                </a:solidFill>
              </a:rPr>
              <a:t>рост онлайн-продаж Wildberries и Ozon в 2025 году. Отрыв лидера тает</a:t>
            </a:r>
            <a:endParaRPr i="0" sz="1300" u="none" cap="none" strike="noStrike">
              <a:solidFill>
                <a:schemeClr val="dk1"/>
              </a:solidFill>
            </a:endParaRPr>
          </a:p>
        </p:txBody>
      </p:sp>
      <p:cxnSp>
        <p:nvCxnSpPr>
          <p:cNvPr id="35" name="Google Shape;35;p7"/>
          <p:cNvCxnSpPr/>
          <p:nvPr/>
        </p:nvCxnSpPr>
        <p:spPr>
          <a:xfrm>
            <a:off x="3990975" y="1686560"/>
            <a:ext cx="0" cy="4104640"/>
          </a:xfrm>
          <a:prstGeom prst="straightConnector1">
            <a:avLst/>
          </a:prstGeom>
          <a:noFill/>
          <a:ln cap="flat" cmpd="sng" w="9525">
            <a:solidFill>
              <a:srgbClr val="DDD0E6"/>
            </a:solidFill>
            <a:prstDash val="solid"/>
            <a:round/>
            <a:headEnd len="sm" w="sm" type="none"/>
            <a:tailEnd len="sm" w="sm" type="none"/>
          </a:ln>
        </p:spPr>
      </p:cxnSp>
      <p:sp>
        <p:nvSpPr>
          <p:cNvPr id="36" name="Google Shape;36;p7"/>
          <p:cNvSpPr/>
          <p:nvPr/>
        </p:nvSpPr>
        <p:spPr>
          <a:xfrm>
            <a:off x="4348425" y="1624349"/>
            <a:ext cx="7346400" cy="2583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241036"/>
              </a:buClr>
              <a:buSzPts val="1400"/>
              <a:buFont typeface="Inter"/>
              <a:buNone/>
            </a:pPr>
            <a:r>
              <a:rPr b="1" i="0" lang="en-US" u="none" cap="none" strike="noStrike">
                <a:solidFill>
                  <a:srgbClr val="241036"/>
                </a:solidFill>
              </a:rPr>
              <a:t>Чего хочет компания</a:t>
            </a:r>
            <a:endParaRPr i="0" u="none" cap="none" strike="noStrike">
              <a:solidFill>
                <a:schemeClr val="dk1"/>
              </a:solidFill>
            </a:endParaRPr>
          </a:p>
        </p:txBody>
      </p:sp>
      <p:sp>
        <p:nvSpPr>
          <p:cNvPr id="37" name="Google Shape;37;p7"/>
          <p:cNvSpPr/>
          <p:nvPr/>
        </p:nvSpPr>
        <p:spPr>
          <a:xfrm>
            <a:off x="4348425" y="1882651"/>
            <a:ext cx="7346400" cy="794400"/>
          </a:xfrm>
          <a:prstGeom prst="rect">
            <a:avLst/>
          </a:prstGeom>
          <a:noFill/>
          <a:ln>
            <a:noFill/>
          </a:ln>
        </p:spPr>
        <p:txBody>
          <a:bodyPr anchorCtr="0" anchor="t" bIns="0" lIns="0" spcFirstLastPara="1" rIns="0" wrap="square" tIns="0">
            <a:noAutofit/>
          </a:bodyPr>
          <a:lstStyle/>
          <a:p>
            <a:pPr indent="0" lvl="0" marL="0" marR="0" rtl="0" algn="l">
              <a:lnSpc>
                <a:spcPct val="138000"/>
              </a:lnSpc>
              <a:spcBef>
                <a:spcPts val="0"/>
              </a:spcBef>
              <a:spcAft>
                <a:spcPts val="0"/>
              </a:spcAft>
              <a:buClr>
                <a:srgbClr val="3D2A4F"/>
              </a:buClr>
              <a:buSzPts val="1250"/>
              <a:buFont typeface="Inter"/>
              <a:buNone/>
            </a:pPr>
            <a:r>
              <a:rPr i="0" lang="en-US" u="none" cap="none" strike="noStrike">
                <a:solidFill>
                  <a:srgbClr val="3D2A4F"/>
                </a:solidFill>
              </a:rPr>
              <a:t>Оставаться </a:t>
            </a:r>
            <a:r>
              <a:rPr lang="en-US">
                <a:solidFill>
                  <a:srgbClr val="3D2A4F"/>
                </a:solidFill>
              </a:rPr>
              <a:t>№1 </a:t>
            </a:r>
            <a:r>
              <a:rPr i="0" lang="en-US" u="none" cap="none" strike="noStrike">
                <a:solidFill>
                  <a:srgbClr val="3D2A4F"/>
                </a:solidFill>
              </a:rPr>
              <a:t>в онлайн-торговле России и СНГ, но зарабатывать вс</a:t>
            </a:r>
            <a:r>
              <a:rPr lang="en-US">
                <a:solidFill>
                  <a:srgbClr val="3D2A4F"/>
                </a:solidFill>
              </a:rPr>
              <a:t>е</a:t>
            </a:r>
            <a:r>
              <a:rPr i="0" lang="en-US" u="none" cap="none" strike="noStrike">
                <a:solidFill>
                  <a:srgbClr val="3D2A4F"/>
                </a:solidFill>
              </a:rPr>
              <a:t> больше не </a:t>
            </a:r>
            <a:r>
              <a:rPr lang="en-US">
                <a:solidFill>
                  <a:srgbClr val="3D2A4F"/>
                </a:solidFill>
              </a:rPr>
              <a:t>за счет</a:t>
            </a:r>
            <a:r>
              <a:rPr i="0" lang="en-US" u="none" cap="none" strike="noStrike">
                <a:solidFill>
                  <a:srgbClr val="3D2A4F"/>
                </a:solidFill>
              </a:rPr>
              <a:t> комиссии, а на рекламе, финансах и сервисах вокруг покупки</a:t>
            </a:r>
            <a:r>
              <a:rPr lang="en-US">
                <a:solidFill>
                  <a:srgbClr val="3D2A4F"/>
                </a:solidFill>
              </a:rPr>
              <a:t>, при этом т</a:t>
            </a:r>
            <a:r>
              <a:rPr i="0" lang="en-US" u="none" cap="none" strike="noStrike">
                <a:solidFill>
                  <a:srgbClr val="3D2A4F"/>
                </a:solidFill>
              </a:rPr>
              <a:t>орговля сама по себе замедляется: рынок за 2025 год вырос всего на 16%.</a:t>
            </a:r>
            <a:endParaRPr i="0" u="none" cap="none" strike="noStrike">
              <a:solidFill>
                <a:schemeClr val="dk1"/>
              </a:solidFill>
            </a:endParaRPr>
          </a:p>
        </p:txBody>
      </p:sp>
      <p:sp>
        <p:nvSpPr>
          <p:cNvPr id="38" name="Google Shape;38;p7"/>
          <p:cNvSpPr/>
          <p:nvPr/>
        </p:nvSpPr>
        <p:spPr>
          <a:xfrm>
            <a:off x="4348480" y="2896091"/>
            <a:ext cx="7346400" cy="2388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241036"/>
              </a:buClr>
              <a:buSzPts val="1400"/>
              <a:buFont typeface="Inter"/>
              <a:buNone/>
            </a:pPr>
            <a:r>
              <a:rPr b="1" i="0" lang="en-US" u="none" cap="none" strike="noStrike">
                <a:solidFill>
                  <a:srgbClr val="241036"/>
                </a:solidFill>
              </a:rPr>
              <a:t>На ч</a:t>
            </a:r>
            <a:r>
              <a:rPr b="1" lang="en-US">
                <a:solidFill>
                  <a:srgbClr val="241036"/>
                </a:solidFill>
              </a:rPr>
              <a:t>е</a:t>
            </a:r>
            <a:r>
              <a:rPr b="1" i="0" lang="en-US" u="none" cap="none" strike="noStrike">
                <a:solidFill>
                  <a:srgbClr val="241036"/>
                </a:solidFill>
              </a:rPr>
              <a:t>м держится лидерство</a:t>
            </a:r>
            <a:endParaRPr i="0" u="none" cap="none" strike="noStrike">
              <a:solidFill>
                <a:schemeClr val="dk1"/>
              </a:solidFill>
            </a:endParaRPr>
          </a:p>
        </p:txBody>
      </p:sp>
      <p:sp>
        <p:nvSpPr>
          <p:cNvPr id="39" name="Google Shape;39;p7"/>
          <p:cNvSpPr/>
          <p:nvPr/>
        </p:nvSpPr>
        <p:spPr>
          <a:xfrm>
            <a:off x="4348480" y="4216403"/>
            <a:ext cx="7346400" cy="2388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241036"/>
              </a:buClr>
              <a:buSzPts val="1400"/>
              <a:buFont typeface="Inter"/>
              <a:buNone/>
            </a:pPr>
            <a:r>
              <a:rPr b="1" i="0" lang="en-US" u="none" cap="none" strike="noStrike">
                <a:solidFill>
                  <a:srgbClr val="241036"/>
                </a:solidFill>
              </a:rPr>
              <a:t>Что может помешать</a:t>
            </a:r>
            <a:endParaRPr i="0" u="none" cap="none" strike="noStrike">
              <a:solidFill>
                <a:schemeClr val="dk1"/>
              </a:solidFill>
            </a:endParaRPr>
          </a:p>
        </p:txBody>
      </p:sp>
      <p:sp>
        <p:nvSpPr>
          <p:cNvPr id="40" name="Google Shape;40;p7"/>
          <p:cNvSpPr/>
          <p:nvPr/>
        </p:nvSpPr>
        <p:spPr>
          <a:xfrm>
            <a:off x="4348475" y="4548413"/>
            <a:ext cx="7346400" cy="975600"/>
          </a:xfrm>
          <a:prstGeom prst="rect">
            <a:avLst/>
          </a:prstGeom>
          <a:noFill/>
          <a:ln>
            <a:noFill/>
          </a:ln>
        </p:spPr>
        <p:txBody>
          <a:bodyPr anchorCtr="0" anchor="t" bIns="0" lIns="0" spcFirstLastPara="1" rIns="0" wrap="square" tIns="0">
            <a:noAutofit/>
          </a:bodyPr>
          <a:lstStyle/>
          <a:p>
            <a:pPr indent="0" lvl="0" marL="0" marR="0" rtl="0" algn="l">
              <a:lnSpc>
                <a:spcPct val="138000"/>
              </a:lnSpc>
              <a:spcBef>
                <a:spcPts val="0"/>
              </a:spcBef>
              <a:spcAft>
                <a:spcPts val="0"/>
              </a:spcAft>
              <a:buClr>
                <a:srgbClr val="3D2A4F"/>
              </a:buClr>
              <a:buSzPts val="1250"/>
              <a:buFont typeface="Inter"/>
              <a:buNone/>
            </a:pPr>
            <a:r>
              <a:rPr i="0" lang="en-US" u="none" cap="none" strike="noStrike">
                <a:solidFill>
                  <a:srgbClr val="3D2A4F"/>
                </a:solidFill>
              </a:rPr>
              <a:t>Летом дроны вывели из строя около 7% складских площадей, ущерб оценивают до 50 млрд ₽. С 1 октября действует закон о платформах, а Минэк предлагает отдать карточку товара продавцу. WB Банк попал под санкции ЕС.</a:t>
            </a:r>
            <a:r>
              <a:rPr lang="en-US">
                <a:solidFill>
                  <a:srgbClr val="3D2A4F"/>
                </a:solidFill>
              </a:rPr>
              <a:t>+ </a:t>
            </a:r>
            <a:r>
              <a:rPr i="0" lang="en-US" u="none" cap="none" strike="noStrike">
                <a:solidFill>
                  <a:srgbClr val="3D2A4F"/>
                </a:solidFill>
              </a:rPr>
              <a:t>Ozon раст</a:t>
            </a:r>
            <a:r>
              <a:rPr lang="en-US">
                <a:solidFill>
                  <a:srgbClr val="3D2A4F"/>
                </a:solidFill>
              </a:rPr>
              <a:t>е</a:t>
            </a:r>
            <a:r>
              <a:rPr i="0" lang="en-US" u="none" cap="none" strike="noStrike">
                <a:solidFill>
                  <a:srgbClr val="3D2A4F"/>
                </a:solidFill>
              </a:rPr>
              <a:t>т почти вдвое быстрее.</a:t>
            </a:r>
            <a:endParaRPr i="0" u="none" cap="none" strike="noStrike">
              <a:solidFill>
                <a:schemeClr val="dk1"/>
              </a:solidFill>
            </a:endParaRPr>
          </a:p>
        </p:txBody>
      </p:sp>
      <p:cxnSp>
        <p:nvCxnSpPr>
          <p:cNvPr id="41" name="Google Shape;41;p7"/>
          <p:cNvCxnSpPr/>
          <p:nvPr/>
        </p:nvCxnSpPr>
        <p:spPr>
          <a:xfrm>
            <a:off x="711200" y="5972175"/>
            <a:ext cx="10769600" cy="0"/>
          </a:xfrm>
          <a:prstGeom prst="straightConnector1">
            <a:avLst/>
          </a:prstGeom>
          <a:noFill/>
          <a:ln cap="flat" cmpd="sng" w="9525">
            <a:solidFill>
              <a:srgbClr val="DDD0E6"/>
            </a:solidFill>
            <a:prstDash val="solid"/>
            <a:round/>
            <a:headEnd len="sm" w="sm" type="none"/>
            <a:tailEnd len="sm" w="sm" type="none"/>
          </a:ln>
        </p:spPr>
      </p:cxnSp>
      <p:sp>
        <p:nvSpPr>
          <p:cNvPr id="42" name="Google Shape;42;p7"/>
          <p:cNvSpPr/>
          <p:nvPr/>
        </p:nvSpPr>
        <p:spPr>
          <a:xfrm>
            <a:off x="711200" y="6075680"/>
            <a:ext cx="11092800" cy="452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E5E7D"/>
              </a:buClr>
              <a:buSzPts val="1200"/>
              <a:buFont typeface="Inter"/>
              <a:buNone/>
            </a:pPr>
            <a:r>
              <a:rPr lang="en-US" sz="1200">
                <a:solidFill>
                  <a:srgbClr val="6E5E7D"/>
                </a:solidFill>
                <a:latin typeface="Inter"/>
                <a:ea typeface="Inter"/>
                <a:cs typeface="Inter"/>
                <a:sym typeface="Inter"/>
              </a:rPr>
              <a:t>- </a:t>
            </a:r>
            <a:r>
              <a:rPr b="0" i="0" lang="en-US" sz="1200" u="sng" cap="none" strike="noStrike">
                <a:solidFill>
                  <a:schemeClr val="hlink"/>
                </a:solidFill>
                <a:latin typeface="Inter"/>
                <a:ea typeface="Inter"/>
                <a:cs typeface="Inter"/>
                <a:sym typeface="Inter"/>
                <a:hlinkClick r:id="rId3"/>
              </a:rPr>
              <a:t>Retail.ru, 01.04.2026</a:t>
            </a:r>
            <a:r>
              <a:rPr b="0" i="0" lang="en-US" sz="1200" u="none" cap="none" strike="noStrike">
                <a:solidFill>
                  <a:srgbClr val="6E5E7D"/>
                </a:solidFill>
                <a:latin typeface="Inter"/>
                <a:ea typeface="Inter"/>
                <a:cs typeface="Inter"/>
                <a:sym typeface="Inter"/>
              </a:rPr>
              <a:t> </a:t>
            </a:r>
            <a:r>
              <a:rPr lang="en-US" sz="1200">
                <a:solidFill>
                  <a:srgbClr val="6E5E7D"/>
                </a:solidFill>
                <a:latin typeface="Inter"/>
                <a:ea typeface="Inter"/>
                <a:cs typeface="Inter"/>
                <a:sym typeface="Inter"/>
              </a:rPr>
              <a:t>-</a:t>
            </a:r>
            <a:r>
              <a:rPr b="0" i="0" lang="en-US" sz="1200" u="none" cap="none" strike="noStrike">
                <a:solidFill>
                  <a:srgbClr val="6E5E7D"/>
                </a:solidFill>
                <a:latin typeface="Inter"/>
                <a:ea typeface="Inter"/>
                <a:cs typeface="Inter"/>
                <a:sym typeface="Inter"/>
              </a:rPr>
              <a:t> </a:t>
            </a:r>
            <a:r>
              <a:rPr b="0" i="0" lang="en-US" sz="1200" u="sng" cap="none" strike="noStrike">
                <a:solidFill>
                  <a:schemeClr val="hlink"/>
                </a:solidFill>
                <a:latin typeface="Inter"/>
                <a:ea typeface="Inter"/>
                <a:cs typeface="Inter"/>
                <a:sym typeface="Inter"/>
                <a:hlinkClick r:id="rId4"/>
              </a:rPr>
              <a:t>SelSup по данным Data Insight</a:t>
            </a:r>
            <a:r>
              <a:rPr b="0" i="0" lang="en-US" sz="1200" u="none" cap="none" strike="noStrike">
                <a:solidFill>
                  <a:srgbClr val="6E5E7D"/>
                </a:solidFill>
                <a:latin typeface="Inter"/>
                <a:ea typeface="Inter"/>
                <a:cs typeface="Inter"/>
                <a:sym typeface="Inter"/>
              </a:rPr>
              <a:t> </a:t>
            </a:r>
            <a:r>
              <a:rPr lang="en-US" sz="1200">
                <a:solidFill>
                  <a:srgbClr val="6E5E7D"/>
                </a:solidFill>
                <a:latin typeface="Inter"/>
                <a:ea typeface="Inter"/>
                <a:cs typeface="Inter"/>
                <a:sym typeface="Inter"/>
              </a:rPr>
              <a:t>- </a:t>
            </a:r>
            <a:r>
              <a:rPr b="0" i="0" lang="en-US" sz="1200" u="sng" cap="none" strike="noStrike">
                <a:solidFill>
                  <a:schemeClr val="hlink"/>
                </a:solidFill>
                <a:latin typeface="Inter"/>
                <a:ea typeface="Inter"/>
                <a:cs typeface="Inter"/>
                <a:sym typeface="Inter"/>
                <a:hlinkClick r:id="rId5"/>
              </a:rPr>
              <a:t>Uniseller по рейтингу Data Insight, 08.06.2026</a:t>
            </a:r>
            <a:r>
              <a:rPr b="0" i="0" lang="en-US" sz="1200" u="none" cap="none" strike="noStrike">
                <a:solidFill>
                  <a:srgbClr val="6E5E7D"/>
                </a:solidFill>
                <a:latin typeface="Inter"/>
                <a:ea typeface="Inter"/>
                <a:cs typeface="Inter"/>
                <a:sym typeface="Inter"/>
              </a:rPr>
              <a:t> </a:t>
            </a:r>
            <a:r>
              <a:rPr lang="en-US" sz="1200">
                <a:solidFill>
                  <a:srgbClr val="6E5E7D"/>
                </a:solidFill>
                <a:latin typeface="Inter"/>
                <a:ea typeface="Inter"/>
                <a:cs typeface="Inter"/>
                <a:sym typeface="Inter"/>
              </a:rPr>
              <a:t>-</a:t>
            </a:r>
            <a:r>
              <a:rPr b="0" i="0" lang="en-US" sz="1200" u="none" cap="none" strike="noStrike">
                <a:solidFill>
                  <a:srgbClr val="6E5E7D"/>
                </a:solidFill>
                <a:latin typeface="Inter"/>
                <a:ea typeface="Inter"/>
                <a:cs typeface="Inter"/>
                <a:sym typeface="Inter"/>
              </a:rPr>
              <a:t> </a:t>
            </a:r>
            <a:r>
              <a:rPr b="0" i="0" lang="en-US" sz="1200" u="sng" cap="none" strike="noStrike">
                <a:solidFill>
                  <a:schemeClr val="hlink"/>
                </a:solidFill>
                <a:latin typeface="Inter"/>
                <a:ea typeface="Inter"/>
                <a:cs typeface="Inter"/>
                <a:sym typeface="Inter"/>
                <a:hlinkClick r:id="rId6"/>
              </a:rPr>
              <a:t>SelSup, 01.04.2026</a:t>
            </a:r>
            <a:r>
              <a:rPr b="0" i="0" lang="en-US" sz="1200" u="none" cap="none" strike="noStrike">
                <a:solidFill>
                  <a:srgbClr val="6E5E7D"/>
                </a:solidFill>
                <a:latin typeface="Inter"/>
                <a:ea typeface="Inter"/>
                <a:cs typeface="Inter"/>
                <a:sym typeface="Inter"/>
              </a:rPr>
              <a:t> </a:t>
            </a:r>
            <a:r>
              <a:rPr lang="en-US" sz="1200">
                <a:solidFill>
                  <a:srgbClr val="6E5E7D"/>
                </a:solidFill>
                <a:latin typeface="Inter"/>
                <a:ea typeface="Inter"/>
                <a:cs typeface="Inter"/>
                <a:sym typeface="Inter"/>
              </a:rPr>
              <a:t>-</a:t>
            </a:r>
            <a:r>
              <a:rPr b="0" i="0" lang="en-US" sz="1200" u="none" cap="none" strike="noStrike">
                <a:solidFill>
                  <a:srgbClr val="6E5E7D"/>
                </a:solidFill>
                <a:latin typeface="Inter"/>
                <a:ea typeface="Inter"/>
                <a:cs typeface="Inter"/>
                <a:sym typeface="Inter"/>
              </a:rPr>
              <a:t> </a:t>
            </a:r>
            <a:r>
              <a:rPr b="0" i="0" lang="en-US" sz="1200" u="sng" cap="none" strike="noStrike">
                <a:solidFill>
                  <a:schemeClr val="hlink"/>
                </a:solidFill>
                <a:latin typeface="Inter"/>
                <a:ea typeface="Inter"/>
                <a:cs typeface="Inter"/>
                <a:sym typeface="Inter"/>
                <a:hlinkClick r:id="rId7"/>
              </a:rPr>
              <a:t>Профиль по Ведомостям, 18.07.2026</a:t>
            </a:r>
            <a:r>
              <a:rPr b="0" i="0" lang="en-US" sz="1200" u="none" cap="none" strike="noStrike">
                <a:solidFill>
                  <a:srgbClr val="6E5E7D"/>
                </a:solidFill>
                <a:latin typeface="Inter"/>
                <a:ea typeface="Inter"/>
                <a:cs typeface="Inter"/>
                <a:sym typeface="Inter"/>
              </a:rPr>
              <a:t> </a:t>
            </a:r>
            <a:r>
              <a:rPr lang="en-US" sz="1200">
                <a:solidFill>
                  <a:srgbClr val="6E5E7D"/>
                </a:solidFill>
                <a:latin typeface="Inter"/>
                <a:ea typeface="Inter"/>
                <a:cs typeface="Inter"/>
                <a:sym typeface="Inter"/>
              </a:rPr>
              <a:t>-</a:t>
            </a:r>
            <a:r>
              <a:rPr b="0" i="0" lang="en-US" sz="1200" u="none" cap="none" strike="noStrike">
                <a:solidFill>
                  <a:srgbClr val="6E5E7D"/>
                </a:solidFill>
                <a:latin typeface="Inter"/>
                <a:ea typeface="Inter"/>
                <a:cs typeface="Inter"/>
                <a:sym typeface="Inter"/>
              </a:rPr>
              <a:t> </a:t>
            </a:r>
            <a:r>
              <a:rPr b="0" i="0" lang="en-US" sz="1200" u="sng" cap="none" strike="noStrike">
                <a:solidFill>
                  <a:schemeClr val="hlink"/>
                </a:solidFill>
                <a:latin typeface="Inter"/>
                <a:ea typeface="Inter"/>
                <a:cs typeface="Inter"/>
                <a:sym typeface="Inter"/>
                <a:hlinkClick r:id="rId8"/>
              </a:rPr>
              <a:t>СберБизнес Live, 07.2026</a:t>
            </a:r>
            <a:r>
              <a:rPr b="0" i="0" lang="en-US" sz="1200" u="none" cap="none" strike="noStrike">
                <a:solidFill>
                  <a:srgbClr val="6E5E7D"/>
                </a:solidFill>
                <a:latin typeface="Inter"/>
                <a:ea typeface="Inter"/>
                <a:cs typeface="Inter"/>
                <a:sym typeface="Inter"/>
              </a:rPr>
              <a:t> </a:t>
            </a:r>
            <a:r>
              <a:rPr lang="en-US" sz="1200">
                <a:solidFill>
                  <a:srgbClr val="6E5E7D"/>
                </a:solidFill>
                <a:latin typeface="Inter"/>
                <a:ea typeface="Inter"/>
                <a:cs typeface="Inter"/>
                <a:sym typeface="Inter"/>
              </a:rPr>
              <a:t>-</a:t>
            </a:r>
            <a:r>
              <a:rPr b="0" i="0" lang="en-US" sz="1200" u="none" cap="none" strike="noStrike">
                <a:solidFill>
                  <a:srgbClr val="6E5E7D"/>
                </a:solidFill>
                <a:latin typeface="Inter"/>
                <a:ea typeface="Inter"/>
                <a:cs typeface="Inter"/>
                <a:sym typeface="Inter"/>
              </a:rPr>
              <a:t> </a:t>
            </a:r>
            <a:r>
              <a:rPr b="0" i="0" lang="en-US" sz="1200" u="sng" cap="none" strike="noStrike">
                <a:solidFill>
                  <a:schemeClr val="hlink"/>
                </a:solidFill>
                <a:latin typeface="Inter"/>
                <a:ea typeface="Inter"/>
                <a:cs typeface="Inter"/>
                <a:sym typeface="Inter"/>
                <a:hlinkClick r:id="rId9"/>
              </a:rPr>
              <a:t>Эксперт, 04.2026</a:t>
            </a:r>
            <a:endParaRPr b="0" i="0" sz="1200" u="none" cap="none" strike="noStrike">
              <a:solidFill>
                <a:schemeClr val="dk1"/>
              </a:solidFill>
              <a:latin typeface="Inter"/>
              <a:ea typeface="Inter"/>
              <a:cs typeface="Inter"/>
              <a:sym typeface="Inter"/>
            </a:endParaRPr>
          </a:p>
        </p:txBody>
      </p:sp>
      <p:sp>
        <p:nvSpPr>
          <p:cNvPr id="43" name="Google Shape;43;p7"/>
          <p:cNvSpPr txBox="1"/>
          <p:nvPr/>
        </p:nvSpPr>
        <p:spPr>
          <a:xfrm>
            <a:off x="4262050" y="3134900"/>
            <a:ext cx="7346400" cy="991500"/>
          </a:xfrm>
          <a:prstGeom prst="rect">
            <a:avLst/>
          </a:prstGeom>
          <a:noFill/>
          <a:ln>
            <a:noFill/>
          </a:ln>
        </p:spPr>
        <p:txBody>
          <a:bodyPr anchorCtr="0" anchor="t" bIns="91425" lIns="91425" spcFirstLastPara="1" rIns="91425" wrap="square" tIns="91425">
            <a:spAutoFit/>
          </a:bodyPr>
          <a:lstStyle/>
          <a:p>
            <a:pPr indent="0" lvl="0" marL="0" rtl="0" algn="l">
              <a:lnSpc>
                <a:spcPct val="137181"/>
              </a:lnSpc>
              <a:spcBef>
                <a:spcPts val="0"/>
              </a:spcBef>
              <a:spcAft>
                <a:spcPts val="0"/>
              </a:spcAft>
              <a:buNone/>
            </a:pPr>
            <a:r>
              <a:rPr lang="en-US">
                <a:solidFill>
                  <a:srgbClr val="4A3D57"/>
                </a:solidFill>
              </a:rPr>
              <a:t>Главные опоры: склады на 5,2 млн кв.м и плотная сеть ПВЗ, статус крупнейшего маркетплейса страны (вместе с Ozon это около 80% всех онлайн-заказов в России), реклама на данных о покупках и своя экосистема: банк, Wibes, ИИ. </a:t>
            </a:r>
            <a:endParaRPr>
              <a:solidFill>
                <a:srgbClr val="4A3D57"/>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A0B45"/>
        </a:solidFill>
      </p:bgPr>
    </p:bg>
    <p:spTree>
      <p:nvGrpSpPr>
        <p:cNvPr id="48" name="Shape 48"/>
        <p:cNvGrpSpPr/>
        <p:nvPr/>
      </p:nvGrpSpPr>
      <p:grpSpPr>
        <a:xfrm>
          <a:off x="0" y="0"/>
          <a:ext cx="0" cy="0"/>
          <a:chOff x="0" y="0"/>
          <a:chExt cx="0" cy="0"/>
        </a:xfrm>
      </p:grpSpPr>
      <p:sp>
        <p:nvSpPr>
          <p:cNvPr id="49" name="Google Shape;49;p8"/>
          <p:cNvSpPr/>
          <p:nvPr/>
        </p:nvSpPr>
        <p:spPr>
          <a:xfrm>
            <a:off x="711200" y="406400"/>
            <a:ext cx="3541109" cy="2387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27BD8"/>
              </a:buClr>
              <a:buSzPts val="1200"/>
              <a:buFont typeface="Inter"/>
              <a:buNone/>
            </a:pPr>
            <a:r>
              <a:rPr b="1" i="0" lang="en-US" sz="1200" u="none" cap="none" strike="noStrike">
                <a:solidFill>
                  <a:srgbClr val="F27BD8"/>
                </a:solidFill>
              </a:rPr>
              <a:t>Предложение · стратегическая ставка</a:t>
            </a:r>
            <a:endParaRPr i="0" sz="1200" u="none" cap="none" strike="noStrike">
              <a:solidFill>
                <a:schemeClr val="dk1"/>
              </a:solidFill>
            </a:endParaRPr>
          </a:p>
        </p:txBody>
      </p:sp>
      <p:sp>
        <p:nvSpPr>
          <p:cNvPr id="50" name="Google Shape;50;p8"/>
          <p:cNvSpPr txBox="1"/>
          <p:nvPr>
            <p:ph type="title"/>
          </p:nvPr>
        </p:nvSpPr>
        <p:spPr>
          <a:xfrm>
            <a:off x="711200" y="772160"/>
            <a:ext cx="11092688" cy="736600"/>
          </a:xfrm>
          <a:prstGeom prst="rect">
            <a:avLst/>
          </a:prstGeom>
          <a:noFill/>
          <a:ln>
            <a:noFill/>
          </a:ln>
        </p:spPr>
        <p:txBody>
          <a:bodyPr anchorCtr="0" anchor="t" bIns="0" lIns="0" spcFirstLastPara="1" rIns="0" wrap="square" tIns="0">
            <a:normAutofit fontScale="90000"/>
          </a:bodyPr>
          <a:lstStyle/>
          <a:p>
            <a:pPr indent="0" lvl="0" marL="0" rtl="0" algn="l">
              <a:lnSpc>
                <a:spcPct val="112000"/>
              </a:lnSpc>
              <a:spcBef>
                <a:spcPts val="0"/>
              </a:spcBef>
              <a:spcAft>
                <a:spcPts val="0"/>
              </a:spcAft>
              <a:buClr>
                <a:srgbClr val="FBF6FD"/>
              </a:buClr>
              <a:buSzPct val="100000"/>
              <a:buFont typeface="Inter"/>
              <a:buNone/>
            </a:pPr>
            <a:r>
              <a:rPr b="1" i="0" lang="en-US" spc="-50" sz="2500">
                <a:solidFill>
                  <a:srgbClr val="FBF6FD"/>
                </a:solidFill>
                <a:latin typeface="Arial"/>
                <a:ea typeface="Arial"/>
                <a:cs typeface="Arial"/>
                <a:sym typeface="Arial"/>
              </a:rPr>
              <a:t>Ставка: сделать ИИ-консультанта главной дверью в покупку, а не ещ</a:t>
            </a:r>
            <a:r>
              <a:rPr b="1" lang="en-US" spc="-50">
                <a:solidFill>
                  <a:srgbClr val="FBF6FD"/>
                </a:solidFill>
                <a:latin typeface="Arial"/>
                <a:ea typeface="Arial"/>
                <a:cs typeface="Arial"/>
                <a:sym typeface="Arial"/>
              </a:rPr>
              <a:t>е</a:t>
            </a:r>
            <a:r>
              <a:rPr b="1" i="0" lang="en-US" spc="-50" sz="2500">
                <a:solidFill>
                  <a:srgbClr val="FBF6FD"/>
                </a:solidFill>
                <a:latin typeface="Arial"/>
                <a:ea typeface="Arial"/>
                <a:cs typeface="Arial"/>
                <a:sym typeface="Arial"/>
              </a:rPr>
              <a:t> одной кнопкой в приложении</a:t>
            </a:r>
            <a:endParaRPr sz="2500">
              <a:latin typeface="Arial"/>
              <a:ea typeface="Arial"/>
              <a:cs typeface="Arial"/>
              <a:sym typeface="Arial"/>
            </a:endParaRPr>
          </a:p>
        </p:txBody>
      </p:sp>
      <p:cxnSp>
        <p:nvCxnSpPr>
          <p:cNvPr id="51" name="Google Shape;51;p8"/>
          <p:cNvCxnSpPr/>
          <p:nvPr/>
        </p:nvCxnSpPr>
        <p:spPr>
          <a:xfrm>
            <a:off x="711200" y="1727090"/>
            <a:ext cx="3352800" cy="0"/>
          </a:xfrm>
          <a:prstGeom prst="straightConnector1">
            <a:avLst/>
          </a:prstGeom>
          <a:noFill/>
          <a:ln cap="flat" cmpd="sng" w="19050">
            <a:solidFill>
              <a:srgbClr val="F27BD8"/>
            </a:solidFill>
            <a:prstDash val="solid"/>
            <a:round/>
            <a:headEnd len="sm" w="sm" type="none"/>
            <a:tailEnd len="sm" w="sm" type="none"/>
          </a:ln>
        </p:spPr>
      </p:cxnSp>
      <p:sp>
        <p:nvSpPr>
          <p:cNvPr id="52" name="Google Shape;52;p8"/>
          <p:cNvSpPr/>
          <p:nvPr/>
        </p:nvSpPr>
        <p:spPr>
          <a:xfrm>
            <a:off x="711125" y="1859825"/>
            <a:ext cx="3453300" cy="2388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BF6FD"/>
              </a:buClr>
              <a:buSzPts val="1400"/>
              <a:buFont typeface="Inter"/>
              <a:buNone/>
            </a:pPr>
            <a:r>
              <a:rPr b="1" i="0" lang="en-US" u="none" cap="none" strike="noStrike">
                <a:solidFill>
                  <a:srgbClr val="FBF6FD"/>
                </a:solidFill>
              </a:rPr>
              <a:t>Почему именно она</a:t>
            </a:r>
            <a:endParaRPr i="0" u="none" cap="none" strike="noStrike">
              <a:solidFill>
                <a:schemeClr val="dk1"/>
              </a:solidFill>
            </a:endParaRPr>
          </a:p>
        </p:txBody>
      </p:sp>
      <p:sp>
        <p:nvSpPr>
          <p:cNvPr id="53" name="Google Shape;53;p8"/>
          <p:cNvSpPr/>
          <p:nvPr/>
        </p:nvSpPr>
        <p:spPr>
          <a:xfrm>
            <a:off x="711125" y="2225255"/>
            <a:ext cx="3453300" cy="2904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DCCCE8"/>
              </a:buClr>
              <a:buSzPts val="1200"/>
              <a:buFont typeface="Inter"/>
              <a:buNone/>
            </a:pPr>
            <a:r>
              <a:rPr i="0" lang="en-US" u="none" cap="none" strike="noStrike">
                <a:solidFill>
                  <a:srgbClr val="DCCCE8"/>
                </a:solidFill>
              </a:rPr>
              <a:t>Карточку товара возможно скоро</a:t>
            </a:r>
            <a:r>
              <a:rPr lang="en-US">
                <a:solidFill>
                  <a:srgbClr val="DCCCE8"/>
                </a:solidFill>
              </a:rPr>
              <a:t> </a:t>
            </a:r>
            <a:r>
              <a:rPr i="0" lang="en-US" u="none" cap="none" strike="noStrike">
                <a:solidFill>
                  <a:srgbClr val="DCCCE8"/>
                </a:solidFill>
              </a:rPr>
              <a:t>разрешат переносить на другие площадки, склады уязвимы. </a:t>
            </a:r>
            <a:r>
              <a:rPr lang="en-US">
                <a:solidFill>
                  <a:srgbClr val="DCCCE8"/>
                </a:solidFill>
              </a:rPr>
              <a:t>Но з</a:t>
            </a:r>
            <a:r>
              <a:rPr i="0" lang="en-US" u="none" cap="none" strike="noStrike">
                <a:solidFill>
                  <a:srgbClr val="DCCCE8"/>
                </a:solidFill>
              </a:rPr>
              <a:t>нание покупателя не переносится и не сгорает. </a:t>
            </a:r>
            <a:r>
              <a:rPr lang="en-US">
                <a:solidFill>
                  <a:srgbClr val="DCCCE8"/>
                </a:solidFill>
              </a:rPr>
              <a:t>Сейчас </a:t>
            </a:r>
            <a:r>
              <a:rPr i="0" lang="en-US" u="none" cap="none" strike="noStrike">
                <a:solidFill>
                  <a:srgbClr val="DCCCE8"/>
                </a:solidFill>
              </a:rPr>
              <a:t>уже есть своя модель BerryLM-XL третья в рейтинге MERA</a:t>
            </a:r>
            <a:r>
              <a:rPr lang="en-US">
                <a:solidFill>
                  <a:srgbClr val="DCCCE8"/>
                </a:solidFill>
              </a:rPr>
              <a:t>+ </a:t>
            </a:r>
            <a:r>
              <a:rPr i="0" lang="en-US" u="none" cap="none" strike="noStrike">
                <a:solidFill>
                  <a:srgbClr val="DCCCE8"/>
                </a:solidFill>
              </a:rPr>
              <a:t>ИИ-инструменты приносят больше 1 млрд ₽ в год. В быстрой доставке у конкурентов уже своя сеть, финтех давно подел</a:t>
            </a:r>
            <a:r>
              <a:rPr lang="en-US">
                <a:solidFill>
                  <a:srgbClr val="DCCCE8"/>
                </a:solidFill>
              </a:rPr>
              <a:t>е</a:t>
            </a:r>
            <a:r>
              <a:rPr i="0" lang="en-US" u="none" cap="none" strike="noStrike">
                <a:solidFill>
                  <a:srgbClr val="DCCCE8"/>
                </a:solidFill>
              </a:rPr>
              <a:t>н</a:t>
            </a:r>
            <a:endParaRPr i="0" u="none" cap="none" strike="noStrike">
              <a:solidFill>
                <a:schemeClr val="dk1"/>
              </a:solidFill>
            </a:endParaRPr>
          </a:p>
        </p:txBody>
      </p:sp>
      <p:cxnSp>
        <p:nvCxnSpPr>
          <p:cNvPr id="54" name="Google Shape;54;p8"/>
          <p:cNvCxnSpPr/>
          <p:nvPr/>
        </p:nvCxnSpPr>
        <p:spPr>
          <a:xfrm>
            <a:off x="4419600" y="1727090"/>
            <a:ext cx="3352800" cy="0"/>
          </a:xfrm>
          <a:prstGeom prst="straightConnector1">
            <a:avLst/>
          </a:prstGeom>
          <a:noFill/>
          <a:ln cap="flat" cmpd="sng" w="19050">
            <a:solidFill>
              <a:srgbClr val="F27BD8"/>
            </a:solidFill>
            <a:prstDash val="solid"/>
            <a:round/>
            <a:headEnd len="sm" w="sm" type="none"/>
            <a:tailEnd len="sm" w="sm" type="none"/>
          </a:ln>
        </p:spPr>
      </p:cxnSp>
      <p:sp>
        <p:nvSpPr>
          <p:cNvPr id="55" name="Google Shape;55;p8"/>
          <p:cNvSpPr/>
          <p:nvPr/>
        </p:nvSpPr>
        <p:spPr>
          <a:xfrm>
            <a:off x="4419600" y="1859805"/>
            <a:ext cx="3453300" cy="2388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BF6FD"/>
              </a:buClr>
              <a:buSzPts val="1400"/>
              <a:buFont typeface="Inter"/>
              <a:buNone/>
            </a:pPr>
            <a:r>
              <a:rPr b="1" i="0" lang="en-US" u="none" cap="none" strike="noStrike">
                <a:solidFill>
                  <a:srgbClr val="FBF6FD"/>
                </a:solidFill>
              </a:rPr>
              <a:t>Что за ней стоит</a:t>
            </a:r>
            <a:endParaRPr i="0" u="none" cap="none" strike="noStrike">
              <a:solidFill>
                <a:schemeClr val="dk1"/>
              </a:solidFill>
            </a:endParaRPr>
          </a:p>
        </p:txBody>
      </p:sp>
      <p:sp>
        <p:nvSpPr>
          <p:cNvPr id="56" name="Google Shape;56;p8"/>
          <p:cNvSpPr/>
          <p:nvPr/>
        </p:nvSpPr>
        <p:spPr>
          <a:xfrm>
            <a:off x="4369350" y="2298587"/>
            <a:ext cx="3453300" cy="27573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DCCCE8"/>
              </a:buClr>
              <a:buSzPts val="1200"/>
              <a:buFont typeface="Inter"/>
              <a:buNone/>
            </a:pPr>
            <a:r>
              <a:rPr i="0" lang="en-US" u="none" cap="none" strike="noStrike">
                <a:solidFill>
                  <a:srgbClr val="DCCCE8"/>
                </a:solidFill>
              </a:rPr>
              <a:t>Рынок взрослеет</a:t>
            </a:r>
            <a:r>
              <a:rPr lang="en-US">
                <a:solidFill>
                  <a:srgbClr val="DCCCE8"/>
                </a:solidFill>
              </a:rPr>
              <a:t>, рост идет из конверсии, а не из новых покупателей</a:t>
            </a:r>
            <a:r>
              <a:rPr lang="en-US" sz="1100"/>
              <a:t> </a:t>
            </a:r>
            <a:r>
              <a:rPr i="0" lang="en-US" u="none" cap="none" strike="noStrike">
                <a:solidFill>
                  <a:srgbClr val="DCCCE8"/>
                </a:solidFill>
              </a:rPr>
              <a:t> Люди экономят</a:t>
            </a:r>
            <a:r>
              <a:rPr lang="en-US">
                <a:solidFill>
                  <a:srgbClr val="DCCCE8"/>
                </a:solidFill>
              </a:rPr>
              <a:t>,</a:t>
            </a:r>
            <a:r>
              <a:rPr i="0" lang="en-US" u="none" cap="none" strike="noStrike">
                <a:solidFill>
                  <a:srgbClr val="DCCCE8"/>
                </a:solidFill>
              </a:rPr>
              <a:t> в марте траты на одежду и мебель на маркетплейсах снизились, и совет «что взять за эти деньги» стоит дороже. Запрос вс</a:t>
            </a:r>
            <a:r>
              <a:rPr lang="en-US">
                <a:solidFill>
                  <a:srgbClr val="DCCCE8"/>
                </a:solidFill>
              </a:rPr>
              <a:t>е</a:t>
            </a:r>
            <a:r>
              <a:rPr i="0" lang="en-US" u="none" cap="none" strike="noStrike">
                <a:solidFill>
                  <a:srgbClr val="DCCCE8"/>
                </a:solidFill>
              </a:rPr>
              <a:t> чаще пишут словами, и ассистент WB уже это понимает</a:t>
            </a:r>
            <a:r>
              <a:rPr lang="en-US">
                <a:solidFill>
                  <a:srgbClr val="DCCCE8"/>
                </a:solidFill>
              </a:rPr>
              <a:t>, благодаря обучению на контенте в</a:t>
            </a:r>
            <a:r>
              <a:rPr i="0" lang="en-US" u="none" cap="none" strike="noStrike">
                <a:solidFill>
                  <a:srgbClr val="DCCCE8"/>
                </a:solidFill>
              </a:rPr>
              <a:t>идео из Wibes и отзыв</a:t>
            </a:r>
            <a:r>
              <a:rPr lang="en-US">
                <a:solidFill>
                  <a:srgbClr val="DCCCE8"/>
                </a:solidFill>
              </a:rPr>
              <a:t>ов</a:t>
            </a:r>
            <a:endParaRPr i="0" u="none" cap="none" strike="noStrike">
              <a:solidFill>
                <a:schemeClr val="dk1"/>
              </a:solidFill>
            </a:endParaRPr>
          </a:p>
        </p:txBody>
      </p:sp>
      <p:cxnSp>
        <p:nvCxnSpPr>
          <p:cNvPr id="57" name="Google Shape;57;p8"/>
          <p:cNvCxnSpPr/>
          <p:nvPr/>
        </p:nvCxnSpPr>
        <p:spPr>
          <a:xfrm>
            <a:off x="8073550" y="1728510"/>
            <a:ext cx="3352800" cy="0"/>
          </a:xfrm>
          <a:prstGeom prst="straightConnector1">
            <a:avLst/>
          </a:prstGeom>
          <a:noFill/>
          <a:ln cap="flat" cmpd="sng" w="19050">
            <a:solidFill>
              <a:srgbClr val="F27BD8"/>
            </a:solidFill>
            <a:prstDash val="solid"/>
            <a:round/>
            <a:headEnd len="sm" w="sm" type="none"/>
            <a:tailEnd len="sm" w="sm" type="none"/>
          </a:ln>
        </p:spPr>
      </p:cxnSp>
      <p:sp>
        <p:nvSpPr>
          <p:cNvPr id="58" name="Google Shape;58;p8"/>
          <p:cNvSpPr/>
          <p:nvPr/>
        </p:nvSpPr>
        <p:spPr>
          <a:xfrm>
            <a:off x="8128000" y="1859805"/>
            <a:ext cx="3453300" cy="2388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BF6FD"/>
              </a:buClr>
              <a:buSzPts val="1400"/>
              <a:buFont typeface="Inter"/>
              <a:buNone/>
            </a:pPr>
            <a:r>
              <a:rPr b="1" i="0" lang="en-US" u="none" cap="none" strike="noStrike">
                <a:solidFill>
                  <a:srgbClr val="FBF6FD"/>
                </a:solidFill>
              </a:rPr>
              <a:t>Что получит бизнес</a:t>
            </a:r>
            <a:endParaRPr i="0" u="none" cap="none" strike="noStrike">
              <a:solidFill>
                <a:schemeClr val="dk1"/>
              </a:solidFill>
            </a:endParaRPr>
          </a:p>
        </p:txBody>
      </p:sp>
      <p:sp>
        <p:nvSpPr>
          <p:cNvPr id="59" name="Google Shape;59;p8"/>
          <p:cNvSpPr/>
          <p:nvPr/>
        </p:nvSpPr>
        <p:spPr>
          <a:xfrm>
            <a:off x="8240800" y="2229893"/>
            <a:ext cx="3340500" cy="3106500"/>
          </a:xfrm>
          <a:prstGeom prst="rect">
            <a:avLst/>
          </a:prstGeom>
          <a:noFill/>
          <a:ln>
            <a:noFill/>
          </a:ln>
        </p:spPr>
        <p:txBody>
          <a:bodyPr anchorCtr="0" anchor="t" bIns="0" lIns="0" spcFirstLastPara="1" rIns="0" wrap="square" tIns="0">
            <a:noAutofit/>
          </a:bodyPr>
          <a:lstStyle/>
          <a:p>
            <a:pPr indent="-161544" lvl="0" marL="148844" marR="0" rtl="0" algn="l">
              <a:lnSpc>
                <a:spcPct val="140000"/>
              </a:lnSpc>
              <a:spcBef>
                <a:spcPts val="0"/>
              </a:spcBef>
              <a:spcAft>
                <a:spcPts val="0"/>
              </a:spcAft>
              <a:buClr>
                <a:srgbClr val="DCCCE8"/>
              </a:buClr>
              <a:buSzPts val="1400"/>
              <a:buChar char="•"/>
            </a:pPr>
            <a:r>
              <a:rPr i="0" lang="en-US" u="none" cap="none" strike="noStrike">
                <a:solidFill>
                  <a:srgbClr val="DCCCE8"/>
                </a:solidFill>
              </a:rPr>
              <a:t>Конверсия: меньше брошенных поисков</a:t>
            </a:r>
            <a:endParaRPr i="0" u="none" cap="none" strike="noStrike">
              <a:solidFill>
                <a:schemeClr val="dk1"/>
              </a:solidFill>
            </a:endParaRPr>
          </a:p>
          <a:p>
            <a:pPr indent="-161544" lvl="0" marL="148844" marR="0" rtl="0" algn="l">
              <a:lnSpc>
                <a:spcPct val="140000"/>
              </a:lnSpc>
              <a:spcBef>
                <a:spcPts val="0"/>
              </a:spcBef>
              <a:spcAft>
                <a:spcPts val="0"/>
              </a:spcAft>
              <a:buClr>
                <a:srgbClr val="DCCCE8"/>
              </a:buClr>
              <a:buSzPts val="1400"/>
              <a:buChar char="•"/>
            </a:pPr>
            <a:r>
              <a:rPr i="0" lang="en-US" u="none" cap="none" strike="noStrike">
                <a:solidFill>
                  <a:srgbClr val="DCCCE8"/>
                </a:solidFill>
              </a:rPr>
              <a:t>Средний чек: подборки под задачу, а не под запрос</a:t>
            </a:r>
            <a:endParaRPr i="0" u="none" cap="none" strike="noStrike">
              <a:solidFill>
                <a:schemeClr val="dk1"/>
              </a:solidFill>
            </a:endParaRPr>
          </a:p>
          <a:p>
            <a:pPr indent="-161544" lvl="0" marL="148844" marR="0" rtl="0" algn="l">
              <a:lnSpc>
                <a:spcPct val="140000"/>
              </a:lnSpc>
              <a:spcBef>
                <a:spcPts val="0"/>
              </a:spcBef>
              <a:spcAft>
                <a:spcPts val="0"/>
              </a:spcAft>
              <a:buClr>
                <a:srgbClr val="DCCCE8"/>
              </a:buClr>
              <a:buSzPts val="1400"/>
              <a:buChar char="•"/>
            </a:pPr>
            <a:r>
              <a:rPr i="0" lang="en-US" u="none" cap="none" strike="noStrike">
                <a:solidFill>
                  <a:srgbClr val="DCCCE8"/>
                </a:solidFill>
              </a:rPr>
              <a:t>Возвраты: подсказка по размеру в одежде и обуви</a:t>
            </a:r>
            <a:endParaRPr i="0" u="none" cap="none" strike="noStrike">
              <a:solidFill>
                <a:schemeClr val="dk1"/>
              </a:solidFill>
            </a:endParaRPr>
          </a:p>
          <a:p>
            <a:pPr indent="-161544" lvl="0" marL="148844" marR="0" rtl="0" algn="l">
              <a:lnSpc>
                <a:spcPct val="140000"/>
              </a:lnSpc>
              <a:spcBef>
                <a:spcPts val="0"/>
              </a:spcBef>
              <a:spcAft>
                <a:spcPts val="0"/>
              </a:spcAft>
              <a:buClr>
                <a:srgbClr val="DCCCE8"/>
              </a:buClr>
              <a:buSzPts val="1400"/>
              <a:buChar char="•"/>
            </a:pPr>
            <a:r>
              <a:rPr i="0" lang="en-US" u="none" cap="none" strike="noStrike">
                <a:solidFill>
                  <a:srgbClr val="DCCCE8"/>
                </a:solidFill>
              </a:rPr>
              <a:t>Удержание: ассистент помнит размеры и бюджет</a:t>
            </a:r>
            <a:endParaRPr i="0" u="none" cap="none" strike="noStrike">
              <a:solidFill>
                <a:schemeClr val="dk1"/>
              </a:solidFill>
            </a:endParaRPr>
          </a:p>
          <a:p>
            <a:pPr indent="-161544" lvl="0" marL="148844" marR="0" rtl="0" algn="l">
              <a:lnSpc>
                <a:spcPct val="140000"/>
              </a:lnSpc>
              <a:spcBef>
                <a:spcPts val="0"/>
              </a:spcBef>
              <a:spcAft>
                <a:spcPts val="0"/>
              </a:spcAft>
              <a:buClr>
                <a:srgbClr val="DCCCE8"/>
              </a:buClr>
              <a:buSzPts val="1400"/>
              <a:buChar char="•"/>
            </a:pPr>
            <a:r>
              <a:rPr i="0" lang="en-US" u="none" cap="none" strike="noStrike">
                <a:solidFill>
                  <a:srgbClr val="DCCCE8"/>
                </a:solidFill>
              </a:rPr>
              <a:t>Новый доход: спонсорские рекомендации и рассрочка WB Банка</a:t>
            </a:r>
            <a:endParaRPr i="0" u="none" cap="none" strike="noStrike">
              <a:solidFill>
                <a:schemeClr val="dk1"/>
              </a:solidFill>
            </a:endParaRPr>
          </a:p>
        </p:txBody>
      </p:sp>
      <p:cxnSp>
        <p:nvCxnSpPr>
          <p:cNvPr id="60" name="Google Shape;60;p8"/>
          <p:cNvCxnSpPr/>
          <p:nvPr/>
        </p:nvCxnSpPr>
        <p:spPr>
          <a:xfrm>
            <a:off x="656650" y="5255863"/>
            <a:ext cx="10769700" cy="0"/>
          </a:xfrm>
          <a:prstGeom prst="straightConnector1">
            <a:avLst/>
          </a:prstGeom>
          <a:noFill/>
          <a:ln cap="flat" cmpd="sng" w="9525">
            <a:solidFill>
              <a:srgbClr val="57376F"/>
            </a:solidFill>
            <a:prstDash val="solid"/>
            <a:round/>
            <a:headEnd len="sm" w="sm" type="none"/>
            <a:tailEnd len="sm" w="sm" type="none"/>
          </a:ln>
        </p:spPr>
      </p:cxnSp>
      <p:sp>
        <p:nvSpPr>
          <p:cNvPr id="61" name="Google Shape;61;p8"/>
          <p:cNvSpPr/>
          <p:nvPr/>
        </p:nvSpPr>
        <p:spPr>
          <a:xfrm>
            <a:off x="711200" y="5467668"/>
            <a:ext cx="11092688" cy="481012"/>
          </a:xfrm>
          <a:prstGeom prst="rect">
            <a:avLst/>
          </a:prstGeom>
          <a:noFill/>
          <a:ln>
            <a:noFill/>
          </a:ln>
        </p:spPr>
        <p:txBody>
          <a:bodyPr anchorCtr="0" anchor="t" bIns="0" lIns="0" spcFirstLastPara="1" rIns="0" wrap="square" tIns="0">
            <a:noAutofit/>
          </a:bodyPr>
          <a:lstStyle/>
          <a:p>
            <a:pPr indent="0" lvl="0" marL="0" marR="0" rtl="0" algn="l">
              <a:lnSpc>
                <a:spcPct val="138000"/>
              </a:lnSpc>
              <a:spcBef>
                <a:spcPts val="0"/>
              </a:spcBef>
              <a:spcAft>
                <a:spcPts val="0"/>
              </a:spcAft>
              <a:buClr>
                <a:srgbClr val="F3ECF7"/>
              </a:buClr>
              <a:buSzPts val="1300"/>
              <a:buFont typeface="Inter"/>
              <a:buNone/>
            </a:pPr>
            <a:r>
              <a:rPr b="1" i="0" lang="en-US" sz="1300" u="none" cap="none" strike="noStrike">
                <a:solidFill>
                  <a:srgbClr val="F3ECF7"/>
                </a:solidFill>
                <a:latin typeface="Inter"/>
                <a:ea typeface="Inter"/>
                <a:cs typeface="Inter"/>
                <a:sym typeface="Inter"/>
              </a:rPr>
              <a:t>Первый шаг.</a:t>
            </a:r>
            <a:r>
              <a:rPr b="0" i="0" lang="en-US" sz="1300" u="none" cap="none" strike="noStrike">
                <a:solidFill>
                  <a:srgbClr val="F3ECF7"/>
                </a:solidFill>
                <a:latin typeface="Inter"/>
                <a:ea typeface="Inter"/>
                <a:cs typeface="Inter"/>
                <a:sym typeface="Inter"/>
              </a:rPr>
              <a:t> Полгода пилота в тр</a:t>
            </a:r>
            <a:r>
              <a:rPr lang="en-US" sz="1300">
                <a:solidFill>
                  <a:srgbClr val="F3ECF7"/>
                </a:solidFill>
                <a:latin typeface="Inter"/>
                <a:ea typeface="Inter"/>
                <a:cs typeface="Inter"/>
                <a:sym typeface="Inter"/>
              </a:rPr>
              <a:t>е</a:t>
            </a:r>
            <a:r>
              <a:rPr b="0" i="0" lang="en-US" sz="1300" u="none" cap="none" strike="noStrike">
                <a:solidFill>
                  <a:srgbClr val="F3ECF7"/>
                </a:solidFill>
                <a:latin typeface="Inter"/>
                <a:ea typeface="Inter"/>
                <a:cs typeface="Inter"/>
                <a:sym typeface="Inter"/>
              </a:rPr>
              <a:t>х категориях: детские товары, одежда, электроника. A/B-тест на 5–10% аудитории, без рекламы внутри ассистента. Смотрим на одно число: GMV без возвратов на покупателя после разговора с ассистентом.</a:t>
            </a:r>
            <a:endParaRPr b="0" i="0" sz="1300" u="none" cap="none" strike="noStrike">
              <a:solidFill>
                <a:schemeClr val="dk1"/>
              </a:solidFill>
              <a:latin typeface="Inter"/>
              <a:ea typeface="Inter"/>
              <a:cs typeface="Inter"/>
              <a:sym typeface="Inter"/>
            </a:endParaRPr>
          </a:p>
        </p:txBody>
      </p:sp>
      <p:sp>
        <p:nvSpPr>
          <p:cNvPr id="62" name="Google Shape;62;p8"/>
          <p:cNvSpPr/>
          <p:nvPr/>
        </p:nvSpPr>
        <p:spPr>
          <a:xfrm>
            <a:off x="711200" y="6160480"/>
            <a:ext cx="11092800" cy="452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BA6CC"/>
              </a:buClr>
              <a:buSzPts val="1200"/>
              <a:buFont typeface="Inter"/>
              <a:buNone/>
            </a:pPr>
            <a:r>
              <a:rPr lang="en-US" sz="1200">
                <a:solidFill>
                  <a:schemeClr val="lt1"/>
                </a:solidFill>
                <a:latin typeface="Inter"/>
                <a:ea typeface="Inter"/>
                <a:cs typeface="Inter"/>
                <a:sym typeface="Inter"/>
              </a:rPr>
              <a:t>- </a:t>
            </a:r>
            <a:r>
              <a:rPr b="0" i="0" lang="en-US" sz="1200" u="sng" cap="none" strike="noStrike">
                <a:solidFill>
                  <a:schemeClr val="lt1"/>
                </a:solidFill>
                <a:latin typeface="Inter"/>
                <a:ea typeface="Inter"/>
                <a:cs typeface="Inter"/>
                <a:sym typeface="Inter"/>
                <a:hlinkClick r:id="rId3">
                  <a:extLst>
                    <a:ext uri="{A12FA001-AC4F-418D-AE19-62706E023703}">
                      <ahyp:hlinkClr val="tx"/>
                    </a:ext>
                  </a:extLst>
                </a:hlinkClick>
              </a:rPr>
              <a:t>3DNews, 25.06.2026</a:t>
            </a:r>
            <a:r>
              <a:rPr b="0" i="0" lang="en-US" sz="1200" u="none" cap="none" strike="noStrike">
                <a:solidFill>
                  <a:schemeClr val="lt1"/>
                </a:solidFill>
                <a:latin typeface="Inter"/>
                <a:ea typeface="Inter"/>
                <a:cs typeface="Inter"/>
                <a:sym typeface="Inter"/>
              </a:rPr>
              <a:t> </a:t>
            </a:r>
            <a:r>
              <a:rPr lang="en-US" sz="1200">
                <a:solidFill>
                  <a:schemeClr val="lt1"/>
                </a:solidFill>
                <a:latin typeface="Inter"/>
                <a:ea typeface="Inter"/>
                <a:cs typeface="Inter"/>
                <a:sym typeface="Inter"/>
              </a:rPr>
              <a:t>-</a:t>
            </a:r>
            <a:r>
              <a:rPr b="0" i="0" lang="en-US" sz="1200" u="none" cap="none" strike="noStrike">
                <a:solidFill>
                  <a:schemeClr val="lt1"/>
                </a:solidFill>
                <a:latin typeface="Inter"/>
                <a:ea typeface="Inter"/>
                <a:cs typeface="Inter"/>
                <a:sym typeface="Inter"/>
              </a:rPr>
              <a:t> </a:t>
            </a:r>
            <a:r>
              <a:rPr b="0" i="0" lang="en-US" sz="1200" u="sng" cap="none" strike="noStrike">
                <a:solidFill>
                  <a:schemeClr val="lt1"/>
                </a:solidFill>
                <a:latin typeface="Inter"/>
                <a:ea typeface="Inter"/>
                <a:cs typeface="Inter"/>
                <a:sym typeface="Inter"/>
                <a:hlinkClick r:id="rId4">
                  <a:extLst>
                    <a:ext uri="{A12FA001-AC4F-418D-AE19-62706E023703}">
                      <ahyp:hlinkClr val="tx"/>
                    </a:ext>
                  </a:extLst>
                </a:hlinkClick>
              </a:rPr>
              <a:t>SelSup по данным Data Insight</a:t>
            </a:r>
            <a:r>
              <a:rPr b="0" i="0" lang="en-US" sz="1200" u="none" cap="none" strike="noStrike">
                <a:solidFill>
                  <a:schemeClr val="lt1"/>
                </a:solidFill>
                <a:latin typeface="Inter"/>
                <a:ea typeface="Inter"/>
                <a:cs typeface="Inter"/>
                <a:sym typeface="Inter"/>
              </a:rPr>
              <a:t> </a:t>
            </a:r>
            <a:r>
              <a:rPr lang="en-US" sz="1200">
                <a:solidFill>
                  <a:schemeClr val="lt1"/>
                </a:solidFill>
                <a:latin typeface="Inter"/>
                <a:ea typeface="Inter"/>
                <a:cs typeface="Inter"/>
                <a:sym typeface="Inter"/>
              </a:rPr>
              <a:t>-</a:t>
            </a:r>
            <a:r>
              <a:rPr b="0" i="0" lang="en-US" sz="1200" u="none" cap="none" strike="noStrike">
                <a:solidFill>
                  <a:schemeClr val="lt1"/>
                </a:solidFill>
                <a:latin typeface="Inter"/>
                <a:ea typeface="Inter"/>
                <a:cs typeface="Inter"/>
                <a:sym typeface="Inter"/>
              </a:rPr>
              <a:t> </a:t>
            </a:r>
            <a:r>
              <a:rPr b="0" i="0" lang="en-US" sz="1200" u="sng" cap="none" strike="noStrike">
                <a:solidFill>
                  <a:schemeClr val="lt1"/>
                </a:solidFill>
                <a:latin typeface="Inter"/>
                <a:ea typeface="Inter"/>
                <a:cs typeface="Inter"/>
                <a:sym typeface="Inter"/>
                <a:hlinkClick r:id="rId5">
                  <a:extLst>
                    <a:ext uri="{A12FA001-AC4F-418D-AE19-62706E023703}">
                      <ahyp:hlinkClr val="tx"/>
                    </a:ext>
                  </a:extLst>
                </a:hlinkClick>
              </a:rPr>
              <a:t>Коммерсантъ, 27.04.2026</a:t>
            </a:r>
            <a:r>
              <a:rPr b="0" i="0" lang="en-US" sz="1200" u="none" cap="none" strike="noStrike">
                <a:solidFill>
                  <a:schemeClr val="lt1"/>
                </a:solidFill>
                <a:latin typeface="Inter"/>
                <a:ea typeface="Inter"/>
                <a:cs typeface="Inter"/>
                <a:sym typeface="Inter"/>
              </a:rPr>
              <a:t> </a:t>
            </a:r>
            <a:r>
              <a:rPr lang="en-US" sz="1200">
                <a:solidFill>
                  <a:schemeClr val="lt1"/>
                </a:solidFill>
                <a:latin typeface="Inter"/>
                <a:ea typeface="Inter"/>
                <a:cs typeface="Inter"/>
                <a:sym typeface="Inter"/>
              </a:rPr>
              <a:t>-</a:t>
            </a:r>
            <a:r>
              <a:rPr b="0" i="0" lang="en-US" sz="1200" u="none" cap="none" strike="noStrike">
                <a:solidFill>
                  <a:schemeClr val="lt1"/>
                </a:solidFill>
                <a:latin typeface="Inter"/>
                <a:ea typeface="Inter"/>
                <a:cs typeface="Inter"/>
                <a:sym typeface="Inter"/>
              </a:rPr>
              <a:t> </a:t>
            </a:r>
            <a:r>
              <a:rPr b="0" i="0" lang="en-US" sz="1200" u="sng" cap="none" strike="noStrike">
                <a:solidFill>
                  <a:schemeClr val="lt1"/>
                </a:solidFill>
                <a:latin typeface="Inter"/>
                <a:ea typeface="Inter"/>
                <a:cs typeface="Inter"/>
                <a:sym typeface="Inter"/>
                <a:hlinkClick r:id="rId6">
                  <a:extLst>
                    <a:ext uri="{A12FA001-AC4F-418D-AE19-62706E023703}">
                      <ahyp:hlinkClr val="tx"/>
                    </a:ext>
                  </a:extLst>
                </a:hlinkClick>
              </a:rPr>
              <a:t>СберБизнес Live, 07.2026</a:t>
            </a:r>
            <a:r>
              <a:rPr b="0" i="0" lang="en-US" sz="1200" u="none" cap="none" strike="noStrike">
                <a:solidFill>
                  <a:schemeClr val="lt1"/>
                </a:solidFill>
                <a:latin typeface="Inter"/>
                <a:ea typeface="Inter"/>
                <a:cs typeface="Inter"/>
                <a:sym typeface="Inter"/>
              </a:rPr>
              <a:t> </a:t>
            </a:r>
            <a:r>
              <a:rPr lang="en-US" sz="1200">
                <a:solidFill>
                  <a:schemeClr val="lt1"/>
                </a:solidFill>
                <a:latin typeface="Inter"/>
                <a:ea typeface="Inter"/>
                <a:cs typeface="Inter"/>
                <a:sym typeface="Inter"/>
              </a:rPr>
              <a:t>-</a:t>
            </a:r>
            <a:r>
              <a:rPr b="0" i="0" lang="en-US" sz="1200" u="none" cap="none" strike="noStrike">
                <a:solidFill>
                  <a:schemeClr val="lt1"/>
                </a:solidFill>
                <a:latin typeface="Inter"/>
                <a:ea typeface="Inter"/>
                <a:cs typeface="Inter"/>
                <a:sym typeface="Inter"/>
              </a:rPr>
              <a:t> </a:t>
            </a:r>
            <a:r>
              <a:rPr b="0" i="0" lang="en-US" sz="1200" u="sng" cap="none" strike="noStrike">
                <a:solidFill>
                  <a:schemeClr val="lt1"/>
                </a:solidFill>
                <a:latin typeface="Inter"/>
                <a:ea typeface="Inter"/>
                <a:cs typeface="Inter"/>
                <a:sym typeface="Inter"/>
                <a:hlinkClick r:id="rId7">
                  <a:extLst>
                    <a:ext uri="{A12FA001-AC4F-418D-AE19-62706E023703}">
                      <ahyp:hlinkClr val="tx"/>
                    </a:ext>
                  </a:extLst>
                </a:hlinkClick>
              </a:rPr>
              <a:t>Профиль по Ведомостям, 18.07.2026</a:t>
            </a:r>
            <a:r>
              <a:rPr b="0" i="0" lang="en-US" sz="1200" u="none" cap="none" strike="noStrike">
                <a:solidFill>
                  <a:schemeClr val="lt1"/>
                </a:solidFill>
                <a:latin typeface="Inter"/>
                <a:ea typeface="Inter"/>
                <a:cs typeface="Inter"/>
                <a:sym typeface="Inter"/>
              </a:rPr>
              <a:t> </a:t>
            </a:r>
            <a:r>
              <a:rPr lang="en-US" sz="1200">
                <a:solidFill>
                  <a:schemeClr val="lt1"/>
                </a:solidFill>
                <a:latin typeface="Inter"/>
                <a:ea typeface="Inter"/>
                <a:cs typeface="Inter"/>
                <a:sym typeface="Inter"/>
              </a:rPr>
              <a:t>-</a:t>
            </a:r>
            <a:r>
              <a:rPr b="0" i="0" lang="en-US" sz="1200" u="none" cap="none" strike="noStrike">
                <a:solidFill>
                  <a:schemeClr val="lt1"/>
                </a:solidFill>
                <a:latin typeface="Inter"/>
                <a:ea typeface="Inter"/>
                <a:cs typeface="Inter"/>
                <a:sym typeface="Inter"/>
              </a:rPr>
              <a:t> </a:t>
            </a:r>
            <a:r>
              <a:rPr b="0" i="0" lang="en-US" sz="1200" u="sng" cap="none" strike="noStrike">
                <a:solidFill>
                  <a:schemeClr val="lt1"/>
                </a:solidFill>
                <a:latin typeface="Inter"/>
                <a:ea typeface="Inter"/>
                <a:cs typeface="Inter"/>
                <a:sym typeface="Inter"/>
                <a:hlinkClick r:id="rId8">
                  <a:extLst>
                    <a:ext uri="{A12FA001-AC4F-418D-AE19-62706E023703}">
                      <ahyp:hlinkClr val="tx"/>
                    </a:ext>
                  </a:extLst>
                </a:hlinkClick>
              </a:rPr>
              <a:t>Uniseller, экспресс-доставка, 2026</a:t>
            </a:r>
            <a:r>
              <a:rPr b="0" i="0" lang="en-US" sz="1200" u="none" cap="none" strike="noStrike">
                <a:solidFill>
                  <a:schemeClr val="lt1"/>
                </a:solidFill>
                <a:latin typeface="Inter"/>
                <a:ea typeface="Inter"/>
                <a:cs typeface="Inter"/>
                <a:sym typeface="Inter"/>
              </a:rPr>
              <a:t> </a:t>
            </a:r>
            <a:r>
              <a:rPr lang="en-US" sz="1200">
                <a:solidFill>
                  <a:schemeClr val="lt1"/>
                </a:solidFill>
                <a:latin typeface="Inter"/>
                <a:ea typeface="Inter"/>
                <a:cs typeface="Inter"/>
                <a:sym typeface="Inter"/>
              </a:rPr>
              <a:t>-</a:t>
            </a:r>
            <a:r>
              <a:rPr b="0" i="0" lang="en-US" sz="1200" u="none" cap="none" strike="noStrike">
                <a:solidFill>
                  <a:schemeClr val="lt1"/>
                </a:solidFill>
                <a:latin typeface="Inter"/>
                <a:ea typeface="Inter"/>
                <a:cs typeface="Inter"/>
                <a:sym typeface="Inter"/>
              </a:rPr>
              <a:t> </a:t>
            </a:r>
            <a:r>
              <a:rPr b="0" i="0" lang="en-US" sz="1200" u="sng" cap="none" strike="noStrike">
                <a:solidFill>
                  <a:schemeClr val="lt1"/>
                </a:solidFill>
                <a:latin typeface="Inter"/>
                <a:ea typeface="Inter"/>
                <a:cs typeface="Inter"/>
                <a:sym typeface="Inter"/>
                <a:hlinkClick r:id="rId9">
                  <a:extLst>
                    <a:ext uri="{A12FA001-AC4F-418D-AE19-62706E023703}">
                      <ahyp:hlinkClr val="tx"/>
                    </a:ext>
                  </a:extLst>
                </a:hlinkClick>
              </a:rPr>
              <a:t>Hi-Tech Mail</a:t>
            </a:r>
            <a:r>
              <a:rPr b="0" i="0" lang="en-US" sz="1200" u="none" cap="none" strike="noStrike">
                <a:solidFill>
                  <a:schemeClr val="lt1"/>
                </a:solidFill>
                <a:latin typeface="Inter"/>
                <a:ea typeface="Inter"/>
                <a:cs typeface="Inter"/>
                <a:sym typeface="Inter"/>
              </a:rPr>
              <a:t> </a:t>
            </a:r>
            <a:r>
              <a:rPr lang="en-US" sz="1200">
                <a:solidFill>
                  <a:schemeClr val="lt1"/>
                </a:solidFill>
                <a:latin typeface="Inter"/>
                <a:ea typeface="Inter"/>
                <a:cs typeface="Inter"/>
                <a:sym typeface="Inter"/>
              </a:rPr>
              <a:t>-</a:t>
            </a:r>
            <a:r>
              <a:rPr b="0" i="0" lang="en-US" sz="1200" u="none" cap="none" strike="noStrike">
                <a:solidFill>
                  <a:schemeClr val="lt1"/>
                </a:solidFill>
                <a:latin typeface="Inter"/>
                <a:ea typeface="Inter"/>
                <a:cs typeface="Inter"/>
                <a:sym typeface="Inter"/>
              </a:rPr>
              <a:t> </a:t>
            </a:r>
            <a:r>
              <a:rPr b="0" i="0" lang="en-US" sz="1200" u="sng" cap="none" strike="noStrike">
                <a:solidFill>
                  <a:schemeClr val="lt1"/>
                </a:solidFill>
                <a:latin typeface="Inter"/>
                <a:ea typeface="Inter"/>
                <a:cs typeface="Inter"/>
                <a:sym typeface="Inter"/>
                <a:hlinkClick r:id="rId10">
                  <a:extLst>
                    <a:ext uri="{A12FA001-AC4F-418D-AE19-62706E023703}">
                      <ahyp:hlinkClr val="tx"/>
                    </a:ext>
                  </a:extLst>
                </a:hlinkClick>
              </a:rPr>
              <a:t>Inc. Russia</a:t>
            </a:r>
            <a:endParaRPr b="0" i="0" sz="1200" u="none" cap="none" strike="noStrike">
              <a:solidFill>
                <a:schemeClr val="lt1"/>
              </a:solidFill>
              <a:latin typeface="Inter"/>
              <a:ea typeface="Inter"/>
              <a:cs typeface="Inter"/>
              <a:sym typeface="Inte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F9"/>
        </a:solidFill>
      </p:bgPr>
    </p:bg>
    <p:spTree>
      <p:nvGrpSpPr>
        <p:cNvPr id="67" name="Shape 67"/>
        <p:cNvGrpSpPr/>
        <p:nvPr/>
      </p:nvGrpSpPr>
      <p:grpSpPr>
        <a:xfrm>
          <a:off x="0" y="0"/>
          <a:ext cx="0" cy="0"/>
          <a:chOff x="0" y="0"/>
          <a:chExt cx="0" cy="0"/>
        </a:xfrm>
      </p:grpSpPr>
      <p:sp>
        <p:nvSpPr>
          <p:cNvPr id="68" name="Google Shape;68;p9"/>
          <p:cNvSpPr txBox="1"/>
          <p:nvPr>
            <p:ph type="title"/>
          </p:nvPr>
        </p:nvSpPr>
        <p:spPr>
          <a:xfrm>
            <a:off x="711200" y="797560"/>
            <a:ext cx="10769700" cy="711300"/>
          </a:xfrm>
          <a:prstGeom prst="rect">
            <a:avLst/>
          </a:prstGeom>
          <a:noFill/>
          <a:ln>
            <a:noFill/>
          </a:ln>
        </p:spPr>
        <p:txBody>
          <a:bodyPr anchorCtr="0" anchor="t" bIns="0" lIns="0" spcFirstLastPara="1" rIns="0" wrap="square" tIns="0">
            <a:noAutofit/>
          </a:bodyPr>
          <a:lstStyle/>
          <a:p>
            <a:pPr indent="0" lvl="0" marL="0" rtl="0" algn="l">
              <a:lnSpc>
                <a:spcPct val="112000"/>
              </a:lnSpc>
              <a:spcBef>
                <a:spcPts val="0"/>
              </a:spcBef>
              <a:spcAft>
                <a:spcPts val="0"/>
              </a:spcAft>
              <a:buClr>
                <a:srgbClr val="000000"/>
              </a:buClr>
              <a:buFont typeface="Arial"/>
              <a:buNone/>
            </a:pPr>
            <a:r>
              <a:rPr b="1" lang="en-US" sz="2300">
                <a:solidFill>
                  <a:schemeClr val="accent3"/>
                </a:solidFill>
                <a:latin typeface="Arial"/>
                <a:ea typeface="Arial"/>
                <a:cs typeface="Arial"/>
                <a:sym typeface="Arial"/>
              </a:rPr>
              <a:t>Каждая из альтернатив сильна, но упирается в санкции, склады или слишком долгую отдачу</a:t>
            </a:r>
            <a:endParaRPr/>
          </a:p>
        </p:txBody>
      </p:sp>
      <p:sp>
        <p:nvSpPr>
          <p:cNvPr id="69" name="Google Shape;69;p9"/>
          <p:cNvSpPr txBox="1"/>
          <p:nvPr/>
        </p:nvSpPr>
        <p:spPr>
          <a:xfrm>
            <a:off x="711200" y="406400"/>
            <a:ext cx="6350100" cy="2412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None/>
            </a:pPr>
            <a:r>
              <a:rPr b="1" i="0" lang="en-US" spc="0" sz="1200" u="none" cap="none" strike="noStrike">
                <a:solidFill>
                  <a:srgbClr val="A80E8E"/>
                </a:solidFill>
                <a:latin typeface="Arial"/>
                <a:ea typeface="Arial"/>
                <a:cs typeface="Arial"/>
                <a:sym typeface="Arial"/>
              </a:rPr>
              <a:t>Анализ · отвергнутые альтернативы</a:t>
            </a:r>
            <a:endParaRPr/>
          </a:p>
        </p:txBody>
      </p:sp>
      <p:sp>
        <p:nvSpPr>
          <p:cNvPr id="70" name="Google Shape;70;p9"/>
          <p:cNvSpPr txBox="1"/>
          <p:nvPr/>
        </p:nvSpPr>
        <p:spPr>
          <a:xfrm>
            <a:off x="711200" y="1651000"/>
            <a:ext cx="1714500" cy="2031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1" i="0" lang="en-US" spc="0" sz="1100" u="none" cap="none" strike="noStrike">
                <a:solidFill>
                  <a:srgbClr val="6E5E7D"/>
                </a:solidFill>
                <a:latin typeface="Arial"/>
                <a:ea typeface="Arial"/>
                <a:cs typeface="Arial"/>
                <a:sym typeface="Arial"/>
              </a:rPr>
              <a:t>Ставка</a:t>
            </a:r>
            <a:endParaRPr/>
          </a:p>
        </p:txBody>
      </p:sp>
      <p:sp>
        <p:nvSpPr>
          <p:cNvPr id="71" name="Google Shape;71;p9"/>
          <p:cNvSpPr txBox="1"/>
          <p:nvPr/>
        </p:nvSpPr>
        <p:spPr>
          <a:xfrm>
            <a:off x="2552700" y="1651000"/>
            <a:ext cx="3022500" cy="2031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1" i="0" lang="en-US" spc="0" sz="1100" u="none" cap="none" strike="noStrike">
                <a:solidFill>
                  <a:srgbClr val="6E5E7D"/>
                </a:solidFill>
                <a:latin typeface="Arial"/>
                <a:ea typeface="Arial"/>
                <a:cs typeface="Arial"/>
                <a:sym typeface="Arial"/>
              </a:rPr>
              <a:t>Чем привлекательна</a:t>
            </a:r>
            <a:endParaRPr/>
          </a:p>
        </p:txBody>
      </p:sp>
      <p:sp>
        <p:nvSpPr>
          <p:cNvPr id="72" name="Google Shape;72;p9"/>
          <p:cNvSpPr txBox="1"/>
          <p:nvPr/>
        </p:nvSpPr>
        <p:spPr>
          <a:xfrm>
            <a:off x="5727700" y="1651000"/>
            <a:ext cx="3555900" cy="2031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1" i="0" lang="en-US" spc="0" sz="1100" u="none" cap="none" strike="noStrike">
                <a:solidFill>
                  <a:srgbClr val="6E5E7D"/>
                </a:solidFill>
                <a:latin typeface="Arial"/>
                <a:ea typeface="Arial"/>
                <a:cs typeface="Arial"/>
                <a:sym typeface="Arial"/>
              </a:rPr>
              <a:t>Почему не выбираем сейчас</a:t>
            </a:r>
            <a:endParaRPr/>
          </a:p>
        </p:txBody>
      </p:sp>
      <p:sp>
        <p:nvSpPr>
          <p:cNvPr id="73" name="Google Shape;73;p9"/>
          <p:cNvSpPr txBox="1"/>
          <p:nvPr/>
        </p:nvSpPr>
        <p:spPr>
          <a:xfrm>
            <a:off x="9334500" y="1651000"/>
            <a:ext cx="558900" cy="203100"/>
          </a:xfrm>
          <a:prstGeom prst="rect">
            <a:avLst/>
          </a:prstGeom>
          <a:noFill/>
          <a:ln>
            <a:noFill/>
          </a:ln>
        </p:spPr>
        <p:txBody>
          <a:bodyPr anchorCtr="0" anchor="t" bIns="0" lIns="0" spcFirstLastPara="1" rIns="0" wrap="square" tIns="0">
            <a:noAutofit/>
          </a:bodyPr>
          <a:lstStyle/>
          <a:p>
            <a:pPr indent="0" lvl="0" marL="0" marR="0" rtl="0" algn="ctr">
              <a:lnSpc>
                <a:spcPct val="110000"/>
              </a:lnSpc>
              <a:spcBef>
                <a:spcPts val="0"/>
              </a:spcBef>
              <a:spcAft>
                <a:spcPts val="0"/>
              </a:spcAft>
              <a:buNone/>
            </a:pPr>
            <a:r>
              <a:rPr b="1" i="0" lang="en-US" spc="0" sz="1000" u="none" cap="none" strike="noStrike">
                <a:solidFill>
                  <a:srgbClr val="6E5E7D"/>
                </a:solidFill>
                <a:latin typeface="Arial"/>
                <a:ea typeface="Arial"/>
                <a:cs typeface="Arial"/>
                <a:sym typeface="Arial"/>
              </a:rPr>
              <a:t>Цель</a:t>
            </a:r>
            <a:endParaRPr/>
          </a:p>
        </p:txBody>
      </p:sp>
      <p:sp>
        <p:nvSpPr>
          <p:cNvPr id="74" name="Google Shape;74;p9"/>
          <p:cNvSpPr txBox="1"/>
          <p:nvPr/>
        </p:nvSpPr>
        <p:spPr>
          <a:xfrm>
            <a:off x="9817100" y="1651000"/>
            <a:ext cx="558900" cy="203100"/>
          </a:xfrm>
          <a:prstGeom prst="rect">
            <a:avLst/>
          </a:prstGeom>
          <a:noFill/>
          <a:ln>
            <a:noFill/>
          </a:ln>
        </p:spPr>
        <p:txBody>
          <a:bodyPr anchorCtr="0" anchor="t" bIns="0" lIns="0" spcFirstLastPara="1" rIns="0" wrap="square" tIns="0">
            <a:noAutofit/>
          </a:bodyPr>
          <a:lstStyle/>
          <a:p>
            <a:pPr indent="0" lvl="0" marL="0" marR="0" rtl="0" algn="ctr">
              <a:lnSpc>
                <a:spcPct val="110000"/>
              </a:lnSpc>
              <a:spcBef>
                <a:spcPts val="0"/>
              </a:spcBef>
              <a:spcAft>
                <a:spcPts val="0"/>
              </a:spcAft>
              <a:buNone/>
            </a:pPr>
            <a:r>
              <a:rPr b="1" i="0" lang="en-US" spc="0" sz="1000" u="none" cap="none" strike="noStrike">
                <a:solidFill>
                  <a:srgbClr val="6E5E7D"/>
                </a:solidFill>
                <a:latin typeface="Arial"/>
                <a:ea typeface="Arial"/>
                <a:cs typeface="Arial"/>
                <a:sym typeface="Arial"/>
              </a:rPr>
              <a:t>Риски</a:t>
            </a:r>
            <a:endParaRPr/>
          </a:p>
        </p:txBody>
      </p:sp>
      <p:sp>
        <p:nvSpPr>
          <p:cNvPr id="75" name="Google Shape;75;p9"/>
          <p:cNvSpPr txBox="1"/>
          <p:nvPr/>
        </p:nvSpPr>
        <p:spPr>
          <a:xfrm>
            <a:off x="10299700" y="1651000"/>
            <a:ext cx="558900" cy="203100"/>
          </a:xfrm>
          <a:prstGeom prst="rect">
            <a:avLst/>
          </a:prstGeom>
          <a:noFill/>
          <a:ln>
            <a:noFill/>
          </a:ln>
        </p:spPr>
        <p:txBody>
          <a:bodyPr anchorCtr="0" anchor="t" bIns="0" lIns="0" spcFirstLastPara="1" rIns="0" wrap="square" tIns="0">
            <a:noAutofit/>
          </a:bodyPr>
          <a:lstStyle/>
          <a:p>
            <a:pPr indent="0" lvl="0" marL="0" marR="0" rtl="0" algn="ctr">
              <a:lnSpc>
                <a:spcPct val="110000"/>
              </a:lnSpc>
              <a:spcBef>
                <a:spcPts val="0"/>
              </a:spcBef>
              <a:spcAft>
                <a:spcPts val="0"/>
              </a:spcAft>
              <a:buNone/>
            </a:pPr>
            <a:r>
              <a:rPr b="1" i="0" lang="en-US" spc="0" sz="1000" u="none" cap="none" strike="noStrike">
                <a:solidFill>
                  <a:srgbClr val="6E5E7D"/>
                </a:solidFill>
                <a:latin typeface="Arial"/>
                <a:ea typeface="Arial"/>
                <a:cs typeface="Arial"/>
                <a:sym typeface="Arial"/>
              </a:rPr>
              <a:t>Отрыв</a:t>
            </a:r>
            <a:endParaRPr/>
          </a:p>
        </p:txBody>
      </p:sp>
      <p:sp>
        <p:nvSpPr>
          <p:cNvPr id="76" name="Google Shape;76;p9"/>
          <p:cNvSpPr txBox="1"/>
          <p:nvPr/>
        </p:nvSpPr>
        <p:spPr>
          <a:xfrm>
            <a:off x="10782300" y="1651000"/>
            <a:ext cx="558900" cy="203100"/>
          </a:xfrm>
          <a:prstGeom prst="rect">
            <a:avLst/>
          </a:prstGeom>
          <a:noFill/>
          <a:ln>
            <a:noFill/>
          </a:ln>
        </p:spPr>
        <p:txBody>
          <a:bodyPr anchorCtr="0" anchor="t" bIns="0" lIns="0" spcFirstLastPara="1" rIns="0" wrap="square" tIns="0">
            <a:noAutofit/>
          </a:bodyPr>
          <a:lstStyle/>
          <a:p>
            <a:pPr indent="0" lvl="0" marL="0" marR="0" rtl="0" algn="ctr">
              <a:lnSpc>
                <a:spcPct val="110000"/>
              </a:lnSpc>
              <a:spcBef>
                <a:spcPts val="0"/>
              </a:spcBef>
              <a:spcAft>
                <a:spcPts val="0"/>
              </a:spcAft>
              <a:buNone/>
            </a:pPr>
            <a:r>
              <a:rPr b="1" i="0" lang="en-US" spc="0" sz="1000" u="none" cap="none" strike="noStrike">
                <a:solidFill>
                  <a:srgbClr val="6E5E7D"/>
                </a:solidFill>
                <a:latin typeface="Arial"/>
                <a:ea typeface="Arial"/>
                <a:cs typeface="Arial"/>
                <a:sym typeface="Arial"/>
              </a:rPr>
              <a:t>2 года</a:t>
            </a:r>
            <a:endParaRPr/>
          </a:p>
        </p:txBody>
      </p:sp>
      <p:sp>
        <p:nvSpPr>
          <p:cNvPr id="77" name="Google Shape;77;p9"/>
          <p:cNvSpPr txBox="1"/>
          <p:nvPr/>
        </p:nvSpPr>
        <p:spPr>
          <a:xfrm>
            <a:off x="11341100" y="1651000"/>
            <a:ext cx="457200" cy="203100"/>
          </a:xfrm>
          <a:prstGeom prst="rect">
            <a:avLst/>
          </a:prstGeom>
          <a:noFill/>
          <a:ln>
            <a:noFill/>
          </a:ln>
        </p:spPr>
        <p:txBody>
          <a:bodyPr anchorCtr="0" anchor="t" bIns="0" lIns="0" spcFirstLastPara="1" rIns="0" wrap="square" tIns="0">
            <a:noAutofit/>
          </a:bodyPr>
          <a:lstStyle/>
          <a:p>
            <a:pPr indent="0" lvl="0" marL="0" marR="0" rtl="0" algn="r">
              <a:lnSpc>
                <a:spcPct val="110000"/>
              </a:lnSpc>
              <a:spcBef>
                <a:spcPts val="0"/>
              </a:spcBef>
              <a:spcAft>
                <a:spcPts val="0"/>
              </a:spcAft>
              <a:buNone/>
            </a:pPr>
            <a:r>
              <a:rPr b="1" i="0" lang="en-US" spc="0" sz="1000" u="none" cap="none" strike="noStrike">
                <a:solidFill>
                  <a:srgbClr val="6E5E7D"/>
                </a:solidFill>
                <a:latin typeface="Arial"/>
                <a:ea typeface="Arial"/>
                <a:cs typeface="Arial"/>
                <a:sym typeface="Arial"/>
              </a:rPr>
              <a:t>Итог</a:t>
            </a:r>
            <a:endParaRPr/>
          </a:p>
        </p:txBody>
      </p:sp>
      <p:cxnSp>
        <p:nvCxnSpPr>
          <p:cNvPr id="78" name="Google Shape;78;p9"/>
          <p:cNvCxnSpPr/>
          <p:nvPr/>
        </p:nvCxnSpPr>
        <p:spPr>
          <a:xfrm>
            <a:off x="711200" y="1905000"/>
            <a:ext cx="11087100" cy="0"/>
          </a:xfrm>
          <a:prstGeom prst="straightConnector1">
            <a:avLst/>
          </a:prstGeom>
          <a:noFill/>
          <a:ln cap="flat" cmpd="sng" w="9525">
            <a:solidFill>
              <a:srgbClr val="DDD0E6"/>
            </a:solidFill>
            <a:prstDash val="solid"/>
            <a:round/>
            <a:headEnd len="sm" w="sm" type="none"/>
            <a:tailEnd len="sm" w="sm" type="none"/>
          </a:ln>
        </p:spPr>
      </p:cxnSp>
      <p:sp>
        <p:nvSpPr>
          <p:cNvPr id="79" name="Google Shape;79;p9"/>
          <p:cNvSpPr txBox="1"/>
          <p:nvPr/>
        </p:nvSpPr>
        <p:spPr>
          <a:xfrm>
            <a:off x="711200" y="1981200"/>
            <a:ext cx="1714500" cy="7239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1" i="0" lang="en-US" spc="0" sz="1300" u="none" cap="none" strike="noStrike">
                <a:solidFill>
                  <a:srgbClr val="241036"/>
                </a:solidFill>
                <a:latin typeface="Arial"/>
                <a:ea typeface="Arial"/>
                <a:cs typeface="Arial"/>
                <a:sym typeface="Arial"/>
              </a:rPr>
              <a:t>Доставка за час</a:t>
            </a:r>
            <a:endParaRPr/>
          </a:p>
          <a:p>
            <a:pPr indent="0" lvl="0" marL="0" marR="0" rtl="0" algn="l">
              <a:lnSpc>
                <a:spcPct val="110000"/>
              </a:lnSpc>
              <a:spcBef>
                <a:spcPts val="200"/>
              </a:spcBef>
              <a:spcAft>
                <a:spcPts val="0"/>
              </a:spcAft>
              <a:buNone/>
            </a:pPr>
            <a:r>
              <a:rPr b="0" i="0" lang="en-US" spc="0" sz="1100" u="none" cap="none" strike="noStrike">
                <a:solidFill>
                  <a:srgbClr val="6E5E7D"/>
                </a:solidFill>
                <a:latin typeface="Arial"/>
                <a:ea typeface="Arial"/>
                <a:cs typeface="Arial"/>
                <a:sym typeface="Arial"/>
              </a:rPr>
              <a:t>экспресс из дарксторов</a:t>
            </a:r>
            <a:endParaRPr/>
          </a:p>
        </p:txBody>
      </p:sp>
      <p:sp>
        <p:nvSpPr>
          <p:cNvPr id="80" name="Google Shape;80;p9"/>
          <p:cNvSpPr txBox="1"/>
          <p:nvPr/>
        </p:nvSpPr>
        <p:spPr>
          <a:xfrm>
            <a:off x="2552700" y="1981200"/>
            <a:ext cx="3022500" cy="723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pc="0" sz="1200" u="none" cap="none" strike="noStrike">
                <a:solidFill>
                  <a:srgbClr val="3D2A4F"/>
                </a:solidFill>
                <a:latin typeface="Arial"/>
                <a:ea typeface="Arial"/>
                <a:cs typeface="Arial"/>
                <a:sym typeface="Arial"/>
              </a:rPr>
              <a:t>Скорость стала нормой. WB уже тестирует свой «Экспресс»: с февраля 2026 года хаб в Чертаново привозит 1,2 тыс. товаров за час.</a:t>
            </a:r>
            <a:endParaRPr/>
          </a:p>
        </p:txBody>
      </p:sp>
      <p:sp>
        <p:nvSpPr>
          <p:cNvPr id="81" name="Google Shape;81;p9"/>
          <p:cNvSpPr txBox="1"/>
          <p:nvPr/>
        </p:nvSpPr>
        <p:spPr>
          <a:xfrm>
            <a:off x="5727700" y="1981200"/>
            <a:ext cx="3555900" cy="723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pc="0" sz="1200" u="none" cap="none" strike="noStrike">
                <a:solidFill>
                  <a:srgbClr val="3D2A4F"/>
                </a:solidFill>
                <a:latin typeface="Arial"/>
                <a:ea typeface="Arial"/>
                <a:cs typeface="Arial"/>
                <a:sym typeface="Arial"/>
              </a:rPr>
              <a:t>Нужны дарксторы в каждом городе, а склады и так под ударом дронов. В сегменте давно Лавка и Самокат: мы догоняем, а заказ от 500 ₽ дорого везти за час.</a:t>
            </a:r>
            <a:endParaRPr/>
          </a:p>
        </p:txBody>
      </p:sp>
      <p:sp>
        <p:nvSpPr>
          <p:cNvPr id="82" name="Google Shape;82;p9"/>
          <p:cNvSpPr txBox="1"/>
          <p:nvPr/>
        </p:nvSpPr>
        <p:spPr>
          <a:xfrm>
            <a:off x="9385300" y="2006600"/>
            <a:ext cx="457200" cy="2031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i="0" lang="en-US" spc="0" sz="1100" u="none" cap="none" strike="noStrike">
                <a:solidFill>
                  <a:srgbClr val="A80E8E"/>
                </a:solidFill>
                <a:latin typeface="Arial"/>
                <a:ea typeface="Arial"/>
                <a:cs typeface="Arial"/>
                <a:sym typeface="Arial"/>
              </a:rPr>
              <a:t>●●</a:t>
            </a:r>
            <a:r>
              <a:rPr b="0" i="0" lang="en-US" spc="0" sz="1100" u="none" cap="none" strike="noStrike">
                <a:solidFill>
                  <a:srgbClr val="DDD0E6"/>
                </a:solidFill>
                <a:latin typeface="Arial"/>
                <a:ea typeface="Arial"/>
                <a:cs typeface="Arial"/>
                <a:sym typeface="Arial"/>
              </a:rPr>
              <a:t>●</a:t>
            </a:r>
            <a:endParaRPr/>
          </a:p>
        </p:txBody>
      </p:sp>
      <p:sp>
        <p:nvSpPr>
          <p:cNvPr id="83" name="Google Shape;83;p9"/>
          <p:cNvSpPr txBox="1"/>
          <p:nvPr/>
        </p:nvSpPr>
        <p:spPr>
          <a:xfrm>
            <a:off x="9867900" y="2006600"/>
            <a:ext cx="457200" cy="2031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i="0" lang="en-US" spc="0" sz="1100" u="none" cap="none" strike="noStrike">
                <a:solidFill>
                  <a:srgbClr val="A80E8E"/>
                </a:solidFill>
                <a:latin typeface="Arial"/>
                <a:ea typeface="Arial"/>
                <a:cs typeface="Arial"/>
                <a:sym typeface="Arial"/>
              </a:rPr>
              <a:t>●</a:t>
            </a:r>
            <a:r>
              <a:rPr b="0" i="0" lang="en-US" spc="0" sz="1100" u="none" cap="none" strike="noStrike">
                <a:solidFill>
                  <a:srgbClr val="DDD0E6"/>
                </a:solidFill>
                <a:latin typeface="Arial"/>
                <a:ea typeface="Arial"/>
                <a:cs typeface="Arial"/>
                <a:sym typeface="Arial"/>
              </a:rPr>
              <a:t>●●</a:t>
            </a:r>
            <a:endParaRPr/>
          </a:p>
        </p:txBody>
      </p:sp>
      <p:sp>
        <p:nvSpPr>
          <p:cNvPr id="84" name="Google Shape;84;p9"/>
          <p:cNvSpPr txBox="1"/>
          <p:nvPr/>
        </p:nvSpPr>
        <p:spPr>
          <a:xfrm>
            <a:off x="10350500" y="2006600"/>
            <a:ext cx="457200" cy="2031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i="0" lang="en-US" spc="0" sz="1100" u="none" cap="none" strike="noStrike">
                <a:solidFill>
                  <a:srgbClr val="A80E8E"/>
                </a:solidFill>
                <a:latin typeface="Arial"/>
                <a:ea typeface="Arial"/>
                <a:cs typeface="Arial"/>
                <a:sym typeface="Arial"/>
              </a:rPr>
              <a:t>●</a:t>
            </a:r>
            <a:r>
              <a:rPr b="0" i="0" lang="en-US" spc="0" sz="1100" u="none" cap="none" strike="noStrike">
                <a:solidFill>
                  <a:srgbClr val="DDD0E6"/>
                </a:solidFill>
                <a:latin typeface="Arial"/>
                <a:ea typeface="Arial"/>
                <a:cs typeface="Arial"/>
                <a:sym typeface="Arial"/>
              </a:rPr>
              <a:t>●●</a:t>
            </a:r>
            <a:endParaRPr/>
          </a:p>
        </p:txBody>
      </p:sp>
      <p:sp>
        <p:nvSpPr>
          <p:cNvPr id="85" name="Google Shape;85;p9"/>
          <p:cNvSpPr txBox="1"/>
          <p:nvPr/>
        </p:nvSpPr>
        <p:spPr>
          <a:xfrm>
            <a:off x="10833100" y="2006600"/>
            <a:ext cx="457200" cy="2031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i="0" lang="en-US" spc="0" sz="1100" u="none" cap="none" strike="noStrike">
                <a:solidFill>
                  <a:srgbClr val="A80E8E"/>
                </a:solidFill>
                <a:latin typeface="Arial"/>
                <a:ea typeface="Arial"/>
                <a:cs typeface="Arial"/>
                <a:sym typeface="Arial"/>
              </a:rPr>
              <a:t>●</a:t>
            </a:r>
            <a:r>
              <a:rPr b="0" i="0" lang="en-US" spc="0" sz="1100" u="none" cap="none" strike="noStrike">
                <a:solidFill>
                  <a:srgbClr val="DDD0E6"/>
                </a:solidFill>
                <a:latin typeface="Arial"/>
                <a:ea typeface="Arial"/>
                <a:cs typeface="Arial"/>
                <a:sym typeface="Arial"/>
              </a:rPr>
              <a:t>●●</a:t>
            </a:r>
            <a:endParaRPr/>
          </a:p>
        </p:txBody>
      </p:sp>
      <p:sp>
        <p:nvSpPr>
          <p:cNvPr id="86" name="Google Shape;86;p9"/>
          <p:cNvSpPr txBox="1"/>
          <p:nvPr/>
        </p:nvSpPr>
        <p:spPr>
          <a:xfrm>
            <a:off x="11341100" y="1993900"/>
            <a:ext cx="457200" cy="203100"/>
          </a:xfrm>
          <a:prstGeom prst="rect">
            <a:avLst/>
          </a:prstGeom>
          <a:noFill/>
          <a:ln>
            <a:noFill/>
          </a:ln>
        </p:spPr>
        <p:txBody>
          <a:bodyPr anchorCtr="0" anchor="t" bIns="0" lIns="0" spcFirstLastPara="1" rIns="0" wrap="square" tIns="0">
            <a:noAutofit/>
          </a:bodyPr>
          <a:lstStyle/>
          <a:p>
            <a:pPr indent="0" lvl="0" marL="0" marR="0" rtl="0" algn="r">
              <a:lnSpc>
                <a:spcPct val="110000"/>
              </a:lnSpc>
              <a:spcBef>
                <a:spcPts val="0"/>
              </a:spcBef>
              <a:spcAft>
                <a:spcPts val="0"/>
              </a:spcAft>
              <a:buNone/>
            </a:pPr>
            <a:r>
              <a:rPr b="1" i="0" lang="en-US" spc="0" sz="1200" u="none" cap="none" strike="noStrike">
                <a:solidFill>
                  <a:srgbClr val="5E4D6E"/>
                </a:solidFill>
                <a:latin typeface="Arial"/>
                <a:ea typeface="Arial"/>
                <a:cs typeface="Arial"/>
                <a:sym typeface="Arial"/>
              </a:rPr>
              <a:t>5/12</a:t>
            </a:r>
            <a:endParaRPr/>
          </a:p>
        </p:txBody>
      </p:sp>
      <p:cxnSp>
        <p:nvCxnSpPr>
          <p:cNvPr id="87" name="Google Shape;87;p9"/>
          <p:cNvCxnSpPr/>
          <p:nvPr/>
        </p:nvCxnSpPr>
        <p:spPr>
          <a:xfrm>
            <a:off x="711200" y="2730500"/>
            <a:ext cx="11087100" cy="0"/>
          </a:xfrm>
          <a:prstGeom prst="straightConnector1">
            <a:avLst/>
          </a:prstGeom>
          <a:noFill/>
          <a:ln cap="flat" cmpd="sng" w="9525">
            <a:solidFill>
              <a:srgbClr val="DDD0E6"/>
            </a:solidFill>
            <a:prstDash val="solid"/>
            <a:round/>
            <a:headEnd len="sm" w="sm" type="none"/>
            <a:tailEnd len="sm" w="sm" type="none"/>
          </a:ln>
        </p:spPr>
      </p:cxnSp>
      <p:sp>
        <p:nvSpPr>
          <p:cNvPr id="88" name="Google Shape;88;p9"/>
          <p:cNvSpPr txBox="1"/>
          <p:nvPr/>
        </p:nvSpPr>
        <p:spPr>
          <a:xfrm>
            <a:off x="711200" y="2781300"/>
            <a:ext cx="1714500" cy="7239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1" i="0" lang="en-US" spc="0" sz="1300" u="none" cap="none" strike="noStrike">
                <a:solidFill>
                  <a:srgbClr val="241036"/>
                </a:solidFill>
                <a:latin typeface="Arial"/>
                <a:ea typeface="Arial"/>
                <a:cs typeface="Arial"/>
                <a:sym typeface="Arial"/>
              </a:rPr>
              <a:t>Социальная коммерция</a:t>
            </a:r>
            <a:endParaRPr/>
          </a:p>
          <a:p>
            <a:pPr indent="0" lvl="0" marL="0" marR="0" rtl="0" algn="l">
              <a:lnSpc>
                <a:spcPct val="110000"/>
              </a:lnSpc>
              <a:spcBef>
                <a:spcPts val="200"/>
              </a:spcBef>
              <a:spcAft>
                <a:spcPts val="0"/>
              </a:spcAft>
              <a:buNone/>
            </a:pPr>
            <a:r>
              <a:rPr b="0" i="0" lang="en-US" spc="0" sz="1100" u="none" cap="none" strike="noStrike">
                <a:solidFill>
                  <a:srgbClr val="6E5E7D"/>
                </a:solidFill>
                <a:latin typeface="Arial"/>
                <a:ea typeface="Arial"/>
                <a:cs typeface="Arial"/>
                <a:sym typeface="Arial"/>
              </a:rPr>
              <a:t>Wibes и видео с товарами</a:t>
            </a:r>
            <a:endParaRPr/>
          </a:p>
        </p:txBody>
      </p:sp>
      <p:sp>
        <p:nvSpPr>
          <p:cNvPr id="89" name="Google Shape;89;p9"/>
          <p:cNvSpPr txBox="1"/>
          <p:nvPr/>
        </p:nvSpPr>
        <p:spPr>
          <a:xfrm>
            <a:off x="2552700" y="2781300"/>
            <a:ext cx="3022500" cy="723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pc="0" sz="1200" u="none" cap="none" strike="noStrike">
                <a:solidFill>
                  <a:srgbClr val="3D2A4F"/>
                </a:solidFill>
                <a:latin typeface="Arial"/>
                <a:ea typeface="Arial"/>
                <a:cs typeface="Arial"/>
                <a:sym typeface="Arial"/>
              </a:rPr>
              <a:t>Видео созда</a:t>
            </a:r>
            <a:r>
              <a:rPr lang="en-US" sz="1200">
                <a:solidFill>
                  <a:srgbClr val="3D2A4F"/>
                </a:solidFill>
              </a:rPr>
              <a:t>е</a:t>
            </a:r>
            <a:r>
              <a:rPr b="0" i="0" lang="en-US" spc="0" sz="1200" u="none" cap="none" strike="noStrike">
                <a:solidFill>
                  <a:srgbClr val="3D2A4F"/>
                </a:solidFill>
                <a:latin typeface="Arial"/>
                <a:ea typeface="Arial"/>
                <a:cs typeface="Arial"/>
                <a:sym typeface="Arial"/>
              </a:rPr>
              <a:t>т спрос там, где человек ничего не искал. У RWB есть рекламный холдинг Russ и готовая платформа Wibes.</a:t>
            </a:r>
            <a:endParaRPr/>
          </a:p>
        </p:txBody>
      </p:sp>
      <p:sp>
        <p:nvSpPr>
          <p:cNvPr id="90" name="Google Shape;90;p9"/>
          <p:cNvSpPr txBox="1"/>
          <p:nvPr/>
        </p:nvSpPr>
        <p:spPr>
          <a:xfrm>
            <a:off x="5727700" y="2781300"/>
            <a:ext cx="3555900" cy="723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pc="0" sz="1200" u="none" cap="none" strike="noStrike">
                <a:solidFill>
                  <a:srgbClr val="3D2A4F"/>
                </a:solidFill>
                <a:latin typeface="Arial"/>
                <a:ea typeface="Arial"/>
                <a:cs typeface="Arial"/>
                <a:sym typeface="Arial"/>
              </a:rPr>
              <a:t>Wibes смотрели около 170 тыс. человек в день, капля рядом с аудиторией WB. Отбить внимание у VK и Telegram за 2 года не выйдет, а видео пригодятся консультанту.</a:t>
            </a:r>
            <a:endParaRPr/>
          </a:p>
        </p:txBody>
      </p:sp>
      <p:sp>
        <p:nvSpPr>
          <p:cNvPr id="91" name="Google Shape;91;p9"/>
          <p:cNvSpPr txBox="1"/>
          <p:nvPr/>
        </p:nvSpPr>
        <p:spPr>
          <a:xfrm>
            <a:off x="9385300" y="2806700"/>
            <a:ext cx="457200" cy="2031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i="0" lang="en-US" spc="0" sz="1100" u="none" cap="none" strike="noStrike">
                <a:solidFill>
                  <a:srgbClr val="A80E8E"/>
                </a:solidFill>
                <a:latin typeface="Arial"/>
                <a:ea typeface="Arial"/>
                <a:cs typeface="Arial"/>
                <a:sym typeface="Arial"/>
              </a:rPr>
              <a:t>●●</a:t>
            </a:r>
            <a:r>
              <a:rPr b="0" i="0" lang="en-US" spc="0" sz="1100" u="none" cap="none" strike="noStrike">
                <a:solidFill>
                  <a:srgbClr val="DDD0E6"/>
                </a:solidFill>
                <a:latin typeface="Arial"/>
                <a:ea typeface="Arial"/>
                <a:cs typeface="Arial"/>
                <a:sym typeface="Arial"/>
              </a:rPr>
              <a:t>●</a:t>
            </a:r>
            <a:endParaRPr/>
          </a:p>
        </p:txBody>
      </p:sp>
      <p:sp>
        <p:nvSpPr>
          <p:cNvPr id="92" name="Google Shape;92;p9"/>
          <p:cNvSpPr txBox="1"/>
          <p:nvPr/>
        </p:nvSpPr>
        <p:spPr>
          <a:xfrm>
            <a:off x="9867900" y="2806700"/>
            <a:ext cx="457200" cy="2031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i="0" lang="en-US" spc="0" sz="1100" u="none" cap="none" strike="noStrike">
                <a:solidFill>
                  <a:srgbClr val="A80E8E"/>
                </a:solidFill>
                <a:latin typeface="Arial"/>
                <a:ea typeface="Arial"/>
                <a:cs typeface="Arial"/>
                <a:sym typeface="Arial"/>
              </a:rPr>
              <a:t>●●●</a:t>
            </a:r>
            <a:endParaRPr/>
          </a:p>
        </p:txBody>
      </p:sp>
      <p:sp>
        <p:nvSpPr>
          <p:cNvPr id="93" name="Google Shape;93;p9"/>
          <p:cNvSpPr txBox="1"/>
          <p:nvPr/>
        </p:nvSpPr>
        <p:spPr>
          <a:xfrm>
            <a:off x="10350500" y="2806700"/>
            <a:ext cx="457200" cy="2031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i="0" lang="en-US" spc="0" sz="1100" u="none" cap="none" strike="noStrike">
                <a:solidFill>
                  <a:srgbClr val="A80E8E"/>
                </a:solidFill>
                <a:latin typeface="Arial"/>
                <a:ea typeface="Arial"/>
                <a:cs typeface="Arial"/>
                <a:sym typeface="Arial"/>
              </a:rPr>
              <a:t>●</a:t>
            </a:r>
            <a:r>
              <a:rPr b="0" i="0" lang="en-US" spc="0" sz="1100" u="none" cap="none" strike="noStrike">
                <a:solidFill>
                  <a:srgbClr val="DDD0E6"/>
                </a:solidFill>
                <a:latin typeface="Arial"/>
                <a:ea typeface="Arial"/>
                <a:cs typeface="Arial"/>
                <a:sym typeface="Arial"/>
              </a:rPr>
              <a:t>●●</a:t>
            </a:r>
            <a:endParaRPr/>
          </a:p>
        </p:txBody>
      </p:sp>
      <p:sp>
        <p:nvSpPr>
          <p:cNvPr id="94" name="Google Shape;94;p9"/>
          <p:cNvSpPr txBox="1"/>
          <p:nvPr/>
        </p:nvSpPr>
        <p:spPr>
          <a:xfrm>
            <a:off x="10833100" y="2806700"/>
            <a:ext cx="457200" cy="2031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i="0" lang="en-US" spc="0" sz="1100" u="none" cap="none" strike="noStrike">
                <a:solidFill>
                  <a:srgbClr val="A80E8E"/>
                </a:solidFill>
                <a:latin typeface="Arial"/>
                <a:ea typeface="Arial"/>
                <a:cs typeface="Arial"/>
                <a:sym typeface="Arial"/>
              </a:rPr>
              <a:t>●</a:t>
            </a:r>
            <a:r>
              <a:rPr b="0" i="0" lang="en-US" spc="0" sz="1100" u="none" cap="none" strike="noStrike">
                <a:solidFill>
                  <a:srgbClr val="DDD0E6"/>
                </a:solidFill>
                <a:latin typeface="Arial"/>
                <a:ea typeface="Arial"/>
                <a:cs typeface="Arial"/>
                <a:sym typeface="Arial"/>
              </a:rPr>
              <a:t>●●</a:t>
            </a:r>
            <a:endParaRPr/>
          </a:p>
        </p:txBody>
      </p:sp>
      <p:sp>
        <p:nvSpPr>
          <p:cNvPr id="95" name="Google Shape;95;p9"/>
          <p:cNvSpPr txBox="1"/>
          <p:nvPr/>
        </p:nvSpPr>
        <p:spPr>
          <a:xfrm>
            <a:off x="11341100" y="2794000"/>
            <a:ext cx="457200" cy="203100"/>
          </a:xfrm>
          <a:prstGeom prst="rect">
            <a:avLst/>
          </a:prstGeom>
          <a:noFill/>
          <a:ln>
            <a:noFill/>
          </a:ln>
        </p:spPr>
        <p:txBody>
          <a:bodyPr anchorCtr="0" anchor="t" bIns="0" lIns="0" spcFirstLastPara="1" rIns="0" wrap="square" tIns="0">
            <a:noAutofit/>
          </a:bodyPr>
          <a:lstStyle/>
          <a:p>
            <a:pPr indent="0" lvl="0" marL="0" marR="0" rtl="0" algn="r">
              <a:lnSpc>
                <a:spcPct val="110000"/>
              </a:lnSpc>
              <a:spcBef>
                <a:spcPts val="0"/>
              </a:spcBef>
              <a:spcAft>
                <a:spcPts val="0"/>
              </a:spcAft>
              <a:buNone/>
            </a:pPr>
            <a:r>
              <a:rPr b="1" i="0" lang="en-US" spc="0" sz="1200" u="none" cap="none" strike="noStrike">
                <a:solidFill>
                  <a:srgbClr val="5E4D6E"/>
                </a:solidFill>
                <a:latin typeface="Arial"/>
                <a:ea typeface="Arial"/>
                <a:cs typeface="Arial"/>
                <a:sym typeface="Arial"/>
              </a:rPr>
              <a:t>7/12</a:t>
            </a:r>
            <a:endParaRPr/>
          </a:p>
        </p:txBody>
      </p:sp>
      <p:cxnSp>
        <p:nvCxnSpPr>
          <p:cNvPr id="96" name="Google Shape;96;p9"/>
          <p:cNvCxnSpPr/>
          <p:nvPr/>
        </p:nvCxnSpPr>
        <p:spPr>
          <a:xfrm>
            <a:off x="711200" y="3530600"/>
            <a:ext cx="11087100" cy="0"/>
          </a:xfrm>
          <a:prstGeom prst="straightConnector1">
            <a:avLst/>
          </a:prstGeom>
          <a:noFill/>
          <a:ln cap="flat" cmpd="sng" w="9525">
            <a:solidFill>
              <a:srgbClr val="DDD0E6"/>
            </a:solidFill>
            <a:prstDash val="solid"/>
            <a:round/>
            <a:headEnd len="sm" w="sm" type="none"/>
            <a:tailEnd len="sm" w="sm" type="none"/>
          </a:ln>
        </p:spPr>
      </p:cxnSp>
      <p:sp>
        <p:nvSpPr>
          <p:cNvPr id="97" name="Google Shape;97;p9"/>
          <p:cNvSpPr txBox="1"/>
          <p:nvPr/>
        </p:nvSpPr>
        <p:spPr>
          <a:xfrm>
            <a:off x="711200" y="3581400"/>
            <a:ext cx="1714500" cy="7239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1" i="0" lang="en-US" spc="0" sz="1300" u="none" cap="none" strike="noStrike">
                <a:solidFill>
                  <a:srgbClr val="241036"/>
                </a:solidFill>
                <a:latin typeface="Arial"/>
                <a:ea typeface="Arial"/>
                <a:cs typeface="Arial"/>
                <a:sym typeface="Arial"/>
              </a:rPr>
              <a:t>Финтех вокруг покупки</a:t>
            </a:r>
            <a:endParaRPr/>
          </a:p>
          <a:p>
            <a:pPr indent="0" lvl="0" marL="0" marR="0" rtl="0" algn="l">
              <a:lnSpc>
                <a:spcPct val="110000"/>
              </a:lnSpc>
              <a:spcBef>
                <a:spcPts val="200"/>
              </a:spcBef>
              <a:spcAft>
                <a:spcPts val="0"/>
              </a:spcAft>
              <a:buNone/>
            </a:pPr>
            <a:r>
              <a:rPr b="0" i="0" lang="en-US" spc="0" sz="1100" u="none" cap="none" strike="noStrike">
                <a:solidFill>
                  <a:srgbClr val="6E5E7D"/>
                </a:solidFill>
                <a:latin typeface="Arial"/>
                <a:ea typeface="Arial"/>
                <a:cs typeface="Arial"/>
                <a:sym typeface="Arial"/>
              </a:rPr>
              <a:t>WB Банк и рассрочка</a:t>
            </a:r>
            <a:endParaRPr/>
          </a:p>
        </p:txBody>
      </p:sp>
      <p:sp>
        <p:nvSpPr>
          <p:cNvPr id="98" name="Google Shape;98;p9"/>
          <p:cNvSpPr txBox="1"/>
          <p:nvPr/>
        </p:nvSpPr>
        <p:spPr>
          <a:xfrm>
            <a:off x="2552700" y="3581400"/>
            <a:ext cx="3022500" cy="723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pc="0" sz="1200" u="none" cap="none" strike="noStrike">
                <a:solidFill>
                  <a:srgbClr val="3D2A4F"/>
                </a:solidFill>
                <a:latin typeface="Arial"/>
                <a:ea typeface="Arial"/>
                <a:cs typeface="Arial"/>
                <a:sym typeface="Arial"/>
              </a:rPr>
              <a:t>Самый маржинальный доход сверх комиссии. Финтех Ozon за 2025 год: 195 млрд ₽ выручки (+120%) и 60 млрд ₽ прибыли до налогов.</a:t>
            </a:r>
            <a:endParaRPr/>
          </a:p>
        </p:txBody>
      </p:sp>
      <p:sp>
        <p:nvSpPr>
          <p:cNvPr id="99" name="Google Shape;99;p9"/>
          <p:cNvSpPr txBox="1"/>
          <p:nvPr/>
        </p:nvSpPr>
        <p:spPr>
          <a:xfrm>
            <a:off x="5727700" y="3581400"/>
            <a:ext cx="3555900" cy="723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pc="0" sz="1200" u="none" cap="none" strike="noStrike">
                <a:solidFill>
                  <a:srgbClr val="3D2A4F"/>
                </a:solidFill>
                <a:latin typeface="Arial"/>
                <a:ea typeface="Arial"/>
                <a:cs typeface="Arial"/>
                <a:sym typeface="Arial"/>
              </a:rPr>
              <a:t>WB Банк с апреля 2026 года под санкциями ЕС. С 1 октября 289-ФЗ требует показывать цену без скидки за карту банка, и этот рычаг слабеет. Ozon далеко впереди.</a:t>
            </a:r>
            <a:endParaRPr/>
          </a:p>
        </p:txBody>
      </p:sp>
      <p:sp>
        <p:nvSpPr>
          <p:cNvPr id="100" name="Google Shape;100;p9"/>
          <p:cNvSpPr txBox="1"/>
          <p:nvPr/>
        </p:nvSpPr>
        <p:spPr>
          <a:xfrm>
            <a:off x="9385300" y="3606800"/>
            <a:ext cx="457200" cy="2031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i="0" lang="en-US" spc="0" sz="1100" u="none" cap="none" strike="noStrike">
                <a:solidFill>
                  <a:srgbClr val="A80E8E"/>
                </a:solidFill>
                <a:latin typeface="Arial"/>
                <a:ea typeface="Arial"/>
                <a:cs typeface="Arial"/>
                <a:sym typeface="Arial"/>
              </a:rPr>
              <a:t>●●●</a:t>
            </a:r>
            <a:endParaRPr/>
          </a:p>
        </p:txBody>
      </p:sp>
      <p:sp>
        <p:nvSpPr>
          <p:cNvPr id="101" name="Google Shape;101;p9"/>
          <p:cNvSpPr txBox="1"/>
          <p:nvPr/>
        </p:nvSpPr>
        <p:spPr>
          <a:xfrm>
            <a:off x="9867900" y="3606800"/>
            <a:ext cx="457200" cy="2031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i="0" lang="en-US" spc="0" sz="1100" u="none" cap="none" strike="noStrike">
                <a:solidFill>
                  <a:srgbClr val="A80E8E"/>
                </a:solidFill>
                <a:latin typeface="Arial"/>
                <a:ea typeface="Arial"/>
                <a:cs typeface="Arial"/>
                <a:sym typeface="Arial"/>
              </a:rPr>
              <a:t>●</a:t>
            </a:r>
            <a:r>
              <a:rPr b="0" i="0" lang="en-US" spc="0" sz="1100" u="none" cap="none" strike="noStrike">
                <a:solidFill>
                  <a:srgbClr val="DDD0E6"/>
                </a:solidFill>
                <a:latin typeface="Arial"/>
                <a:ea typeface="Arial"/>
                <a:cs typeface="Arial"/>
                <a:sym typeface="Arial"/>
              </a:rPr>
              <a:t>●●</a:t>
            </a:r>
            <a:endParaRPr/>
          </a:p>
        </p:txBody>
      </p:sp>
      <p:sp>
        <p:nvSpPr>
          <p:cNvPr id="102" name="Google Shape;102;p9"/>
          <p:cNvSpPr txBox="1"/>
          <p:nvPr/>
        </p:nvSpPr>
        <p:spPr>
          <a:xfrm>
            <a:off x="10350500" y="3606800"/>
            <a:ext cx="457200" cy="2031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i="0" lang="en-US" spc="0" sz="1100" u="none" cap="none" strike="noStrike">
                <a:solidFill>
                  <a:srgbClr val="A80E8E"/>
                </a:solidFill>
                <a:latin typeface="Arial"/>
                <a:ea typeface="Arial"/>
                <a:cs typeface="Arial"/>
                <a:sym typeface="Arial"/>
              </a:rPr>
              <a:t>●</a:t>
            </a:r>
            <a:r>
              <a:rPr b="0" i="0" lang="en-US" spc="0" sz="1100" u="none" cap="none" strike="noStrike">
                <a:solidFill>
                  <a:srgbClr val="DDD0E6"/>
                </a:solidFill>
                <a:latin typeface="Arial"/>
                <a:ea typeface="Arial"/>
                <a:cs typeface="Arial"/>
                <a:sym typeface="Arial"/>
              </a:rPr>
              <a:t>●●</a:t>
            </a:r>
            <a:endParaRPr/>
          </a:p>
        </p:txBody>
      </p:sp>
      <p:sp>
        <p:nvSpPr>
          <p:cNvPr id="103" name="Google Shape;103;p9"/>
          <p:cNvSpPr txBox="1"/>
          <p:nvPr/>
        </p:nvSpPr>
        <p:spPr>
          <a:xfrm>
            <a:off x="10833100" y="3606800"/>
            <a:ext cx="457200" cy="2031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i="0" lang="en-US" spc="0" sz="1100" u="none" cap="none" strike="noStrike">
                <a:solidFill>
                  <a:srgbClr val="A80E8E"/>
                </a:solidFill>
                <a:latin typeface="Arial"/>
                <a:ea typeface="Arial"/>
                <a:cs typeface="Arial"/>
                <a:sym typeface="Arial"/>
              </a:rPr>
              <a:t>●●</a:t>
            </a:r>
            <a:r>
              <a:rPr b="0" i="0" lang="en-US" spc="0" sz="1100" u="none" cap="none" strike="noStrike">
                <a:solidFill>
                  <a:srgbClr val="DDD0E6"/>
                </a:solidFill>
                <a:latin typeface="Arial"/>
                <a:ea typeface="Arial"/>
                <a:cs typeface="Arial"/>
                <a:sym typeface="Arial"/>
              </a:rPr>
              <a:t>●</a:t>
            </a:r>
            <a:endParaRPr/>
          </a:p>
        </p:txBody>
      </p:sp>
      <p:sp>
        <p:nvSpPr>
          <p:cNvPr id="104" name="Google Shape;104;p9"/>
          <p:cNvSpPr txBox="1"/>
          <p:nvPr/>
        </p:nvSpPr>
        <p:spPr>
          <a:xfrm>
            <a:off x="11341100" y="3594100"/>
            <a:ext cx="457200" cy="203100"/>
          </a:xfrm>
          <a:prstGeom prst="rect">
            <a:avLst/>
          </a:prstGeom>
          <a:noFill/>
          <a:ln>
            <a:noFill/>
          </a:ln>
        </p:spPr>
        <p:txBody>
          <a:bodyPr anchorCtr="0" anchor="t" bIns="0" lIns="0" spcFirstLastPara="1" rIns="0" wrap="square" tIns="0">
            <a:noAutofit/>
          </a:bodyPr>
          <a:lstStyle/>
          <a:p>
            <a:pPr indent="0" lvl="0" marL="0" marR="0" rtl="0" algn="r">
              <a:lnSpc>
                <a:spcPct val="110000"/>
              </a:lnSpc>
              <a:spcBef>
                <a:spcPts val="0"/>
              </a:spcBef>
              <a:spcAft>
                <a:spcPts val="0"/>
              </a:spcAft>
              <a:buNone/>
            </a:pPr>
            <a:r>
              <a:rPr b="1" i="0" lang="en-US" spc="0" sz="1200" u="none" cap="none" strike="noStrike">
                <a:solidFill>
                  <a:srgbClr val="5E4D6E"/>
                </a:solidFill>
                <a:latin typeface="Arial"/>
                <a:ea typeface="Arial"/>
                <a:cs typeface="Arial"/>
                <a:sym typeface="Arial"/>
              </a:rPr>
              <a:t>7/12</a:t>
            </a:r>
            <a:endParaRPr/>
          </a:p>
        </p:txBody>
      </p:sp>
      <p:cxnSp>
        <p:nvCxnSpPr>
          <p:cNvPr id="105" name="Google Shape;105;p9"/>
          <p:cNvCxnSpPr/>
          <p:nvPr/>
        </p:nvCxnSpPr>
        <p:spPr>
          <a:xfrm>
            <a:off x="711200" y="4330700"/>
            <a:ext cx="11087100" cy="0"/>
          </a:xfrm>
          <a:prstGeom prst="straightConnector1">
            <a:avLst/>
          </a:prstGeom>
          <a:noFill/>
          <a:ln cap="flat" cmpd="sng" w="9525">
            <a:solidFill>
              <a:srgbClr val="DDD0E6"/>
            </a:solidFill>
            <a:prstDash val="solid"/>
            <a:round/>
            <a:headEnd len="sm" w="sm" type="none"/>
            <a:tailEnd len="sm" w="sm" type="none"/>
          </a:ln>
        </p:spPr>
      </p:cxnSp>
      <p:sp>
        <p:nvSpPr>
          <p:cNvPr id="106" name="Google Shape;106;p9"/>
          <p:cNvSpPr txBox="1"/>
          <p:nvPr/>
        </p:nvSpPr>
        <p:spPr>
          <a:xfrm>
            <a:off x="711200" y="4381500"/>
            <a:ext cx="1714500" cy="7239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1" i="0" lang="en-US" spc="0" sz="1300" u="none" cap="none" strike="noStrike">
                <a:solidFill>
                  <a:srgbClr val="241036"/>
                </a:solidFill>
                <a:latin typeface="Arial"/>
                <a:ea typeface="Arial"/>
                <a:cs typeface="Arial"/>
                <a:sym typeface="Arial"/>
              </a:rPr>
              <a:t>Экспансия в СНГ</a:t>
            </a:r>
            <a:endParaRPr/>
          </a:p>
          <a:p>
            <a:pPr indent="0" lvl="0" marL="0" marR="0" rtl="0" algn="l">
              <a:lnSpc>
                <a:spcPct val="110000"/>
              </a:lnSpc>
              <a:spcBef>
                <a:spcPts val="200"/>
              </a:spcBef>
              <a:spcAft>
                <a:spcPts val="0"/>
              </a:spcAft>
              <a:buNone/>
            </a:pPr>
            <a:r>
              <a:rPr b="0" i="0" lang="en-US" spc="0" sz="1100" u="none" cap="none" strike="noStrike">
                <a:solidFill>
                  <a:srgbClr val="6E5E7D"/>
                </a:solidFill>
                <a:latin typeface="Arial"/>
                <a:ea typeface="Arial"/>
                <a:cs typeface="Arial"/>
                <a:sym typeface="Arial"/>
              </a:rPr>
              <a:t>Казахстан, Узбекистан, Кыргызстан</a:t>
            </a:r>
            <a:endParaRPr/>
          </a:p>
        </p:txBody>
      </p:sp>
      <p:sp>
        <p:nvSpPr>
          <p:cNvPr id="107" name="Google Shape;107;p9"/>
          <p:cNvSpPr txBox="1"/>
          <p:nvPr/>
        </p:nvSpPr>
        <p:spPr>
          <a:xfrm>
            <a:off x="2552700" y="4381500"/>
            <a:ext cx="3022500" cy="723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pc="0" sz="1200" u="none" cap="none" strike="noStrike">
                <a:solidFill>
                  <a:srgbClr val="3D2A4F"/>
                </a:solidFill>
                <a:latin typeface="Arial"/>
                <a:ea typeface="Arial"/>
                <a:cs typeface="Arial"/>
                <a:sym typeface="Arial"/>
              </a:rPr>
              <a:t>Рост за пределами замедлившегося рынка РФ. WB уже мост для местных продавцов: продажи узбекских товаров на WB в 2025 году превысили $1,4 млрд.</a:t>
            </a:r>
            <a:endParaRPr/>
          </a:p>
        </p:txBody>
      </p:sp>
      <p:sp>
        <p:nvSpPr>
          <p:cNvPr id="108" name="Google Shape;108;p9"/>
          <p:cNvSpPr txBox="1"/>
          <p:nvPr/>
        </p:nvSpPr>
        <p:spPr>
          <a:xfrm>
            <a:off x="5727700" y="4381500"/>
            <a:ext cx="3555900" cy="723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pc="0" sz="1200" u="none" cap="none" strike="noStrike">
                <a:solidFill>
                  <a:srgbClr val="3D2A4F"/>
                </a:solidFill>
                <a:latin typeface="Arial"/>
                <a:ea typeface="Arial"/>
                <a:cs typeface="Arial"/>
                <a:sym typeface="Arial"/>
              </a:rPr>
              <a:t>Рынки малы: весь онлайн Казахстана за полгода 2025-го около $3,3 млрд. Там сильны Kaspi и Uzum, а новым складам пришлось бы делить капитал с ремонтом складов в РФ.</a:t>
            </a:r>
            <a:endParaRPr/>
          </a:p>
        </p:txBody>
      </p:sp>
      <p:sp>
        <p:nvSpPr>
          <p:cNvPr id="109" name="Google Shape;109;p9"/>
          <p:cNvSpPr txBox="1"/>
          <p:nvPr/>
        </p:nvSpPr>
        <p:spPr>
          <a:xfrm>
            <a:off x="9385300" y="4406900"/>
            <a:ext cx="457200" cy="2031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i="0" lang="en-US" spc="0" sz="1100" u="none" cap="none" strike="noStrike">
                <a:solidFill>
                  <a:srgbClr val="A80E8E"/>
                </a:solidFill>
                <a:latin typeface="Arial"/>
                <a:ea typeface="Arial"/>
                <a:cs typeface="Arial"/>
                <a:sym typeface="Arial"/>
              </a:rPr>
              <a:t>●●</a:t>
            </a:r>
            <a:r>
              <a:rPr b="0" i="0" lang="en-US" spc="0" sz="1100" u="none" cap="none" strike="noStrike">
                <a:solidFill>
                  <a:srgbClr val="DDD0E6"/>
                </a:solidFill>
                <a:latin typeface="Arial"/>
                <a:ea typeface="Arial"/>
                <a:cs typeface="Arial"/>
                <a:sym typeface="Arial"/>
              </a:rPr>
              <a:t>●</a:t>
            </a:r>
            <a:endParaRPr/>
          </a:p>
        </p:txBody>
      </p:sp>
      <p:sp>
        <p:nvSpPr>
          <p:cNvPr id="110" name="Google Shape;110;p9"/>
          <p:cNvSpPr txBox="1"/>
          <p:nvPr/>
        </p:nvSpPr>
        <p:spPr>
          <a:xfrm>
            <a:off x="9867900" y="4406900"/>
            <a:ext cx="457200" cy="2031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i="0" lang="en-US" spc="0" sz="1100" u="none" cap="none" strike="noStrike">
                <a:solidFill>
                  <a:srgbClr val="A80E8E"/>
                </a:solidFill>
                <a:latin typeface="Arial"/>
                <a:ea typeface="Arial"/>
                <a:cs typeface="Arial"/>
                <a:sym typeface="Arial"/>
              </a:rPr>
              <a:t>●●</a:t>
            </a:r>
            <a:r>
              <a:rPr b="0" i="0" lang="en-US" spc="0" sz="1100" u="none" cap="none" strike="noStrike">
                <a:solidFill>
                  <a:srgbClr val="DDD0E6"/>
                </a:solidFill>
                <a:latin typeface="Arial"/>
                <a:ea typeface="Arial"/>
                <a:cs typeface="Arial"/>
                <a:sym typeface="Arial"/>
              </a:rPr>
              <a:t>●</a:t>
            </a:r>
            <a:endParaRPr/>
          </a:p>
        </p:txBody>
      </p:sp>
      <p:sp>
        <p:nvSpPr>
          <p:cNvPr id="111" name="Google Shape;111;p9"/>
          <p:cNvSpPr txBox="1"/>
          <p:nvPr/>
        </p:nvSpPr>
        <p:spPr>
          <a:xfrm>
            <a:off x="10350500" y="4406900"/>
            <a:ext cx="457200" cy="2031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i="0" lang="en-US" spc="0" sz="1100" u="none" cap="none" strike="noStrike">
                <a:solidFill>
                  <a:srgbClr val="A80E8E"/>
                </a:solidFill>
                <a:latin typeface="Arial"/>
                <a:ea typeface="Arial"/>
                <a:cs typeface="Arial"/>
                <a:sym typeface="Arial"/>
              </a:rPr>
              <a:t>●●</a:t>
            </a:r>
            <a:r>
              <a:rPr b="0" i="0" lang="en-US" spc="0" sz="1100" u="none" cap="none" strike="noStrike">
                <a:solidFill>
                  <a:srgbClr val="DDD0E6"/>
                </a:solidFill>
                <a:latin typeface="Arial"/>
                <a:ea typeface="Arial"/>
                <a:cs typeface="Arial"/>
                <a:sym typeface="Arial"/>
              </a:rPr>
              <a:t>●</a:t>
            </a:r>
            <a:endParaRPr/>
          </a:p>
        </p:txBody>
      </p:sp>
      <p:sp>
        <p:nvSpPr>
          <p:cNvPr id="112" name="Google Shape;112;p9"/>
          <p:cNvSpPr txBox="1"/>
          <p:nvPr/>
        </p:nvSpPr>
        <p:spPr>
          <a:xfrm>
            <a:off x="10833100" y="4406900"/>
            <a:ext cx="457200" cy="2031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i="0" lang="en-US" spc="0" sz="1100" u="none" cap="none" strike="noStrike">
                <a:solidFill>
                  <a:srgbClr val="A80E8E"/>
                </a:solidFill>
                <a:latin typeface="Arial"/>
                <a:ea typeface="Arial"/>
                <a:cs typeface="Arial"/>
                <a:sym typeface="Arial"/>
              </a:rPr>
              <a:t>●</a:t>
            </a:r>
            <a:r>
              <a:rPr b="0" i="0" lang="en-US" spc="0" sz="1100" u="none" cap="none" strike="noStrike">
                <a:solidFill>
                  <a:srgbClr val="DDD0E6"/>
                </a:solidFill>
                <a:latin typeface="Arial"/>
                <a:ea typeface="Arial"/>
                <a:cs typeface="Arial"/>
                <a:sym typeface="Arial"/>
              </a:rPr>
              <a:t>●●</a:t>
            </a:r>
            <a:endParaRPr/>
          </a:p>
        </p:txBody>
      </p:sp>
      <p:sp>
        <p:nvSpPr>
          <p:cNvPr id="113" name="Google Shape;113;p9"/>
          <p:cNvSpPr txBox="1"/>
          <p:nvPr/>
        </p:nvSpPr>
        <p:spPr>
          <a:xfrm>
            <a:off x="11341100" y="4394200"/>
            <a:ext cx="457200" cy="203100"/>
          </a:xfrm>
          <a:prstGeom prst="rect">
            <a:avLst/>
          </a:prstGeom>
          <a:noFill/>
          <a:ln>
            <a:noFill/>
          </a:ln>
        </p:spPr>
        <p:txBody>
          <a:bodyPr anchorCtr="0" anchor="t" bIns="0" lIns="0" spcFirstLastPara="1" rIns="0" wrap="square" tIns="0">
            <a:noAutofit/>
          </a:bodyPr>
          <a:lstStyle/>
          <a:p>
            <a:pPr indent="0" lvl="0" marL="0" marR="0" rtl="0" algn="r">
              <a:lnSpc>
                <a:spcPct val="110000"/>
              </a:lnSpc>
              <a:spcBef>
                <a:spcPts val="0"/>
              </a:spcBef>
              <a:spcAft>
                <a:spcPts val="0"/>
              </a:spcAft>
              <a:buNone/>
            </a:pPr>
            <a:r>
              <a:rPr b="1" i="0" lang="en-US" spc="0" sz="1200" u="none" cap="none" strike="noStrike">
                <a:solidFill>
                  <a:srgbClr val="5E4D6E"/>
                </a:solidFill>
                <a:latin typeface="Arial"/>
                <a:ea typeface="Arial"/>
                <a:cs typeface="Arial"/>
                <a:sym typeface="Arial"/>
              </a:rPr>
              <a:t>7/12</a:t>
            </a:r>
            <a:endParaRPr/>
          </a:p>
        </p:txBody>
      </p:sp>
      <p:cxnSp>
        <p:nvCxnSpPr>
          <p:cNvPr id="114" name="Google Shape;114;p9"/>
          <p:cNvCxnSpPr/>
          <p:nvPr/>
        </p:nvCxnSpPr>
        <p:spPr>
          <a:xfrm>
            <a:off x="711200" y="5130800"/>
            <a:ext cx="11087100" cy="0"/>
          </a:xfrm>
          <a:prstGeom prst="straightConnector1">
            <a:avLst/>
          </a:prstGeom>
          <a:noFill/>
          <a:ln cap="flat" cmpd="sng" w="9525">
            <a:solidFill>
              <a:srgbClr val="DDD0E6"/>
            </a:solidFill>
            <a:prstDash val="solid"/>
            <a:round/>
            <a:headEnd len="sm" w="sm" type="none"/>
            <a:tailEnd len="sm" w="sm" type="none"/>
          </a:ln>
        </p:spPr>
      </p:cxnSp>
      <p:sp>
        <p:nvSpPr>
          <p:cNvPr id="115" name="Google Shape;115;p9"/>
          <p:cNvSpPr/>
          <p:nvPr/>
        </p:nvSpPr>
        <p:spPr>
          <a:xfrm>
            <a:off x="609600" y="5207000"/>
            <a:ext cx="11290200" cy="533400"/>
          </a:xfrm>
          <a:prstGeom prst="roundRect">
            <a:avLst>
              <a:gd fmla="val 12000" name="adj"/>
            </a:avLst>
          </a:prstGeom>
          <a:solidFill>
            <a:srgbClr val="EDE2F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pc="0" sz="1400" u="none" cap="none" strike="noStrike">
              <a:solidFill>
                <a:schemeClr val="lt1"/>
              </a:solidFill>
              <a:latin typeface="Arial"/>
              <a:ea typeface="Arial"/>
              <a:cs typeface="Arial"/>
              <a:sym typeface="Arial"/>
            </a:endParaRPr>
          </a:p>
        </p:txBody>
      </p:sp>
      <p:sp>
        <p:nvSpPr>
          <p:cNvPr id="116" name="Google Shape;116;p9"/>
          <p:cNvSpPr txBox="1"/>
          <p:nvPr/>
        </p:nvSpPr>
        <p:spPr>
          <a:xfrm>
            <a:off x="711200" y="5283200"/>
            <a:ext cx="1714500" cy="4065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1" i="0" lang="en-US" spc="0" sz="1300" u="none" cap="none" strike="noStrike">
                <a:solidFill>
                  <a:srgbClr val="A80E8E"/>
                </a:solidFill>
                <a:latin typeface="Arial"/>
                <a:ea typeface="Arial"/>
                <a:cs typeface="Arial"/>
                <a:sym typeface="Arial"/>
              </a:rPr>
              <a:t>ИИ-консультант</a:t>
            </a:r>
            <a:endParaRPr/>
          </a:p>
          <a:p>
            <a:pPr indent="0" lvl="0" marL="0" marR="0" rtl="0" algn="l">
              <a:lnSpc>
                <a:spcPct val="110000"/>
              </a:lnSpc>
              <a:spcBef>
                <a:spcPts val="0"/>
              </a:spcBef>
              <a:spcAft>
                <a:spcPts val="0"/>
              </a:spcAft>
              <a:buNone/>
            </a:pPr>
            <a:r>
              <a:rPr b="0" i="0" lang="en-US" spc="0" sz="1100" u="none" cap="none" strike="noStrike">
                <a:solidFill>
                  <a:srgbClr val="6E5E7D"/>
                </a:solidFill>
                <a:latin typeface="Arial"/>
                <a:ea typeface="Arial"/>
                <a:cs typeface="Arial"/>
                <a:sym typeface="Arial"/>
              </a:rPr>
              <a:t>выбранная ставка</a:t>
            </a:r>
            <a:endParaRPr/>
          </a:p>
        </p:txBody>
      </p:sp>
      <p:sp>
        <p:nvSpPr>
          <p:cNvPr id="117" name="Google Shape;117;p9"/>
          <p:cNvSpPr txBox="1"/>
          <p:nvPr/>
        </p:nvSpPr>
        <p:spPr>
          <a:xfrm>
            <a:off x="2552700" y="5283200"/>
            <a:ext cx="6731100" cy="4065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0" i="0" lang="en-US" spc="0" sz="1200" u="none" cap="none" strike="noStrike">
                <a:solidFill>
                  <a:srgbClr val="241036"/>
                </a:solidFill>
                <a:latin typeface="Arial"/>
                <a:ea typeface="Arial"/>
                <a:cs typeface="Arial"/>
                <a:sym typeface="Arial"/>
              </a:rPr>
              <a:t>Держится на знании покупателя: его не унести с карточкой и не потерять при атаке на склад. Слабое место: GPU и ML-команда дороги, поэтому начинаем с пилота.</a:t>
            </a:r>
            <a:endParaRPr/>
          </a:p>
        </p:txBody>
      </p:sp>
      <p:sp>
        <p:nvSpPr>
          <p:cNvPr id="118" name="Google Shape;118;p9"/>
          <p:cNvSpPr txBox="1"/>
          <p:nvPr/>
        </p:nvSpPr>
        <p:spPr>
          <a:xfrm>
            <a:off x="9385300" y="5372100"/>
            <a:ext cx="457200" cy="2031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i="0" lang="en-US" spc="0" sz="1100" u="none" cap="none" strike="noStrike">
                <a:solidFill>
                  <a:srgbClr val="A80E8E"/>
                </a:solidFill>
                <a:latin typeface="Arial"/>
                <a:ea typeface="Arial"/>
                <a:cs typeface="Arial"/>
                <a:sym typeface="Arial"/>
              </a:rPr>
              <a:t>●●●</a:t>
            </a:r>
            <a:endParaRPr/>
          </a:p>
        </p:txBody>
      </p:sp>
      <p:sp>
        <p:nvSpPr>
          <p:cNvPr id="119" name="Google Shape;119;p9"/>
          <p:cNvSpPr txBox="1"/>
          <p:nvPr/>
        </p:nvSpPr>
        <p:spPr>
          <a:xfrm>
            <a:off x="9867900" y="5372100"/>
            <a:ext cx="457200" cy="2031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i="0" lang="en-US" spc="0" sz="1100" u="none" cap="none" strike="noStrike">
                <a:solidFill>
                  <a:srgbClr val="A80E8E"/>
                </a:solidFill>
                <a:latin typeface="Arial"/>
                <a:ea typeface="Arial"/>
                <a:cs typeface="Arial"/>
                <a:sym typeface="Arial"/>
              </a:rPr>
              <a:t>●●</a:t>
            </a:r>
            <a:r>
              <a:rPr b="0" i="0" lang="en-US" spc="0" sz="1100" u="none" cap="none" strike="noStrike">
                <a:solidFill>
                  <a:srgbClr val="CDBBDA"/>
                </a:solidFill>
                <a:latin typeface="Arial"/>
                <a:ea typeface="Arial"/>
                <a:cs typeface="Arial"/>
                <a:sym typeface="Arial"/>
              </a:rPr>
              <a:t>●</a:t>
            </a:r>
            <a:endParaRPr/>
          </a:p>
        </p:txBody>
      </p:sp>
      <p:sp>
        <p:nvSpPr>
          <p:cNvPr id="120" name="Google Shape;120;p9"/>
          <p:cNvSpPr txBox="1"/>
          <p:nvPr/>
        </p:nvSpPr>
        <p:spPr>
          <a:xfrm>
            <a:off x="10350500" y="5372100"/>
            <a:ext cx="457200" cy="2031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i="0" lang="en-US" spc="0" sz="1100" u="none" cap="none" strike="noStrike">
                <a:solidFill>
                  <a:srgbClr val="A80E8E"/>
                </a:solidFill>
                <a:latin typeface="Arial"/>
                <a:ea typeface="Arial"/>
                <a:cs typeface="Arial"/>
                <a:sym typeface="Arial"/>
              </a:rPr>
              <a:t>●●●</a:t>
            </a:r>
            <a:endParaRPr/>
          </a:p>
        </p:txBody>
      </p:sp>
      <p:sp>
        <p:nvSpPr>
          <p:cNvPr id="121" name="Google Shape;121;p9"/>
          <p:cNvSpPr txBox="1"/>
          <p:nvPr/>
        </p:nvSpPr>
        <p:spPr>
          <a:xfrm>
            <a:off x="10833100" y="5372100"/>
            <a:ext cx="457200" cy="2031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i="0" lang="en-US" spc="0" sz="1100" u="none" cap="none" strike="noStrike">
                <a:solidFill>
                  <a:srgbClr val="A80E8E"/>
                </a:solidFill>
                <a:latin typeface="Arial"/>
                <a:ea typeface="Arial"/>
                <a:cs typeface="Arial"/>
                <a:sym typeface="Arial"/>
              </a:rPr>
              <a:t>●●</a:t>
            </a:r>
            <a:r>
              <a:rPr b="0" i="0" lang="en-US" spc="0" sz="1100" u="none" cap="none" strike="noStrike">
                <a:solidFill>
                  <a:srgbClr val="CDBBDA"/>
                </a:solidFill>
                <a:latin typeface="Arial"/>
                <a:ea typeface="Arial"/>
                <a:cs typeface="Arial"/>
                <a:sym typeface="Arial"/>
              </a:rPr>
              <a:t>●</a:t>
            </a:r>
            <a:endParaRPr/>
          </a:p>
        </p:txBody>
      </p:sp>
      <p:sp>
        <p:nvSpPr>
          <p:cNvPr id="122" name="Google Shape;122;p9"/>
          <p:cNvSpPr txBox="1"/>
          <p:nvPr/>
        </p:nvSpPr>
        <p:spPr>
          <a:xfrm>
            <a:off x="11341100" y="5359400"/>
            <a:ext cx="457200" cy="203100"/>
          </a:xfrm>
          <a:prstGeom prst="rect">
            <a:avLst/>
          </a:prstGeom>
          <a:noFill/>
          <a:ln>
            <a:noFill/>
          </a:ln>
        </p:spPr>
        <p:txBody>
          <a:bodyPr anchorCtr="0" anchor="t" bIns="0" lIns="0" spcFirstLastPara="1" rIns="0" wrap="square" tIns="0">
            <a:noAutofit/>
          </a:bodyPr>
          <a:lstStyle/>
          <a:p>
            <a:pPr indent="0" lvl="0" marL="0" marR="0" rtl="0" algn="r">
              <a:lnSpc>
                <a:spcPct val="110000"/>
              </a:lnSpc>
              <a:spcBef>
                <a:spcPts val="0"/>
              </a:spcBef>
              <a:spcAft>
                <a:spcPts val="0"/>
              </a:spcAft>
              <a:buNone/>
            </a:pPr>
            <a:r>
              <a:rPr b="1" i="0" lang="en-US" spc="0" sz="1200" u="none" cap="none" strike="noStrike">
                <a:solidFill>
                  <a:srgbClr val="A80E8E"/>
                </a:solidFill>
                <a:latin typeface="Arial"/>
                <a:ea typeface="Arial"/>
                <a:cs typeface="Arial"/>
                <a:sym typeface="Arial"/>
              </a:rPr>
              <a:t>10/12</a:t>
            </a:r>
            <a:endParaRPr/>
          </a:p>
        </p:txBody>
      </p:sp>
      <p:sp>
        <p:nvSpPr>
          <p:cNvPr id="123" name="Google Shape;123;p9"/>
          <p:cNvSpPr txBox="1"/>
          <p:nvPr/>
        </p:nvSpPr>
        <p:spPr>
          <a:xfrm>
            <a:off x="711200" y="5816600"/>
            <a:ext cx="11087100" cy="1779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1" i="0" lang="en-US" spc="0" sz="1000" u="none" cap="none" strike="noStrike">
                <a:solidFill>
                  <a:srgbClr val="6E5E7D"/>
                </a:solidFill>
                <a:latin typeface="Arial"/>
                <a:ea typeface="Arial"/>
                <a:cs typeface="Arial"/>
                <a:sym typeface="Arial"/>
              </a:rPr>
              <a:t>Критерии (1–3 балла):</a:t>
            </a:r>
            <a:r>
              <a:rPr b="0" i="0" lang="en-US" spc="0" sz="1000" u="none" cap="none" strike="noStrike">
                <a:solidFill>
                  <a:srgbClr val="6E5E7D"/>
                </a:solidFill>
                <a:latin typeface="Arial"/>
                <a:ea typeface="Arial"/>
                <a:cs typeface="Arial"/>
                <a:sym typeface="Arial"/>
              </a:rPr>
              <a:t> Цель: вклад в №1 и доход сверх комиссии · Риски: дроны, закон, санкции · Отрыв: фора перед Ozon и Яндексом · 2 года: отдача в срок</a:t>
            </a:r>
            <a:endParaRPr/>
          </a:p>
        </p:txBody>
      </p:sp>
      <p:cxnSp>
        <p:nvCxnSpPr>
          <p:cNvPr id="124" name="Google Shape;124;p9"/>
          <p:cNvCxnSpPr/>
          <p:nvPr/>
        </p:nvCxnSpPr>
        <p:spPr>
          <a:xfrm>
            <a:off x="711200" y="6070600"/>
            <a:ext cx="10769700" cy="0"/>
          </a:xfrm>
          <a:prstGeom prst="straightConnector1">
            <a:avLst/>
          </a:prstGeom>
          <a:noFill/>
          <a:ln cap="flat" cmpd="sng" w="9525">
            <a:solidFill>
              <a:srgbClr val="DDD0E6"/>
            </a:solidFill>
            <a:prstDash val="solid"/>
            <a:round/>
            <a:headEnd len="sm" w="sm" type="none"/>
            <a:tailEnd len="sm" w="sm" type="none"/>
          </a:ln>
        </p:spPr>
      </p:cxnSp>
      <p:sp>
        <p:nvSpPr>
          <p:cNvPr id="125" name="Google Shape;125;p9"/>
          <p:cNvSpPr txBox="1"/>
          <p:nvPr/>
        </p:nvSpPr>
        <p:spPr>
          <a:xfrm>
            <a:off x="711200" y="6146800"/>
            <a:ext cx="11087100" cy="4572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None/>
            </a:pPr>
            <a:r>
              <a:rPr b="0" i="0" lang="en-US" spc="0" sz="1100" u="none" cap="none" strike="noStrike">
                <a:solidFill>
                  <a:srgbClr val="6E5E7D"/>
                </a:solidFill>
                <a:latin typeface="Arial"/>
                <a:ea typeface="Arial"/>
                <a:cs typeface="Arial"/>
                <a:sym typeface="Arial"/>
              </a:rPr>
              <a:t>- </a:t>
            </a:r>
            <a:r>
              <a:rPr b="0" i="0" lang="en-US" spc="0" sz="1100" u="sng" cap="none" strike="noStrike">
                <a:solidFill>
                  <a:schemeClr val="hlink"/>
                </a:solidFill>
                <a:latin typeface="Arial"/>
                <a:ea typeface="Arial"/>
                <a:cs typeface="Arial"/>
                <a:sym typeface="Arial"/>
                <a:hlinkClick r:id="rId3"/>
              </a:rPr>
              <a:t>CNews, 11.02.2026</a:t>
            </a:r>
            <a:r>
              <a:rPr b="0" i="0" lang="en-US" spc="0" sz="1100" u="none" cap="none" strike="noStrike">
                <a:solidFill>
                  <a:srgbClr val="6E5E7D"/>
                </a:solidFill>
                <a:latin typeface="Arial"/>
                <a:ea typeface="Arial"/>
                <a:cs typeface="Arial"/>
                <a:sym typeface="Arial"/>
              </a:rPr>
              <a:t> - </a:t>
            </a:r>
            <a:r>
              <a:rPr b="0" i="0" lang="en-US" spc="0" sz="1100" u="sng" cap="none" strike="noStrike">
                <a:solidFill>
                  <a:schemeClr val="hlink"/>
                </a:solidFill>
                <a:latin typeface="Arial"/>
                <a:ea typeface="Arial"/>
                <a:cs typeface="Arial"/>
                <a:sym typeface="Arial"/>
                <a:hlinkClick r:id="rId4"/>
              </a:rPr>
              <a:t>РИА Новости, 29.03.2025</a:t>
            </a:r>
            <a:r>
              <a:rPr b="0" i="0" lang="en-US" spc="0" sz="1100" u="none" cap="none" strike="noStrike">
                <a:solidFill>
                  <a:srgbClr val="6E5E7D"/>
                </a:solidFill>
                <a:latin typeface="Arial"/>
                <a:ea typeface="Arial"/>
                <a:cs typeface="Arial"/>
                <a:sym typeface="Arial"/>
              </a:rPr>
              <a:t> - </a:t>
            </a:r>
            <a:r>
              <a:rPr b="0" i="0" lang="en-US" spc="0" sz="1100" u="sng" cap="none" strike="noStrike">
                <a:solidFill>
                  <a:schemeClr val="hlink"/>
                </a:solidFill>
                <a:latin typeface="Arial"/>
                <a:ea typeface="Arial"/>
                <a:cs typeface="Arial"/>
                <a:sym typeface="Arial"/>
                <a:hlinkClick r:id="rId5"/>
              </a:rPr>
              <a:t>Bosfera, 26.02.2026</a:t>
            </a:r>
            <a:r>
              <a:rPr b="0" i="0" lang="en-US" spc="0" sz="1100" u="none" cap="none" strike="noStrike">
                <a:solidFill>
                  <a:srgbClr val="6E5E7D"/>
                </a:solidFill>
                <a:latin typeface="Arial"/>
                <a:ea typeface="Arial"/>
                <a:cs typeface="Arial"/>
                <a:sym typeface="Arial"/>
              </a:rPr>
              <a:t> - </a:t>
            </a:r>
            <a:r>
              <a:rPr b="0" i="0" lang="en-US" spc="0" sz="1100" u="sng" cap="none" strike="noStrike">
                <a:solidFill>
                  <a:schemeClr val="hlink"/>
                </a:solidFill>
                <a:latin typeface="Arial"/>
                <a:ea typeface="Arial"/>
                <a:cs typeface="Arial"/>
                <a:sym typeface="Arial"/>
                <a:hlinkClick r:id="rId6"/>
              </a:rPr>
              <a:t>Фонтанка, 23.04.2026</a:t>
            </a:r>
            <a:r>
              <a:rPr b="0" i="0" lang="en-US" spc="0" sz="1100" u="none" cap="none" strike="noStrike">
                <a:solidFill>
                  <a:srgbClr val="6E5E7D"/>
                </a:solidFill>
                <a:latin typeface="Arial"/>
                <a:ea typeface="Arial"/>
                <a:cs typeface="Arial"/>
                <a:sym typeface="Arial"/>
              </a:rPr>
              <a:t> - </a:t>
            </a:r>
            <a:r>
              <a:rPr b="0" i="0" lang="en-US" spc="0" sz="1100" u="sng" cap="none" strike="noStrike">
                <a:solidFill>
                  <a:schemeClr val="hlink"/>
                </a:solidFill>
                <a:latin typeface="Arial"/>
                <a:ea typeface="Arial"/>
                <a:cs typeface="Arial"/>
                <a:sym typeface="Arial"/>
                <a:hlinkClick r:id="rId7"/>
              </a:rPr>
              <a:t>www1.ru, 29.09.2026</a:t>
            </a:r>
            <a:r>
              <a:rPr b="0" i="0" lang="en-US" spc="0" sz="1100" u="none" cap="none" strike="noStrike">
                <a:solidFill>
                  <a:srgbClr val="6E5E7D"/>
                </a:solidFill>
                <a:latin typeface="Arial"/>
                <a:ea typeface="Arial"/>
                <a:cs typeface="Arial"/>
                <a:sym typeface="Arial"/>
              </a:rPr>
              <a:t> - </a:t>
            </a:r>
            <a:r>
              <a:rPr b="0" i="0" lang="en-US" spc="0" sz="1100" u="sng" cap="none" strike="noStrike">
                <a:solidFill>
                  <a:schemeClr val="hlink"/>
                </a:solidFill>
                <a:latin typeface="Arial"/>
                <a:ea typeface="Arial"/>
                <a:cs typeface="Arial"/>
                <a:sym typeface="Arial"/>
                <a:hlinkClick r:id="rId8"/>
              </a:rPr>
              <a:t>Spot.uz, 23.04.2026</a:t>
            </a:r>
            <a:r>
              <a:rPr b="0" i="0" lang="en-US" spc="0" sz="1100" u="none" cap="none" strike="noStrike">
                <a:solidFill>
                  <a:srgbClr val="6E5E7D"/>
                </a:solidFill>
                <a:latin typeface="Arial"/>
                <a:ea typeface="Arial"/>
                <a:cs typeface="Arial"/>
                <a:sym typeface="Arial"/>
              </a:rPr>
              <a:t> - </a:t>
            </a:r>
            <a:r>
              <a:rPr b="0" i="0" lang="en-US" spc="0" sz="1100" u="sng" cap="none" strike="noStrike">
                <a:solidFill>
                  <a:schemeClr val="hlink"/>
                </a:solidFill>
                <a:latin typeface="Arial"/>
                <a:ea typeface="Arial"/>
                <a:cs typeface="Arial"/>
                <a:sym typeface="Arial"/>
                <a:hlinkClick r:id="rId9"/>
              </a:rPr>
              <a:t>PwC Казахстан, 1П 2025</a:t>
            </a:r>
            <a:r>
              <a:rPr b="0" i="0" lang="en-US" spc="0" sz="1100" u="none" cap="none" strike="noStrike">
                <a:solidFill>
                  <a:srgbClr val="6E5E7D"/>
                </a:solidFill>
                <a:latin typeface="Arial"/>
                <a:ea typeface="Arial"/>
                <a:cs typeface="Arial"/>
                <a:sym typeface="Arial"/>
              </a:rPr>
              <a:t> - </a:t>
            </a:r>
            <a:r>
              <a:rPr b="0" i="0" lang="en-US" spc="0" sz="1100" u="sng" cap="none" strike="noStrike">
                <a:solidFill>
                  <a:schemeClr val="hlink"/>
                </a:solidFill>
                <a:latin typeface="Arial"/>
                <a:ea typeface="Arial"/>
                <a:cs typeface="Arial"/>
                <a:sym typeface="Arial"/>
                <a:hlinkClick r:id="rId10"/>
              </a:rPr>
              <a:t>Forbes.kz через Lada.kz, 31.07.2026</a:t>
            </a:r>
            <a:endParaRPr b="0" i="0" spc="0" sz="1100" u="none" cap="none" strike="noStrike">
              <a:solidFill>
                <a:srgbClr val="6E5E7D"/>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A0B45"/>
        </a:solidFill>
      </p:bgPr>
    </p:bg>
    <p:spTree>
      <p:nvGrpSpPr>
        <p:cNvPr id="130" name="Shape 130"/>
        <p:cNvGrpSpPr/>
        <p:nvPr/>
      </p:nvGrpSpPr>
      <p:grpSpPr>
        <a:xfrm>
          <a:off x="0" y="0"/>
          <a:ext cx="0" cy="0"/>
          <a:chOff x="0" y="0"/>
          <a:chExt cx="0" cy="0"/>
        </a:xfrm>
      </p:grpSpPr>
      <p:sp>
        <p:nvSpPr>
          <p:cNvPr id="131" name="Google Shape;131;p10"/>
          <p:cNvSpPr txBox="1"/>
          <p:nvPr>
            <p:ph type="title"/>
          </p:nvPr>
        </p:nvSpPr>
        <p:spPr>
          <a:xfrm>
            <a:off x="711200" y="797560"/>
            <a:ext cx="10769700" cy="711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241036"/>
              </a:buClr>
              <a:buSzPts val="2500"/>
              <a:buFont typeface="Inter"/>
              <a:buNone/>
            </a:pPr>
            <a:r>
              <a:t/>
            </a:r>
            <a:endParaRPr/>
          </a:p>
        </p:txBody>
      </p:sp>
      <p:sp>
        <p:nvSpPr>
          <p:cNvPr id="132" name="Google Shape;132;p10"/>
          <p:cNvSpPr txBox="1"/>
          <p:nvPr/>
        </p:nvSpPr>
        <p:spPr>
          <a:xfrm>
            <a:off x="711200" y="406400"/>
            <a:ext cx="6350100" cy="2412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None/>
            </a:pPr>
            <a:r>
              <a:rPr b="1" i="0" lang="en-US" spc="0" sz="1200" u="none" cap="none" strike="noStrike">
                <a:solidFill>
                  <a:srgbClr val="F27BD8"/>
                </a:solidFill>
                <a:latin typeface="Arial"/>
                <a:ea typeface="Arial"/>
                <a:cs typeface="Arial"/>
                <a:sym typeface="Arial"/>
              </a:rPr>
              <a:t>Анализ · ключевые трейд-оффы</a:t>
            </a:r>
            <a:endParaRPr/>
          </a:p>
        </p:txBody>
      </p:sp>
      <p:sp>
        <p:nvSpPr>
          <p:cNvPr id="133" name="Google Shape;133;p10"/>
          <p:cNvSpPr txBox="1"/>
          <p:nvPr/>
        </p:nvSpPr>
        <p:spPr>
          <a:xfrm>
            <a:off x="711200" y="774700"/>
            <a:ext cx="11087100" cy="73650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None/>
            </a:pPr>
            <a:r>
              <a:rPr b="1" i="0" lang="en-US" spc="0" sz="2300" u="none" cap="none" strike="noStrike">
                <a:solidFill>
                  <a:srgbClr val="FBF6FD"/>
                </a:solidFill>
                <a:latin typeface="Arial"/>
                <a:ea typeface="Arial"/>
                <a:cs typeface="Arial"/>
                <a:sym typeface="Arial"/>
              </a:rPr>
              <a:t>Мы покупаем доверие и чистую экономику заказа и платим за это быстрыми деньгами и скоростью</a:t>
            </a:r>
            <a:endParaRPr/>
          </a:p>
        </p:txBody>
      </p:sp>
      <p:sp>
        <p:nvSpPr>
          <p:cNvPr id="134" name="Google Shape;134;p10"/>
          <p:cNvSpPr txBox="1"/>
          <p:nvPr/>
        </p:nvSpPr>
        <p:spPr>
          <a:xfrm>
            <a:off x="1168400" y="1651000"/>
            <a:ext cx="2031900" cy="2031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1" i="0" lang="en-US" spc="0" sz="1200" u="none" cap="none" strike="noStrike">
                <a:solidFill>
                  <a:srgbClr val="F27BD8"/>
                </a:solidFill>
                <a:latin typeface="Arial"/>
                <a:ea typeface="Arial"/>
                <a:cs typeface="Arial"/>
                <a:sym typeface="Arial"/>
              </a:rPr>
              <a:t>Трейд-офф</a:t>
            </a:r>
            <a:endParaRPr/>
          </a:p>
        </p:txBody>
      </p:sp>
      <p:sp>
        <p:nvSpPr>
          <p:cNvPr id="135" name="Google Shape;135;p10"/>
          <p:cNvSpPr txBox="1"/>
          <p:nvPr/>
        </p:nvSpPr>
        <p:spPr>
          <a:xfrm>
            <a:off x="3378200" y="1651000"/>
            <a:ext cx="2603400" cy="2031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1" i="0" lang="en-US" spc="0" sz="1200" u="none" cap="none" strike="noStrike">
                <a:solidFill>
                  <a:srgbClr val="F27BD8"/>
                </a:solidFill>
                <a:latin typeface="Arial"/>
                <a:ea typeface="Arial"/>
                <a:cs typeface="Arial"/>
                <a:sym typeface="Arial"/>
              </a:rPr>
              <a:t>+ Что выигрываем</a:t>
            </a:r>
            <a:endParaRPr/>
          </a:p>
        </p:txBody>
      </p:sp>
      <p:sp>
        <p:nvSpPr>
          <p:cNvPr id="136" name="Google Shape;136;p10"/>
          <p:cNvSpPr txBox="1"/>
          <p:nvPr/>
        </p:nvSpPr>
        <p:spPr>
          <a:xfrm>
            <a:off x="6159500" y="1651000"/>
            <a:ext cx="2603400" cy="2031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1" i="0" lang="en-US" spc="0" sz="1200" u="none" cap="none" strike="noStrike">
                <a:solidFill>
                  <a:srgbClr val="F27BD8"/>
                </a:solidFill>
                <a:latin typeface="Arial"/>
                <a:ea typeface="Arial"/>
                <a:cs typeface="Arial"/>
                <a:sym typeface="Arial"/>
              </a:rPr>
              <a:t>− Чем жертвуем</a:t>
            </a:r>
            <a:endParaRPr/>
          </a:p>
        </p:txBody>
      </p:sp>
      <p:sp>
        <p:nvSpPr>
          <p:cNvPr id="137" name="Google Shape;137;p10"/>
          <p:cNvSpPr txBox="1"/>
          <p:nvPr/>
        </p:nvSpPr>
        <p:spPr>
          <a:xfrm>
            <a:off x="8940800" y="1651000"/>
            <a:ext cx="2857500" cy="2031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1" i="0" lang="en-US" spc="0" sz="1200" u="none" cap="none" strike="noStrike">
                <a:solidFill>
                  <a:srgbClr val="F27BD8"/>
                </a:solidFill>
                <a:latin typeface="Arial"/>
                <a:ea typeface="Arial"/>
                <a:cs typeface="Arial"/>
                <a:sym typeface="Arial"/>
              </a:rPr>
              <a:t>К чему вед</a:t>
            </a:r>
            <a:r>
              <a:rPr b="1" lang="en-US" sz="1200">
                <a:solidFill>
                  <a:srgbClr val="F27BD8"/>
                </a:solidFill>
              </a:rPr>
              <a:t>е</a:t>
            </a:r>
            <a:r>
              <a:rPr b="1" i="0" lang="en-US" spc="0" sz="1200" u="none" cap="none" strike="noStrike">
                <a:solidFill>
                  <a:srgbClr val="F27BD8"/>
                </a:solidFill>
                <a:latin typeface="Arial"/>
                <a:ea typeface="Arial"/>
                <a:cs typeface="Arial"/>
                <a:sym typeface="Arial"/>
              </a:rPr>
              <a:t>т и как управляем</a:t>
            </a:r>
            <a:endParaRPr/>
          </a:p>
        </p:txBody>
      </p:sp>
      <p:cxnSp>
        <p:nvCxnSpPr>
          <p:cNvPr id="138" name="Google Shape;138;p10"/>
          <p:cNvCxnSpPr/>
          <p:nvPr/>
        </p:nvCxnSpPr>
        <p:spPr>
          <a:xfrm>
            <a:off x="711200" y="1917700"/>
            <a:ext cx="11087100" cy="0"/>
          </a:xfrm>
          <a:prstGeom prst="straightConnector1">
            <a:avLst/>
          </a:prstGeom>
          <a:noFill/>
          <a:ln cap="flat" cmpd="sng" w="19050">
            <a:solidFill>
              <a:srgbClr val="F27BD8"/>
            </a:solidFill>
            <a:prstDash val="solid"/>
            <a:round/>
            <a:headEnd len="sm" w="sm" type="none"/>
            <a:tailEnd len="sm" w="sm" type="none"/>
          </a:ln>
        </p:spPr>
      </p:cxnSp>
      <p:sp>
        <p:nvSpPr>
          <p:cNvPr id="139" name="Google Shape;139;p10"/>
          <p:cNvSpPr txBox="1"/>
          <p:nvPr/>
        </p:nvSpPr>
        <p:spPr>
          <a:xfrm>
            <a:off x="711200" y="1981200"/>
            <a:ext cx="381000"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pc="0" sz="1800" u="none" cap="none" strike="noStrike">
                <a:solidFill>
                  <a:srgbClr val="F27BD8"/>
                </a:solidFill>
                <a:latin typeface="Arial"/>
                <a:ea typeface="Arial"/>
                <a:cs typeface="Arial"/>
                <a:sym typeface="Arial"/>
              </a:rPr>
              <a:t>01</a:t>
            </a:r>
            <a:endParaRPr/>
          </a:p>
        </p:txBody>
      </p:sp>
      <p:sp>
        <p:nvSpPr>
          <p:cNvPr id="140" name="Google Shape;140;p10"/>
          <p:cNvSpPr txBox="1"/>
          <p:nvPr/>
        </p:nvSpPr>
        <p:spPr>
          <a:xfrm>
            <a:off x="1168400" y="2006600"/>
            <a:ext cx="2031900" cy="7875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1" i="0" lang="en-US" spc="0" sz="1300" u="none" cap="none" strike="noStrike">
                <a:solidFill>
                  <a:srgbClr val="FBF6FD"/>
                </a:solidFill>
                <a:latin typeface="Arial"/>
                <a:ea typeface="Arial"/>
                <a:cs typeface="Arial"/>
                <a:sym typeface="Arial"/>
              </a:rPr>
              <a:t>Честный совет против рекламы в ответе</a:t>
            </a:r>
            <a:endParaRPr/>
          </a:p>
        </p:txBody>
      </p:sp>
      <p:sp>
        <p:nvSpPr>
          <p:cNvPr id="141" name="Google Shape;141;p10"/>
          <p:cNvSpPr txBox="1"/>
          <p:nvPr/>
        </p:nvSpPr>
        <p:spPr>
          <a:xfrm>
            <a:off x="3378200" y="2006600"/>
            <a:ext cx="2603400" cy="787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pc="0" sz="1200" u="none" cap="none" strike="noStrike">
                <a:solidFill>
                  <a:srgbClr val="DCCCE8"/>
                </a:solidFill>
                <a:latin typeface="Arial"/>
                <a:ea typeface="Arial"/>
                <a:cs typeface="Arial"/>
                <a:sym typeface="Arial"/>
              </a:rPr>
              <a:t>Ответу консультанта верят как совету продавца в магазине, а не как баннеру. Растут конверсия и число повторных вопросов.</a:t>
            </a:r>
            <a:endParaRPr/>
          </a:p>
        </p:txBody>
      </p:sp>
      <p:sp>
        <p:nvSpPr>
          <p:cNvPr id="142" name="Google Shape;142;p10"/>
          <p:cNvSpPr txBox="1"/>
          <p:nvPr/>
        </p:nvSpPr>
        <p:spPr>
          <a:xfrm>
            <a:off x="6159500" y="2006600"/>
            <a:ext cx="2603400" cy="787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pc="0" sz="1200" u="none" cap="none" strike="noStrike">
                <a:solidFill>
                  <a:srgbClr val="DCCCE8"/>
                </a:solidFill>
                <a:latin typeface="Arial"/>
                <a:ea typeface="Arial"/>
                <a:cs typeface="Arial"/>
                <a:sym typeface="Arial"/>
              </a:rPr>
              <a:t>В самой ценной точке выдачи на пилоте нет рекламы, хотя реклама принесла тройке маркетплейсов 500–600 млрд ₽ за 2025 год.</a:t>
            </a:r>
            <a:endParaRPr/>
          </a:p>
        </p:txBody>
      </p:sp>
      <p:sp>
        <p:nvSpPr>
          <p:cNvPr id="143" name="Google Shape;143;p10"/>
          <p:cNvSpPr txBox="1"/>
          <p:nvPr/>
        </p:nvSpPr>
        <p:spPr>
          <a:xfrm>
            <a:off x="8940800" y="2006600"/>
            <a:ext cx="2857500" cy="787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pc="0" sz="1200" u="none" cap="none" strike="noStrike">
                <a:solidFill>
                  <a:srgbClr val="F3ECF7"/>
                </a:solidFill>
                <a:latin typeface="Arial"/>
                <a:ea typeface="Arial"/>
                <a:cs typeface="Arial"/>
                <a:sym typeface="Arial"/>
              </a:rPr>
              <a:t>Рекламная выручка в 2027 году раст</a:t>
            </a:r>
            <a:r>
              <a:rPr lang="en-US" sz="1200">
                <a:solidFill>
                  <a:srgbClr val="F3ECF7"/>
                </a:solidFill>
              </a:rPr>
              <a:t>е</a:t>
            </a:r>
            <a:r>
              <a:rPr b="0" i="0" lang="en-US" spc="0" sz="1200" u="none" cap="none" strike="noStrike">
                <a:solidFill>
                  <a:srgbClr val="F3ECF7"/>
                </a:solidFill>
                <a:latin typeface="Arial"/>
                <a:ea typeface="Arial"/>
                <a:cs typeface="Arial"/>
                <a:sym typeface="Arial"/>
              </a:rPr>
              <a:t>т медленнее. Спонсорские места вводим только после пилота, с пометкой «реклама» и не больше 1 из 5 позиций.</a:t>
            </a:r>
            <a:endParaRPr/>
          </a:p>
        </p:txBody>
      </p:sp>
      <p:cxnSp>
        <p:nvCxnSpPr>
          <p:cNvPr id="144" name="Google Shape;144;p10"/>
          <p:cNvCxnSpPr/>
          <p:nvPr/>
        </p:nvCxnSpPr>
        <p:spPr>
          <a:xfrm>
            <a:off x="711200" y="2832100"/>
            <a:ext cx="11087100" cy="0"/>
          </a:xfrm>
          <a:prstGeom prst="straightConnector1">
            <a:avLst/>
          </a:prstGeom>
          <a:noFill/>
          <a:ln cap="flat" cmpd="sng" w="9525">
            <a:solidFill>
              <a:srgbClr val="57376F"/>
            </a:solidFill>
            <a:prstDash val="solid"/>
            <a:round/>
            <a:headEnd len="sm" w="sm" type="none"/>
            <a:tailEnd len="sm" w="sm" type="none"/>
          </a:ln>
        </p:spPr>
      </p:cxnSp>
      <p:sp>
        <p:nvSpPr>
          <p:cNvPr id="145" name="Google Shape;145;p10"/>
          <p:cNvSpPr txBox="1"/>
          <p:nvPr/>
        </p:nvSpPr>
        <p:spPr>
          <a:xfrm>
            <a:off x="711200" y="2870200"/>
            <a:ext cx="381000"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pc="0" sz="1800" u="none" cap="none" strike="noStrike">
                <a:solidFill>
                  <a:srgbClr val="F27BD8"/>
                </a:solidFill>
                <a:latin typeface="Arial"/>
                <a:ea typeface="Arial"/>
                <a:cs typeface="Arial"/>
                <a:sym typeface="Arial"/>
              </a:rPr>
              <a:t>02</a:t>
            </a:r>
            <a:endParaRPr/>
          </a:p>
        </p:txBody>
      </p:sp>
      <p:sp>
        <p:nvSpPr>
          <p:cNvPr id="146" name="Google Shape;146;p10"/>
          <p:cNvSpPr txBox="1"/>
          <p:nvPr/>
        </p:nvSpPr>
        <p:spPr>
          <a:xfrm>
            <a:off x="1168400" y="2895600"/>
            <a:ext cx="2031900" cy="7875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1" i="0" lang="en-US" spc="0" sz="1300" u="none" cap="none" strike="noStrike">
                <a:solidFill>
                  <a:srgbClr val="FBF6FD"/>
                </a:solidFill>
                <a:latin typeface="Arial"/>
                <a:ea typeface="Arial"/>
                <a:cs typeface="Arial"/>
                <a:sym typeface="Arial"/>
              </a:rPr>
              <a:t>Чистый GMV против валового</a:t>
            </a:r>
            <a:endParaRPr/>
          </a:p>
        </p:txBody>
      </p:sp>
      <p:sp>
        <p:nvSpPr>
          <p:cNvPr id="147" name="Google Shape;147;p10"/>
          <p:cNvSpPr txBox="1"/>
          <p:nvPr/>
        </p:nvSpPr>
        <p:spPr>
          <a:xfrm>
            <a:off x="3378200" y="2895600"/>
            <a:ext cx="2603400" cy="787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pc="0" sz="1200" u="none" cap="none" strike="noStrike">
                <a:solidFill>
                  <a:srgbClr val="DCCCE8"/>
                </a:solidFill>
                <a:latin typeface="Arial"/>
                <a:ea typeface="Arial"/>
                <a:cs typeface="Arial"/>
                <a:sym typeface="Arial"/>
              </a:rPr>
              <a:t>Подсказка по размеру сокращает заказы «на примерку»: меньше пустых перевозок и очередей в ПВЗ, пока складов не хватает.</a:t>
            </a:r>
            <a:endParaRPr/>
          </a:p>
        </p:txBody>
      </p:sp>
      <p:sp>
        <p:nvSpPr>
          <p:cNvPr id="148" name="Google Shape;148;p10"/>
          <p:cNvSpPr txBox="1"/>
          <p:nvPr/>
        </p:nvSpPr>
        <p:spPr>
          <a:xfrm>
            <a:off x="6159500" y="2895600"/>
            <a:ext cx="2603400" cy="787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pc="0" sz="1200" u="none" cap="none" strike="noStrike">
                <a:solidFill>
                  <a:srgbClr val="DCCCE8"/>
                </a:solidFill>
                <a:latin typeface="Arial"/>
                <a:ea typeface="Arial"/>
                <a:cs typeface="Arial"/>
                <a:sym typeface="Arial"/>
              </a:rPr>
              <a:t>Одежду выкупали лишь на 42% в штуках (2025). Часть заказов уйд</a:t>
            </a:r>
            <a:r>
              <a:rPr lang="en-US" sz="1200">
                <a:solidFill>
                  <a:srgbClr val="DCCCE8"/>
                </a:solidFill>
              </a:rPr>
              <a:t>е</a:t>
            </a:r>
            <a:r>
              <a:rPr b="0" i="0" lang="en-US" spc="0" sz="1200" u="none" cap="none" strike="noStrike">
                <a:solidFill>
                  <a:srgbClr val="DCCCE8"/>
                </a:solidFill>
                <a:latin typeface="Arial"/>
                <a:ea typeface="Arial"/>
                <a:cs typeface="Arial"/>
                <a:sym typeface="Arial"/>
              </a:rPr>
              <a:t>т, и валовой GMV, главная публичная цифра RWB, замедлится.</a:t>
            </a:r>
            <a:endParaRPr/>
          </a:p>
        </p:txBody>
      </p:sp>
      <p:sp>
        <p:nvSpPr>
          <p:cNvPr id="149" name="Google Shape;149;p10"/>
          <p:cNvSpPr txBox="1"/>
          <p:nvPr/>
        </p:nvSpPr>
        <p:spPr>
          <a:xfrm>
            <a:off x="8940800" y="2895600"/>
            <a:ext cx="2857500" cy="787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pc="0" sz="1200" u="none" cap="none" strike="noStrike">
                <a:solidFill>
                  <a:srgbClr val="F3ECF7"/>
                </a:solidFill>
                <a:latin typeface="Arial"/>
                <a:ea typeface="Arial"/>
                <a:cs typeface="Arial"/>
                <a:sym typeface="Arial"/>
              </a:rPr>
              <a:t>Цели команды считаем в GMV без возвратов на покупателя. Инвесторам заранее объясняем, почему валовой рост ниже.</a:t>
            </a:r>
            <a:endParaRPr/>
          </a:p>
        </p:txBody>
      </p:sp>
      <p:cxnSp>
        <p:nvCxnSpPr>
          <p:cNvPr id="150" name="Google Shape;150;p10"/>
          <p:cNvCxnSpPr/>
          <p:nvPr/>
        </p:nvCxnSpPr>
        <p:spPr>
          <a:xfrm>
            <a:off x="711200" y="3721100"/>
            <a:ext cx="11087100" cy="0"/>
          </a:xfrm>
          <a:prstGeom prst="straightConnector1">
            <a:avLst/>
          </a:prstGeom>
          <a:noFill/>
          <a:ln cap="flat" cmpd="sng" w="9525">
            <a:solidFill>
              <a:srgbClr val="57376F"/>
            </a:solidFill>
            <a:prstDash val="solid"/>
            <a:round/>
            <a:headEnd len="sm" w="sm" type="none"/>
            <a:tailEnd len="sm" w="sm" type="none"/>
          </a:ln>
        </p:spPr>
      </p:cxnSp>
      <p:sp>
        <p:nvSpPr>
          <p:cNvPr id="151" name="Google Shape;151;p10"/>
          <p:cNvSpPr txBox="1"/>
          <p:nvPr/>
        </p:nvSpPr>
        <p:spPr>
          <a:xfrm>
            <a:off x="711200" y="3759200"/>
            <a:ext cx="381000"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pc="0" sz="1800" u="none" cap="none" strike="noStrike">
                <a:solidFill>
                  <a:srgbClr val="F27BD8"/>
                </a:solidFill>
                <a:latin typeface="Arial"/>
                <a:ea typeface="Arial"/>
                <a:cs typeface="Arial"/>
                <a:sym typeface="Arial"/>
              </a:rPr>
              <a:t>03</a:t>
            </a:r>
            <a:endParaRPr/>
          </a:p>
        </p:txBody>
      </p:sp>
      <p:sp>
        <p:nvSpPr>
          <p:cNvPr id="152" name="Google Shape;152;p10"/>
          <p:cNvSpPr txBox="1"/>
          <p:nvPr/>
        </p:nvSpPr>
        <p:spPr>
          <a:xfrm>
            <a:off x="1168400" y="3784600"/>
            <a:ext cx="2031900" cy="7875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1" i="0" lang="en-US" spc="0" sz="1300" u="none" cap="none" strike="noStrike">
                <a:solidFill>
                  <a:srgbClr val="FBF6FD"/>
                </a:solidFill>
                <a:latin typeface="Arial"/>
                <a:ea typeface="Arial"/>
                <a:cs typeface="Arial"/>
                <a:sym typeface="Arial"/>
              </a:rPr>
              <a:t>Ум продукта против скорости доставки</a:t>
            </a:r>
            <a:endParaRPr/>
          </a:p>
        </p:txBody>
      </p:sp>
      <p:sp>
        <p:nvSpPr>
          <p:cNvPr id="153" name="Google Shape;153;p10"/>
          <p:cNvSpPr txBox="1"/>
          <p:nvPr/>
        </p:nvSpPr>
        <p:spPr>
          <a:xfrm>
            <a:off x="3378200" y="3784600"/>
            <a:ext cx="2603400" cy="787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pc="0" sz="1200" u="none" cap="none" strike="noStrike">
                <a:solidFill>
                  <a:srgbClr val="DCCCE8"/>
                </a:solidFill>
                <a:latin typeface="Arial"/>
                <a:ea typeface="Arial"/>
                <a:cs typeface="Arial"/>
                <a:sym typeface="Arial"/>
              </a:rPr>
              <a:t>Деньги и люди идут в данные и модели, а не в дарксторы, которые можно потерять за одну ночь.</a:t>
            </a:r>
            <a:endParaRPr/>
          </a:p>
        </p:txBody>
      </p:sp>
      <p:sp>
        <p:nvSpPr>
          <p:cNvPr id="154" name="Google Shape;154;p10"/>
          <p:cNvSpPr txBox="1"/>
          <p:nvPr/>
        </p:nvSpPr>
        <p:spPr>
          <a:xfrm>
            <a:off x="6159500" y="3784600"/>
            <a:ext cx="2603400" cy="787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pc="0" sz="1200" u="none" cap="none" strike="noStrike">
                <a:solidFill>
                  <a:srgbClr val="DCCCE8"/>
                </a:solidFill>
                <a:latin typeface="Arial"/>
                <a:ea typeface="Arial"/>
                <a:cs typeface="Arial"/>
                <a:sym typeface="Arial"/>
              </a:rPr>
              <a:t>Срочные покупки («нужно сегодня»: продукты, аптека) остаются у Лавки, Самоката и Ozon. «Экспресс» WB оста</a:t>
            </a:r>
            <a:r>
              <a:rPr lang="en-US" sz="1200">
                <a:solidFill>
                  <a:srgbClr val="DCCCE8"/>
                </a:solidFill>
              </a:rPr>
              <a:t>е</a:t>
            </a:r>
            <a:r>
              <a:rPr b="0" i="0" lang="en-US" spc="0" sz="1200" u="none" cap="none" strike="noStrike">
                <a:solidFill>
                  <a:srgbClr val="DCCCE8"/>
                </a:solidFill>
                <a:latin typeface="Arial"/>
                <a:ea typeface="Arial"/>
                <a:cs typeface="Arial"/>
                <a:sym typeface="Arial"/>
              </a:rPr>
              <a:t>тся пилотом в Москве.</a:t>
            </a:r>
            <a:endParaRPr/>
          </a:p>
        </p:txBody>
      </p:sp>
      <p:sp>
        <p:nvSpPr>
          <p:cNvPr id="155" name="Google Shape;155;p10"/>
          <p:cNvSpPr txBox="1"/>
          <p:nvPr/>
        </p:nvSpPr>
        <p:spPr>
          <a:xfrm>
            <a:off x="8940800" y="3784600"/>
            <a:ext cx="2857500" cy="787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pc="0" sz="1200" u="none" cap="none" strike="noStrike">
                <a:solidFill>
                  <a:srgbClr val="F3ECF7"/>
                </a:solidFill>
                <a:latin typeface="Arial"/>
                <a:ea typeface="Arial"/>
                <a:cs typeface="Arial"/>
                <a:sym typeface="Arial"/>
              </a:rPr>
              <a:t>Часть частых мелких заказов уходит к конкурентам. Компенсируем честным сроком в ответе: «завтра в ПВЗ у дома» вместо «за час».</a:t>
            </a:r>
            <a:endParaRPr/>
          </a:p>
        </p:txBody>
      </p:sp>
      <p:cxnSp>
        <p:nvCxnSpPr>
          <p:cNvPr id="156" name="Google Shape;156;p10"/>
          <p:cNvCxnSpPr/>
          <p:nvPr/>
        </p:nvCxnSpPr>
        <p:spPr>
          <a:xfrm>
            <a:off x="711200" y="4610100"/>
            <a:ext cx="11087100" cy="0"/>
          </a:xfrm>
          <a:prstGeom prst="straightConnector1">
            <a:avLst/>
          </a:prstGeom>
          <a:noFill/>
          <a:ln cap="flat" cmpd="sng" w="9525">
            <a:solidFill>
              <a:srgbClr val="57376F"/>
            </a:solidFill>
            <a:prstDash val="solid"/>
            <a:round/>
            <a:headEnd len="sm" w="sm" type="none"/>
            <a:tailEnd len="sm" w="sm" type="none"/>
          </a:ln>
        </p:spPr>
      </p:cxnSp>
      <p:sp>
        <p:nvSpPr>
          <p:cNvPr id="157" name="Google Shape;157;p10"/>
          <p:cNvSpPr txBox="1"/>
          <p:nvPr/>
        </p:nvSpPr>
        <p:spPr>
          <a:xfrm>
            <a:off x="711200" y="4648200"/>
            <a:ext cx="381000"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pc="0" sz="1800" u="none" cap="none" strike="noStrike">
                <a:solidFill>
                  <a:srgbClr val="F27BD8"/>
                </a:solidFill>
                <a:latin typeface="Arial"/>
                <a:ea typeface="Arial"/>
                <a:cs typeface="Arial"/>
                <a:sym typeface="Arial"/>
              </a:rPr>
              <a:t>04</a:t>
            </a:r>
            <a:endParaRPr/>
          </a:p>
        </p:txBody>
      </p:sp>
      <p:sp>
        <p:nvSpPr>
          <p:cNvPr id="158" name="Google Shape;158;p10"/>
          <p:cNvSpPr txBox="1"/>
          <p:nvPr/>
        </p:nvSpPr>
        <p:spPr>
          <a:xfrm>
            <a:off x="1168400" y="4673600"/>
            <a:ext cx="2031900" cy="7875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1" i="0" lang="en-US" spc="0" sz="1300" u="none" cap="none" strike="noStrike">
                <a:solidFill>
                  <a:srgbClr val="FBF6FD"/>
                </a:solidFill>
                <a:latin typeface="Arial"/>
                <a:ea typeface="Arial"/>
                <a:cs typeface="Arial"/>
                <a:sym typeface="Arial"/>
              </a:rPr>
              <a:t>Точная подборка против длинного хвоста продавцов</a:t>
            </a:r>
            <a:endParaRPr/>
          </a:p>
        </p:txBody>
      </p:sp>
      <p:sp>
        <p:nvSpPr>
          <p:cNvPr id="159" name="Google Shape;159;p10"/>
          <p:cNvSpPr txBox="1"/>
          <p:nvPr/>
        </p:nvSpPr>
        <p:spPr>
          <a:xfrm>
            <a:off x="3378200" y="4673600"/>
            <a:ext cx="2603400" cy="787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pc="0" sz="1200" u="none" cap="none" strike="noStrike">
                <a:solidFill>
                  <a:srgbClr val="DCCCE8"/>
                </a:solidFill>
                <a:latin typeface="Arial"/>
                <a:ea typeface="Arial"/>
                <a:cs typeface="Arial"/>
                <a:sym typeface="Arial"/>
              </a:rPr>
              <a:t>Вместо тысяч карточек покупатель видит 3–5 подходящих товаров и решает быстрее.</a:t>
            </a:r>
            <a:endParaRPr/>
          </a:p>
        </p:txBody>
      </p:sp>
      <p:sp>
        <p:nvSpPr>
          <p:cNvPr id="160" name="Google Shape;160;p10"/>
          <p:cNvSpPr txBox="1"/>
          <p:nvPr/>
        </p:nvSpPr>
        <p:spPr>
          <a:xfrm>
            <a:off x="6159500" y="4673600"/>
            <a:ext cx="2603400" cy="787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pc="0" sz="1200" u="none" cap="none" strike="noStrike">
                <a:solidFill>
                  <a:srgbClr val="DCCCE8"/>
                </a:solidFill>
                <a:latin typeface="Arial"/>
                <a:ea typeface="Arial"/>
                <a:cs typeface="Arial"/>
                <a:sym typeface="Arial"/>
              </a:rPr>
              <a:t>Мелкие продавцы теряют показы, а ассистент кажется «ч</a:t>
            </a:r>
            <a:r>
              <a:rPr lang="en-US" sz="1200">
                <a:solidFill>
                  <a:srgbClr val="DCCCE8"/>
                </a:solidFill>
              </a:rPr>
              <a:t>е</a:t>
            </a:r>
            <a:r>
              <a:rPr b="0" i="0" lang="en-US" spc="0" sz="1200" u="none" cap="none" strike="noStrike">
                <a:solidFill>
                  <a:srgbClr val="DCCCE8"/>
                </a:solidFill>
                <a:latin typeface="Arial"/>
                <a:ea typeface="Arial"/>
                <a:cs typeface="Arial"/>
                <a:sym typeface="Arial"/>
              </a:rPr>
              <a:t>рным ящиком». При 289-ФЗ это повод для претензий к WB.</a:t>
            </a:r>
            <a:endParaRPr/>
          </a:p>
        </p:txBody>
      </p:sp>
      <p:sp>
        <p:nvSpPr>
          <p:cNvPr id="161" name="Google Shape;161;p10"/>
          <p:cNvSpPr txBox="1"/>
          <p:nvPr/>
        </p:nvSpPr>
        <p:spPr>
          <a:xfrm>
            <a:off x="8940800" y="4673600"/>
            <a:ext cx="2857500" cy="787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pc="0" sz="1200" u="none" cap="none" strike="noStrike">
                <a:solidFill>
                  <a:srgbClr val="F3ECF7"/>
                </a:solidFill>
                <a:latin typeface="Arial"/>
                <a:ea typeface="Arial"/>
                <a:cs typeface="Arial"/>
                <a:sym typeface="Arial"/>
              </a:rPr>
              <a:t>Публикуем правила подборки, продавцу показываем, почему товар не попал в ответ. Решают отзывы и выкуп, а не рекламный бюджет.</a:t>
            </a:r>
            <a:endParaRPr/>
          </a:p>
        </p:txBody>
      </p:sp>
      <p:cxnSp>
        <p:nvCxnSpPr>
          <p:cNvPr id="162" name="Google Shape;162;p10"/>
          <p:cNvCxnSpPr/>
          <p:nvPr/>
        </p:nvCxnSpPr>
        <p:spPr>
          <a:xfrm>
            <a:off x="711200" y="5524500"/>
            <a:ext cx="11087100" cy="0"/>
          </a:xfrm>
          <a:prstGeom prst="straightConnector1">
            <a:avLst/>
          </a:prstGeom>
          <a:noFill/>
          <a:ln cap="flat" cmpd="sng" w="9525">
            <a:solidFill>
              <a:srgbClr val="57376F"/>
            </a:solidFill>
            <a:prstDash val="solid"/>
            <a:round/>
            <a:headEnd len="sm" w="sm" type="none"/>
            <a:tailEnd len="sm" w="sm" type="none"/>
          </a:ln>
        </p:spPr>
      </p:cxnSp>
      <p:sp>
        <p:nvSpPr>
          <p:cNvPr id="163" name="Google Shape;163;p10"/>
          <p:cNvSpPr txBox="1"/>
          <p:nvPr/>
        </p:nvSpPr>
        <p:spPr>
          <a:xfrm>
            <a:off x="711200" y="5613400"/>
            <a:ext cx="11087100" cy="4572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None/>
            </a:pPr>
            <a:r>
              <a:rPr b="1" i="0" lang="en-US" spc="0" sz="1300" u="none" cap="none" strike="noStrike">
                <a:solidFill>
                  <a:srgbClr val="F3ECF7"/>
                </a:solidFill>
                <a:latin typeface="Arial"/>
                <a:ea typeface="Arial"/>
                <a:cs typeface="Arial"/>
                <a:sym typeface="Arial"/>
              </a:rPr>
              <a:t>Общий принцип.</a:t>
            </a:r>
            <a:r>
              <a:rPr b="0" i="0" lang="en-US" spc="0" sz="1300" u="none" cap="none" strike="noStrike">
                <a:solidFill>
                  <a:srgbClr val="F3ECF7"/>
                </a:solidFill>
                <a:latin typeface="Arial"/>
                <a:ea typeface="Arial"/>
                <a:cs typeface="Arial"/>
                <a:sym typeface="Arial"/>
              </a:rPr>
              <a:t> Везде выбираем долгую выгоду: доверие покупателя, чистую экономику заказа и </a:t>
            </a:r>
            <a:r>
              <a:rPr lang="en-US" sz="1300">
                <a:solidFill>
                  <a:srgbClr val="F3ECF7"/>
                </a:solidFill>
              </a:rPr>
              <a:t>защищенность</a:t>
            </a:r>
            <a:r>
              <a:rPr b="0" i="0" lang="en-US" spc="0" sz="1300" u="none" cap="none" strike="noStrike">
                <a:solidFill>
                  <a:srgbClr val="F3ECF7"/>
                </a:solidFill>
                <a:latin typeface="Arial"/>
                <a:ea typeface="Arial"/>
                <a:cs typeface="Arial"/>
                <a:sym typeface="Arial"/>
              </a:rPr>
              <a:t> от рисков. Каждый отказ пересматриваем, если пилот не да</a:t>
            </a:r>
            <a:r>
              <a:rPr lang="en-US" sz="1300">
                <a:solidFill>
                  <a:srgbClr val="F3ECF7"/>
                </a:solidFill>
              </a:rPr>
              <a:t>е</a:t>
            </a:r>
            <a:r>
              <a:rPr b="0" i="0" lang="en-US" spc="0" sz="1300" u="none" cap="none" strike="noStrike">
                <a:solidFill>
                  <a:srgbClr val="F3ECF7"/>
                </a:solidFill>
                <a:latin typeface="Arial"/>
                <a:ea typeface="Arial"/>
                <a:cs typeface="Arial"/>
                <a:sym typeface="Arial"/>
              </a:rPr>
              <a:t>т роста GMV без возвратов на покупателя.</a:t>
            </a:r>
            <a:endParaRPr/>
          </a:p>
        </p:txBody>
      </p:sp>
      <p:sp>
        <p:nvSpPr>
          <p:cNvPr id="164" name="Google Shape;164;p10"/>
          <p:cNvSpPr txBox="1"/>
          <p:nvPr/>
        </p:nvSpPr>
        <p:spPr>
          <a:xfrm>
            <a:off x="711200" y="6248400"/>
            <a:ext cx="11087100" cy="3810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None/>
            </a:pPr>
            <a:r>
              <a:rPr b="0" i="0" lang="en-US" spc="0" sz="1100" u="none" cap="none" strike="noStrike">
                <a:solidFill>
                  <a:srgbClr val="F7F4F9"/>
                </a:solidFill>
                <a:latin typeface="Arial"/>
                <a:ea typeface="Arial"/>
                <a:cs typeface="Arial"/>
                <a:sym typeface="Arial"/>
              </a:rPr>
              <a:t>- </a:t>
            </a:r>
            <a:r>
              <a:rPr b="0" i="0" lang="en-US" spc="0" sz="1100" u="sng" cap="none" strike="noStrike">
                <a:solidFill>
                  <a:schemeClr val="hlink"/>
                </a:solidFill>
                <a:latin typeface="Arial"/>
                <a:ea typeface="Arial"/>
                <a:cs typeface="Arial"/>
                <a:sym typeface="Arial"/>
                <a:hlinkClick r:id="rId3"/>
              </a:rPr>
              <a:t>Oborot.ru по данным Data Insight, 14.04.2026</a:t>
            </a:r>
            <a:r>
              <a:rPr b="0" i="0" lang="en-US" spc="0" sz="1100" u="none" cap="none" strike="noStrike">
                <a:solidFill>
                  <a:srgbClr val="F7F4F9"/>
                </a:solidFill>
                <a:latin typeface="Arial"/>
                <a:ea typeface="Arial"/>
                <a:cs typeface="Arial"/>
                <a:sym typeface="Arial"/>
              </a:rPr>
              <a:t> - </a:t>
            </a:r>
            <a:r>
              <a:rPr b="0" i="0" lang="en-US" spc="0" sz="1100" u="sng" cap="none" strike="noStrike">
                <a:solidFill>
                  <a:schemeClr val="hlink"/>
                </a:solidFill>
                <a:latin typeface="Arial"/>
                <a:ea typeface="Arial"/>
                <a:cs typeface="Arial"/>
                <a:sym typeface="Arial"/>
                <a:hlinkClick r:id="rId4"/>
              </a:rPr>
              <a:t>ECOMHUB, 11.01.2026</a:t>
            </a:r>
            <a:r>
              <a:rPr b="0" i="0" lang="en-US" spc="0" sz="1100" u="none" cap="none" strike="noStrike">
                <a:solidFill>
                  <a:srgbClr val="F7F4F9"/>
                </a:solidFill>
                <a:latin typeface="Arial"/>
                <a:ea typeface="Arial"/>
                <a:cs typeface="Arial"/>
                <a:sym typeface="Arial"/>
              </a:rPr>
              <a:t> - </a:t>
            </a:r>
            <a:r>
              <a:rPr b="0" i="0" lang="en-US" spc="0" sz="1100" u="sng" cap="none" strike="noStrike">
                <a:solidFill>
                  <a:schemeClr val="hlink"/>
                </a:solidFill>
                <a:latin typeface="Arial"/>
                <a:ea typeface="Arial"/>
                <a:cs typeface="Arial"/>
                <a:sym typeface="Arial"/>
                <a:hlinkClick r:id="rId5"/>
              </a:rPr>
              <a:t>CNews, 11.02.2026</a:t>
            </a:r>
            <a:r>
              <a:rPr b="0" i="0" lang="en-US" spc="0" sz="1100" u="none" cap="none" strike="noStrike">
                <a:solidFill>
                  <a:srgbClr val="F7F4F9"/>
                </a:solidFill>
                <a:latin typeface="Arial"/>
                <a:ea typeface="Arial"/>
                <a:cs typeface="Arial"/>
                <a:sym typeface="Arial"/>
              </a:rPr>
              <a:t> - </a:t>
            </a:r>
            <a:r>
              <a:rPr b="0" i="0" lang="en-US" spc="0" sz="1100" u="sng" cap="none" strike="noStrike">
                <a:solidFill>
                  <a:schemeClr val="hlink"/>
                </a:solidFill>
                <a:latin typeface="Arial"/>
                <a:ea typeface="Arial"/>
                <a:cs typeface="Arial"/>
                <a:sym typeface="Arial"/>
                <a:hlinkClick r:id="rId6"/>
              </a:rPr>
              <a:t>www1.ru, 29.09.2026</a:t>
            </a:r>
            <a:endParaRPr b="0" i="0" spc="0" sz="1100" u="none" cap="none" strike="noStrike">
              <a:solidFill>
                <a:srgbClr val="F7F4F9"/>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F9"/>
        </a:solidFill>
      </p:bgPr>
    </p:bg>
    <p:spTree>
      <p:nvGrpSpPr>
        <p:cNvPr id="169" name="Shape 169"/>
        <p:cNvGrpSpPr/>
        <p:nvPr/>
      </p:nvGrpSpPr>
      <p:grpSpPr>
        <a:xfrm>
          <a:off x="0" y="0"/>
          <a:ext cx="0" cy="0"/>
          <a:chOff x="0" y="0"/>
          <a:chExt cx="0" cy="0"/>
        </a:xfrm>
      </p:grpSpPr>
      <p:sp>
        <p:nvSpPr>
          <p:cNvPr id="170" name="Google Shape;170;p11"/>
          <p:cNvSpPr txBox="1"/>
          <p:nvPr>
            <p:ph type="title"/>
          </p:nvPr>
        </p:nvSpPr>
        <p:spPr>
          <a:xfrm>
            <a:off x="711403" y="797357"/>
            <a:ext cx="10769803" cy="711403"/>
          </a:xfrm>
          <a:prstGeom prst="rect">
            <a:avLst/>
          </a:prstGeom>
          <a:noFill/>
          <a:ln>
            <a:noFill/>
          </a:ln>
        </p:spPr>
        <p:txBody>
          <a:bodyPr anchorCtr="0" anchor="t" bIns="0" lIns="0" spcFirstLastPara="1" rIns="0" wrap="square" tIns="0">
            <a:noAutofit/>
          </a:bodyPr>
          <a:lstStyle/>
          <a:p>
            <a:pPr indent="0" lvl="0" marL="0" rtl="0" algn="l">
              <a:lnSpc>
                <a:spcPct val="112000"/>
              </a:lnSpc>
              <a:spcBef>
                <a:spcPts val="0"/>
              </a:spcBef>
              <a:spcAft>
                <a:spcPts val="0"/>
              </a:spcAft>
              <a:buClr>
                <a:srgbClr val="000000"/>
              </a:buClr>
              <a:buSzPts val="2500"/>
              <a:buFont typeface="Arial"/>
              <a:buNone/>
            </a:pPr>
            <a:r>
              <a:rPr b="1" lang="en-US" sz="2300">
                <a:solidFill>
                  <a:schemeClr val="accent3"/>
                </a:solidFill>
                <a:latin typeface="Arial"/>
                <a:ea typeface="Arial"/>
                <a:cs typeface="Arial"/>
                <a:sym typeface="Arial"/>
              </a:rPr>
              <a:t>Сначала доказываем пользу, мощности вводим раньше аудитории, а зарабатывать начинаем только после пилота</a:t>
            </a:r>
            <a:endParaRPr/>
          </a:p>
        </p:txBody>
      </p:sp>
      <p:sp>
        <p:nvSpPr>
          <p:cNvPr id="171" name="Google Shape;171;p11"/>
          <p:cNvSpPr txBox="1"/>
          <p:nvPr/>
        </p:nvSpPr>
        <p:spPr>
          <a:xfrm>
            <a:off x="711403" y="405994"/>
            <a:ext cx="6350508" cy="241402"/>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00000"/>
              </a:buClr>
              <a:buSzPts val="1200"/>
              <a:buFont typeface="Arial"/>
              <a:buNone/>
            </a:pPr>
            <a:r>
              <a:rPr b="1" i="0" lang="en-US" spc="0" sz="1200" u="none" cap="none" strike="noStrike">
                <a:solidFill>
                  <a:srgbClr val="A80E8E"/>
                </a:solidFill>
                <a:latin typeface="Arial"/>
                <a:ea typeface="Arial"/>
                <a:cs typeface="Arial"/>
                <a:sym typeface="Arial"/>
              </a:rPr>
              <a:t>План · роадмап на 2027–2028 годы</a:t>
            </a:r>
            <a:endParaRPr b="0" i="0" spc="0" sz="1400" u="none" cap="none" strike="noStrike">
              <a:solidFill>
                <a:srgbClr val="000000"/>
              </a:solidFill>
              <a:latin typeface="Arial"/>
              <a:ea typeface="Arial"/>
              <a:cs typeface="Arial"/>
              <a:sym typeface="Arial"/>
            </a:endParaRPr>
          </a:p>
        </p:txBody>
      </p:sp>
      <p:sp>
        <p:nvSpPr>
          <p:cNvPr id="172" name="Google Shape;172;p11"/>
          <p:cNvSpPr txBox="1"/>
          <p:nvPr/>
        </p:nvSpPr>
        <p:spPr>
          <a:xfrm>
            <a:off x="711403" y="1792224"/>
            <a:ext cx="233172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US" spc="0" sz="1100" u="none" cap="none" strike="noStrike">
                <a:solidFill>
                  <a:srgbClr val="6E5E7D"/>
                </a:solidFill>
                <a:latin typeface="Arial"/>
                <a:ea typeface="Arial"/>
                <a:cs typeface="Arial"/>
                <a:sym typeface="Arial"/>
              </a:rPr>
              <a:t>Инициатива</a:t>
            </a:r>
            <a:endParaRPr b="0" i="0" spc="0" sz="1400" u="none" cap="none" strike="noStrike">
              <a:solidFill>
                <a:srgbClr val="000000"/>
              </a:solidFill>
              <a:latin typeface="Arial"/>
              <a:ea typeface="Arial"/>
              <a:cs typeface="Arial"/>
              <a:sym typeface="Arial"/>
            </a:endParaRPr>
          </a:p>
        </p:txBody>
      </p:sp>
      <p:sp>
        <p:nvSpPr>
          <p:cNvPr id="173" name="Google Shape;173;p11"/>
          <p:cNvSpPr txBox="1"/>
          <p:nvPr/>
        </p:nvSpPr>
        <p:spPr>
          <a:xfrm>
            <a:off x="3182112" y="1636776"/>
            <a:ext cx="1673901" cy="32918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US" spc="0" sz="1100" u="none" cap="none" strike="noStrike">
                <a:solidFill>
                  <a:srgbClr val="241036"/>
                </a:solidFill>
                <a:latin typeface="Arial"/>
                <a:ea typeface="Arial"/>
                <a:cs typeface="Arial"/>
                <a:sym typeface="Arial"/>
              </a:rPr>
              <a:t>4 кв. 2026</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US" spc="0" sz="1000" u="none" cap="none" strike="noStrike">
                <a:solidFill>
                  <a:srgbClr val="6E5E7D"/>
                </a:solidFill>
                <a:latin typeface="Arial"/>
                <a:ea typeface="Arial"/>
                <a:cs typeface="Arial"/>
                <a:sym typeface="Arial"/>
              </a:rPr>
              <a:t>подготовка</a:t>
            </a:r>
            <a:endParaRPr b="0" i="0" spc="0" sz="1400" u="none" cap="none" strike="noStrike">
              <a:solidFill>
                <a:srgbClr val="000000"/>
              </a:solidFill>
              <a:latin typeface="Arial"/>
              <a:ea typeface="Arial"/>
              <a:cs typeface="Arial"/>
              <a:sym typeface="Arial"/>
            </a:endParaRPr>
          </a:p>
        </p:txBody>
      </p:sp>
      <p:sp>
        <p:nvSpPr>
          <p:cNvPr id="174" name="Google Shape;174;p11"/>
          <p:cNvSpPr txBox="1"/>
          <p:nvPr/>
        </p:nvSpPr>
        <p:spPr>
          <a:xfrm>
            <a:off x="4910877" y="1636776"/>
            <a:ext cx="1673901" cy="32918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US" spc="0" sz="1100" u="none" cap="none" strike="noStrike">
                <a:solidFill>
                  <a:srgbClr val="241036"/>
                </a:solidFill>
                <a:latin typeface="Arial"/>
                <a:ea typeface="Arial"/>
                <a:cs typeface="Arial"/>
                <a:sym typeface="Arial"/>
              </a:rPr>
              <a:t>1П 2027</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US" spc="0" sz="1000" u="none" cap="none" strike="noStrike">
                <a:solidFill>
                  <a:srgbClr val="6E5E7D"/>
                </a:solidFill>
                <a:latin typeface="Arial"/>
                <a:ea typeface="Arial"/>
                <a:cs typeface="Arial"/>
                <a:sym typeface="Arial"/>
              </a:rPr>
              <a:t>пилот</a:t>
            </a:r>
            <a:endParaRPr b="0" i="0" spc="0" sz="1400" u="none" cap="none" strike="noStrike">
              <a:solidFill>
                <a:srgbClr val="000000"/>
              </a:solidFill>
              <a:latin typeface="Arial"/>
              <a:ea typeface="Arial"/>
              <a:cs typeface="Arial"/>
              <a:sym typeface="Arial"/>
            </a:endParaRPr>
          </a:p>
        </p:txBody>
      </p:sp>
      <p:sp>
        <p:nvSpPr>
          <p:cNvPr id="175" name="Google Shape;175;p11"/>
          <p:cNvSpPr txBox="1"/>
          <p:nvPr/>
        </p:nvSpPr>
        <p:spPr>
          <a:xfrm>
            <a:off x="6639641" y="1636776"/>
            <a:ext cx="1673901" cy="32918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US" spc="0" sz="1100" u="none" cap="none" strike="noStrike">
                <a:solidFill>
                  <a:srgbClr val="241036"/>
                </a:solidFill>
                <a:latin typeface="Arial"/>
                <a:ea typeface="Arial"/>
                <a:cs typeface="Arial"/>
                <a:sym typeface="Arial"/>
              </a:rPr>
              <a:t>2П 2027</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US" spc="0" sz="1000" u="none" cap="none" strike="noStrike">
                <a:solidFill>
                  <a:srgbClr val="6E5E7D"/>
                </a:solidFill>
                <a:latin typeface="Arial"/>
                <a:ea typeface="Arial"/>
                <a:cs typeface="Arial"/>
                <a:sym typeface="Arial"/>
              </a:rPr>
              <a:t>раскатка</a:t>
            </a:r>
            <a:endParaRPr b="0" i="0" spc="0" sz="1400" u="none" cap="none" strike="noStrike">
              <a:solidFill>
                <a:srgbClr val="000000"/>
              </a:solidFill>
              <a:latin typeface="Arial"/>
              <a:ea typeface="Arial"/>
              <a:cs typeface="Arial"/>
              <a:sym typeface="Arial"/>
            </a:endParaRPr>
          </a:p>
        </p:txBody>
      </p:sp>
      <p:sp>
        <p:nvSpPr>
          <p:cNvPr id="176" name="Google Shape;176;p11"/>
          <p:cNvSpPr txBox="1"/>
          <p:nvPr/>
        </p:nvSpPr>
        <p:spPr>
          <a:xfrm>
            <a:off x="8368406" y="1636776"/>
            <a:ext cx="1673901" cy="32918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US" spc="0" sz="1100" u="none" cap="none" strike="noStrike">
                <a:solidFill>
                  <a:srgbClr val="241036"/>
                </a:solidFill>
                <a:latin typeface="Arial"/>
                <a:ea typeface="Arial"/>
                <a:cs typeface="Arial"/>
                <a:sym typeface="Arial"/>
              </a:rPr>
              <a:t>1П 2028</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US" spc="0" sz="1000" u="none" cap="none" strike="noStrike">
                <a:solidFill>
                  <a:srgbClr val="6E5E7D"/>
                </a:solidFill>
                <a:latin typeface="Arial"/>
                <a:ea typeface="Arial"/>
                <a:cs typeface="Arial"/>
                <a:sym typeface="Arial"/>
              </a:rPr>
              <a:t>главная дверь</a:t>
            </a:r>
            <a:endParaRPr b="0" i="0" spc="0" sz="1400" u="none" cap="none" strike="noStrike">
              <a:solidFill>
                <a:srgbClr val="000000"/>
              </a:solidFill>
              <a:latin typeface="Arial"/>
              <a:ea typeface="Arial"/>
              <a:cs typeface="Arial"/>
              <a:sym typeface="Arial"/>
            </a:endParaRPr>
          </a:p>
        </p:txBody>
      </p:sp>
      <p:sp>
        <p:nvSpPr>
          <p:cNvPr id="177" name="Google Shape;177;p11"/>
          <p:cNvSpPr txBox="1"/>
          <p:nvPr/>
        </p:nvSpPr>
        <p:spPr>
          <a:xfrm>
            <a:off x="10097171" y="1636776"/>
            <a:ext cx="1673901" cy="32918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US" spc="0" sz="1100" u="none" cap="none" strike="noStrike">
                <a:solidFill>
                  <a:srgbClr val="241036"/>
                </a:solidFill>
                <a:latin typeface="Arial"/>
                <a:ea typeface="Arial"/>
                <a:cs typeface="Arial"/>
                <a:sym typeface="Arial"/>
              </a:rPr>
              <a:t>2П 2028</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US" spc="0" sz="1000" u="none" cap="none" strike="noStrike">
                <a:solidFill>
                  <a:srgbClr val="6E5E7D"/>
                </a:solidFill>
                <a:latin typeface="Arial"/>
                <a:ea typeface="Arial"/>
                <a:cs typeface="Arial"/>
                <a:sym typeface="Arial"/>
              </a:rPr>
              <a:t>полный масштаб</a:t>
            </a:r>
            <a:endParaRPr b="0" i="0" spc="0" sz="1400" u="none" cap="none" strike="noStrike">
              <a:solidFill>
                <a:srgbClr val="000000"/>
              </a:solidFill>
              <a:latin typeface="Arial"/>
              <a:ea typeface="Arial"/>
              <a:cs typeface="Arial"/>
              <a:sym typeface="Arial"/>
            </a:endParaRPr>
          </a:p>
        </p:txBody>
      </p:sp>
      <p:cxnSp>
        <p:nvCxnSpPr>
          <p:cNvPr id="178" name="Google Shape;178;p11"/>
          <p:cNvCxnSpPr/>
          <p:nvPr/>
        </p:nvCxnSpPr>
        <p:spPr>
          <a:xfrm>
            <a:off x="4883450" y="1993400"/>
            <a:ext cx="0" cy="2946900"/>
          </a:xfrm>
          <a:prstGeom prst="straightConnector1">
            <a:avLst/>
          </a:prstGeom>
          <a:noFill/>
          <a:ln cap="flat" cmpd="sng" w="9525">
            <a:solidFill>
              <a:srgbClr val="DDD0E6"/>
            </a:solidFill>
            <a:prstDash val="solid"/>
            <a:round/>
            <a:headEnd len="sm" w="sm" type="none"/>
            <a:tailEnd len="sm" w="sm" type="none"/>
          </a:ln>
        </p:spPr>
      </p:cxnSp>
      <p:cxnSp>
        <p:nvCxnSpPr>
          <p:cNvPr id="179" name="Google Shape;179;p11"/>
          <p:cNvCxnSpPr/>
          <p:nvPr/>
        </p:nvCxnSpPr>
        <p:spPr>
          <a:xfrm>
            <a:off x="6612216" y="1993400"/>
            <a:ext cx="0" cy="2946900"/>
          </a:xfrm>
          <a:prstGeom prst="straightConnector1">
            <a:avLst/>
          </a:prstGeom>
          <a:noFill/>
          <a:ln cap="flat" cmpd="sng" w="9525">
            <a:solidFill>
              <a:srgbClr val="DDD0E6"/>
            </a:solidFill>
            <a:prstDash val="solid"/>
            <a:round/>
            <a:headEnd len="sm" w="sm" type="none"/>
            <a:tailEnd len="sm" w="sm" type="none"/>
          </a:ln>
        </p:spPr>
      </p:cxnSp>
      <p:cxnSp>
        <p:nvCxnSpPr>
          <p:cNvPr id="180" name="Google Shape;180;p11"/>
          <p:cNvCxnSpPr/>
          <p:nvPr/>
        </p:nvCxnSpPr>
        <p:spPr>
          <a:xfrm>
            <a:off x="8340983" y="1993400"/>
            <a:ext cx="0" cy="2946900"/>
          </a:xfrm>
          <a:prstGeom prst="straightConnector1">
            <a:avLst/>
          </a:prstGeom>
          <a:noFill/>
          <a:ln cap="flat" cmpd="sng" w="9525">
            <a:solidFill>
              <a:srgbClr val="DDD0E6"/>
            </a:solidFill>
            <a:prstDash val="solid"/>
            <a:round/>
            <a:headEnd len="sm" w="sm" type="none"/>
            <a:tailEnd len="sm" w="sm" type="none"/>
          </a:ln>
        </p:spPr>
      </p:cxnSp>
      <p:cxnSp>
        <p:nvCxnSpPr>
          <p:cNvPr id="181" name="Google Shape;181;p11"/>
          <p:cNvCxnSpPr/>
          <p:nvPr/>
        </p:nvCxnSpPr>
        <p:spPr>
          <a:xfrm>
            <a:off x="10069750" y="1993400"/>
            <a:ext cx="0" cy="2946900"/>
          </a:xfrm>
          <a:prstGeom prst="straightConnector1">
            <a:avLst/>
          </a:prstGeom>
          <a:noFill/>
          <a:ln cap="flat" cmpd="sng" w="9525">
            <a:solidFill>
              <a:srgbClr val="DDD0E6"/>
            </a:solidFill>
            <a:prstDash val="solid"/>
            <a:round/>
            <a:headEnd len="sm" w="sm" type="none"/>
            <a:tailEnd len="sm" w="sm" type="none"/>
          </a:ln>
        </p:spPr>
      </p:cxnSp>
      <p:cxnSp>
        <p:nvCxnSpPr>
          <p:cNvPr id="182" name="Google Shape;182;p11"/>
          <p:cNvCxnSpPr/>
          <p:nvPr/>
        </p:nvCxnSpPr>
        <p:spPr>
          <a:xfrm>
            <a:off x="711403" y="1993392"/>
            <a:ext cx="11087100" cy="0"/>
          </a:xfrm>
          <a:prstGeom prst="straightConnector1">
            <a:avLst/>
          </a:prstGeom>
          <a:noFill/>
          <a:ln cap="flat" cmpd="sng" w="9525">
            <a:solidFill>
              <a:srgbClr val="DDD0E6"/>
            </a:solidFill>
            <a:prstDash val="solid"/>
            <a:round/>
            <a:headEnd len="sm" w="sm" type="none"/>
            <a:tailEnd len="sm" w="sm" type="none"/>
          </a:ln>
        </p:spPr>
      </p:cxnSp>
      <p:sp>
        <p:nvSpPr>
          <p:cNvPr id="183" name="Google Shape;183;p11"/>
          <p:cNvSpPr txBox="1"/>
          <p:nvPr/>
        </p:nvSpPr>
        <p:spPr>
          <a:xfrm>
            <a:off x="711403" y="2029968"/>
            <a:ext cx="420624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pc="0" sz="1200" u="none" cap="none" strike="noStrike">
                <a:solidFill>
                  <a:srgbClr val="A80E8E"/>
                </a:solidFill>
                <a:latin typeface="Arial"/>
                <a:ea typeface="Arial"/>
                <a:cs typeface="Arial"/>
                <a:sym typeface="Arial"/>
              </a:rPr>
              <a:t>Must have</a:t>
            </a:r>
            <a:r>
              <a:rPr b="0" i="0" lang="en-US" spc="0" sz="1000" u="none" cap="none" strike="noStrike">
                <a:solidFill>
                  <a:srgbClr val="6E5E7D"/>
                </a:solidFill>
                <a:latin typeface="Arial"/>
                <a:ea typeface="Arial"/>
                <a:cs typeface="Arial"/>
                <a:sym typeface="Arial"/>
              </a:rPr>
              <a:t>   без этого ставка не работает</a:t>
            </a:r>
            <a:endParaRPr b="0" i="0" spc="0" sz="1400" u="none" cap="none" strike="noStrike">
              <a:solidFill>
                <a:srgbClr val="000000"/>
              </a:solidFill>
              <a:latin typeface="Arial"/>
              <a:ea typeface="Arial"/>
              <a:cs typeface="Arial"/>
              <a:sym typeface="Arial"/>
            </a:endParaRPr>
          </a:p>
        </p:txBody>
      </p:sp>
      <p:sp>
        <p:nvSpPr>
          <p:cNvPr id="184" name="Google Shape;184;p11"/>
          <p:cNvSpPr txBox="1"/>
          <p:nvPr/>
        </p:nvSpPr>
        <p:spPr>
          <a:xfrm>
            <a:off x="711403" y="2249424"/>
            <a:ext cx="2331720" cy="34747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pc="0" sz="1200" u="none" cap="none" strike="noStrike">
                <a:solidFill>
                  <a:srgbClr val="241036"/>
                </a:solidFill>
                <a:latin typeface="Arial"/>
                <a:ea typeface="Arial"/>
                <a:cs typeface="Arial"/>
                <a:sym typeface="Arial"/>
              </a:rPr>
              <a:t>Консультант в поиске</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1000"/>
              <a:buFont typeface="Arial"/>
              <a:buNone/>
            </a:pPr>
            <a:r>
              <a:rPr b="0" i="0" lang="en-US" spc="0" sz="1000" u="none" cap="none" strike="noStrike">
                <a:solidFill>
                  <a:srgbClr val="6E5E7D"/>
                </a:solidFill>
                <a:latin typeface="Arial"/>
                <a:ea typeface="Arial"/>
                <a:cs typeface="Arial"/>
                <a:sym typeface="Arial"/>
              </a:rPr>
              <a:t>от кнопки к главной двери</a:t>
            </a:r>
            <a:endParaRPr b="0" i="0" spc="0" sz="1400" u="none" cap="none" strike="noStrike">
              <a:solidFill>
                <a:srgbClr val="000000"/>
              </a:solidFill>
              <a:latin typeface="Arial"/>
              <a:ea typeface="Arial"/>
              <a:cs typeface="Arial"/>
              <a:sym typeface="Arial"/>
            </a:endParaRPr>
          </a:p>
        </p:txBody>
      </p:sp>
      <p:sp>
        <p:nvSpPr>
          <p:cNvPr id="185" name="Google Shape;185;p11"/>
          <p:cNvSpPr/>
          <p:nvPr/>
        </p:nvSpPr>
        <p:spPr>
          <a:xfrm>
            <a:off x="4910877" y="2253996"/>
            <a:ext cx="1673901" cy="333756"/>
          </a:xfrm>
          <a:prstGeom prst="roundRect">
            <a:avLst>
              <a:gd fmla="val 18000" name="adj"/>
            </a:avLst>
          </a:prstGeom>
          <a:solidFill>
            <a:srgbClr val="A80E8E"/>
          </a:solidFill>
          <a:ln>
            <a:noFill/>
          </a:ln>
        </p:spPr>
        <p:txBody>
          <a:bodyPr anchorCtr="0" anchor="ctr" bIns="0" lIns="82275" spcFirstLastPara="1" rIns="82275"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US" spc="0" sz="1100" u="none" cap="none" strike="noStrike">
                <a:solidFill>
                  <a:srgbClr val="FFFFFF"/>
                </a:solidFill>
                <a:latin typeface="Arial"/>
                <a:ea typeface="Arial"/>
                <a:cs typeface="Arial"/>
                <a:sym typeface="Arial"/>
              </a:rPr>
              <a:t>3 категории, 5–10% аудитории</a:t>
            </a:r>
            <a:endParaRPr b="0" i="0" spc="0" sz="1400" u="none" cap="none" strike="noStrike">
              <a:solidFill>
                <a:srgbClr val="000000"/>
              </a:solidFill>
              <a:latin typeface="Arial"/>
              <a:ea typeface="Arial"/>
              <a:cs typeface="Arial"/>
              <a:sym typeface="Arial"/>
            </a:endParaRPr>
          </a:p>
        </p:txBody>
      </p:sp>
      <p:sp>
        <p:nvSpPr>
          <p:cNvPr id="186" name="Google Shape;186;p11"/>
          <p:cNvSpPr/>
          <p:nvPr/>
        </p:nvSpPr>
        <p:spPr>
          <a:xfrm>
            <a:off x="6639641" y="2253996"/>
            <a:ext cx="1673901" cy="333756"/>
          </a:xfrm>
          <a:prstGeom prst="roundRect">
            <a:avLst>
              <a:gd fmla="val 18000" name="adj"/>
            </a:avLst>
          </a:prstGeom>
          <a:solidFill>
            <a:srgbClr val="A80E8E"/>
          </a:solidFill>
          <a:ln>
            <a:noFill/>
          </a:ln>
        </p:spPr>
        <p:txBody>
          <a:bodyPr anchorCtr="0" anchor="ctr" bIns="0" lIns="82275" spcFirstLastPara="1" rIns="82275"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US" spc="0" sz="1100" u="none" cap="none" strike="noStrike">
                <a:solidFill>
                  <a:srgbClr val="FFFFFF"/>
                </a:solidFill>
                <a:latin typeface="Arial"/>
                <a:ea typeface="Arial"/>
                <a:cs typeface="Arial"/>
                <a:sym typeface="Arial"/>
              </a:rPr>
              <a:t>все категории, аудитория ступенями</a:t>
            </a:r>
            <a:endParaRPr b="0" i="0" spc="0" sz="1400" u="none" cap="none" strike="noStrike">
              <a:solidFill>
                <a:srgbClr val="000000"/>
              </a:solidFill>
              <a:latin typeface="Arial"/>
              <a:ea typeface="Arial"/>
              <a:cs typeface="Arial"/>
              <a:sym typeface="Arial"/>
            </a:endParaRPr>
          </a:p>
        </p:txBody>
      </p:sp>
      <p:sp>
        <p:nvSpPr>
          <p:cNvPr id="187" name="Google Shape;187;p11"/>
          <p:cNvSpPr/>
          <p:nvPr/>
        </p:nvSpPr>
        <p:spPr>
          <a:xfrm>
            <a:off x="8368406" y="2253996"/>
            <a:ext cx="1673901" cy="333756"/>
          </a:xfrm>
          <a:prstGeom prst="roundRect">
            <a:avLst>
              <a:gd fmla="val 18000" name="adj"/>
            </a:avLst>
          </a:prstGeom>
          <a:solidFill>
            <a:srgbClr val="A80E8E"/>
          </a:solidFill>
          <a:ln>
            <a:noFill/>
          </a:ln>
        </p:spPr>
        <p:txBody>
          <a:bodyPr anchorCtr="0" anchor="ctr" bIns="0" lIns="82275" spcFirstLastPara="1" rIns="82275"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US" spc="0" sz="1100" u="none" cap="none" strike="noStrike">
                <a:solidFill>
                  <a:srgbClr val="FFFFFF"/>
                </a:solidFill>
                <a:latin typeface="Arial"/>
                <a:ea typeface="Arial"/>
                <a:cs typeface="Arial"/>
                <a:sym typeface="Arial"/>
              </a:rPr>
              <a:t>вся аудитория, диалог из поиска</a:t>
            </a:r>
            <a:endParaRPr b="0" i="0" spc="0" sz="1400" u="none" cap="none" strike="noStrike">
              <a:solidFill>
                <a:srgbClr val="000000"/>
              </a:solidFill>
              <a:latin typeface="Arial"/>
              <a:ea typeface="Arial"/>
              <a:cs typeface="Arial"/>
              <a:sym typeface="Arial"/>
            </a:endParaRPr>
          </a:p>
        </p:txBody>
      </p:sp>
      <p:sp>
        <p:nvSpPr>
          <p:cNvPr id="188" name="Google Shape;188;p11"/>
          <p:cNvSpPr/>
          <p:nvPr/>
        </p:nvSpPr>
        <p:spPr>
          <a:xfrm>
            <a:off x="10097171" y="2253996"/>
            <a:ext cx="1673901" cy="333756"/>
          </a:xfrm>
          <a:prstGeom prst="roundRect">
            <a:avLst>
              <a:gd fmla="val 18000" name="adj"/>
            </a:avLst>
          </a:prstGeom>
          <a:solidFill>
            <a:srgbClr val="A80E8E"/>
          </a:solidFill>
          <a:ln>
            <a:noFill/>
          </a:ln>
        </p:spPr>
        <p:txBody>
          <a:bodyPr anchorCtr="0" anchor="ctr" bIns="0" lIns="82275" spcFirstLastPara="1" rIns="82275"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US" spc="0" sz="1100" u="none" cap="none" strike="noStrike">
                <a:solidFill>
                  <a:srgbClr val="FFFFFF"/>
                </a:solidFill>
                <a:latin typeface="Arial"/>
                <a:ea typeface="Arial"/>
                <a:cs typeface="Arial"/>
                <a:sym typeface="Arial"/>
              </a:rPr>
              <a:t>первая распродажа в роли главной двери</a:t>
            </a:r>
            <a:endParaRPr b="0" i="0" spc="0" sz="1400" u="none" cap="none" strike="noStrike">
              <a:solidFill>
                <a:srgbClr val="000000"/>
              </a:solidFill>
              <a:latin typeface="Arial"/>
              <a:ea typeface="Arial"/>
              <a:cs typeface="Arial"/>
              <a:sym typeface="Arial"/>
            </a:endParaRPr>
          </a:p>
        </p:txBody>
      </p:sp>
      <p:sp>
        <p:nvSpPr>
          <p:cNvPr id="189" name="Google Shape;189;p11"/>
          <p:cNvSpPr txBox="1"/>
          <p:nvPr/>
        </p:nvSpPr>
        <p:spPr>
          <a:xfrm>
            <a:off x="711403" y="2638044"/>
            <a:ext cx="2331720" cy="34747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pc="0" sz="1200" u="none" cap="none" strike="noStrike">
                <a:solidFill>
                  <a:srgbClr val="241036"/>
                </a:solidFill>
                <a:latin typeface="Arial"/>
                <a:ea typeface="Arial"/>
                <a:cs typeface="Arial"/>
                <a:sym typeface="Arial"/>
              </a:rPr>
              <a:t>Память и точный совет</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1000"/>
              <a:buFont typeface="Arial"/>
              <a:buNone/>
            </a:pPr>
            <a:r>
              <a:rPr b="0" i="0" lang="en-US" spc="0" sz="1000" u="none" cap="none" strike="noStrike">
                <a:solidFill>
                  <a:srgbClr val="6E5E7D"/>
                </a:solidFill>
                <a:latin typeface="Arial"/>
                <a:ea typeface="Arial"/>
                <a:cs typeface="Arial"/>
                <a:sym typeface="Arial"/>
              </a:rPr>
              <a:t>размеры, бюджет, срок</a:t>
            </a:r>
            <a:endParaRPr b="0" i="0" spc="0" sz="1400" u="none" cap="none" strike="noStrike">
              <a:solidFill>
                <a:srgbClr val="000000"/>
              </a:solidFill>
              <a:latin typeface="Arial"/>
              <a:ea typeface="Arial"/>
              <a:cs typeface="Arial"/>
              <a:sym typeface="Arial"/>
            </a:endParaRPr>
          </a:p>
        </p:txBody>
      </p:sp>
      <p:sp>
        <p:nvSpPr>
          <p:cNvPr id="190" name="Google Shape;190;p11"/>
          <p:cNvSpPr/>
          <p:nvPr/>
        </p:nvSpPr>
        <p:spPr>
          <a:xfrm>
            <a:off x="3182112" y="2642616"/>
            <a:ext cx="1673901" cy="333756"/>
          </a:xfrm>
          <a:prstGeom prst="roundRect">
            <a:avLst>
              <a:gd fmla="val 18000" name="adj"/>
            </a:avLst>
          </a:prstGeom>
          <a:solidFill>
            <a:srgbClr val="A80E8E"/>
          </a:solidFill>
          <a:ln>
            <a:noFill/>
          </a:ln>
        </p:spPr>
        <p:txBody>
          <a:bodyPr anchorCtr="0" anchor="ctr" bIns="0" lIns="82275" spcFirstLastPara="1" rIns="82275"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US" spc="0" sz="1100" u="none" cap="none" strike="noStrike">
                <a:solidFill>
                  <a:srgbClr val="FFFFFF"/>
                </a:solidFill>
                <a:latin typeface="Arial"/>
                <a:ea typeface="Arial"/>
                <a:cs typeface="Arial"/>
                <a:sym typeface="Arial"/>
              </a:rPr>
              <a:t>согласие на память и данные о реб</a:t>
            </a:r>
            <a:r>
              <a:rPr lang="en-US" sz="1100">
                <a:solidFill>
                  <a:srgbClr val="FFFFFF"/>
                </a:solidFill>
              </a:rPr>
              <a:t>е</a:t>
            </a:r>
            <a:r>
              <a:rPr b="0" i="0" lang="en-US" spc="0" sz="1100" u="none" cap="none" strike="noStrike">
                <a:solidFill>
                  <a:srgbClr val="FFFFFF"/>
                </a:solidFill>
                <a:latin typeface="Arial"/>
                <a:ea typeface="Arial"/>
                <a:cs typeface="Arial"/>
                <a:sym typeface="Arial"/>
              </a:rPr>
              <a:t>нке</a:t>
            </a:r>
            <a:endParaRPr b="0" i="0" spc="0" sz="1400" u="none" cap="none" strike="noStrike">
              <a:solidFill>
                <a:srgbClr val="000000"/>
              </a:solidFill>
              <a:latin typeface="Arial"/>
              <a:ea typeface="Arial"/>
              <a:cs typeface="Arial"/>
              <a:sym typeface="Arial"/>
            </a:endParaRPr>
          </a:p>
        </p:txBody>
      </p:sp>
      <p:sp>
        <p:nvSpPr>
          <p:cNvPr id="191" name="Google Shape;191;p11"/>
          <p:cNvSpPr/>
          <p:nvPr/>
        </p:nvSpPr>
        <p:spPr>
          <a:xfrm>
            <a:off x="4910877" y="2642616"/>
            <a:ext cx="1673901" cy="333756"/>
          </a:xfrm>
          <a:prstGeom prst="roundRect">
            <a:avLst>
              <a:gd fmla="val 18000" name="adj"/>
            </a:avLst>
          </a:prstGeom>
          <a:solidFill>
            <a:srgbClr val="A80E8E"/>
          </a:solidFill>
          <a:ln>
            <a:noFill/>
          </a:ln>
        </p:spPr>
        <p:txBody>
          <a:bodyPr anchorCtr="0" anchor="ctr" bIns="0" lIns="82275" spcFirstLastPara="1" rIns="82275"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US" spc="0" sz="1100" u="none" cap="none" strike="noStrike">
                <a:solidFill>
                  <a:srgbClr val="FFFFFF"/>
                </a:solidFill>
                <a:latin typeface="Arial"/>
                <a:ea typeface="Arial"/>
                <a:cs typeface="Arial"/>
                <a:sym typeface="Arial"/>
              </a:rPr>
              <a:t>размер в одежде, бюджет, срок до ПВЗ</a:t>
            </a:r>
            <a:endParaRPr b="0" i="0" spc="0" sz="1400" u="none" cap="none" strike="noStrike">
              <a:solidFill>
                <a:srgbClr val="000000"/>
              </a:solidFill>
              <a:latin typeface="Arial"/>
              <a:ea typeface="Arial"/>
              <a:cs typeface="Arial"/>
              <a:sym typeface="Arial"/>
            </a:endParaRPr>
          </a:p>
        </p:txBody>
      </p:sp>
      <p:sp>
        <p:nvSpPr>
          <p:cNvPr id="192" name="Google Shape;192;p11"/>
          <p:cNvSpPr/>
          <p:nvPr/>
        </p:nvSpPr>
        <p:spPr>
          <a:xfrm>
            <a:off x="6639641" y="2642616"/>
            <a:ext cx="1673901" cy="333756"/>
          </a:xfrm>
          <a:prstGeom prst="roundRect">
            <a:avLst>
              <a:gd fmla="val 18000" name="adj"/>
            </a:avLst>
          </a:prstGeom>
          <a:solidFill>
            <a:srgbClr val="A80E8E"/>
          </a:solidFill>
          <a:ln>
            <a:noFill/>
          </a:ln>
        </p:spPr>
        <p:txBody>
          <a:bodyPr anchorCtr="0" anchor="ctr" bIns="0" lIns="82275" spcFirstLastPara="1" rIns="82275"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US" spc="0" sz="1100" u="none" cap="none" strike="noStrike">
                <a:solidFill>
                  <a:srgbClr val="FFFFFF"/>
                </a:solidFill>
                <a:latin typeface="Arial"/>
                <a:ea typeface="Arial"/>
                <a:cs typeface="Arial"/>
                <a:sym typeface="Arial"/>
              </a:rPr>
              <a:t>обувь; сверка по отзывам и Wibes</a:t>
            </a:r>
            <a:endParaRPr b="0" i="0" spc="0" sz="1400" u="none" cap="none" strike="noStrike">
              <a:solidFill>
                <a:srgbClr val="000000"/>
              </a:solidFill>
              <a:latin typeface="Arial"/>
              <a:ea typeface="Arial"/>
              <a:cs typeface="Arial"/>
              <a:sym typeface="Arial"/>
            </a:endParaRPr>
          </a:p>
        </p:txBody>
      </p:sp>
      <p:sp>
        <p:nvSpPr>
          <p:cNvPr id="193" name="Google Shape;193;p11"/>
          <p:cNvSpPr txBox="1"/>
          <p:nvPr/>
        </p:nvSpPr>
        <p:spPr>
          <a:xfrm>
            <a:off x="711403" y="3026664"/>
            <a:ext cx="2331720" cy="34747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pc="0" sz="1200" u="none" cap="none" strike="noStrike">
                <a:solidFill>
                  <a:srgbClr val="241036"/>
                </a:solidFill>
                <a:latin typeface="Arial"/>
                <a:ea typeface="Arial"/>
                <a:cs typeface="Arial"/>
                <a:sym typeface="Arial"/>
              </a:rPr>
              <a:t>Правила подборки</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1000"/>
              <a:buFont typeface="Arial"/>
              <a:buNone/>
            </a:pPr>
            <a:r>
              <a:rPr b="0" i="0" lang="en-US" spc="0" sz="1000" u="none" cap="none" strike="noStrike">
                <a:solidFill>
                  <a:srgbClr val="6E5E7D"/>
                </a:solidFill>
                <a:latin typeface="Arial"/>
                <a:ea typeface="Arial"/>
                <a:cs typeface="Arial"/>
                <a:sym typeface="Arial"/>
              </a:rPr>
              <a:t>прозрачность для продавцов</a:t>
            </a:r>
            <a:endParaRPr b="0" i="0" spc="0" sz="1400" u="none" cap="none" strike="noStrike">
              <a:solidFill>
                <a:srgbClr val="000000"/>
              </a:solidFill>
              <a:latin typeface="Arial"/>
              <a:ea typeface="Arial"/>
              <a:cs typeface="Arial"/>
              <a:sym typeface="Arial"/>
            </a:endParaRPr>
          </a:p>
        </p:txBody>
      </p:sp>
      <p:sp>
        <p:nvSpPr>
          <p:cNvPr id="194" name="Google Shape;194;p11"/>
          <p:cNvSpPr/>
          <p:nvPr/>
        </p:nvSpPr>
        <p:spPr>
          <a:xfrm>
            <a:off x="3182112" y="3031236"/>
            <a:ext cx="1673901" cy="333756"/>
          </a:xfrm>
          <a:prstGeom prst="roundRect">
            <a:avLst>
              <a:gd fmla="val 18000" name="adj"/>
            </a:avLst>
          </a:prstGeom>
          <a:solidFill>
            <a:srgbClr val="A80E8E"/>
          </a:solidFill>
          <a:ln>
            <a:noFill/>
          </a:ln>
        </p:spPr>
        <p:txBody>
          <a:bodyPr anchorCtr="0" anchor="ctr" bIns="0" lIns="82275" spcFirstLastPara="1" rIns="82275"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US" spc="0" sz="1100" u="none" cap="none" strike="noStrike">
                <a:solidFill>
                  <a:srgbClr val="FFFFFF"/>
                </a:solidFill>
                <a:latin typeface="Arial"/>
                <a:ea typeface="Arial"/>
                <a:cs typeface="Arial"/>
                <a:sym typeface="Arial"/>
              </a:rPr>
              <a:t>публикуем правила до пилота</a:t>
            </a:r>
            <a:endParaRPr b="0" i="0" spc="0" sz="1400" u="none" cap="none" strike="noStrike">
              <a:solidFill>
                <a:srgbClr val="000000"/>
              </a:solidFill>
              <a:latin typeface="Arial"/>
              <a:ea typeface="Arial"/>
              <a:cs typeface="Arial"/>
              <a:sym typeface="Arial"/>
            </a:endParaRPr>
          </a:p>
        </p:txBody>
      </p:sp>
      <p:sp>
        <p:nvSpPr>
          <p:cNvPr id="195" name="Google Shape;195;p11"/>
          <p:cNvSpPr/>
          <p:nvPr/>
        </p:nvSpPr>
        <p:spPr>
          <a:xfrm>
            <a:off x="6639641" y="3031236"/>
            <a:ext cx="1673901" cy="333756"/>
          </a:xfrm>
          <a:prstGeom prst="roundRect">
            <a:avLst>
              <a:gd fmla="val 18000" name="adj"/>
            </a:avLst>
          </a:prstGeom>
          <a:solidFill>
            <a:srgbClr val="A80E8E"/>
          </a:solidFill>
          <a:ln>
            <a:noFill/>
          </a:ln>
        </p:spPr>
        <p:txBody>
          <a:bodyPr anchorCtr="0" anchor="ctr" bIns="0" lIns="82275" spcFirstLastPara="1" rIns="82275"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US" spc="0" sz="1100" u="none" cap="none" strike="noStrike">
                <a:solidFill>
                  <a:srgbClr val="FFFFFF"/>
                </a:solidFill>
                <a:latin typeface="Arial"/>
                <a:ea typeface="Arial"/>
                <a:cs typeface="Arial"/>
                <a:sym typeface="Arial"/>
              </a:rPr>
              <a:t>отч</a:t>
            </a:r>
            <a:r>
              <a:rPr lang="en-US" sz="1100">
                <a:solidFill>
                  <a:srgbClr val="FFFFFF"/>
                </a:solidFill>
              </a:rPr>
              <a:t>е</a:t>
            </a:r>
            <a:r>
              <a:rPr b="0" i="0" lang="en-US" spc="0" sz="1100" u="none" cap="none" strike="noStrike">
                <a:solidFill>
                  <a:srgbClr val="FFFFFF"/>
                </a:solidFill>
                <a:latin typeface="Arial"/>
                <a:ea typeface="Arial"/>
                <a:cs typeface="Arial"/>
                <a:sym typeface="Arial"/>
              </a:rPr>
              <a:t>т «почему товар не в ответе»</a:t>
            </a:r>
            <a:endParaRPr b="0" i="0" spc="0" sz="1400" u="none" cap="none" strike="noStrike">
              <a:solidFill>
                <a:srgbClr val="000000"/>
              </a:solidFill>
              <a:latin typeface="Arial"/>
              <a:ea typeface="Arial"/>
              <a:cs typeface="Arial"/>
              <a:sym typeface="Arial"/>
            </a:endParaRPr>
          </a:p>
        </p:txBody>
      </p:sp>
      <p:sp>
        <p:nvSpPr>
          <p:cNvPr id="196" name="Google Shape;196;p11"/>
          <p:cNvSpPr txBox="1"/>
          <p:nvPr/>
        </p:nvSpPr>
        <p:spPr>
          <a:xfrm>
            <a:off x="711403" y="3415284"/>
            <a:ext cx="2331720" cy="34747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pc="0" sz="1200" u="none" cap="none" strike="noStrike">
                <a:solidFill>
                  <a:srgbClr val="241036"/>
                </a:solidFill>
                <a:latin typeface="Arial"/>
                <a:ea typeface="Arial"/>
                <a:cs typeface="Arial"/>
                <a:sym typeface="Arial"/>
              </a:rPr>
              <a:t>Мощности и цена ответа</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1000"/>
              <a:buFont typeface="Arial"/>
              <a:buNone/>
            </a:pPr>
            <a:r>
              <a:rPr b="0" i="0" lang="en-US" spc="0" sz="1000" u="none" cap="none" strike="noStrike">
                <a:solidFill>
                  <a:srgbClr val="6E5E7D"/>
                </a:solidFill>
                <a:latin typeface="Arial"/>
                <a:ea typeface="Arial"/>
                <a:cs typeface="Arial"/>
                <a:sym typeface="Arial"/>
              </a:rPr>
              <a:t>свои GPU, л</a:t>
            </a:r>
            <a:r>
              <a:rPr lang="en-US" sz="1000">
                <a:solidFill>
                  <a:srgbClr val="6E5E7D"/>
                </a:solidFill>
              </a:rPr>
              <a:t>е</a:t>
            </a:r>
            <a:r>
              <a:rPr b="0" i="0" lang="en-US" spc="0" sz="1000" u="none" cap="none" strike="noStrike">
                <a:solidFill>
                  <a:srgbClr val="6E5E7D"/>
                </a:solidFill>
                <a:latin typeface="Arial"/>
                <a:ea typeface="Arial"/>
                <a:cs typeface="Arial"/>
                <a:sym typeface="Arial"/>
              </a:rPr>
              <a:t>гкая модель</a:t>
            </a:r>
            <a:endParaRPr b="0" i="0" spc="0" sz="1400" u="none" cap="none" strike="noStrike">
              <a:solidFill>
                <a:srgbClr val="000000"/>
              </a:solidFill>
              <a:latin typeface="Arial"/>
              <a:ea typeface="Arial"/>
              <a:cs typeface="Arial"/>
              <a:sym typeface="Arial"/>
            </a:endParaRPr>
          </a:p>
        </p:txBody>
      </p:sp>
      <p:sp>
        <p:nvSpPr>
          <p:cNvPr id="197" name="Google Shape;197;p11"/>
          <p:cNvSpPr/>
          <p:nvPr/>
        </p:nvSpPr>
        <p:spPr>
          <a:xfrm>
            <a:off x="3182112" y="3419856"/>
            <a:ext cx="1673901" cy="333756"/>
          </a:xfrm>
          <a:prstGeom prst="roundRect">
            <a:avLst>
              <a:gd fmla="val 18000" name="adj"/>
            </a:avLst>
          </a:prstGeom>
          <a:solidFill>
            <a:srgbClr val="A80E8E"/>
          </a:solidFill>
          <a:ln>
            <a:noFill/>
          </a:ln>
        </p:spPr>
        <p:txBody>
          <a:bodyPr anchorCtr="0" anchor="ctr" bIns="0" lIns="82275" spcFirstLastPara="1" rIns="82275"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US" spc="0" sz="1100" u="none" cap="none" strike="noStrike">
                <a:solidFill>
                  <a:srgbClr val="FFFFFF"/>
                </a:solidFill>
                <a:latin typeface="Arial"/>
                <a:ea typeface="Arial"/>
                <a:cs typeface="Arial"/>
                <a:sym typeface="Arial"/>
              </a:rPr>
              <a:t>заказ GPU, поставка до года</a:t>
            </a:r>
            <a:endParaRPr b="0" i="0" spc="0" sz="1400" u="none" cap="none" strike="noStrike">
              <a:solidFill>
                <a:srgbClr val="000000"/>
              </a:solidFill>
              <a:latin typeface="Arial"/>
              <a:ea typeface="Arial"/>
              <a:cs typeface="Arial"/>
              <a:sym typeface="Arial"/>
            </a:endParaRPr>
          </a:p>
        </p:txBody>
      </p:sp>
      <p:sp>
        <p:nvSpPr>
          <p:cNvPr id="198" name="Google Shape;198;p11"/>
          <p:cNvSpPr/>
          <p:nvPr/>
        </p:nvSpPr>
        <p:spPr>
          <a:xfrm>
            <a:off x="4910877" y="3419856"/>
            <a:ext cx="1673901" cy="333756"/>
          </a:xfrm>
          <a:prstGeom prst="roundRect">
            <a:avLst>
              <a:gd fmla="val 18000" name="adj"/>
            </a:avLst>
          </a:prstGeom>
          <a:solidFill>
            <a:srgbClr val="A80E8E"/>
          </a:solidFill>
          <a:ln>
            <a:noFill/>
          </a:ln>
        </p:spPr>
        <p:txBody>
          <a:bodyPr anchorCtr="0" anchor="ctr" bIns="0" lIns="82275" spcFirstLastPara="1" rIns="82275"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US" spc="0" sz="1100" u="none" cap="none" strike="noStrike">
                <a:solidFill>
                  <a:srgbClr val="FFFFFF"/>
                </a:solidFill>
                <a:latin typeface="Arial"/>
                <a:ea typeface="Arial"/>
                <a:cs typeface="Arial"/>
                <a:sym typeface="Arial"/>
              </a:rPr>
              <a:t>л</a:t>
            </a:r>
            <a:r>
              <a:rPr lang="en-US" sz="1100">
                <a:solidFill>
                  <a:srgbClr val="FFFFFF"/>
                </a:solidFill>
              </a:rPr>
              <a:t>е</a:t>
            </a:r>
            <a:r>
              <a:rPr b="0" i="0" lang="en-US" spc="0" sz="1100" u="none" cap="none" strike="noStrike">
                <a:solidFill>
                  <a:srgbClr val="FFFFFF"/>
                </a:solidFill>
                <a:latin typeface="Arial"/>
                <a:ea typeface="Arial"/>
                <a:cs typeface="Arial"/>
                <a:sym typeface="Arial"/>
              </a:rPr>
              <a:t>гкая модель, цена диалога</a:t>
            </a:r>
            <a:endParaRPr b="0" i="0" spc="0" sz="1400" u="none" cap="none" strike="noStrike">
              <a:solidFill>
                <a:srgbClr val="000000"/>
              </a:solidFill>
              <a:latin typeface="Arial"/>
              <a:ea typeface="Arial"/>
              <a:cs typeface="Arial"/>
              <a:sym typeface="Arial"/>
            </a:endParaRPr>
          </a:p>
        </p:txBody>
      </p:sp>
      <p:sp>
        <p:nvSpPr>
          <p:cNvPr id="199" name="Google Shape;199;p11"/>
          <p:cNvSpPr/>
          <p:nvPr/>
        </p:nvSpPr>
        <p:spPr>
          <a:xfrm>
            <a:off x="6639641" y="3419856"/>
            <a:ext cx="1673901" cy="333756"/>
          </a:xfrm>
          <a:prstGeom prst="roundRect">
            <a:avLst>
              <a:gd fmla="val 18000" name="adj"/>
            </a:avLst>
          </a:prstGeom>
          <a:solidFill>
            <a:srgbClr val="A80E8E"/>
          </a:solidFill>
          <a:ln>
            <a:noFill/>
          </a:ln>
        </p:spPr>
        <p:txBody>
          <a:bodyPr anchorCtr="0" anchor="ctr" bIns="0" lIns="82275" spcFirstLastPara="1" rIns="82275"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US" spc="0" sz="1100" u="none" cap="none" strike="noStrike">
                <a:solidFill>
                  <a:srgbClr val="FFFFFF"/>
                </a:solidFill>
                <a:latin typeface="Arial"/>
                <a:ea typeface="Arial"/>
                <a:cs typeface="Arial"/>
                <a:sym typeface="Arial"/>
              </a:rPr>
              <a:t>GPU до распродажи, на пике лимит</a:t>
            </a:r>
            <a:endParaRPr b="0" i="0" spc="0" sz="1400" u="none" cap="none" strike="noStrike">
              <a:solidFill>
                <a:srgbClr val="000000"/>
              </a:solidFill>
              <a:latin typeface="Arial"/>
              <a:ea typeface="Arial"/>
              <a:cs typeface="Arial"/>
              <a:sym typeface="Arial"/>
            </a:endParaRPr>
          </a:p>
        </p:txBody>
      </p:sp>
      <p:sp>
        <p:nvSpPr>
          <p:cNvPr id="200" name="Google Shape;200;p11"/>
          <p:cNvSpPr/>
          <p:nvPr/>
        </p:nvSpPr>
        <p:spPr>
          <a:xfrm>
            <a:off x="8368406" y="3419856"/>
            <a:ext cx="1673901" cy="333756"/>
          </a:xfrm>
          <a:prstGeom prst="roundRect">
            <a:avLst>
              <a:gd fmla="val 18000" name="adj"/>
            </a:avLst>
          </a:prstGeom>
          <a:solidFill>
            <a:srgbClr val="A80E8E"/>
          </a:solidFill>
          <a:ln>
            <a:noFill/>
          </a:ln>
        </p:spPr>
        <p:txBody>
          <a:bodyPr anchorCtr="0" anchor="ctr" bIns="0" lIns="82275" spcFirstLastPara="1" rIns="82275"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US" spc="0" sz="1100" u="none" cap="none" strike="noStrike">
                <a:solidFill>
                  <a:srgbClr val="FFFFFF"/>
                </a:solidFill>
                <a:latin typeface="Arial"/>
                <a:ea typeface="Arial"/>
                <a:cs typeface="Arial"/>
                <a:sym typeface="Arial"/>
              </a:rPr>
              <a:t>запас под всю аудиторию</a:t>
            </a:r>
            <a:endParaRPr b="0" i="0" spc="0" sz="1400" u="none" cap="none" strike="noStrike">
              <a:solidFill>
                <a:srgbClr val="000000"/>
              </a:solidFill>
              <a:latin typeface="Arial"/>
              <a:ea typeface="Arial"/>
              <a:cs typeface="Arial"/>
              <a:sym typeface="Arial"/>
            </a:endParaRPr>
          </a:p>
        </p:txBody>
      </p:sp>
      <p:sp>
        <p:nvSpPr>
          <p:cNvPr id="201" name="Google Shape;201;p11"/>
          <p:cNvSpPr txBox="1"/>
          <p:nvPr/>
        </p:nvSpPr>
        <p:spPr>
          <a:xfrm>
            <a:off x="711403" y="3803904"/>
            <a:ext cx="2331720" cy="34747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pc="0" sz="1200" u="none" cap="none" strike="noStrike">
                <a:solidFill>
                  <a:srgbClr val="241036"/>
                </a:solidFill>
                <a:latin typeface="Arial"/>
                <a:ea typeface="Arial"/>
                <a:cs typeface="Arial"/>
                <a:sym typeface="Arial"/>
              </a:rPr>
              <a:t>Спонсорские места</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1000"/>
              <a:buFont typeface="Arial"/>
              <a:buNone/>
            </a:pPr>
            <a:r>
              <a:rPr b="0" i="0" lang="en-US" spc="0" sz="1000" u="none" cap="none" strike="noStrike">
                <a:solidFill>
                  <a:srgbClr val="6E5E7D"/>
                </a:solidFill>
                <a:latin typeface="Arial"/>
                <a:ea typeface="Arial"/>
                <a:cs typeface="Arial"/>
                <a:sym typeface="Arial"/>
              </a:rPr>
              <a:t>доход сверх комиссии</a:t>
            </a:r>
            <a:endParaRPr b="0" i="0" spc="0" sz="1400" u="none" cap="none" strike="noStrike">
              <a:solidFill>
                <a:srgbClr val="000000"/>
              </a:solidFill>
              <a:latin typeface="Arial"/>
              <a:ea typeface="Arial"/>
              <a:cs typeface="Arial"/>
              <a:sym typeface="Arial"/>
            </a:endParaRPr>
          </a:p>
        </p:txBody>
      </p:sp>
      <p:sp>
        <p:nvSpPr>
          <p:cNvPr id="202" name="Google Shape;202;p11"/>
          <p:cNvSpPr/>
          <p:nvPr/>
        </p:nvSpPr>
        <p:spPr>
          <a:xfrm>
            <a:off x="6639641" y="3808476"/>
            <a:ext cx="1673901" cy="333756"/>
          </a:xfrm>
          <a:prstGeom prst="roundRect">
            <a:avLst>
              <a:gd fmla="val 18000" name="adj"/>
            </a:avLst>
          </a:prstGeom>
          <a:solidFill>
            <a:srgbClr val="A80E8E"/>
          </a:solidFill>
          <a:ln>
            <a:noFill/>
          </a:ln>
        </p:spPr>
        <p:txBody>
          <a:bodyPr anchorCtr="0" anchor="ctr" bIns="0" lIns="82275" spcFirstLastPara="1" rIns="82275"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US" spc="0" sz="1100" u="none" cap="none" strike="noStrike">
                <a:solidFill>
                  <a:srgbClr val="FFFFFF"/>
                </a:solidFill>
                <a:latin typeface="Arial"/>
                <a:ea typeface="Arial"/>
                <a:cs typeface="Arial"/>
                <a:sym typeface="Arial"/>
              </a:rPr>
              <a:t>тест в тр</a:t>
            </a:r>
            <a:r>
              <a:rPr lang="en-US" sz="1100">
                <a:solidFill>
                  <a:srgbClr val="FFFFFF"/>
                </a:solidFill>
              </a:rPr>
              <a:t>е</a:t>
            </a:r>
            <a:r>
              <a:rPr b="0" i="0" lang="en-US" spc="0" sz="1100" u="none" cap="none" strike="noStrike">
                <a:solidFill>
                  <a:srgbClr val="FFFFFF"/>
                </a:solidFill>
                <a:latin typeface="Arial"/>
                <a:ea typeface="Arial"/>
                <a:cs typeface="Arial"/>
                <a:sym typeface="Arial"/>
              </a:rPr>
              <a:t>х пилотных категориях</a:t>
            </a:r>
            <a:endParaRPr b="0" i="0" spc="0" sz="1400" u="none" cap="none" strike="noStrike">
              <a:solidFill>
                <a:srgbClr val="000000"/>
              </a:solidFill>
              <a:latin typeface="Arial"/>
              <a:ea typeface="Arial"/>
              <a:cs typeface="Arial"/>
              <a:sym typeface="Arial"/>
            </a:endParaRPr>
          </a:p>
        </p:txBody>
      </p:sp>
      <p:sp>
        <p:nvSpPr>
          <p:cNvPr id="203" name="Google Shape;203;p11"/>
          <p:cNvSpPr/>
          <p:nvPr/>
        </p:nvSpPr>
        <p:spPr>
          <a:xfrm>
            <a:off x="8368406" y="3808476"/>
            <a:ext cx="3402665" cy="333756"/>
          </a:xfrm>
          <a:prstGeom prst="roundRect">
            <a:avLst>
              <a:gd fmla="val 18000" name="adj"/>
            </a:avLst>
          </a:prstGeom>
          <a:solidFill>
            <a:srgbClr val="A80E8E"/>
          </a:solidFill>
          <a:ln>
            <a:noFill/>
          </a:ln>
        </p:spPr>
        <p:txBody>
          <a:bodyPr anchorCtr="0" anchor="ctr" bIns="0" lIns="82275" spcFirstLastPara="1" rIns="82275"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US" spc="0" sz="1100" u="none" cap="none" strike="noStrike">
                <a:solidFill>
                  <a:srgbClr val="FFFFFF"/>
                </a:solidFill>
                <a:latin typeface="Arial"/>
                <a:ea typeface="Arial"/>
                <a:cs typeface="Arial"/>
                <a:sym typeface="Arial"/>
              </a:rPr>
              <a:t>все категории: пометка «реклама», до 1 из 5 позиций, равные условия продавцам</a:t>
            </a:r>
            <a:endParaRPr b="0" i="0" spc="0" sz="1400" u="none" cap="none" strike="noStrike">
              <a:solidFill>
                <a:srgbClr val="000000"/>
              </a:solidFill>
              <a:latin typeface="Arial"/>
              <a:ea typeface="Arial"/>
              <a:cs typeface="Arial"/>
              <a:sym typeface="Arial"/>
            </a:endParaRPr>
          </a:p>
        </p:txBody>
      </p:sp>
      <p:cxnSp>
        <p:nvCxnSpPr>
          <p:cNvPr id="204" name="Google Shape;204;p11"/>
          <p:cNvCxnSpPr/>
          <p:nvPr/>
        </p:nvCxnSpPr>
        <p:spPr>
          <a:xfrm>
            <a:off x="711403" y="4187952"/>
            <a:ext cx="11087100" cy="0"/>
          </a:xfrm>
          <a:prstGeom prst="straightConnector1">
            <a:avLst/>
          </a:prstGeom>
          <a:noFill/>
          <a:ln cap="flat" cmpd="sng" w="9525">
            <a:solidFill>
              <a:srgbClr val="DDD0E6"/>
            </a:solidFill>
            <a:prstDash val="solid"/>
            <a:round/>
            <a:headEnd len="sm" w="sm" type="none"/>
            <a:tailEnd len="sm" w="sm" type="none"/>
          </a:ln>
        </p:spPr>
      </p:cxnSp>
      <p:sp>
        <p:nvSpPr>
          <p:cNvPr id="205" name="Google Shape;205;p11"/>
          <p:cNvSpPr txBox="1"/>
          <p:nvPr/>
        </p:nvSpPr>
        <p:spPr>
          <a:xfrm>
            <a:off x="711403" y="4280649"/>
            <a:ext cx="4206300" cy="201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pc="0" sz="1200" u="none" cap="none" strike="noStrike">
                <a:solidFill>
                  <a:srgbClr val="A80E8E"/>
                </a:solidFill>
                <a:latin typeface="Arial"/>
                <a:ea typeface="Arial"/>
                <a:cs typeface="Arial"/>
                <a:sym typeface="Arial"/>
              </a:rPr>
              <a:t>Should have</a:t>
            </a:r>
            <a:r>
              <a:rPr b="0" i="0" lang="en-US" spc="0" sz="1000" u="none" cap="none" strike="noStrike">
                <a:solidFill>
                  <a:srgbClr val="6E5E7D"/>
                </a:solidFill>
                <a:latin typeface="Arial"/>
                <a:ea typeface="Arial"/>
                <a:cs typeface="Arial"/>
                <a:sym typeface="Arial"/>
              </a:rPr>
              <a:t>   усиливает ставку</a:t>
            </a:r>
            <a:endParaRPr b="0" i="0" spc="0" sz="1400" u="none" cap="none" strike="noStrike">
              <a:solidFill>
                <a:srgbClr val="000000"/>
              </a:solidFill>
              <a:latin typeface="Arial"/>
              <a:ea typeface="Arial"/>
              <a:cs typeface="Arial"/>
              <a:sym typeface="Arial"/>
            </a:endParaRPr>
          </a:p>
        </p:txBody>
      </p:sp>
      <p:sp>
        <p:nvSpPr>
          <p:cNvPr id="206" name="Google Shape;206;p11"/>
          <p:cNvSpPr txBox="1"/>
          <p:nvPr/>
        </p:nvSpPr>
        <p:spPr>
          <a:xfrm>
            <a:off x="711403" y="4500105"/>
            <a:ext cx="2331600" cy="347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pc="0" sz="1200" u="none" cap="none" strike="noStrike">
                <a:solidFill>
                  <a:srgbClr val="241036"/>
                </a:solidFill>
                <a:latin typeface="Arial"/>
                <a:ea typeface="Arial"/>
                <a:cs typeface="Arial"/>
                <a:sym typeface="Arial"/>
              </a:rPr>
              <a:t>Рассрочка в ответе</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1000"/>
              <a:buFont typeface="Arial"/>
              <a:buNone/>
            </a:pPr>
            <a:r>
              <a:rPr b="0" i="0" lang="en-US" spc="0" sz="1000" u="none" cap="none" strike="noStrike">
                <a:solidFill>
                  <a:srgbClr val="6E5E7D"/>
                </a:solidFill>
                <a:latin typeface="Arial"/>
                <a:ea typeface="Arial"/>
                <a:cs typeface="Arial"/>
                <a:sym typeface="Arial"/>
              </a:rPr>
              <a:t>действующая, не скидка за карту</a:t>
            </a:r>
            <a:endParaRPr b="0" i="0" spc="0" sz="1400" u="none" cap="none" strike="noStrike">
              <a:solidFill>
                <a:srgbClr val="000000"/>
              </a:solidFill>
              <a:latin typeface="Arial"/>
              <a:ea typeface="Arial"/>
              <a:cs typeface="Arial"/>
              <a:sym typeface="Arial"/>
            </a:endParaRPr>
          </a:p>
        </p:txBody>
      </p:sp>
      <p:sp>
        <p:nvSpPr>
          <p:cNvPr id="207" name="Google Shape;207;p11"/>
          <p:cNvSpPr/>
          <p:nvPr/>
        </p:nvSpPr>
        <p:spPr>
          <a:xfrm>
            <a:off x="6639641" y="4504677"/>
            <a:ext cx="1674000" cy="333900"/>
          </a:xfrm>
          <a:prstGeom prst="roundRect">
            <a:avLst>
              <a:gd fmla="val 18000" name="adj"/>
            </a:avLst>
          </a:prstGeom>
          <a:solidFill>
            <a:srgbClr val="EDE2F4"/>
          </a:solidFill>
          <a:ln cap="flat" cmpd="sng" w="9525">
            <a:solidFill>
              <a:srgbClr val="CDBBDA"/>
            </a:solidFill>
            <a:prstDash val="solid"/>
            <a:round/>
            <a:headEnd len="sm" w="sm" type="none"/>
            <a:tailEnd len="sm" w="sm" type="none"/>
          </a:ln>
        </p:spPr>
        <p:txBody>
          <a:bodyPr anchorCtr="0" anchor="ctr" bIns="0" lIns="82275" spcFirstLastPara="1" rIns="82275"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US" spc="0" sz="1100" u="none" cap="none" strike="noStrike">
                <a:solidFill>
                  <a:srgbClr val="3D2A4F"/>
                </a:solidFill>
                <a:latin typeface="Arial"/>
                <a:ea typeface="Arial"/>
                <a:cs typeface="Arial"/>
                <a:sym typeface="Arial"/>
              </a:rPr>
              <a:t>в пилотных категориях</a:t>
            </a:r>
            <a:endParaRPr b="0" i="0" spc="0" sz="1400" u="none" cap="none" strike="noStrike">
              <a:solidFill>
                <a:srgbClr val="000000"/>
              </a:solidFill>
              <a:latin typeface="Arial"/>
              <a:ea typeface="Arial"/>
              <a:cs typeface="Arial"/>
              <a:sym typeface="Arial"/>
            </a:endParaRPr>
          </a:p>
        </p:txBody>
      </p:sp>
      <p:sp>
        <p:nvSpPr>
          <p:cNvPr id="208" name="Google Shape;208;p11"/>
          <p:cNvSpPr/>
          <p:nvPr/>
        </p:nvSpPr>
        <p:spPr>
          <a:xfrm>
            <a:off x="8368406" y="4504677"/>
            <a:ext cx="3402600" cy="333900"/>
          </a:xfrm>
          <a:prstGeom prst="roundRect">
            <a:avLst>
              <a:gd fmla="val 18000" name="adj"/>
            </a:avLst>
          </a:prstGeom>
          <a:solidFill>
            <a:srgbClr val="EDE2F4"/>
          </a:solidFill>
          <a:ln cap="flat" cmpd="sng" w="9525">
            <a:solidFill>
              <a:srgbClr val="CDBBDA"/>
            </a:solidFill>
            <a:prstDash val="solid"/>
            <a:round/>
            <a:headEnd len="sm" w="sm" type="none"/>
            <a:tailEnd len="sm" w="sm" type="none"/>
          </a:ln>
        </p:spPr>
        <p:txBody>
          <a:bodyPr anchorCtr="0" anchor="ctr" bIns="0" lIns="82275" spcFirstLastPara="1" rIns="82275"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US" spc="0" sz="1100" u="none" cap="none" strike="noStrike">
                <a:solidFill>
                  <a:srgbClr val="3D2A4F"/>
                </a:solidFill>
                <a:latin typeface="Arial"/>
                <a:ea typeface="Arial"/>
                <a:cs typeface="Arial"/>
                <a:sym typeface="Arial"/>
              </a:rPr>
              <a:t>во всех категориях</a:t>
            </a:r>
            <a:endParaRPr b="0" i="0" spc="0" sz="1400" u="none" cap="none" strike="noStrike">
              <a:solidFill>
                <a:srgbClr val="000000"/>
              </a:solidFill>
              <a:latin typeface="Arial"/>
              <a:ea typeface="Arial"/>
              <a:cs typeface="Arial"/>
              <a:sym typeface="Arial"/>
            </a:endParaRPr>
          </a:p>
        </p:txBody>
      </p:sp>
      <p:cxnSp>
        <p:nvCxnSpPr>
          <p:cNvPr id="209" name="Google Shape;209;p11"/>
          <p:cNvCxnSpPr/>
          <p:nvPr/>
        </p:nvCxnSpPr>
        <p:spPr>
          <a:xfrm>
            <a:off x="711403" y="4940274"/>
            <a:ext cx="11087100" cy="0"/>
          </a:xfrm>
          <a:prstGeom prst="straightConnector1">
            <a:avLst/>
          </a:prstGeom>
          <a:noFill/>
          <a:ln cap="flat" cmpd="sng" w="9525">
            <a:solidFill>
              <a:srgbClr val="DDD0E6"/>
            </a:solidFill>
            <a:prstDash val="solid"/>
            <a:round/>
            <a:headEnd len="sm" w="sm" type="none"/>
            <a:tailEnd len="sm" w="sm" type="none"/>
          </a:ln>
        </p:spPr>
      </p:cxnSp>
      <p:sp>
        <p:nvSpPr>
          <p:cNvPr id="210" name="Google Shape;210;p11"/>
          <p:cNvSpPr txBox="1"/>
          <p:nvPr/>
        </p:nvSpPr>
        <p:spPr>
          <a:xfrm>
            <a:off x="711403" y="5032971"/>
            <a:ext cx="4206300" cy="201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pc="0" sz="1200" u="none" cap="none" strike="noStrike">
                <a:solidFill>
                  <a:srgbClr val="A80E8E"/>
                </a:solidFill>
                <a:latin typeface="Arial"/>
                <a:ea typeface="Arial"/>
                <a:cs typeface="Arial"/>
                <a:sym typeface="Arial"/>
              </a:rPr>
              <a:t>Won't do</a:t>
            </a:r>
            <a:r>
              <a:rPr b="0" i="0" lang="en-US" spc="0" sz="1000" u="none" cap="none" strike="noStrike">
                <a:solidFill>
                  <a:srgbClr val="6E5E7D"/>
                </a:solidFill>
                <a:latin typeface="Arial"/>
                <a:ea typeface="Arial"/>
                <a:cs typeface="Arial"/>
                <a:sym typeface="Arial"/>
              </a:rPr>
              <a:t>   откладываем до развилки декабря 2028</a:t>
            </a:r>
            <a:endParaRPr b="0" i="0" spc="0" sz="1400" u="none" cap="none" strike="noStrike">
              <a:solidFill>
                <a:srgbClr val="000000"/>
              </a:solidFill>
              <a:latin typeface="Arial"/>
              <a:ea typeface="Arial"/>
              <a:cs typeface="Arial"/>
              <a:sym typeface="Arial"/>
            </a:endParaRPr>
          </a:p>
        </p:txBody>
      </p:sp>
      <p:sp>
        <p:nvSpPr>
          <p:cNvPr id="211" name="Google Shape;211;p11"/>
          <p:cNvSpPr txBox="1"/>
          <p:nvPr/>
        </p:nvSpPr>
        <p:spPr>
          <a:xfrm>
            <a:off x="711403" y="5252427"/>
            <a:ext cx="2331600" cy="237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pc="0" sz="1200" u="none" cap="none" strike="noStrike">
                <a:solidFill>
                  <a:srgbClr val="241036"/>
                </a:solidFill>
                <a:latin typeface="Arial"/>
                <a:ea typeface="Arial"/>
                <a:cs typeface="Arial"/>
                <a:sym typeface="Arial"/>
              </a:rPr>
              <a:t>Новые дарксторы и склады</a:t>
            </a:r>
            <a:endParaRPr b="0" i="0" spc="0" sz="1400" u="none" cap="none" strike="noStrike">
              <a:solidFill>
                <a:srgbClr val="000000"/>
              </a:solidFill>
              <a:latin typeface="Arial"/>
              <a:ea typeface="Arial"/>
              <a:cs typeface="Arial"/>
              <a:sym typeface="Arial"/>
            </a:endParaRPr>
          </a:p>
        </p:txBody>
      </p:sp>
      <p:sp>
        <p:nvSpPr>
          <p:cNvPr id="212" name="Google Shape;212;p11"/>
          <p:cNvSpPr/>
          <p:nvPr/>
        </p:nvSpPr>
        <p:spPr>
          <a:xfrm>
            <a:off x="3182112" y="5252427"/>
            <a:ext cx="8589000" cy="242400"/>
          </a:xfrm>
          <a:prstGeom prst="roundRect">
            <a:avLst>
              <a:gd fmla="val 18000" name="adj"/>
            </a:avLst>
          </a:prstGeom>
          <a:noFill/>
          <a:ln cap="flat" cmpd="sng" w="9525">
            <a:solidFill>
              <a:srgbClr val="BBA6CC"/>
            </a:solidFill>
            <a:prstDash val="dash"/>
            <a:round/>
            <a:headEnd len="sm" w="sm" type="none"/>
            <a:tailEnd len="sm" w="sm" type="none"/>
          </a:ln>
        </p:spPr>
        <p:txBody>
          <a:bodyPr anchorCtr="0" anchor="ctr" bIns="0" lIns="82275" spcFirstLastPara="1" rIns="82275"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US" spc="0" sz="1100" u="none" cap="none" strike="noStrike">
                <a:solidFill>
                  <a:srgbClr val="6E5E7D"/>
                </a:solidFill>
                <a:latin typeface="Arial"/>
                <a:ea typeface="Arial"/>
                <a:cs typeface="Arial"/>
                <a:sym typeface="Arial"/>
              </a:rPr>
              <a:t>«Экспресс» оста</a:t>
            </a:r>
            <a:r>
              <a:rPr lang="en-US" sz="1100">
                <a:solidFill>
                  <a:srgbClr val="6E5E7D"/>
                </a:solidFill>
              </a:rPr>
              <a:t>е</a:t>
            </a:r>
            <a:r>
              <a:rPr b="0" i="0" lang="en-US" spc="0" sz="1100" u="none" cap="none" strike="noStrike">
                <a:solidFill>
                  <a:srgbClr val="6E5E7D"/>
                </a:solidFill>
                <a:latin typeface="Arial"/>
                <a:ea typeface="Arial"/>
                <a:cs typeface="Arial"/>
                <a:sym typeface="Arial"/>
              </a:rPr>
              <a:t>тся пилотом в Москве, в СНГ раст</a:t>
            </a:r>
            <a:r>
              <a:rPr lang="en-US" sz="1100">
                <a:solidFill>
                  <a:srgbClr val="6E5E7D"/>
                </a:solidFill>
              </a:rPr>
              <a:t>е</a:t>
            </a:r>
            <a:r>
              <a:rPr b="0" i="0" lang="en-US" spc="0" sz="1100" u="none" cap="none" strike="noStrike">
                <a:solidFill>
                  <a:srgbClr val="6E5E7D"/>
                </a:solidFill>
                <a:latin typeface="Arial"/>
                <a:ea typeface="Arial"/>
                <a:cs typeface="Arial"/>
                <a:sym typeface="Arial"/>
              </a:rPr>
              <a:t>м через местных продавцов, капитал ид</a:t>
            </a:r>
            <a:r>
              <a:rPr lang="en-US" sz="1100">
                <a:solidFill>
                  <a:srgbClr val="6E5E7D"/>
                </a:solidFill>
              </a:rPr>
              <a:t>е</a:t>
            </a:r>
            <a:r>
              <a:rPr b="0" i="0" lang="en-US" spc="0" sz="1100" u="none" cap="none" strike="noStrike">
                <a:solidFill>
                  <a:srgbClr val="6E5E7D"/>
                </a:solidFill>
                <a:latin typeface="Arial"/>
                <a:ea typeface="Arial"/>
                <a:cs typeface="Arial"/>
                <a:sym typeface="Arial"/>
              </a:rPr>
              <a:t>т на склады в России</a:t>
            </a:r>
            <a:endParaRPr b="0" i="0" spc="0" sz="1400" u="none" cap="none" strike="noStrike">
              <a:solidFill>
                <a:srgbClr val="000000"/>
              </a:solidFill>
              <a:latin typeface="Arial"/>
              <a:ea typeface="Arial"/>
              <a:cs typeface="Arial"/>
              <a:sym typeface="Arial"/>
            </a:endParaRPr>
          </a:p>
        </p:txBody>
      </p:sp>
      <p:sp>
        <p:nvSpPr>
          <p:cNvPr id="213" name="Google Shape;213;p11"/>
          <p:cNvSpPr txBox="1"/>
          <p:nvPr/>
        </p:nvSpPr>
        <p:spPr>
          <a:xfrm>
            <a:off x="711403" y="5535891"/>
            <a:ext cx="2331600" cy="237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pc="0" sz="1200" u="none" cap="none" strike="noStrike">
                <a:solidFill>
                  <a:srgbClr val="241036"/>
                </a:solidFill>
                <a:latin typeface="Arial"/>
                <a:ea typeface="Arial"/>
                <a:cs typeface="Arial"/>
                <a:sym typeface="Arial"/>
              </a:rPr>
              <a:t>Гонка Wibes за аудиторией</a:t>
            </a:r>
            <a:endParaRPr b="0" i="0" spc="0" sz="1400" u="none" cap="none" strike="noStrike">
              <a:solidFill>
                <a:srgbClr val="000000"/>
              </a:solidFill>
              <a:latin typeface="Arial"/>
              <a:ea typeface="Arial"/>
              <a:cs typeface="Arial"/>
              <a:sym typeface="Arial"/>
            </a:endParaRPr>
          </a:p>
        </p:txBody>
      </p:sp>
      <p:sp>
        <p:nvSpPr>
          <p:cNvPr id="214" name="Google Shape;214;p11"/>
          <p:cNvSpPr/>
          <p:nvPr/>
        </p:nvSpPr>
        <p:spPr>
          <a:xfrm>
            <a:off x="3182112" y="5535891"/>
            <a:ext cx="8589000" cy="242400"/>
          </a:xfrm>
          <a:prstGeom prst="roundRect">
            <a:avLst>
              <a:gd fmla="val 18000" name="adj"/>
            </a:avLst>
          </a:prstGeom>
          <a:noFill/>
          <a:ln cap="flat" cmpd="sng" w="9525">
            <a:solidFill>
              <a:srgbClr val="BBA6CC"/>
            </a:solidFill>
            <a:prstDash val="dash"/>
            <a:round/>
            <a:headEnd len="sm" w="sm" type="none"/>
            <a:tailEnd len="sm" w="sm" type="none"/>
          </a:ln>
        </p:spPr>
        <p:txBody>
          <a:bodyPr anchorCtr="0" anchor="ctr" bIns="0" lIns="82275" spcFirstLastPara="1" rIns="82275"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US" spc="0" sz="1100" u="none" cap="none" strike="noStrike">
                <a:solidFill>
                  <a:srgbClr val="6E5E7D"/>
                </a:solidFill>
                <a:latin typeface="Arial"/>
                <a:ea typeface="Arial"/>
                <a:cs typeface="Arial"/>
                <a:sym typeface="Arial"/>
              </a:rPr>
              <a:t>без бюджета на авторов и раскрутку, видео и отзывы идут в данные для точного совета</a:t>
            </a:r>
            <a:endParaRPr b="0" i="0" spc="0" sz="1400" u="none" cap="none" strike="noStrike">
              <a:solidFill>
                <a:srgbClr val="000000"/>
              </a:solidFill>
              <a:latin typeface="Arial"/>
              <a:ea typeface="Arial"/>
              <a:cs typeface="Arial"/>
              <a:sym typeface="Arial"/>
            </a:endParaRPr>
          </a:p>
        </p:txBody>
      </p:sp>
      <p:sp>
        <p:nvSpPr>
          <p:cNvPr id="215" name="Google Shape;215;p11"/>
          <p:cNvSpPr/>
          <p:nvPr/>
        </p:nvSpPr>
        <p:spPr>
          <a:xfrm>
            <a:off x="6548201" y="1929384"/>
            <a:ext cx="128016" cy="128016"/>
          </a:xfrm>
          <a:prstGeom prst="diamond">
            <a:avLst/>
          </a:prstGeom>
          <a:solidFill>
            <a:srgbClr val="A80E8E"/>
          </a:solidFill>
          <a:ln>
            <a:noFill/>
          </a:ln>
        </p:spPr>
        <p:txBody>
          <a:bodyPr anchorCtr="0" anchor="ctr" bIns="0" lIns="82275" spcFirstLastPara="1" rIns="82275"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16" name="Google Shape;216;p11"/>
          <p:cNvSpPr/>
          <p:nvPr/>
        </p:nvSpPr>
        <p:spPr>
          <a:xfrm>
            <a:off x="8276966" y="1929384"/>
            <a:ext cx="128016" cy="128016"/>
          </a:xfrm>
          <a:prstGeom prst="diamond">
            <a:avLst/>
          </a:prstGeom>
          <a:solidFill>
            <a:srgbClr val="A80E8E"/>
          </a:solidFill>
          <a:ln>
            <a:noFill/>
          </a:ln>
        </p:spPr>
        <p:txBody>
          <a:bodyPr anchorCtr="0" anchor="ctr" bIns="0" lIns="82275" spcFirstLastPara="1" rIns="82275"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17" name="Google Shape;217;p11"/>
          <p:cNvSpPr/>
          <p:nvPr/>
        </p:nvSpPr>
        <p:spPr>
          <a:xfrm>
            <a:off x="11734495" y="1929384"/>
            <a:ext cx="128016" cy="128016"/>
          </a:xfrm>
          <a:prstGeom prst="diamond">
            <a:avLst/>
          </a:prstGeom>
          <a:solidFill>
            <a:srgbClr val="A80E8E"/>
          </a:solidFill>
          <a:ln>
            <a:noFill/>
          </a:ln>
        </p:spPr>
        <p:txBody>
          <a:bodyPr anchorCtr="0" anchor="ctr" bIns="0" lIns="82275" spcFirstLastPara="1" rIns="82275"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18" name="Google Shape;218;p11"/>
          <p:cNvSpPr/>
          <p:nvPr/>
        </p:nvSpPr>
        <p:spPr>
          <a:xfrm>
            <a:off x="711403" y="5966916"/>
            <a:ext cx="100500" cy="100500"/>
          </a:xfrm>
          <a:prstGeom prst="diamond">
            <a:avLst/>
          </a:prstGeom>
          <a:solidFill>
            <a:srgbClr val="A80E8E"/>
          </a:solidFill>
          <a:ln>
            <a:noFill/>
          </a:ln>
        </p:spPr>
        <p:txBody>
          <a:bodyPr anchorCtr="0" anchor="ctr" bIns="0" lIns="82275" spcFirstLastPara="1" rIns="82275"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19" name="Google Shape;219;p11"/>
          <p:cNvSpPr txBox="1"/>
          <p:nvPr/>
        </p:nvSpPr>
        <p:spPr>
          <a:xfrm>
            <a:off x="894283" y="5939484"/>
            <a:ext cx="10904100" cy="150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US" spc="0" sz="1000" u="none" cap="none" strike="noStrike">
                <a:solidFill>
                  <a:srgbClr val="6E5E7D"/>
                </a:solidFill>
                <a:latin typeface="Arial"/>
                <a:ea typeface="Arial"/>
                <a:cs typeface="Arial"/>
                <a:sym typeface="Arial"/>
              </a:rPr>
              <a:t>Июль 2027, при продлении октябрь · условие 01:</a:t>
            </a:r>
            <a:r>
              <a:rPr b="0" i="0" lang="en-US" spc="0" sz="1000" u="none" cap="none" strike="noStrike">
                <a:solidFill>
                  <a:srgbClr val="6E5E7D"/>
                </a:solidFill>
                <a:latin typeface="Arial"/>
                <a:ea typeface="Arial"/>
                <a:cs typeface="Arial"/>
                <a:sym typeface="Arial"/>
              </a:rPr>
              <a:t> GMV без возвратов на покупателя выше контроля минимум на 2% в 2 из 3 категорий, окупаемость диалога не ниже 1</a:t>
            </a:r>
            <a:endParaRPr b="0" i="0" spc="0" sz="1400" u="none" cap="none" strike="noStrike">
              <a:solidFill>
                <a:srgbClr val="000000"/>
              </a:solidFill>
              <a:latin typeface="Arial"/>
              <a:ea typeface="Arial"/>
              <a:cs typeface="Arial"/>
              <a:sym typeface="Arial"/>
            </a:endParaRPr>
          </a:p>
        </p:txBody>
      </p:sp>
      <p:sp>
        <p:nvSpPr>
          <p:cNvPr id="220" name="Google Shape;220;p11"/>
          <p:cNvSpPr/>
          <p:nvPr/>
        </p:nvSpPr>
        <p:spPr>
          <a:xfrm>
            <a:off x="711403" y="6117792"/>
            <a:ext cx="100500" cy="100500"/>
          </a:xfrm>
          <a:prstGeom prst="diamond">
            <a:avLst/>
          </a:prstGeom>
          <a:solidFill>
            <a:srgbClr val="A80E8E"/>
          </a:solidFill>
          <a:ln>
            <a:noFill/>
          </a:ln>
        </p:spPr>
        <p:txBody>
          <a:bodyPr anchorCtr="0" anchor="ctr" bIns="0" lIns="82275" spcFirstLastPara="1" rIns="82275"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21" name="Google Shape;221;p11"/>
          <p:cNvSpPr txBox="1"/>
          <p:nvPr/>
        </p:nvSpPr>
        <p:spPr>
          <a:xfrm>
            <a:off x="894283" y="6090360"/>
            <a:ext cx="10904100" cy="150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US" spc="0" sz="1000" u="none" cap="none" strike="noStrike">
                <a:solidFill>
                  <a:srgbClr val="6E5E7D"/>
                </a:solidFill>
                <a:latin typeface="Arial"/>
                <a:ea typeface="Arial"/>
                <a:cs typeface="Arial"/>
                <a:sym typeface="Arial"/>
              </a:rPr>
              <a:t>Январь 2028 · условия 02 и 03:</a:t>
            </a:r>
            <a:r>
              <a:rPr b="0" i="0" lang="en-US" spc="0" sz="1000" u="none" cap="none" strike="noStrike">
                <a:solidFill>
                  <a:srgbClr val="6E5E7D"/>
                </a:solidFill>
                <a:latin typeface="Arial"/>
                <a:ea typeface="Arial"/>
                <a:cs typeface="Arial"/>
                <a:sym typeface="Arial"/>
              </a:rPr>
              <a:t> окупаемость диалога не ниже 2, мощностей хватает на пик, предписаний регулятора нет</a:t>
            </a:r>
            <a:endParaRPr b="0" i="0" spc="0" sz="1400" u="none" cap="none" strike="noStrike">
              <a:solidFill>
                <a:srgbClr val="000000"/>
              </a:solidFill>
              <a:latin typeface="Arial"/>
              <a:ea typeface="Arial"/>
              <a:cs typeface="Arial"/>
              <a:sym typeface="Arial"/>
            </a:endParaRPr>
          </a:p>
        </p:txBody>
      </p:sp>
      <p:sp>
        <p:nvSpPr>
          <p:cNvPr id="222" name="Google Shape;222;p11"/>
          <p:cNvSpPr/>
          <p:nvPr/>
        </p:nvSpPr>
        <p:spPr>
          <a:xfrm>
            <a:off x="711403" y="6268668"/>
            <a:ext cx="100500" cy="100500"/>
          </a:xfrm>
          <a:prstGeom prst="diamond">
            <a:avLst/>
          </a:prstGeom>
          <a:solidFill>
            <a:srgbClr val="A80E8E"/>
          </a:solidFill>
          <a:ln>
            <a:noFill/>
          </a:ln>
        </p:spPr>
        <p:txBody>
          <a:bodyPr anchorCtr="0" anchor="ctr" bIns="0" lIns="82275" spcFirstLastPara="1" rIns="82275"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23" name="Google Shape;223;p11"/>
          <p:cNvSpPr txBox="1"/>
          <p:nvPr/>
        </p:nvSpPr>
        <p:spPr>
          <a:xfrm>
            <a:off x="894283" y="6241236"/>
            <a:ext cx="10904100" cy="150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US" spc="0" sz="1000" u="none" cap="none" strike="noStrike">
                <a:solidFill>
                  <a:srgbClr val="6E5E7D"/>
                </a:solidFill>
                <a:latin typeface="Arial"/>
                <a:ea typeface="Arial"/>
                <a:cs typeface="Arial"/>
                <a:sym typeface="Arial"/>
              </a:rPr>
              <a:t>Декабрь 2028 · итог:</a:t>
            </a:r>
            <a:r>
              <a:rPr b="0" i="0" lang="en-US" spc="0" sz="1000" u="none" cap="none" strike="noStrike">
                <a:solidFill>
                  <a:srgbClr val="6E5E7D"/>
                </a:solidFill>
                <a:latin typeface="Arial"/>
                <a:ea typeface="Arial"/>
                <a:cs typeface="Arial"/>
                <a:sym typeface="Arial"/>
              </a:rPr>
              <a:t> продолжаем или закрываем ставку и пересматриваем Won't do. Что делаем при сбое на развилке, на слайде 7</a:t>
            </a:r>
            <a:endParaRPr b="0" i="0" spc="0" sz="1400" u="none" cap="none" strike="noStrike">
              <a:solidFill>
                <a:srgbClr val="000000"/>
              </a:solidFill>
              <a:latin typeface="Arial"/>
              <a:ea typeface="Arial"/>
              <a:cs typeface="Arial"/>
              <a:sym typeface="Arial"/>
            </a:endParaRPr>
          </a:p>
        </p:txBody>
      </p:sp>
      <p:cxnSp>
        <p:nvCxnSpPr>
          <p:cNvPr id="224" name="Google Shape;224;p11"/>
          <p:cNvCxnSpPr/>
          <p:nvPr/>
        </p:nvCxnSpPr>
        <p:spPr>
          <a:xfrm>
            <a:off x="711403" y="6456120"/>
            <a:ext cx="10769700" cy="0"/>
          </a:xfrm>
          <a:prstGeom prst="straightConnector1">
            <a:avLst/>
          </a:prstGeom>
          <a:noFill/>
          <a:ln cap="flat" cmpd="sng" w="9525">
            <a:solidFill>
              <a:srgbClr val="DDD0E6"/>
            </a:solidFill>
            <a:prstDash val="solid"/>
            <a:round/>
            <a:headEnd len="sm" w="sm" type="none"/>
            <a:tailEnd len="sm" w="sm" type="none"/>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A0B45"/>
        </a:solidFill>
      </p:bgPr>
    </p:bg>
    <p:spTree>
      <p:nvGrpSpPr>
        <p:cNvPr id="229" name="Shape 229"/>
        <p:cNvGrpSpPr/>
        <p:nvPr/>
      </p:nvGrpSpPr>
      <p:grpSpPr>
        <a:xfrm>
          <a:off x="0" y="0"/>
          <a:ext cx="0" cy="0"/>
          <a:chOff x="0" y="0"/>
          <a:chExt cx="0" cy="0"/>
        </a:xfrm>
      </p:grpSpPr>
      <p:sp>
        <p:nvSpPr>
          <p:cNvPr id="230" name="Google Shape;230;p12"/>
          <p:cNvSpPr txBox="1"/>
          <p:nvPr>
            <p:ph type="title"/>
          </p:nvPr>
        </p:nvSpPr>
        <p:spPr>
          <a:xfrm>
            <a:off x="711403" y="774497"/>
            <a:ext cx="11087100" cy="736092"/>
          </a:xfrm>
          <a:prstGeom prst="rect">
            <a:avLst/>
          </a:prstGeom>
          <a:noFill/>
          <a:ln>
            <a:noFill/>
          </a:ln>
        </p:spPr>
        <p:txBody>
          <a:bodyPr anchorCtr="0" anchor="t" bIns="0" lIns="0" spcFirstLastPara="1" rIns="0" wrap="square" tIns="0">
            <a:noAutofit/>
          </a:bodyPr>
          <a:lstStyle/>
          <a:p>
            <a:pPr indent="0" lvl="0" marL="0" rtl="0" algn="l">
              <a:lnSpc>
                <a:spcPct val="112000"/>
              </a:lnSpc>
              <a:spcBef>
                <a:spcPts val="0"/>
              </a:spcBef>
              <a:spcAft>
                <a:spcPts val="0"/>
              </a:spcAft>
              <a:buClr>
                <a:srgbClr val="000000"/>
              </a:buClr>
              <a:buSzPts val="2500"/>
              <a:buFont typeface="Arial"/>
              <a:buNone/>
            </a:pPr>
            <a:r>
              <a:rPr b="1" lang="en-US" sz="2300">
                <a:solidFill>
                  <a:srgbClr val="FBF6FD"/>
                </a:solidFill>
                <a:latin typeface="Arial"/>
                <a:ea typeface="Arial"/>
                <a:cs typeface="Arial"/>
                <a:sym typeface="Arial"/>
              </a:rPr>
              <a:t>Ставка работает при трех условиях: покупатель доверяет совету, ответ окупается, продавцы и закон принимают подборку</a:t>
            </a:r>
            <a:endParaRPr/>
          </a:p>
        </p:txBody>
      </p:sp>
      <p:sp>
        <p:nvSpPr>
          <p:cNvPr id="231" name="Google Shape;231;p12"/>
          <p:cNvSpPr txBox="1"/>
          <p:nvPr/>
        </p:nvSpPr>
        <p:spPr>
          <a:xfrm>
            <a:off x="711403" y="405994"/>
            <a:ext cx="6350508" cy="241402"/>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00000"/>
              </a:buClr>
              <a:buSzPts val="1200"/>
              <a:buFont typeface="Arial"/>
              <a:buNone/>
            </a:pPr>
            <a:r>
              <a:rPr b="1" i="0" lang="en-US" spc="0" sz="1200" u="none" cap="none" strike="noStrike">
                <a:solidFill>
                  <a:srgbClr val="F27BD8"/>
                </a:solidFill>
                <a:latin typeface="Arial"/>
                <a:ea typeface="Arial"/>
                <a:cs typeface="Arial"/>
                <a:sym typeface="Arial"/>
              </a:rPr>
              <a:t>План · условия успеха</a:t>
            </a:r>
            <a:endParaRPr b="0" i="0" spc="0" sz="1400" u="none" cap="none" strike="noStrike">
              <a:solidFill>
                <a:srgbClr val="000000"/>
              </a:solidFill>
              <a:latin typeface="Arial"/>
              <a:ea typeface="Arial"/>
              <a:cs typeface="Arial"/>
              <a:sym typeface="Arial"/>
            </a:endParaRPr>
          </a:p>
        </p:txBody>
      </p:sp>
      <p:sp>
        <p:nvSpPr>
          <p:cNvPr id="232" name="Google Shape;232;p12"/>
          <p:cNvSpPr txBox="1"/>
          <p:nvPr/>
        </p:nvSpPr>
        <p:spPr>
          <a:xfrm>
            <a:off x="1168603" y="1651406"/>
            <a:ext cx="2743200" cy="202997"/>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1200"/>
              <a:buFont typeface="Arial"/>
              <a:buNone/>
            </a:pPr>
            <a:r>
              <a:rPr b="1" i="0" lang="en-US" spc="0" sz="1200" u="none" cap="none" strike="noStrike">
                <a:solidFill>
                  <a:srgbClr val="F27BD8"/>
                </a:solidFill>
                <a:latin typeface="Arial"/>
                <a:ea typeface="Arial"/>
                <a:cs typeface="Arial"/>
                <a:sym typeface="Arial"/>
              </a:rPr>
              <a:t>Условие</a:t>
            </a:r>
            <a:endParaRPr b="0" i="0" spc="0" sz="1400" u="none" cap="none" strike="noStrike">
              <a:solidFill>
                <a:srgbClr val="000000"/>
              </a:solidFill>
              <a:latin typeface="Arial"/>
              <a:ea typeface="Arial"/>
              <a:cs typeface="Arial"/>
              <a:sym typeface="Arial"/>
            </a:endParaRPr>
          </a:p>
        </p:txBody>
      </p:sp>
      <p:sp>
        <p:nvSpPr>
          <p:cNvPr id="233" name="Google Shape;233;p12"/>
          <p:cNvSpPr txBox="1"/>
          <p:nvPr/>
        </p:nvSpPr>
        <p:spPr>
          <a:xfrm>
            <a:off x="4206240" y="1651406"/>
            <a:ext cx="3337560" cy="202997"/>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1200"/>
              <a:buFont typeface="Arial"/>
              <a:buNone/>
            </a:pPr>
            <a:r>
              <a:rPr b="1" i="0" lang="en-US" spc="0" sz="1200" u="none" cap="none" strike="noStrike">
                <a:solidFill>
                  <a:srgbClr val="F27BD8"/>
                </a:solidFill>
                <a:latin typeface="Arial"/>
                <a:ea typeface="Arial"/>
                <a:cs typeface="Arial"/>
                <a:sym typeface="Arial"/>
              </a:rPr>
              <a:t>Ранние сигналы</a:t>
            </a:r>
            <a:endParaRPr b="0" i="0" spc="0" sz="1400" u="none" cap="none" strike="noStrike">
              <a:solidFill>
                <a:srgbClr val="000000"/>
              </a:solidFill>
              <a:latin typeface="Arial"/>
              <a:ea typeface="Arial"/>
              <a:cs typeface="Arial"/>
              <a:sym typeface="Arial"/>
            </a:endParaRPr>
          </a:p>
        </p:txBody>
      </p:sp>
      <p:sp>
        <p:nvSpPr>
          <p:cNvPr id="234" name="Google Shape;234;p12"/>
          <p:cNvSpPr txBox="1"/>
          <p:nvPr/>
        </p:nvSpPr>
        <p:spPr>
          <a:xfrm>
            <a:off x="7863840" y="1651406"/>
            <a:ext cx="3934663" cy="202997"/>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1200"/>
              <a:buFont typeface="Arial"/>
              <a:buNone/>
            </a:pPr>
            <a:r>
              <a:rPr b="1" i="0" lang="en-US" spc="0" sz="1200" u="none" cap="none" strike="noStrike">
                <a:solidFill>
                  <a:srgbClr val="F27BD8"/>
                </a:solidFill>
                <a:latin typeface="Arial"/>
                <a:ea typeface="Arial"/>
                <a:cs typeface="Arial"/>
                <a:sym typeface="Arial"/>
              </a:rPr>
              <a:t>Когда масштабируем</a:t>
            </a:r>
            <a:endParaRPr b="0" i="0" spc="0" sz="1400" u="none" cap="none" strike="noStrike">
              <a:solidFill>
                <a:srgbClr val="000000"/>
              </a:solidFill>
              <a:latin typeface="Arial"/>
              <a:ea typeface="Arial"/>
              <a:cs typeface="Arial"/>
              <a:sym typeface="Arial"/>
            </a:endParaRPr>
          </a:p>
        </p:txBody>
      </p:sp>
      <p:cxnSp>
        <p:nvCxnSpPr>
          <p:cNvPr id="235" name="Google Shape;235;p12"/>
          <p:cNvCxnSpPr/>
          <p:nvPr/>
        </p:nvCxnSpPr>
        <p:spPr>
          <a:xfrm>
            <a:off x="711403" y="1917497"/>
            <a:ext cx="11087100" cy="0"/>
          </a:xfrm>
          <a:prstGeom prst="straightConnector1">
            <a:avLst/>
          </a:prstGeom>
          <a:noFill/>
          <a:ln cap="flat" cmpd="sng" w="19050">
            <a:solidFill>
              <a:srgbClr val="F27BD8"/>
            </a:solidFill>
            <a:prstDash val="solid"/>
            <a:round/>
            <a:headEnd len="sm" w="sm" type="none"/>
            <a:tailEnd len="sm" w="sm" type="none"/>
          </a:ln>
        </p:spPr>
      </p:cxnSp>
      <p:sp>
        <p:nvSpPr>
          <p:cNvPr id="236" name="Google Shape;236;p12"/>
          <p:cNvSpPr txBox="1"/>
          <p:nvPr/>
        </p:nvSpPr>
        <p:spPr>
          <a:xfrm>
            <a:off x="711403" y="1998204"/>
            <a:ext cx="381305" cy="30449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1" i="0" lang="en-US" spc="0" sz="1800" u="none" cap="none" strike="noStrike">
                <a:solidFill>
                  <a:srgbClr val="F27BD8"/>
                </a:solidFill>
                <a:latin typeface="Arial"/>
                <a:ea typeface="Arial"/>
                <a:cs typeface="Arial"/>
                <a:sym typeface="Arial"/>
              </a:rPr>
              <a:t>01</a:t>
            </a:r>
            <a:endParaRPr b="0" i="0" spc="0" sz="1400" u="none" cap="none" strike="noStrike">
              <a:solidFill>
                <a:srgbClr val="000000"/>
              </a:solidFill>
              <a:latin typeface="Arial"/>
              <a:ea typeface="Arial"/>
              <a:cs typeface="Arial"/>
              <a:sym typeface="Arial"/>
            </a:endParaRPr>
          </a:p>
        </p:txBody>
      </p:sp>
      <p:sp>
        <p:nvSpPr>
          <p:cNvPr id="237" name="Google Shape;237;p12"/>
          <p:cNvSpPr txBox="1"/>
          <p:nvPr/>
        </p:nvSpPr>
        <p:spPr>
          <a:xfrm>
            <a:off x="1168603" y="2022892"/>
            <a:ext cx="2743200" cy="20867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1300"/>
              <a:buFont typeface="Arial"/>
              <a:buNone/>
            </a:pPr>
            <a:r>
              <a:rPr b="1" i="0" lang="en-US" spc="0" sz="1300" u="none" cap="none" strike="noStrike">
                <a:solidFill>
                  <a:srgbClr val="FBF6FD"/>
                </a:solidFill>
                <a:latin typeface="Arial"/>
                <a:ea typeface="Arial"/>
                <a:cs typeface="Arial"/>
                <a:sym typeface="Arial"/>
              </a:rPr>
              <a:t>Покупатель доверяет совету</a:t>
            </a:r>
            <a:endParaRPr b="0" i="0" spc="0" sz="1400" u="none" cap="none" strike="noStrike">
              <a:solidFill>
                <a:srgbClr val="000000"/>
              </a:solidFill>
              <a:latin typeface="Arial"/>
              <a:ea typeface="Arial"/>
              <a:cs typeface="Arial"/>
              <a:sym typeface="Arial"/>
            </a:endParaRPr>
          </a:p>
        </p:txBody>
      </p:sp>
      <p:sp>
        <p:nvSpPr>
          <p:cNvPr id="238" name="Google Shape;238;p12"/>
          <p:cNvSpPr txBox="1"/>
          <p:nvPr/>
        </p:nvSpPr>
        <p:spPr>
          <a:xfrm>
            <a:off x="4206240" y="2022892"/>
            <a:ext cx="3337560" cy="76393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pc="0" sz="1200" u="none" cap="none" strike="noStrike">
                <a:solidFill>
                  <a:srgbClr val="DCCCE8"/>
                </a:solidFill>
                <a:latin typeface="Arial"/>
                <a:ea typeface="Arial"/>
                <a:cs typeface="Arial"/>
                <a:sym typeface="Arial"/>
              </a:rPr>
              <a:t>Попробовавшие чаще начинают с консультанта, чем с поиска</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000000"/>
              </a:buClr>
              <a:buSzPts val="1200"/>
              <a:buFont typeface="Arial"/>
              <a:buNone/>
            </a:pPr>
            <a:r>
              <a:rPr b="0" i="0" lang="en-US" spc="0" sz="1200" u="none" cap="none" strike="noStrike">
                <a:solidFill>
                  <a:srgbClr val="DCCCE8"/>
                </a:solidFill>
                <a:latin typeface="Arial"/>
                <a:ea typeface="Arial"/>
                <a:cs typeface="Arial"/>
                <a:sym typeface="Arial"/>
              </a:rPr>
              <a:t>Возвратов по размеру в одежде на 10% меньше, чем в контроле</a:t>
            </a:r>
            <a:endParaRPr b="0" i="0" spc="0" sz="1400" u="none" cap="none" strike="noStrike">
              <a:solidFill>
                <a:srgbClr val="000000"/>
              </a:solidFill>
              <a:latin typeface="Arial"/>
              <a:ea typeface="Arial"/>
              <a:cs typeface="Arial"/>
              <a:sym typeface="Arial"/>
            </a:endParaRPr>
          </a:p>
        </p:txBody>
      </p:sp>
      <p:sp>
        <p:nvSpPr>
          <p:cNvPr id="239" name="Google Shape;239;p12"/>
          <p:cNvSpPr/>
          <p:nvPr/>
        </p:nvSpPr>
        <p:spPr>
          <a:xfrm>
            <a:off x="7863840" y="2063374"/>
            <a:ext cx="86868" cy="86868"/>
          </a:xfrm>
          <a:prstGeom prst="diamond">
            <a:avLst/>
          </a:prstGeom>
          <a:solidFill>
            <a:srgbClr val="F27BD8"/>
          </a:solidFill>
          <a:ln>
            <a:noFill/>
          </a:ln>
        </p:spPr>
        <p:txBody>
          <a:bodyPr anchorCtr="0" anchor="ctr" bIns="0" lIns="82275" spcFirstLastPara="1" rIns="82275"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40" name="Google Shape;240;p12"/>
          <p:cNvSpPr txBox="1"/>
          <p:nvPr/>
        </p:nvSpPr>
        <p:spPr>
          <a:xfrm>
            <a:off x="8019288" y="2022892"/>
            <a:ext cx="3779215" cy="16051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US" spc="0" sz="1100" u="none" cap="none" strike="noStrike">
                <a:solidFill>
                  <a:srgbClr val="F27BD8"/>
                </a:solidFill>
                <a:latin typeface="Arial"/>
                <a:ea typeface="Arial"/>
                <a:cs typeface="Arial"/>
                <a:sym typeface="Arial"/>
              </a:rPr>
              <a:t>Июль 2027</a:t>
            </a:r>
            <a:endParaRPr b="0" i="0" spc="0" sz="1400" u="none" cap="none" strike="noStrike">
              <a:solidFill>
                <a:srgbClr val="000000"/>
              </a:solidFill>
              <a:latin typeface="Arial"/>
              <a:ea typeface="Arial"/>
              <a:cs typeface="Arial"/>
              <a:sym typeface="Arial"/>
            </a:endParaRPr>
          </a:p>
        </p:txBody>
      </p:sp>
      <p:sp>
        <p:nvSpPr>
          <p:cNvPr id="241" name="Google Shape;241;p12"/>
          <p:cNvSpPr txBox="1"/>
          <p:nvPr/>
        </p:nvSpPr>
        <p:spPr>
          <a:xfrm>
            <a:off x="7863840" y="2247416"/>
            <a:ext cx="3934663" cy="86553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pc="0" sz="1200" u="none" cap="none" strike="noStrike">
                <a:solidFill>
                  <a:srgbClr val="DCCCE8"/>
                </a:solidFill>
                <a:latin typeface="Arial"/>
                <a:ea typeface="Arial"/>
                <a:cs typeface="Arial"/>
                <a:sym typeface="Arial"/>
              </a:rPr>
              <a:t>GMV без возвратов на покупателя выше контроля </a:t>
            </a:r>
            <a:r>
              <a:rPr b="1" i="0" lang="en-US" spc="0" sz="1200" u="none" cap="none" strike="noStrike">
                <a:solidFill>
                  <a:srgbClr val="F3ECF7"/>
                </a:solidFill>
                <a:latin typeface="Arial"/>
                <a:ea typeface="Arial"/>
                <a:cs typeface="Arial"/>
                <a:sym typeface="Arial"/>
              </a:rPr>
              <a:t>минимум на 2%</a:t>
            </a:r>
            <a:r>
              <a:rPr b="0" i="0" lang="en-US" spc="0" sz="1200" u="none" cap="none" strike="noStrike">
                <a:solidFill>
                  <a:srgbClr val="DCCCE8"/>
                </a:solidFill>
                <a:latin typeface="Arial"/>
                <a:ea typeface="Arial"/>
                <a:cs typeface="Arial"/>
                <a:sym typeface="Arial"/>
              </a:rPr>
              <a:t> в 2 из 3 категорий</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000000"/>
              </a:buClr>
              <a:buSzPts val="1200"/>
              <a:buFont typeface="Arial"/>
              <a:buNone/>
            </a:pPr>
            <a:r>
              <a:rPr b="0" i="0" lang="en-US" spc="0" sz="1200" u="none" cap="none" strike="noStrike">
                <a:solidFill>
                  <a:srgbClr val="DCCCE8"/>
                </a:solidFill>
                <a:latin typeface="Arial"/>
                <a:ea typeface="Arial"/>
                <a:cs typeface="Arial"/>
                <a:sym typeface="Arial"/>
              </a:rPr>
              <a:t>Окупаемость диалога </a:t>
            </a:r>
            <a:r>
              <a:rPr b="1" i="0" lang="en-US" spc="0" sz="1200" u="none" cap="none" strike="noStrike">
                <a:solidFill>
                  <a:srgbClr val="F3ECF7"/>
                </a:solidFill>
                <a:latin typeface="Arial"/>
                <a:ea typeface="Arial"/>
                <a:cs typeface="Arial"/>
                <a:sym typeface="Arial"/>
              </a:rPr>
              <a:t>не ниже 1</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1200"/>
              <a:buFont typeface="Arial"/>
              <a:buNone/>
            </a:pPr>
            <a:r>
              <a:rPr b="0" i="0" lang="en-US" spc="0" sz="1200" u="none" cap="none" strike="noStrike">
                <a:solidFill>
                  <a:srgbClr val="FBF6FD"/>
                </a:solidFill>
                <a:latin typeface="Arial"/>
                <a:ea typeface="Arial"/>
                <a:cs typeface="Arial"/>
                <a:sym typeface="Arial"/>
              </a:rPr>
              <a:t>→ Открываем все категории</a:t>
            </a:r>
            <a:endParaRPr b="0" i="0" spc="0" sz="1400" u="none" cap="none" strike="noStrike">
              <a:solidFill>
                <a:srgbClr val="000000"/>
              </a:solidFill>
              <a:latin typeface="Arial"/>
              <a:ea typeface="Arial"/>
              <a:cs typeface="Arial"/>
              <a:sym typeface="Arial"/>
            </a:endParaRPr>
          </a:p>
        </p:txBody>
      </p:sp>
      <p:cxnSp>
        <p:nvCxnSpPr>
          <p:cNvPr id="242" name="Google Shape;242;p12"/>
          <p:cNvCxnSpPr/>
          <p:nvPr/>
        </p:nvCxnSpPr>
        <p:spPr>
          <a:xfrm>
            <a:off x="711403" y="3236671"/>
            <a:ext cx="11087100" cy="0"/>
          </a:xfrm>
          <a:prstGeom prst="straightConnector1">
            <a:avLst/>
          </a:prstGeom>
          <a:noFill/>
          <a:ln cap="flat" cmpd="sng" w="9525">
            <a:solidFill>
              <a:srgbClr val="57376F"/>
            </a:solidFill>
            <a:prstDash val="solid"/>
            <a:round/>
            <a:headEnd len="sm" w="sm" type="none"/>
            <a:tailEnd len="sm" w="sm" type="none"/>
          </a:ln>
        </p:spPr>
      </p:cxnSp>
      <p:sp>
        <p:nvSpPr>
          <p:cNvPr id="243" name="Google Shape;243;p12"/>
          <p:cNvSpPr txBox="1"/>
          <p:nvPr/>
        </p:nvSpPr>
        <p:spPr>
          <a:xfrm>
            <a:off x="711403" y="3317378"/>
            <a:ext cx="381305" cy="30449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1" i="0" lang="en-US" spc="0" sz="1800" u="none" cap="none" strike="noStrike">
                <a:solidFill>
                  <a:srgbClr val="F27BD8"/>
                </a:solidFill>
                <a:latin typeface="Arial"/>
                <a:ea typeface="Arial"/>
                <a:cs typeface="Arial"/>
                <a:sym typeface="Arial"/>
              </a:rPr>
              <a:t>02</a:t>
            </a:r>
            <a:endParaRPr b="0" i="0" spc="0" sz="1400" u="none" cap="none" strike="noStrike">
              <a:solidFill>
                <a:srgbClr val="000000"/>
              </a:solidFill>
              <a:latin typeface="Arial"/>
              <a:ea typeface="Arial"/>
              <a:cs typeface="Arial"/>
              <a:sym typeface="Arial"/>
            </a:endParaRPr>
          </a:p>
        </p:txBody>
      </p:sp>
      <p:sp>
        <p:nvSpPr>
          <p:cNvPr id="244" name="Google Shape;244;p12"/>
          <p:cNvSpPr txBox="1"/>
          <p:nvPr/>
        </p:nvSpPr>
        <p:spPr>
          <a:xfrm>
            <a:off x="1168603" y="3342067"/>
            <a:ext cx="2743200" cy="20867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1300"/>
              <a:buFont typeface="Arial"/>
              <a:buNone/>
            </a:pPr>
            <a:r>
              <a:rPr b="1" i="0" lang="en-US" spc="0" sz="1300" u="none" cap="none" strike="noStrike">
                <a:solidFill>
                  <a:srgbClr val="FBF6FD"/>
                </a:solidFill>
                <a:latin typeface="Arial"/>
                <a:ea typeface="Arial"/>
                <a:cs typeface="Arial"/>
                <a:sym typeface="Arial"/>
              </a:rPr>
              <a:t>Ответ окупается</a:t>
            </a:r>
            <a:endParaRPr b="0" i="0" spc="0" sz="1400" u="none" cap="none" strike="noStrike">
              <a:solidFill>
                <a:srgbClr val="000000"/>
              </a:solidFill>
              <a:latin typeface="Arial"/>
              <a:ea typeface="Arial"/>
              <a:cs typeface="Arial"/>
              <a:sym typeface="Arial"/>
            </a:endParaRPr>
          </a:p>
        </p:txBody>
      </p:sp>
      <p:sp>
        <p:nvSpPr>
          <p:cNvPr id="245" name="Google Shape;245;p12"/>
          <p:cNvSpPr txBox="1"/>
          <p:nvPr/>
        </p:nvSpPr>
        <p:spPr>
          <a:xfrm>
            <a:off x="1168603" y="3642177"/>
            <a:ext cx="2926080" cy="14592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pc="0" sz="1000" u="none" cap="none" strike="noStrike">
                <a:solidFill>
                  <a:srgbClr val="DCCCE8"/>
                </a:solidFill>
                <a:latin typeface="Arial"/>
                <a:ea typeface="Arial"/>
                <a:cs typeface="Arial"/>
                <a:sym typeface="Arial"/>
              </a:rPr>
              <a:t>окупаемость диалога =</a:t>
            </a:r>
            <a:endParaRPr b="0" i="0" spc="0" sz="1400" u="none" cap="none" strike="noStrike">
              <a:solidFill>
                <a:srgbClr val="000000"/>
              </a:solidFill>
              <a:latin typeface="Arial"/>
              <a:ea typeface="Arial"/>
              <a:cs typeface="Arial"/>
              <a:sym typeface="Arial"/>
            </a:endParaRPr>
          </a:p>
        </p:txBody>
      </p:sp>
      <p:sp>
        <p:nvSpPr>
          <p:cNvPr id="246" name="Google Shape;246;p12"/>
          <p:cNvSpPr txBox="1"/>
          <p:nvPr/>
        </p:nvSpPr>
        <p:spPr>
          <a:xfrm>
            <a:off x="1168603" y="3797244"/>
            <a:ext cx="2926080" cy="14592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pc="0" sz="1000" u="none" cap="none" strike="noStrike">
                <a:solidFill>
                  <a:srgbClr val="F3ECF7"/>
                </a:solidFill>
                <a:latin typeface="Arial"/>
                <a:ea typeface="Arial"/>
                <a:cs typeface="Arial"/>
                <a:sym typeface="Arial"/>
              </a:rPr>
              <a:t>добавленная маржа от покупок без рекламы</a:t>
            </a:r>
            <a:endParaRPr b="0" i="0" spc="0" sz="1400" u="none" cap="none" strike="noStrike">
              <a:solidFill>
                <a:srgbClr val="000000"/>
              </a:solidFill>
              <a:latin typeface="Arial"/>
              <a:ea typeface="Arial"/>
              <a:cs typeface="Arial"/>
              <a:sym typeface="Arial"/>
            </a:endParaRPr>
          </a:p>
        </p:txBody>
      </p:sp>
      <p:cxnSp>
        <p:nvCxnSpPr>
          <p:cNvPr id="247" name="Google Shape;247;p12"/>
          <p:cNvCxnSpPr/>
          <p:nvPr/>
        </p:nvCxnSpPr>
        <p:spPr>
          <a:xfrm>
            <a:off x="1168603" y="3999859"/>
            <a:ext cx="2634586" cy="0"/>
          </a:xfrm>
          <a:prstGeom prst="straightConnector1">
            <a:avLst/>
          </a:prstGeom>
          <a:noFill/>
          <a:ln cap="flat" cmpd="sng" w="9525">
            <a:solidFill>
              <a:srgbClr val="DCCCE8"/>
            </a:solidFill>
            <a:prstDash val="solid"/>
            <a:round/>
            <a:headEnd len="sm" w="sm" type="none"/>
            <a:tailEnd len="sm" w="sm" type="none"/>
          </a:ln>
        </p:spPr>
      </p:cxnSp>
      <p:sp>
        <p:nvSpPr>
          <p:cNvPr id="248" name="Google Shape;248;p12"/>
          <p:cNvSpPr txBox="1"/>
          <p:nvPr/>
        </p:nvSpPr>
        <p:spPr>
          <a:xfrm>
            <a:off x="1168603" y="4018147"/>
            <a:ext cx="2926080" cy="14592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pc="0" sz="1000" u="none" cap="none" strike="noStrike">
                <a:solidFill>
                  <a:srgbClr val="F3ECF7"/>
                </a:solidFill>
                <a:latin typeface="Arial"/>
                <a:ea typeface="Arial"/>
                <a:cs typeface="Arial"/>
                <a:sym typeface="Arial"/>
              </a:rPr>
              <a:t>стоимость диалогов с амортизацией GPU</a:t>
            </a:r>
            <a:endParaRPr b="0" i="0" spc="0" sz="1400" u="none" cap="none" strike="noStrike">
              <a:solidFill>
                <a:srgbClr val="000000"/>
              </a:solidFill>
              <a:latin typeface="Arial"/>
              <a:ea typeface="Arial"/>
              <a:cs typeface="Arial"/>
              <a:sym typeface="Arial"/>
            </a:endParaRPr>
          </a:p>
        </p:txBody>
      </p:sp>
      <p:sp>
        <p:nvSpPr>
          <p:cNvPr id="249" name="Google Shape;249;p12"/>
          <p:cNvSpPr txBox="1"/>
          <p:nvPr/>
        </p:nvSpPr>
        <p:spPr>
          <a:xfrm>
            <a:off x="4206240" y="3342067"/>
            <a:ext cx="3337560" cy="58882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pc="0" sz="1200" u="none" cap="none" strike="noStrike">
                <a:solidFill>
                  <a:srgbClr val="DCCCE8"/>
                </a:solidFill>
                <a:latin typeface="Arial"/>
                <a:ea typeface="Arial"/>
                <a:cs typeface="Arial"/>
                <a:sym typeface="Arial"/>
              </a:rPr>
              <a:t>Диалог дешевеет каждый месяц</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000000"/>
              </a:buClr>
              <a:buSzPts val="1200"/>
              <a:buFont typeface="Arial"/>
              <a:buNone/>
            </a:pPr>
            <a:r>
              <a:rPr b="0" i="0" lang="en-US" spc="0" sz="1200" u="none" cap="none" strike="noStrike">
                <a:solidFill>
                  <a:srgbClr val="DCCCE8"/>
                </a:solidFill>
                <a:latin typeface="Arial"/>
                <a:ea typeface="Arial"/>
                <a:cs typeface="Arial"/>
                <a:sym typeface="Arial"/>
              </a:rPr>
              <a:t>Больше половины запросов закрывает л</a:t>
            </a:r>
            <a:r>
              <a:rPr lang="en-US" sz="1200">
                <a:solidFill>
                  <a:srgbClr val="DCCCE8"/>
                </a:solidFill>
              </a:rPr>
              <a:t>е</a:t>
            </a:r>
            <a:r>
              <a:rPr b="0" i="0" lang="en-US" spc="0" sz="1200" u="none" cap="none" strike="noStrike">
                <a:solidFill>
                  <a:srgbClr val="DCCCE8"/>
                </a:solidFill>
                <a:latin typeface="Arial"/>
                <a:ea typeface="Arial"/>
                <a:cs typeface="Arial"/>
                <a:sym typeface="Arial"/>
              </a:rPr>
              <a:t>гкая модель</a:t>
            </a:r>
            <a:endParaRPr b="0" i="0" spc="0" sz="1400" u="none" cap="none" strike="noStrike">
              <a:solidFill>
                <a:srgbClr val="000000"/>
              </a:solidFill>
              <a:latin typeface="Arial"/>
              <a:ea typeface="Arial"/>
              <a:cs typeface="Arial"/>
              <a:sym typeface="Arial"/>
            </a:endParaRPr>
          </a:p>
        </p:txBody>
      </p:sp>
      <p:sp>
        <p:nvSpPr>
          <p:cNvPr id="250" name="Google Shape;250;p12"/>
          <p:cNvSpPr/>
          <p:nvPr/>
        </p:nvSpPr>
        <p:spPr>
          <a:xfrm>
            <a:off x="7863840" y="3382548"/>
            <a:ext cx="86868" cy="86868"/>
          </a:xfrm>
          <a:prstGeom prst="diamond">
            <a:avLst/>
          </a:prstGeom>
          <a:solidFill>
            <a:srgbClr val="F27BD8"/>
          </a:solidFill>
          <a:ln>
            <a:noFill/>
          </a:ln>
        </p:spPr>
        <p:txBody>
          <a:bodyPr anchorCtr="0" anchor="ctr" bIns="0" lIns="82275" spcFirstLastPara="1" rIns="82275"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51" name="Google Shape;251;p12"/>
          <p:cNvSpPr txBox="1"/>
          <p:nvPr/>
        </p:nvSpPr>
        <p:spPr>
          <a:xfrm>
            <a:off x="8019288" y="3342067"/>
            <a:ext cx="3779215" cy="16051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US" spc="0" sz="1100" u="none" cap="none" strike="noStrike">
                <a:solidFill>
                  <a:srgbClr val="F27BD8"/>
                </a:solidFill>
                <a:latin typeface="Arial"/>
                <a:ea typeface="Arial"/>
                <a:cs typeface="Arial"/>
                <a:sym typeface="Arial"/>
              </a:rPr>
              <a:t>Январь 2028</a:t>
            </a:r>
            <a:endParaRPr b="0" i="0" spc="0" sz="1400" u="none" cap="none" strike="noStrike">
              <a:solidFill>
                <a:srgbClr val="000000"/>
              </a:solidFill>
              <a:latin typeface="Arial"/>
              <a:ea typeface="Arial"/>
              <a:cs typeface="Arial"/>
              <a:sym typeface="Arial"/>
            </a:endParaRPr>
          </a:p>
        </p:txBody>
      </p:sp>
      <p:sp>
        <p:nvSpPr>
          <p:cNvPr id="252" name="Google Shape;252;p12"/>
          <p:cNvSpPr txBox="1"/>
          <p:nvPr/>
        </p:nvSpPr>
        <p:spPr>
          <a:xfrm>
            <a:off x="7863840" y="3566590"/>
            <a:ext cx="3934663" cy="69042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pc="0" sz="1200" u="none" cap="none" strike="noStrike">
                <a:solidFill>
                  <a:srgbClr val="DCCCE8"/>
                </a:solidFill>
                <a:latin typeface="Arial"/>
                <a:ea typeface="Arial"/>
                <a:cs typeface="Arial"/>
                <a:sym typeface="Arial"/>
              </a:rPr>
              <a:t>Окупаемость диалога </a:t>
            </a:r>
            <a:r>
              <a:rPr b="1" i="0" lang="en-US" spc="0" sz="1200" u="none" cap="none" strike="noStrike">
                <a:solidFill>
                  <a:srgbClr val="F3ECF7"/>
                </a:solidFill>
                <a:latin typeface="Arial"/>
                <a:ea typeface="Arial"/>
                <a:cs typeface="Arial"/>
                <a:sym typeface="Arial"/>
              </a:rPr>
              <a:t>не ниже 2</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000000"/>
              </a:buClr>
              <a:buSzPts val="1200"/>
              <a:buFont typeface="Arial"/>
              <a:buNone/>
            </a:pPr>
            <a:r>
              <a:rPr b="0" i="0" lang="en-US" spc="0" sz="1200" u="none" cap="none" strike="noStrike">
                <a:solidFill>
                  <a:srgbClr val="DCCCE8"/>
                </a:solidFill>
                <a:latin typeface="Arial"/>
                <a:ea typeface="Arial"/>
                <a:cs typeface="Arial"/>
                <a:sym typeface="Arial"/>
              </a:rPr>
              <a:t>Мощностей хватает на пик</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1200"/>
              <a:buFont typeface="Arial"/>
              <a:buNone/>
            </a:pPr>
            <a:r>
              <a:rPr b="0" i="0" lang="en-US" spc="0" sz="1200" u="none" cap="none" strike="noStrike">
                <a:solidFill>
                  <a:srgbClr val="FBF6FD"/>
                </a:solidFill>
                <a:latin typeface="Arial"/>
                <a:ea typeface="Arial"/>
                <a:cs typeface="Arial"/>
                <a:sym typeface="Arial"/>
              </a:rPr>
              <a:t>→ Консультант становится главной дверью</a:t>
            </a:r>
            <a:endParaRPr b="0" i="0" spc="0" sz="1400" u="none" cap="none" strike="noStrike">
              <a:solidFill>
                <a:srgbClr val="000000"/>
              </a:solidFill>
              <a:latin typeface="Arial"/>
              <a:ea typeface="Arial"/>
              <a:cs typeface="Arial"/>
              <a:sym typeface="Arial"/>
            </a:endParaRPr>
          </a:p>
        </p:txBody>
      </p:sp>
      <p:cxnSp>
        <p:nvCxnSpPr>
          <p:cNvPr id="253" name="Google Shape;253;p12"/>
          <p:cNvCxnSpPr/>
          <p:nvPr/>
        </p:nvCxnSpPr>
        <p:spPr>
          <a:xfrm>
            <a:off x="711403" y="4380738"/>
            <a:ext cx="11087100" cy="0"/>
          </a:xfrm>
          <a:prstGeom prst="straightConnector1">
            <a:avLst/>
          </a:prstGeom>
          <a:noFill/>
          <a:ln cap="flat" cmpd="sng" w="9525">
            <a:solidFill>
              <a:srgbClr val="57376F"/>
            </a:solidFill>
            <a:prstDash val="solid"/>
            <a:round/>
            <a:headEnd len="sm" w="sm" type="none"/>
            <a:tailEnd len="sm" w="sm" type="none"/>
          </a:ln>
        </p:spPr>
      </p:cxnSp>
      <p:sp>
        <p:nvSpPr>
          <p:cNvPr id="254" name="Google Shape;254;p12"/>
          <p:cNvSpPr txBox="1"/>
          <p:nvPr/>
        </p:nvSpPr>
        <p:spPr>
          <a:xfrm>
            <a:off x="711403" y="4461445"/>
            <a:ext cx="381305" cy="30449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1" i="0" lang="en-US" spc="0" sz="1800" u="none" cap="none" strike="noStrike">
                <a:solidFill>
                  <a:srgbClr val="F27BD8"/>
                </a:solidFill>
                <a:latin typeface="Arial"/>
                <a:ea typeface="Arial"/>
                <a:cs typeface="Arial"/>
                <a:sym typeface="Arial"/>
              </a:rPr>
              <a:t>03</a:t>
            </a:r>
            <a:endParaRPr b="0" i="0" spc="0" sz="1400" u="none" cap="none" strike="noStrike">
              <a:solidFill>
                <a:srgbClr val="000000"/>
              </a:solidFill>
              <a:latin typeface="Arial"/>
              <a:ea typeface="Arial"/>
              <a:cs typeface="Arial"/>
              <a:sym typeface="Arial"/>
            </a:endParaRPr>
          </a:p>
        </p:txBody>
      </p:sp>
      <p:sp>
        <p:nvSpPr>
          <p:cNvPr id="255" name="Google Shape;255;p12"/>
          <p:cNvSpPr txBox="1"/>
          <p:nvPr/>
        </p:nvSpPr>
        <p:spPr>
          <a:xfrm>
            <a:off x="1168603" y="4486134"/>
            <a:ext cx="2743200" cy="41734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1300"/>
              <a:buFont typeface="Arial"/>
              <a:buNone/>
            </a:pPr>
            <a:r>
              <a:rPr b="1" i="0" lang="en-US" spc="0" sz="1300" u="none" cap="none" strike="noStrike">
                <a:solidFill>
                  <a:srgbClr val="FBF6FD"/>
                </a:solidFill>
                <a:latin typeface="Arial"/>
                <a:ea typeface="Arial"/>
                <a:cs typeface="Arial"/>
                <a:sym typeface="Arial"/>
              </a:rPr>
              <a:t>Продавцы и закон принимают подборку</a:t>
            </a:r>
            <a:endParaRPr b="0" i="0" spc="0" sz="1400" u="none" cap="none" strike="noStrike">
              <a:solidFill>
                <a:srgbClr val="000000"/>
              </a:solidFill>
              <a:latin typeface="Arial"/>
              <a:ea typeface="Arial"/>
              <a:cs typeface="Arial"/>
              <a:sym typeface="Arial"/>
            </a:endParaRPr>
          </a:p>
        </p:txBody>
      </p:sp>
      <p:sp>
        <p:nvSpPr>
          <p:cNvPr id="256" name="Google Shape;256;p12"/>
          <p:cNvSpPr txBox="1"/>
          <p:nvPr/>
        </p:nvSpPr>
        <p:spPr>
          <a:xfrm>
            <a:off x="4206240" y="4486134"/>
            <a:ext cx="3337560" cy="58882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pc="0" sz="1200" u="none" cap="none" strike="noStrike">
                <a:solidFill>
                  <a:srgbClr val="DCCCE8"/>
                </a:solidFill>
                <a:latin typeface="Arial"/>
                <a:ea typeface="Arial"/>
                <a:cs typeface="Arial"/>
                <a:sym typeface="Arial"/>
              </a:rPr>
              <a:t>Жалоб на подборку не больше, чем на обычную выдачу</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000000"/>
              </a:buClr>
              <a:buSzPts val="1200"/>
              <a:buFont typeface="Arial"/>
              <a:buNone/>
            </a:pPr>
            <a:r>
              <a:rPr b="0" i="0" lang="en-US" spc="0" sz="1200" u="none" cap="none" strike="noStrike">
                <a:solidFill>
                  <a:srgbClr val="DCCCE8"/>
                </a:solidFill>
                <a:latin typeface="Arial"/>
                <a:ea typeface="Arial"/>
                <a:cs typeface="Arial"/>
                <a:sym typeface="Arial"/>
              </a:rPr>
              <a:t>Продавцы правят карточки по отч</a:t>
            </a:r>
            <a:r>
              <a:rPr lang="en-US" sz="1200">
                <a:solidFill>
                  <a:srgbClr val="DCCCE8"/>
                </a:solidFill>
              </a:rPr>
              <a:t>е</a:t>
            </a:r>
            <a:r>
              <a:rPr b="0" i="0" lang="en-US" spc="0" sz="1200" u="none" cap="none" strike="noStrike">
                <a:solidFill>
                  <a:srgbClr val="DCCCE8"/>
                </a:solidFill>
                <a:latin typeface="Arial"/>
                <a:ea typeface="Arial"/>
                <a:cs typeface="Arial"/>
                <a:sym typeface="Arial"/>
              </a:rPr>
              <a:t>ту</a:t>
            </a:r>
            <a:endParaRPr b="0" i="0" spc="0" sz="1400" u="none" cap="none" strike="noStrike">
              <a:solidFill>
                <a:srgbClr val="000000"/>
              </a:solidFill>
              <a:latin typeface="Arial"/>
              <a:ea typeface="Arial"/>
              <a:cs typeface="Arial"/>
              <a:sym typeface="Arial"/>
            </a:endParaRPr>
          </a:p>
        </p:txBody>
      </p:sp>
      <p:sp>
        <p:nvSpPr>
          <p:cNvPr id="257" name="Google Shape;257;p12"/>
          <p:cNvSpPr/>
          <p:nvPr/>
        </p:nvSpPr>
        <p:spPr>
          <a:xfrm>
            <a:off x="7863840" y="4526615"/>
            <a:ext cx="86868" cy="86868"/>
          </a:xfrm>
          <a:prstGeom prst="diamond">
            <a:avLst/>
          </a:prstGeom>
          <a:solidFill>
            <a:srgbClr val="F27BD8"/>
          </a:solidFill>
          <a:ln>
            <a:noFill/>
          </a:ln>
        </p:spPr>
        <p:txBody>
          <a:bodyPr anchorCtr="0" anchor="ctr" bIns="0" lIns="82275" spcFirstLastPara="1" rIns="82275"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58" name="Google Shape;258;p12"/>
          <p:cNvSpPr txBox="1"/>
          <p:nvPr/>
        </p:nvSpPr>
        <p:spPr>
          <a:xfrm>
            <a:off x="8019288" y="4486134"/>
            <a:ext cx="3779215" cy="16051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US" spc="0" sz="1100" u="none" cap="none" strike="noStrike">
                <a:solidFill>
                  <a:srgbClr val="F27BD8"/>
                </a:solidFill>
                <a:latin typeface="Arial"/>
                <a:ea typeface="Arial"/>
                <a:cs typeface="Arial"/>
                <a:sym typeface="Arial"/>
              </a:rPr>
              <a:t>Январь 2028</a:t>
            </a:r>
            <a:endParaRPr b="0" i="0" spc="0" sz="1400" u="none" cap="none" strike="noStrike">
              <a:solidFill>
                <a:srgbClr val="000000"/>
              </a:solidFill>
              <a:latin typeface="Arial"/>
              <a:ea typeface="Arial"/>
              <a:cs typeface="Arial"/>
              <a:sym typeface="Arial"/>
            </a:endParaRPr>
          </a:p>
        </p:txBody>
      </p:sp>
      <p:sp>
        <p:nvSpPr>
          <p:cNvPr id="259" name="Google Shape;259;p12"/>
          <p:cNvSpPr txBox="1"/>
          <p:nvPr/>
        </p:nvSpPr>
        <p:spPr>
          <a:xfrm>
            <a:off x="7863840" y="4710657"/>
            <a:ext cx="3934663" cy="69042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pc="0" sz="1200" u="none" cap="none" strike="noStrike">
                <a:solidFill>
                  <a:srgbClr val="DCCCE8"/>
                </a:solidFill>
                <a:latin typeface="Arial"/>
                <a:ea typeface="Arial"/>
                <a:cs typeface="Arial"/>
                <a:sym typeface="Arial"/>
              </a:rPr>
              <a:t>Отч</a:t>
            </a:r>
            <a:r>
              <a:rPr lang="en-US" sz="1200">
                <a:solidFill>
                  <a:srgbClr val="DCCCE8"/>
                </a:solidFill>
              </a:rPr>
              <a:t>е</a:t>
            </a:r>
            <a:r>
              <a:rPr b="0" i="0" lang="en-US" spc="0" sz="1200" u="none" cap="none" strike="noStrike">
                <a:solidFill>
                  <a:srgbClr val="DCCCE8"/>
                </a:solidFill>
                <a:latin typeface="Arial"/>
                <a:ea typeface="Arial"/>
                <a:cs typeface="Arial"/>
                <a:sym typeface="Arial"/>
              </a:rPr>
              <a:t>т открыт всем продавцам</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000000"/>
              </a:buClr>
              <a:buSzPts val="1200"/>
              <a:buFont typeface="Arial"/>
              <a:buNone/>
            </a:pPr>
            <a:r>
              <a:rPr b="0" i="0" lang="en-US" spc="0" sz="1200" u="none" cap="none" strike="noStrike">
                <a:solidFill>
                  <a:srgbClr val="DCCCE8"/>
                </a:solidFill>
                <a:latin typeface="Arial"/>
                <a:ea typeface="Arial"/>
                <a:cs typeface="Arial"/>
                <a:sym typeface="Arial"/>
              </a:rPr>
              <a:t>Предписаний регулятора </a:t>
            </a:r>
            <a:r>
              <a:rPr b="1" i="0" lang="en-US" spc="0" sz="1200" u="none" cap="none" strike="noStrike">
                <a:solidFill>
                  <a:srgbClr val="F3ECF7"/>
                </a:solidFill>
                <a:latin typeface="Arial"/>
                <a:ea typeface="Arial"/>
                <a:cs typeface="Arial"/>
                <a:sym typeface="Arial"/>
              </a:rPr>
              <a:t>нет</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1200"/>
              <a:buFont typeface="Arial"/>
              <a:buNone/>
            </a:pPr>
            <a:r>
              <a:rPr b="0" i="0" lang="en-US" spc="0" sz="1200" u="none" cap="none" strike="noStrike">
                <a:solidFill>
                  <a:srgbClr val="FBF6FD"/>
                </a:solidFill>
                <a:latin typeface="Arial"/>
                <a:ea typeface="Arial"/>
                <a:cs typeface="Arial"/>
                <a:sym typeface="Arial"/>
              </a:rPr>
              <a:t>→ Реклама ид</a:t>
            </a:r>
            <a:r>
              <a:rPr lang="en-US" sz="1200">
                <a:solidFill>
                  <a:srgbClr val="FBF6FD"/>
                </a:solidFill>
              </a:rPr>
              <a:t>е</a:t>
            </a:r>
            <a:r>
              <a:rPr b="0" i="0" lang="en-US" spc="0" sz="1200" u="none" cap="none" strike="noStrike">
                <a:solidFill>
                  <a:srgbClr val="FBF6FD"/>
                </a:solidFill>
                <a:latin typeface="Arial"/>
                <a:ea typeface="Arial"/>
                <a:cs typeface="Arial"/>
                <a:sym typeface="Arial"/>
              </a:rPr>
              <a:t>т во все категории</a:t>
            </a:r>
            <a:endParaRPr b="0" i="0" spc="0" sz="1400" u="none" cap="none" strike="noStrike">
              <a:solidFill>
                <a:srgbClr val="000000"/>
              </a:solidFill>
              <a:latin typeface="Arial"/>
              <a:ea typeface="Arial"/>
              <a:cs typeface="Arial"/>
              <a:sym typeface="Arial"/>
            </a:endParaRPr>
          </a:p>
        </p:txBody>
      </p:sp>
      <p:cxnSp>
        <p:nvCxnSpPr>
          <p:cNvPr id="260" name="Google Shape;260;p12"/>
          <p:cNvCxnSpPr/>
          <p:nvPr/>
        </p:nvCxnSpPr>
        <p:spPr>
          <a:xfrm>
            <a:off x="711403" y="5524805"/>
            <a:ext cx="11087100" cy="0"/>
          </a:xfrm>
          <a:prstGeom prst="straightConnector1">
            <a:avLst/>
          </a:prstGeom>
          <a:noFill/>
          <a:ln cap="flat" cmpd="sng" w="9525">
            <a:solidFill>
              <a:srgbClr val="57376F"/>
            </a:solidFill>
            <a:prstDash val="solid"/>
            <a:round/>
            <a:headEnd len="sm" w="sm" type="none"/>
            <a:tailEnd len="sm" w="sm" type="none"/>
          </a:ln>
        </p:spPr>
      </p:cxnSp>
      <p:sp>
        <p:nvSpPr>
          <p:cNvPr id="261" name="Google Shape;261;p12"/>
          <p:cNvSpPr txBox="1"/>
          <p:nvPr/>
        </p:nvSpPr>
        <p:spPr>
          <a:xfrm>
            <a:off x="711403" y="5613502"/>
            <a:ext cx="11087100" cy="4572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1200"/>
              <a:buFont typeface="Arial"/>
              <a:buNone/>
            </a:pPr>
            <a:r>
              <a:rPr b="1" i="0" lang="en-US" spc="0" sz="1200" u="none" cap="none" strike="noStrike">
                <a:solidFill>
                  <a:srgbClr val="F3ECF7"/>
                </a:solidFill>
                <a:latin typeface="Arial"/>
                <a:ea typeface="Arial"/>
                <a:cs typeface="Arial"/>
                <a:sym typeface="Arial"/>
              </a:rPr>
              <a:t>Как измеряем.</a:t>
            </a:r>
            <a:r>
              <a:rPr b="0" i="0" lang="en-US" spc="0" sz="1200" u="none" cap="none" strike="noStrike">
                <a:solidFill>
                  <a:srgbClr val="F3ECF7"/>
                </a:solidFill>
                <a:latin typeface="Arial"/>
                <a:ea typeface="Arial"/>
                <a:cs typeface="Arial"/>
                <a:sym typeface="Arial"/>
              </a:rPr>
              <a:t> В пилоте GPU-час считаем по цене заказанных GPU с амортизацией, формула в июле и январе одна. Пороги рабочие, окончательные фиксируем после первого месяца пилота и дальше не двигаем.</a:t>
            </a:r>
            <a:endParaRPr b="0" i="0" spc="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F9"/>
        </a:solidFill>
      </p:bgPr>
    </p:bg>
    <p:spTree>
      <p:nvGrpSpPr>
        <p:cNvPr id="266" name="Shape 266"/>
        <p:cNvGrpSpPr/>
        <p:nvPr/>
      </p:nvGrpSpPr>
      <p:grpSpPr>
        <a:xfrm>
          <a:off x="0" y="0"/>
          <a:ext cx="0" cy="0"/>
          <a:chOff x="0" y="0"/>
          <a:chExt cx="0" cy="0"/>
        </a:xfrm>
      </p:grpSpPr>
      <p:sp>
        <p:nvSpPr>
          <p:cNvPr id="267" name="Google Shape;267;p13"/>
          <p:cNvSpPr txBox="1"/>
          <p:nvPr>
            <p:ph type="title"/>
          </p:nvPr>
        </p:nvSpPr>
        <p:spPr>
          <a:xfrm>
            <a:off x="711403" y="797357"/>
            <a:ext cx="10769803" cy="711403"/>
          </a:xfrm>
          <a:prstGeom prst="rect">
            <a:avLst/>
          </a:prstGeom>
          <a:noFill/>
          <a:ln>
            <a:noFill/>
          </a:ln>
        </p:spPr>
        <p:txBody>
          <a:bodyPr anchorCtr="0" anchor="t" bIns="0" lIns="0" spcFirstLastPara="1" rIns="0" wrap="square" tIns="0">
            <a:noAutofit/>
          </a:bodyPr>
          <a:lstStyle/>
          <a:p>
            <a:pPr indent="0" lvl="0" marL="0" rtl="0" algn="l">
              <a:lnSpc>
                <a:spcPct val="112000"/>
              </a:lnSpc>
              <a:spcBef>
                <a:spcPts val="0"/>
              </a:spcBef>
              <a:spcAft>
                <a:spcPts val="0"/>
              </a:spcAft>
              <a:buClr>
                <a:srgbClr val="000000"/>
              </a:buClr>
              <a:buSzPts val="2500"/>
              <a:buFont typeface="Arial"/>
              <a:buNone/>
            </a:pPr>
            <a:r>
              <a:rPr b="1" lang="en-US" sz="2300">
                <a:solidFill>
                  <a:schemeClr val="accent3"/>
                </a:solidFill>
                <a:latin typeface="Arial"/>
                <a:ea typeface="Arial"/>
                <a:cs typeface="Arial"/>
                <a:sym typeface="Arial"/>
              </a:rPr>
              <a:t>При сбое сначала правим, а ставку закрываем только в двух случаях</a:t>
            </a:r>
            <a:endParaRPr/>
          </a:p>
        </p:txBody>
      </p:sp>
      <p:sp>
        <p:nvSpPr>
          <p:cNvPr id="268" name="Google Shape;268;p13"/>
          <p:cNvSpPr txBox="1"/>
          <p:nvPr/>
        </p:nvSpPr>
        <p:spPr>
          <a:xfrm>
            <a:off x="711403" y="405994"/>
            <a:ext cx="6350508" cy="241402"/>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00000"/>
              </a:buClr>
              <a:buSzPts val="1200"/>
              <a:buFont typeface="Arial"/>
              <a:buNone/>
            </a:pPr>
            <a:r>
              <a:rPr b="1" i="0" lang="en-US" spc="0" sz="1200" u="none" cap="none" strike="noStrike">
                <a:solidFill>
                  <a:srgbClr val="A80E8E"/>
                </a:solidFill>
                <a:latin typeface="Arial"/>
                <a:ea typeface="Arial"/>
                <a:cs typeface="Arial"/>
                <a:sym typeface="Arial"/>
              </a:rPr>
              <a:t>План · условия пересмотра</a:t>
            </a:r>
            <a:endParaRPr b="0" i="0" spc="0" sz="1400" u="none" cap="none" strike="noStrike">
              <a:solidFill>
                <a:srgbClr val="000000"/>
              </a:solidFill>
              <a:latin typeface="Arial"/>
              <a:ea typeface="Arial"/>
              <a:cs typeface="Arial"/>
              <a:sym typeface="Arial"/>
            </a:endParaRPr>
          </a:p>
        </p:txBody>
      </p:sp>
      <p:sp>
        <p:nvSpPr>
          <p:cNvPr id="269" name="Google Shape;269;p13"/>
          <p:cNvSpPr txBox="1"/>
          <p:nvPr/>
        </p:nvSpPr>
        <p:spPr>
          <a:xfrm>
            <a:off x="1168603" y="1651406"/>
            <a:ext cx="2468880" cy="202997"/>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1100"/>
              <a:buFont typeface="Arial"/>
              <a:buNone/>
            </a:pPr>
            <a:r>
              <a:rPr b="1" i="0" lang="en-US" spc="0" sz="1100" u="none" cap="none" strike="noStrike">
                <a:solidFill>
                  <a:srgbClr val="6E5E7D"/>
                </a:solidFill>
                <a:latin typeface="Arial"/>
                <a:ea typeface="Arial"/>
                <a:cs typeface="Arial"/>
                <a:sym typeface="Arial"/>
              </a:rPr>
              <a:t>Условие</a:t>
            </a:r>
            <a:endParaRPr b="0" i="0" spc="0" sz="1400" u="none" cap="none" strike="noStrike">
              <a:solidFill>
                <a:srgbClr val="000000"/>
              </a:solidFill>
              <a:latin typeface="Arial"/>
              <a:ea typeface="Arial"/>
              <a:cs typeface="Arial"/>
              <a:sym typeface="Arial"/>
            </a:endParaRPr>
          </a:p>
        </p:txBody>
      </p:sp>
      <p:sp>
        <p:nvSpPr>
          <p:cNvPr id="270" name="Google Shape;270;p13"/>
          <p:cNvSpPr txBox="1"/>
          <p:nvPr/>
        </p:nvSpPr>
        <p:spPr>
          <a:xfrm>
            <a:off x="3794760" y="1651406"/>
            <a:ext cx="3566160" cy="202997"/>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1100"/>
              <a:buFont typeface="Arial"/>
              <a:buNone/>
            </a:pPr>
            <a:r>
              <a:rPr b="1" i="0" lang="en-US" spc="0" sz="1100" u="none" cap="none" strike="noStrike">
                <a:solidFill>
                  <a:srgbClr val="6E5E7D"/>
                </a:solidFill>
                <a:latin typeface="Arial"/>
                <a:ea typeface="Arial"/>
                <a:cs typeface="Arial"/>
                <a:sym typeface="Arial"/>
              </a:rPr>
              <a:t>Что видим</a:t>
            </a:r>
            <a:endParaRPr b="0" i="0" spc="0" sz="1400" u="none" cap="none" strike="noStrike">
              <a:solidFill>
                <a:srgbClr val="000000"/>
              </a:solidFill>
              <a:latin typeface="Arial"/>
              <a:ea typeface="Arial"/>
              <a:cs typeface="Arial"/>
              <a:sym typeface="Arial"/>
            </a:endParaRPr>
          </a:p>
        </p:txBody>
      </p:sp>
      <p:sp>
        <p:nvSpPr>
          <p:cNvPr id="271" name="Google Shape;271;p13"/>
          <p:cNvSpPr txBox="1"/>
          <p:nvPr/>
        </p:nvSpPr>
        <p:spPr>
          <a:xfrm>
            <a:off x="7726680" y="1651406"/>
            <a:ext cx="4071823" cy="202997"/>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1100"/>
              <a:buFont typeface="Arial"/>
              <a:buNone/>
            </a:pPr>
            <a:r>
              <a:rPr b="1" i="0" lang="en-US" spc="0" sz="1100" u="none" cap="none" strike="noStrike">
                <a:solidFill>
                  <a:srgbClr val="6E5E7D"/>
                </a:solidFill>
                <a:latin typeface="Arial"/>
                <a:ea typeface="Arial"/>
                <a:cs typeface="Arial"/>
                <a:sym typeface="Arial"/>
              </a:rPr>
              <a:t>Что делаем</a:t>
            </a:r>
            <a:endParaRPr b="0" i="0" spc="0" sz="1400" u="none" cap="none" strike="noStrike">
              <a:solidFill>
                <a:srgbClr val="000000"/>
              </a:solidFill>
              <a:latin typeface="Arial"/>
              <a:ea typeface="Arial"/>
              <a:cs typeface="Arial"/>
              <a:sym typeface="Arial"/>
            </a:endParaRPr>
          </a:p>
        </p:txBody>
      </p:sp>
      <p:cxnSp>
        <p:nvCxnSpPr>
          <p:cNvPr id="272" name="Google Shape;272;p13"/>
          <p:cNvCxnSpPr/>
          <p:nvPr/>
        </p:nvCxnSpPr>
        <p:spPr>
          <a:xfrm>
            <a:off x="711403" y="1904695"/>
            <a:ext cx="11087100" cy="0"/>
          </a:xfrm>
          <a:prstGeom prst="straightConnector1">
            <a:avLst/>
          </a:prstGeom>
          <a:noFill/>
          <a:ln cap="flat" cmpd="sng" w="9525">
            <a:solidFill>
              <a:srgbClr val="DDD0E6"/>
            </a:solidFill>
            <a:prstDash val="solid"/>
            <a:round/>
            <a:headEnd len="sm" w="sm" type="none"/>
            <a:tailEnd len="sm" w="sm" type="none"/>
          </a:ln>
        </p:spPr>
      </p:cxnSp>
      <p:sp>
        <p:nvSpPr>
          <p:cNvPr id="273" name="Google Shape;273;p13"/>
          <p:cNvSpPr txBox="1"/>
          <p:nvPr/>
        </p:nvSpPr>
        <p:spPr>
          <a:xfrm>
            <a:off x="711403" y="2078431"/>
            <a:ext cx="381305" cy="30449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1" i="0" lang="en-US" spc="0" sz="1800" u="none" cap="none" strike="noStrike">
                <a:solidFill>
                  <a:srgbClr val="A80E8E"/>
                </a:solidFill>
                <a:latin typeface="Arial"/>
                <a:ea typeface="Arial"/>
                <a:cs typeface="Arial"/>
                <a:sym typeface="Arial"/>
              </a:rPr>
              <a:t>01</a:t>
            </a:r>
            <a:endParaRPr b="0" i="0" spc="0" sz="1400" u="none" cap="none" strike="noStrike">
              <a:solidFill>
                <a:srgbClr val="000000"/>
              </a:solidFill>
              <a:latin typeface="Arial"/>
              <a:ea typeface="Arial"/>
              <a:cs typeface="Arial"/>
              <a:sym typeface="Arial"/>
            </a:endParaRPr>
          </a:p>
        </p:txBody>
      </p:sp>
      <p:sp>
        <p:nvSpPr>
          <p:cNvPr id="274" name="Google Shape;274;p13"/>
          <p:cNvSpPr txBox="1"/>
          <p:nvPr/>
        </p:nvSpPr>
        <p:spPr>
          <a:xfrm>
            <a:off x="1168603" y="2108606"/>
            <a:ext cx="2468880" cy="20867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1300"/>
              <a:buFont typeface="Arial"/>
              <a:buNone/>
            </a:pPr>
            <a:r>
              <a:rPr b="1" i="0" lang="en-US" spc="0" sz="1300" u="none" cap="none" strike="noStrike">
                <a:solidFill>
                  <a:srgbClr val="241036"/>
                </a:solidFill>
                <a:latin typeface="Arial"/>
                <a:ea typeface="Arial"/>
                <a:cs typeface="Arial"/>
                <a:sym typeface="Arial"/>
              </a:rPr>
              <a:t>Покупатель доверяет совету</a:t>
            </a:r>
            <a:endParaRPr b="0" i="0" spc="0" sz="1400" u="none" cap="none" strike="noStrike">
              <a:solidFill>
                <a:srgbClr val="000000"/>
              </a:solidFill>
              <a:latin typeface="Arial"/>
              <a:ea typeface="Arial"/>
              <a:cs typeface="Arial"/>
              <a:sym typeface="Arial"/>
            </a:endParaRPr>
          </a:p>
        </p:txBody>
      </p:sp>
      <p:sp>
        <p:nvSpPr>
          <p:cNvPr id="275" name="Google Shape;275;p13"/>
          <p:cNvSpPr txBox="1"/>
          <p:nvPr/>
        </p:nvSpPr>
        <p:spPr>
          <a:xfrm>
            <a:off x="3794760" y="2119579"/>
            <a:ext cx="3566160" cy="1751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pc="0" sz="1200" u="none" cap="none" strike="noStrike">
                <a:solidFill>
                  <a:srgbClr val="3D2A4F"/>
                </a:solidFill>
                <a:latin typeface="Arial"/>
                <a:ea typeface="Arial"/>
                <a:cs typeface="Arial"/>
                <a:sym typeface="Arial"/>
              </a:rPr>
              <a:t>Рост в одной категории или окупаемость ниже 1</a:t>
            </a:r>
            <a:endParaRPr b="0" i="0" spc="0" sz="1400" u="none" cap="none" strike="noStrike">
              <a:solidFill>
                <a:srgbClr val="000000"/>
              </a:solidFill>
              <a:latin typeface="Arial"/>
              <a:ea typeface="Arial"/>
              <a:cs typeface="Arial"/>
              <a:sym typeface="Arial"/>
            </a:endParaRPr>
          </a:p>
        </p:txBody>
      </p:sp>
      <p:sp>
        <p:nvSpPr>
          <p:cNvPr id="276" name="Google Shape;276;p13"/>
          <p:cNvSpPr txBox="1"/>
          <p:nvPr/>
        </p:nvSpPr>
        <p:spPr>
          <a:xfrm>
            <a:off x="7424928" y="2119579"/>
            <a:ext cx="228600" cy="1751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pc="0" sz="1200" u="none" cap="none" strike="noStrike">
                <a:solidFill>
                  <a:srgbClr val="A80E8E"/>
                </a:solidFill>
                <a:latin typeface="Arial"/>
                <a:ea typeface="Arial"/>
                <a:cs typeface="Arial"/>
                <a:sym typeface="Arial"/>
              </a:rPr>
              <a:t>→</a:t>
            </a:r>
            <a:endParaRPr b="0" i="0" spc="0" sz="1400" u="none" cap="none" strike="noStrike">
              <a:solidFill>
                <a:srgbClr val="000000"/>
              </a:solidFill>
              <a:latin typeface="Arial"/>
              <a:ea typeface="Arial"/>
              <a:cs typeface="Arial"/>
              <a:sym typeface="Arial"/>
            </a:endParaRPr>
          </a:p>
        </p:txBody>
      </p:sp>
      <p:sp>
        <p:nvSpPr>
          <p:cNvPr id="277" name="Google Shape;277;p13"/>
          <p:cNvSpPr txBox="1"/>
          <p:nvPr/>
        </p:nvSpPr>
        <p:spPr>
          <a:xfrm>
            <a:off x="7726680" y="2119579"/>
            <a:ext cx="4071823" cy="1751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pc="0" sz="1200" u="none" cap="none" strike="noStrike">
                <a:solidFill>
                  <a:srgbClr val="241036"/>
                </a:solidFill>
                <a:latin typeface="Arial"/>
                <a:ea typeface="Arial"/>
                <a:cs typeface="Arial"/>
                <a:sym typeface="Arial"/>
              </a:rPr>
              <a:t>Пилот до октября 2027, порог тот же</a:t>
            </a:r>
            <a:endParaRPr b="0" i="0" spc="0" sz="1400" u="none" cap="none" strike="noStrike">
              <a:solidFill>
                <a:srgbClr val="000000"/>
              </a:solidFill>
              <a:latin typeface="Arial"/>
              <a:ea typeface="Arial"/>
              <a:cs typeface="Arial"/>
              <a:sym typeface="Arial"/>
            </a:endParaRPr>
          </a:p>
        </p:txBody>
      </p:sp>
      <p:sp>
        <p:nvSpPr>
          <p:cNvPr id="278" name="Google Shape;278;p13"/>
          <p:cNvSpPr/>
          <p:nvPr/>
        </p:nvSpPr>
        <p:spPr>
          <a:xfrm>
            <a:off x="3675888" y="2422703"/>
            <a:ext cx="8241487" cy="339700"/>
          </a:xfrm>
          <a:prstGeom prst="roundRect">
            <a:avLst>
              <a:gd fmla="val 22000" name="adj"/>
            </a:avLst>
          </a:prstGeom>
          <a:solidFill>
            <a:srgbClr val="EDE2F4"/>
          </a:solidFill>
          <a:ln>
            <a:noFill/>
          </a:ln>
        </p:spPr>
        <p:txBody>
          <a:bodyPr anchorCtr="0" anchor="ctr" bIns="0" lIns="82275" spcFirstLastPara="1" rIns="82275"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79" name="Google Shape;279;p13"/>
          <p:cNvSpPr txBox="1"/>
          <p:nvPr/>
        </p:nvSpPr>
        <p:spPr>
          <a:xfrm>
            <a:off x="3794760" y="2504999"/>
            <a:ext cx="3566160" cy="1751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pc="0" sz="1200" u="none" cap="none" strike="noStrike">
                <a:solidFill>
                  <a:srgbClr val="241036"/>
                </a:solidFill>
                <a:latin typeface="Arial"/>
                <a:ea typeface="Arial"/>
                <a:cs typeface="Arial"/>
                <a:sym typeface="Arial"/>
              </a:rPr>
              <a:t>Роста нет или октябрь не пройден по росту</a:t>
            </a:r>
            <a:endParaRPr b="0" i="0" spc="0" sz="1400" u="none" cap="none" strike="noStrike">
              <a:solidFill>
                <a:srgbClr val="000000"/>
              </a:solidFill>
              <a:latin typeface="Arial"/>
              <a:ea typeface="Arial"/>
              <a:cs typeface="Arial"/>
              <a:sym typeface="Arial"/>
            </a:endParaRPr>
          </a:p>
        </p:txBody>
      </p:sp>
      <p:sp>
        <p:nvSpPr>
          <p:cNvPr id="280" name="Google Shape;280;p13"/>
          <p:cNvSpPr txBox="1"/>
          <p:nvPr/>
        </p:nvSpPr>
        <p:spPr>
          <a:xfrm>
            <a:off x="7424928" y="2504999"/>
            <a:ext cx="228600" cy="1751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pc="0" sz="1200" u="none" cap="none" strike="noStrike">
                <a:solidFill>
                  <a:srgbClr val="A80E8E"/>
                </a:solidFill>
                <a:latin typeface="Arial"/>
                <a:ea typeface="Arial"/>
                <a:cs typeface="Arial"/>
                <a:sym typeface="Arial"/>
              </a:rPr>
              <a:t>→</a:t>
            </a:r>
            <a:endParaRPr b="0" i="0" spc="0" sz="1400" u="none" cap="none" strike="noStrike">
              <a:solidFill>
                <a:srgbClr val="000000"/>
              </a:solidFill>
              <a:latin typeface="Arial"/>
              <a:ea typeface="Arial"/>
              <a:cs typeface="Arial"/>
              <a:sym typeface="Arial"/>
            </a:endParaRPr>
          </a:p>
        </p:txBody>
      </p:sp>
      <p:sp>
        <p:nvSpPr>
          <p:cNvPr id="281" name="Google Shape;281;p13"/>
          <p:cNvSpPr txBox="1"/>
          <p:nvPr/>
        </p:nvSpPr>
        <p:spPr>
          <a:xfrm>
            <a:off x="7726680" y="2504999"/>
            <a:ext cx="4071823" cy="1751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pc="0" sz="1200" u="none" cap="none" strike="noStrike">
                <a:solidFill>
                  <a:srgbClr val="A80E8E"/>
                </a:solidFill>
                <a:latin typeface="Arial"/>
                <a:ea typeface="Arial"/>
                <a:cs typeface="Arial"/>
                <a:sym typeface="Arial"/>
              </a:rPr>
              <a:t>Ставку закрываем</a:t>
            </a:r>
            <a:endParaRPr b="0" i="0" spc="0" sz="1400" u="none" cap="none" strike="noStrike">
              <a:solidFill>
                <a:srgbClr val="000000"/>
              </a:solidFill>
              <a:latin typeface="Arial"/>
              <a:ea typeface="Arial"/>
              <a:cs typeface="Arial"/>
              <a:sym typeface="Arial"/>
            </a:endParaRPr>
          </a:p>
        </p:txBody>
      </p:sp>
      <p:sp>
        <p:nvSpPr>
          <p:cNvPr id="282" name="Google Shape;282;p13"/>
          <p:cNvSpPr txBox="1"/>
          <p:nvPr/>
        </p:nvSpPr>
        <p:spPr>
          <a:xfrm>
            <a:off x="3794760" y="2890418"/>
            <a:ext cx="3566160" cy="1751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pc="0" sz="1200" u="none" cap="none" strike="noStrike">
                <a:solidFill>
                  <a:srgbClr val="3D2A4F"/>
                </a:solidFill>
                <a:latin typeface="Arial"/>
                <a:ea typeface="Arial"/>
                <a:cs typeface="Arial"/>
                <a:sym typeface="Arial"/>
              </a:rPr>
              <a:t>Реклама снижает повторные диалоги</a:t>
            </a:r>
            <a:endParaRPr b="0" i="0" spc="0" sz="1400" u="none" cap="none" strike="noStrike">
              <a:solidFill>
                <a:srgbClr val="000000"/>
              </a:solidFill>
              <a:latin typeface="Arial"/>
              <a:ea typeface="Arial"/>
              <a:cs typeface="Arial"/>
              <a:sym typeface="Arial"/>
            </a:endParaRPr>
          </a:p>
        </p:txBody>
      </p:sp>
      <p:sp>
        <p:nvSpPr>
          <p:cNvPr id="283" name="Google Shape;283;p13"/>
          <p:cNvSpPr txBox="1"/>
          <p:nvPr/>
        </p:nvSpPr>
        <p:spPr>
          <a:xfrm>
            <a:off x="7424928" y="2890418"/>
            <a:ext cx="228600" cy="1751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pc="0" sz="1200" u="none" cap="none" strike="noStrike">
                <a:solidFill>
                  <a:srgbClr val="A80E8E"/>
                </a:solidFill>
                <a:latin typeface="Arial"/>
                <a:ea typeface="Arial"/>
                <a:cs typeface="Arial"/>
                <a:sym typeface="Arial"/>
              </a:rPr>
              <a:t>→</a:t>
            </a:r>
            <a:endParaRPr b="0" i="0" spc="0" sz="1400" u="none" cap="none" strike="noStrike">
              <a:solidFill>
                <a:srgbClr val="000000"/>
              </a:solidFill>
              <a:latin typeface="Arial"/>
              <a:ea typeface="Arial"/>
              <a:cs typeface="Arial"/>
              <a:sym typeface="Arial"/>
            </a:endParaRPr>
          </a:p>
        </p:txBody>
      </p:sp>
      <p:sp>
        <p:nvSpPr>
          <p:cNvPr id="284" name="Google Shape;284;p13"/>
          <p:cNvSpPr txBox="1"/>
          <p:nvPr/>
        </p:nvSpPr>
        <p:spPr>
          <a:xfrm>
            <a:off x="7726680" y="2890418"/>
            <a:ext cx="4071823" cy="1751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pc="0" sz="1200" u="none" cap="none" strike="noStrike">
                <a:solidFill>
                  <a:srgbClr val="241036"/>
                </a:solidFill>
                <a:latin typeface="Arial"/>
                <a:ea typeface="Arial"/>
                <a:cs typeface="Arial"/>
                <a:sym typeface="Arial"/>
              </a:rPr>
              <a:t>Убираем рекламу</a:t>
            </a:r>
            <a:endParaRPr b="0" i="0" spc="0" sz="1400" u="none" cap="none" strike="noStrike">
              <a:solidFill>
                <a:srgbClr val="000000"/>
              </a:solidFill>
              <a:latin typeface="Arial"/>
              <a:ea typeface="Arial"/>
              <a:cs typeface="Arial"/>
              <a:sym typeface="Arial"/>
            </a:endParaRPr>
          </a:p>
        </p:txBody>
      </p:sp>
      <p:cxnSp>
        <p:nvCxnSpPr>
          <p:cNvPr id="285" name="Google Shape;285;p13"/>
          <p:cNvCxnSpPr/>
          <p:nvPr/>
        </p:nvCxnSpPr>
        <p:spPr>
          <a:xfrm>
            <a:off x="711403" y="3280410"/>
            <a:ext cx="11087100" cy="0"/>
          </a:xfrm>
          <a:prstGeom prst="straightConnector1">
            <a:avLst/>
          </a:prstGeom>
          <a:noFill/>
          <a:ln cap="flat" cmpd="sng" w="9525">
            <a:solidFill>
              <a:srgbClr val="DDD0E6"/>
            </a:solidFill>
            <a:prstDash val="solid"/>
            <a:round/>
            <a:headEnd len="sm" w="sm" type="none"/>
            <a:tailEnd len="sm" w="sm" type="none"/>
          </a:ln>
        </p:spPr>
      </p:cxnSp>
      <p:sp>
        <p:nvSpPr>
          <p:cNvPr id="286" name="Google Shape;286;p13"/>
          <p:cNvSpPr txBox="1"/>
          <p:nvPr/>
        </p:nvSpPr>
        <p:spPr>
          <a:xfrm>
            <a:off x="711403" y="3454146"/>
            <a:ext cx="381305" cy="30449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1" i="0" lang="en-US" spc="0" sz="1800" u="none" cap="none" strike="noStrike">
                <a:solidFill>
                  <a:srgbClr val="A80E8E"/>
                </a:solidFill>
                <a:latin typeface="Arial"/>
                <a:ea typeface="Arial"/>
                <a:cs typeface="Arial"/>
                <a:sym typeface="Arial"/>
              </a:rPr>
              <a:t>02</a:t>
            </a:r>
            <a:endParaRPr b="0" i="0" spc="0" sz="1400" u="none" cap="none" strike="noStrike">
              <a:solidFill>
                <a:srgbClr val="000000"/>
              </a:solidFill>
              <a:latin typeface="Arial"/>
              <a:ea typeface="Arial"/>
              <a:cs typeface="Arial"/>
              <a:sym typeface="Arial"/>
            </a:endParaRPr>
          </a:p>
        </p:txBody>
      </p:sp>
      <p:sp>
        <p:nvSpPr>
          <p:cNvPr id="287" name="Google Shape;287;p13"/>
          <p:cNvSpPr txBox="1"/>
          <p:nvPr/>
        </p:nvSpPr>
        <p:spPr>
          <a:xfrm>
            <a:off x="1168603" y="3484321"/>
            <a:ext cx="2468880" cy="20867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1300"/>
              <a:buFont typeface="Arial"/>
              <a:buNone/>
            </a:pPr>
            <a:r>
              <a:rPr b="1" i="0" lang="en-US" spc="0" sz="1300" u="none" cap="none" strike="noStrike">
                <a:solidFill>
                  <a:srgbClr val="241036"/>
                </a:solidFill>
                <a:latin typeface="Arial"/>
                <a:ea typeface="Arial"/>
                <a:cs typeface="Arial"/>
                <a:sym typeface="Arial"/>
              </a:rPr>
              <a:t>Ответ окупается</a:t>
            </a:r>
            <a:endParaRPr b="0" i="0" spc="0" sz="1400" u="none" cap="none" strike="noStrike">
              <a:solidFill>
                <a:srgbClr val="000000"/>
              </a:solidFill>
              <a:latin typeface="Arial"/>
              <a:ea typeface="Arial"/>
              <a:cs typeface="Arial"/>
              <a:sym typeface="Arial"/>
            </a:endParaRPr>
          </a:p>
        </p:txBody>
      </p:sp>
      <p:sp>
        <p:nvSpPr>
          <p:cNvPr id="288" name="Google Shape;288;p13"/>
          <p:cNvSpPr txBox="1"/>
          <p:nvPr/>
        </p:nvSpPr>
        <p:spPr>
          <a:xfrm>
            <a:off x="3794760" y="3495294"/>
            <a:ext cx="3566160" cy="1751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pc="0" sz="1200" u="none" cap="none" strike="noStrike">
                <a:solidFill>
                  <a:srgbClr val="3D2A4F"/>
                </a:solidFill>
                <a:latin typeface="Arial"/>
                <a:ea typeface="Arial"/>
                <a:cs typeface="Arial"/>
                <a:sym typeface="Arial"/>
              </a:rPr>
              <a:t>Окупаемость от 1 до 2</a:t>
            </a:r>
            <a:endParaRPr b="0" i="0" spc="0" sz="1400" u="none" cap="none" strike="noStrike">
              <a:solidFill>
                <a:srgbClr val="000000"/>
              </a:solidFill>
              <a:latin typeface="Arial"/>
              <a:ea typeface="Arial"/>
              <a:cs typeface="Arial"/>
              <a:sym typeface="Arial"/>
            </a:endParaRPr>
          </a:p>
        </p:txBody>
      </p:sp>
      <p:sp>
        <p:nvSpPr>
          <p:cNvPr id="289" name="Google Shape;289;p13"/>
          <p:cNvSpPr txBox="1"/>
          <p:nvPr/>
        </p:nvSpPr>
        <p:spPr>
          <a:xfrm>
            <a:off x="7424928" y="3495294"/>
            <a:ext cx="228600" cy="1751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pc="0" sz="1200" u="none" cap="none" strike="noStrike">
                <a:solidFill>
                  <a:srgbClr val="A80E8E"/>
                </a:solidFill>
                <a:latin typeface="Arial"/>
                <a:ea typeface="Arial"/>
                <a:cs typeface="Arial"/>
                <a:sym typeface="Arial"/>
              </a:rPr>
              <a:t>→</a:t>
            </a:r>
            <a:endParaRPr b="0" i="0" spc="0" sz="1400" u="none" cap="none" strike="noStrike">
              <a:solidFill>
                <a:srgbClr val="000000"/>
              </a:solidFill>
              <a:latin typeface="Arial"/>
              <a:ea typeface="Arial"/>
              <a:cs typeface="Arial"/>
              <a:sym typeface="Arial"/>
            </a:endParaRPr>
          </a:p>
        </p:txBody>
      </p:sp>
      <p:sp>
        <p:nvSpPr>
          <p:cNvPr id="290" name="Google Shape;290;p13"/>
          <p:cNvSpPr txBox="1"/>
          <p:nvPr/>
        </p:nvSpPr>
        <p:spPr>
          <a:xfrm>
            <a:off x="7726680" y="3495294"/>
            <a:ext cx="4071823" cy="1751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pc="0" sz="1200" u="none" cap="none" strike="noStrike">
                <a:solidFill>
                  <a:srgbClr val="241036"/>
                </a:solidFill>
                <a:latin typeface="Arial"/>
                <a:ea typeface="Arial"/>
                <a:cs typeface="Arial"/>
                <a:sym typeface="Arial"/>
              </a:rPr>
              <a:t>Консультант оста</a:t>
            </a:r>
            <a:r>
              <a:rPr b="1" lang="en-US" sz="1200">
                <a:solidFill>
                  <a:srgbClr val="241036"/>
                </a:solidFill>
              </a:rPr>
              <a:t>е</a:t>
            </a:r>
            <a:r>
              <a:rPr b="1" i="0" lang="en-US" spc="0" sz="1200" u="none" cap="none" strike="noStrike">
                <a:solidFill>
                  <a:srgbClr val="241036"/>
                </a:solidFill>
                <a:latin typeface="Arial"/>
                <a:ea typeface="Arial"/>
                <a:cs typeface="Arial"/>
                <a:sym typeface="Arial"/>
              </a:rPr>
              <a:t>тся кнопкой</a:t>
            </a:r>
            <a:endParaRPr b="0" i="0" spc="0" sz="1400" u="none" cap="none" strike="noStrike">
              <a:solidFill>
                <a:srgbClr val="000000"/>
              </a:solidFill>
              <a:latin typeface="Arial"/>
              <a:ea typeface="Arial"/>
              <a:cs typeface="Arial"/>
              <a:sym typeface="Arial"/>
            </a:endParaRPr>
          </a:p>
        </p:txBody>
      </p:sp>
      <p:sp>
        <p:nvSpPr>
          <p:cNvPr id="291" name="Google Shape;291;p13"/>
          <p:cNvSpPr txBox="1"/>
          <p:nvPr/>
        </p:nvSpPr>
        <p:spPr>
          <a:xfrm>
            <a:off x="3794760" y="3880714"/>
            <a:ext cx="3566160" cy="35021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pc="0" sz="1200" u="none" cap="none" strike="noStrike">
                <a:solidFill>
                  <a:srgbClr val="3D2A4F"/>
                </a:solidFill>
                <a:latin typeface="Arial"/>
                <a:ea typeface="Arial"/>
                <a:cs typeface="Arial"/>
                <a:sym typeface="Arial"/>
              </a:rPr>
              <a:t>Окупаемость ниже 1 два квартала подряд, в том числе в июле и октябре 2027</a:t>
            </a:r>
            <a:endParaRPr b="0" i="0" spc="0" sz="1400" u="none" cap="none" strike="noStrike">
              <a:solidFill>
                <a:srgbClr val="000000"/>
              </a:solidFill>
              <a:latin typeface="Arial"/>
              <a:ea typeface="Arial"/>
              <a:cs typeface="Arial"/>
              <a:sym typeface="Arial"/>
            </a:endParaRPr>
          </a:p>
        </p:txBody>
      </p:sp>
      <p:sp>
        <p:nvSpPr>
          <p:cNvPr id="292" name="Google Shape;292;p13"/>
          <p:cNvSpPr txBox="1"/>
          <p:nvPr/>
        </p:nvSpPr>
        <p:spPr>
          <a:xfrm>
            <a:off x="7424928" y="3880714"/>
            <a:ext cx="228600" cy="1751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pc="0" sz="1200" u="none" cap="none" strike="noStrike">
                <a:solidFill>
                  <a:srgbClr val="A80E8E"/>
                </a:solidFill>
                <a:latin typeface="Arial"/>
                <a:ea typeface="Arial"/>
                <a:cs typeface="Arial"/>
                <a:sym typeface="Arial"/>
              </a:rPr>
              <a:t>→</a:t>
            </a:r>
            <a:endParaRPr b="0" i="0" spc="0" sz="1400" u="none" cap="none" strike="noStrike">
              <a:solidFill>
                <a:srgbClr val="000000"/>
              </a:solidFill>
              <a:latin typeface="Arial"/>
              <a:ea typeface="Arial"/>
              <a:cs typeface="Arial"/>
              <a:sym typeface="Arial"/>
            </a:endParaRPr>
          </a:p>
        </p:txBody>
      </p:sp>
      <p:sp>
        <p:nvSpPr>
          <p:cNvPr id="293" name="Google Shape;293;p13"/>
          <p:cNvSpPr txBox="1"/>
          <p:nvPr/>
        </p:nvSpPr>
        <p:spPr>
          <a:xfrm>
            <a:off x="7726680" y="3880714"/>
            <a:ext cx="4071823" cy="35021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pc="0" sz="1200" u="none" cap="none" strike="noStrike">
                <a:solidFill>
                  <a:srgbClr val="241036"/>
                </a:solidFill>
                <a:latin typeface="Arial"/>
                <a:ea typeface="Arial"/>
                <a:cs typeface="Arial"/>
                <a:sym typeface="Arial"/>
              </a:rPr>
              <a:t>Сужаем консультанта до запросов-задач</a:t>
            </a:r>
            <a:endParaRPr b="0" i="0" spc="0" sz="1400" u="none" cap="none" strike="noStrike">
              <a:solidFill>
                <a:srgbClr val="000000"/>
              </a:solidFill>
              <a:latin typeface="Arial"/>
              <a:ea typeface="Arial"/>
              <a:cs typeface="Arial"/>
              <a:sym typeface="Arial"/>
            </a:endParaRPr>
          </a:p>
        </p:txBody>
      </p:sp>
      <p:cxnSp>
        <p:nvCxnSpPr>
          <p:cNvPr id="294" name="Google Shape;294;p13"/>
          <p:cNvCxnSpPr/>
          <p:nvPr/>
        </p:nvCxnSpPr>
        <p:spPr>
          <a:xfrm>
            <a:off x="711403" y="4445813"/>
            <a:ext cx="11087100" cy="0"/>
          </a:xfrm>
          <a:prstGeom prst="straightConnector1">
            <a:avLst/>
          </a:prstGeom>
          <a:noFill/>
          <a:ln cap="flat" cmpd="sng" w="9525">
            <a:solidFill>
              <a:srgbClr val="DDD0E6"/>
            </a:solidFill>
            <a:prstDash val="solid"/>
            <a:round/>
            <a:headEnd len="sm" w="sm" type="none"/>
            <a:tailEnd len="sm" w="sm" type="none"/>
          </a:ln>
        </p:spPr>
      </p:cxnSp>
      <p:sp>
        <p:nvSpPr>
          <p:cNvPr id="295" name="Google Shape;295;p13"/>
          <p:cNvSpPr txBox="1"/>
          <p:nvPr/>
        </p:nvSpPr>
        <p:spPr>
          <a:xfrm>
            <a:off x="711403" y="4619549"/>
            <a:ext cx="381305" cy="30449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1" i="0" lang="en-US" spc="0" sz="1800" u="none" cap="none" strike="noStrike">
                <a:solidFill>
                  <a:srgbClr val="A80E8E"/>
                </a:solidFill>
                <a:latin typeface="Arial"/>
                <a:ea typeface="Arial"/>
                <a:cs typeface="Arial"/>
                <a:sym typeface="Arial"/>
              </a:rPr>
              <a:t>03</a:t>
            </a:r>
            <a:endParaRPr b="0" i="0" spc="0" sz="1400" u="none" cap="none" strike="noStrike">
              <a:solidFill>
                <a:srgbClr val="000000"/>
              </a:solidFill>
              <a:latin typeface="Arial"/>
              <a:ea typeface="Arial"/>
              <a:cs typeface="Arial"/>
              <a:sym typeface="Arial"/>
            </a:endParaRPr>
          </a:p>
        </p:txBody>
      </p:sp>
      <p:sp>
        <p:nvSpPr>
          <p:cNvPr id="296" name="Google Shape;296;p13"/>
          <p:cNvSpPr txBox="1"/>
          <p:nvPr/>
        </p:nvSpPr>
        <p:spPr>
          <a:xfrm>
            <a:off x="1168603" y="4649724"/>
            <a:ext cx="2468880" cy="41734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1300"/>
              <a:buFont typeface="Arial"/>
              <a:buNone/>
            </a:pPr>
            <a:r>
              <a:rPr b="1" i="0" lang="en-US" spc="0" sz="1300" u="none" cap="none" strike="noStrike">
                <a:solidFill>
                  <a:srgbClr val="241036"/>
                </a:solidFill>
                <a:latin typeface="Arial"/>
                <a:ea typeface="Arial"/>
                <a:cs typeface="Arial"/>
                <a:sym typeface="Arial"/>
              </a:rPr>
              <a:t>Продавцы и закон принимают подборку</a:t>
            </a:r>
            <a:endParaRPr b="0" i="0" spc="0" sz="1400" u="none" cap="none" strike="noStrike">
              <a:solidFill>
                <a:srgbClr val="000000"/>
              </a:solidFill>
              <a:latin typeface="Arial"/>
              <a:ea typeface="Arial"/>
              <a:cs typeface="Arial"/>
              <a:sym typeface="Arial"/>
            </a:endParaRPr>
          </a:p>
        </p:txBody>
      </p:sp>
      <p:sp>
        <p:nvSpPr>
          <p:cNvPr id="297" name="Google Shape;297;p13"/>
          <p:cNvSpPr txBox="1"/>
          <p:nvPr/>
        </p:nvSpPr>
        <p:spPr>
          <a:xfrm>
            <a:off x="3794760" y="4660697"/>
            <a:ext cx="3566160" cy="35021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pc="0" sz="1200" u="none" cap="none" strike="noStrike">
                <a:solidFill>
                  <a:srgbClr val="3D2A4F"/>
                </a:solidFill>
                <a:latin typeface="Arial"/>
                <a:ea typeface="Arial"/>
                <a:cs typeface="Arial"/>
                <a:sym typeface="Arial"/>
              </a:rPr>
              <a:t>Предписание или новая норма</a:t>
            </a:r>
            <a:endParaRPr b="0" i="0" spc="0" sz="1400" u="none" cap="none" strike="noStrike">
              <a:solidFill>
                <a:srgbClr val="000000"/>
              </a:solidFill>
              <a:latin typeface="Arial"/>
              <a:ea typeface="Arial"/>
              <a:cs typeface="Arial"/>
              <a:sym typeface="Arial"/>
            </a:endParaRPr>
          </a:p>
        </p:txBody>
      </p:sp>
      <p:sp>
        <p:nvSpPr>
          <p:cNvPr id="298" name="Google Shape;298;p13"/>
          <p:cNvSpPr txBox="1"/>
          <p:nvPr/>
        </p:nvSpPr>
        <p:spPr>
          <a:xfrm>
            <a:off x="7424928" y="4660697"/>
            <a:ext cx="228600" cy="1751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pc="0" sz="1200" u="none" cap="none" strike="noStrike">
                <a:solidFill>
                  <a:srgbClr val="A80E8E"/>
                </a:solidFill>
                <a:latin typeface="Arial"/>
                <a:ea typeface="Arial"/>
                <a:cs typeface="Arial"/>
                <a:sym typeface="Arial"/>
              </a:rPr>
              <a:t>→</a:t>
            </a:r>
            <a:endParaRPr b="0" i="0" spc="0" sz="1400" u="none" cap="none" strike="noStrike">
              <a:solidFill>
                <a:srgbClr val="000000"/>
              </a:solidFill>
              <a:latin typeface="Arial"/>
              <a:ea typeface="Arial"/>
              <a:cs typeface="Arial"/>
              <a:sym typeface="Arial"/>
            </a:endParaRPr>
          </a:p>
        </p:txBody>
      </p:sp>
      <p:sp>
        <p:nvSpPr>
          <p:cNvPr id="299" name="Google Shape;299;p13"/>
          <p:cNvSpPr txBox="1"/>
          <p:nvPr/>
        </p:nvSpPr>
        <p:spPr>
          <a:xfrm>
            <a:off x="7726680" y="4660697"/>
            <a:ext cx="4071823" cy="35021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pc="0" sz="1200" u="none" cap="none" strike="noStrike">
                <a:solidFill>
                  <a:srgbClr val="241036"/>
                </a:solidFill>
                <a:latin typeface="Arial"/>
                <a:ea typeface="Arial"/>
                <a:cs typeface="Arial"/>
                <a:sym typeface="Arial"/>
              </a:rPr>
              <a:t>Показываем полную выдачу рядом с ответом, рекламу ставим на паузу до исправления</a:t>
            </a:r>
            <a:endParaRPr b="0" i="0" spc="0" sz="1400" u="none" cap="none" strike="noStrike">
              <a:solidFill>
                <a:srgbClr val="000000"/>
              </a:solidFill>
              <a:latin typeface="Arial"/>
              <a:ea typeface="Arial"/>
              <a:cs typeface="Arial"/>
              <a:sym typeface="Arial"/>
            </a:endParaRPr>
          </a:p>
        </p:txBody>
      </p:sp>
      <p:cxnSp>
        <p:nvCxnSpPr>
          <p:cNvPr id="300" name="Google Shape;300;p13"/>
          <p:cNvCxnSpPr/>
          <p:nvPr/>
        </p:nvCxnSpPr>
        <p:spPr>
          <a:xfrm>
            <a:off x="711403" y="5225796"/>
            <a:ext cx="11087100" cy="0"/>
          </a:xfrm>
          <a:prstGeom prst="straightConnector1">
            <a:avLst/>
          </a:prstGeom>
          <a:noFill/>
          <a:ln cap="flat" cmpd="sng" w="9525">
            <a:solidFill>
              <a:srgbClr val="DDD0E6"/>
            </a:solidFill>
            <a:prstDash val="solid"/>
            <a:round/>
            <a:headEnd len="sm" w="sm" type="none"/>
            <a:tailEnd len="sm" w="sm" type="none"/>
          </a:ln>
        </p:spPr>
      </p:cxnSp>
      <p:sp>
        <p:nvSpPr>
          <p:cNvPr id="301" name="Google Shape;301;p13"/>
          <p:cNvSpPr txBox="1"/>
          <p:nvPr/>
        </p:nvSpPr>
        <p:spPr>
          <a:xfrm>
            <a:off x="711403" y="5402759"/>
            <a:ext cx="11087100" cy="4755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1200"/>
              <a:buFont typeface="Arial"/>
              <a:buNone/>
            </a:pPr>
            <a:r>
              <a:rPr b="1" i="0" lang="en-US" spc="0" sz="1200" u="none" cap="none" strike="noStrike">
                <a:solidFill>
                  <a:srgbClr val="241036"/>
                </a:solidFill>
                <a:latin typeface="Arial"/>
                <a:ea typeface="Arial"/>
                <a:cs typeface="Arial"/>
                <a:sym typeface="Arial"/>
              </a:rPr>
              <a:t>Как решаем.</a:t>
            </a:r>
            <a:r>
              <a:rPr b="0" i="0" lang="en-US" spc="0" sz="1200" u="none" cap="none" strike="noStrike">
                <a:solidFill>
                  <a:srgbClr val="3D2A4F"/>
                </a:solidFill>
                <a:latin typeface="Arial"/>
                <a:ea typeface="Arial"/>
                <a:cs typeface="Arial"/>
                <a:sym typeface="Arial"/>
              </a:rPr>
              <a:t> Сначала работает правка из строки условия. Ставку закрываем в двух случаях: пилот не дал роста по условию 01 или правка не помогла к декабрю 2028; заказанные GPU тогда уходят на другие ИИ-задачи WB.</a:t>
            </a:r>
            <a:endParaRPr b="0" i="0" spc="0" sz="1400" u="none" cap="none" strike="noStrike">
              <a:solidFill>
                <a:srgbClr val="000000"/>
              </a:solidFill>
              <a:latin typeface="Arial"/>
              <a:ea typeface="Arial"/>
              <a:cs typeface="Arial"/>
              <a:sym typeface="Arial"/>
            </a:endParaRPr>
          </a:p>
        </p:txBody>
      </p:sp>
      <p:cxnSp>
        <p:nvCxnSpPr>
          <p:cNvPr id="302" name="Google Shape;302;p13"/>
          <p:cNvCxnSpPr/>
          <p:nvPr/>
        </p:nvCxnSpPr>
        <p:spPr>
          <a:xfrm>
            <a:off x="711403" y="6070702"/>
            <a:ext cx="10769803" cy="0"/>
          </a:xfrm>
          <a:prstGeom prst="straightConnector1">
            <a:avLst/>
          </a:prstGeom>
          <a:noFill/>
          <a:ln cap="flat" cmpd="sng" w="9525">
            <a:solidFill>
              <a:srgbClr val="DDD0E6"/>
            </a:solidFill>
            <a:prstDash val="solid"/>
            <a:round/>
            <a:headEnd len="sm" w="sm" type="none"/>
            <a:tailEnd len="sm" w="sm" type="non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A0B45"/>
        </a:solidFill>
      </p:bgPr>
    </p:bg>
    <p:spTree>
      <p:nvGrpSpPr>
        <p:cNvPr id="307" name="Shape 307"/>
        <p:cNvGrpSpPr/>
        <p:nvPr/>
      </p:nvGrpSpPr>
      <p:grpSpPr>
        <a:xfrm>
          <a:off x="0" y="0"/>
          <a:ext cx="0" cy="0"/>
          <a:chOff x="0" y="0"/>
          <a:chExt cx="0" cy="0"/>
        </a:xfrm>
      </p:grpSpPr>
      <p:sp>
        <p:nvSpPr>
          <p:cNvPr id="308" name="Google Shape;308;p14"/>
          <p:cNvSpPr txBox="1"/>
          <p:nvPr>
            <p:ph type="title"/>
          </p:nvPr>
        </p:nvSpPr>
        <p:spPr>
          <a:xfrm>
            <a:off x="711403" y="774497"/>
            <a:ext cx="11087100" cy="736200"/>
          </a:xfrm>
          <a:prstGeom prst="rect">
            <a:avLst/>
          </a:prstGeom>
          <a:noFill/>
          <a:ln>
            <a:noFill/>
          </a:ln>
        </p:spPr>
        <p:txBody>
          <a:bodyPr anchorCtr="0" anchor="t" bIns="0" lIns="0" spcFirstLastPara="1" rIns="0" wrap="square" tIns="0">
            <a:noAutofit/>
          </a:bodyPr>
          <a:lstStyle/>
          <a:p>
            <a:pPr indent="0" lvl="0" marL="0" rtl="0" algn="l">
              <a:lnSpc>
                <a:spcPct val="112000"/>
              </a:lnSpc>
              <a:spcBef>
                <a:spcPts val="0"/>
              </a:spcBef>
              <a:spcAft>
                <a:spcPts val="0"/>
              </a:spcAft>
              <a:buClr>
                <a:srgbClr val="000000"/>
              </a:buClr>
              <a:buSzPts val="2500"/>
              <a:buFont typeface="Arial"/>
              <a:buNone/>
            </a:pPr>
            <a:r>
              <a:rPr b="1" lang="en-US" sz="2300">
                <a:solidFill>
                  <a:srgbClr val="FBF6FD"/>
                </a:solidFill>
                <a:latin typeface="Arial"/>
                <a:ea typeface="Arial"/>
                <a:cs typeface="Arial"/>
                <a:sym typeface="Arial"/>
              </a:rPr>
              <a:t>Ставка работает при трех условиях: покупатель доверяет совету, ответ окупается, продавцы и закон принимают подборку</a:t>
            </a:r>
            <a:endParaRPr/>
          </a:p>
        </p:txBody>
      </p:sp>
      <p:sp>
        <p:nvSpPr>
          <p:cNvPr id="309" name="Google Shape;309;p14"/>
          <p:cNvSpPr txBox="1"/>
          <p:nvPr/>
        </p:nvSpPr>
        <p:spPr>
          <a:xfrm>
            <a:off x="711403" y="405994"/>
            <a:ext cx="6350400" cy="241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00000"/>
              </a:buClr>
              <a:buSzPts val="1200"/>
              <a:buFont typeface="Arial"/>
              <a:buNone/>
            </a:pPr>
            <a:r>
              <a:rPr b="1" lang="en-US" sz="1200">
                <a:solidFill>
                  <a:srgbClr val="F27BD8"/>
                </a:solidFill>
              </a:rPr>
              <a:t>Критика </a:t>
            </a:r>
            <a:r>
              <a:rPr b="1" i="0" lang="en-US" spc="0" sz="1200" u="none" cap="none" strike="noStrike">
                <a:solidFill>
                  <a:srgbClr val="F27BD8"/>
                </a:solidFill>
                <a:latin typeface="Arial"/>
                <a:ea typeface="Arial"/>
                <a:cs typeface="Arial"/>
                <a:sym typeface="Arial"/>
              </a:rPr>
              <a:t>· условия успеха</a:t>
            </a:r>
            <a:endParaRPr b="0" i="0" spc="0" sz="1400" u="none" cap="none" strike="noStrike">
              <a:solidFill>
                <a:srgbClr val="000000"/>
              </a:solidFill>
              <a:latin typeface="Arial"/>
              <a:ea typeface="Arial"/>
              <a:cs typeface="Arial"/>
              <a:sym typeface="Arial"/>
            </a:endParaRPr>
          </a:p>
        </p:txBody>
      </p:sp>
      <p:sp>
        <p:nvSpPr>
          <p:cNvPr id="310" name="Google Shape;310;p14"/>
          <p:cNvSpPr txBox="1"/>
          <p:nvPr/>
        </p:nvSpPr>
        <p:spPr>
          <a:xfrm>
            <a:off x="1168603" y="1651406"/>
            <a:ext cx="2743200" cy="2031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1200"/>
              <a:buFont typeface="Arial"/>
              <a:buNone/>
            </a:pPr>
            <a:r>
              <a:rPr b="1" i="0" lang="en-US" spc="0" sz="1200" u="none" cap="none" strike="noStrike">
                <a:solidFill>
                  <a:srgbClr val="F27BD8"/>
                </a:solidFill>
                <a:latin typeface="Arial"/>
                <a:ea typeface="Arial"/>
                <a:cs typeface="Arial"/>
                <a:sym typeface="Arial"/>
              </a:rPr>
              <a:t>Условие</a:t>
            </a:r>
            <a:endParaRPr b="0" i="0" spc="0" sz="1400" u="none" cap="none" strike="noStrike">
              <a:solidFill>
                <a:srgbClr val="000000"/>
              </a:solidFill>
              <a:latin typeface="Arial"/>
              <a:ea typeface="Arial"/>
              <a:cs typeface="Arial"/>
              <a:sym typeface="Arial"/>
            </a:endParaRPr>
          </a:p>
        </p:txBody>
      </p:sp>
      <p:sp>
        <p:nvSpPr>
          <p:cNvPr id="311" name="Google Shape;311;p14"/>
          <p:cNvSpPr txBox="1"/>
          <p:nvPr/>
        </p:nvSpPr>
        <p:spPr>
          <a:xfrm>
            <a:off x="4206240" y="1651406"/>
            <a:ext cx="3337500" cy="2031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1200"/>
              <a:buFont typeface="Arial"/>
              <a:buNone/>
            </a:pPr>
            <a:r>
              <a:rPr b="1" i="0" lang="en-US" spc="0" sz="1200" u="none" cap="none" strike="noStrike">
                <a:solidFill>
                  <a:srgbClr val="F27BD8"/>
                </a:solidFill>
                <a:latin typeface="Arial"/>
                <a:ea typeface="Arial"/>
                <a:cs typeface="Arial"/>
                <a:sym typeface="Arial"/>
              </a:rPr>
              <a:t>Ранние сигналы</a:t>
            </a:r>
            <a:endParaRPr b="0" i="0" spc="0" sz="1400" u="none" cap="none" strike="noStrike">
              <a:solidFill>
                <a:srgbClr val="000000"/>
              </a:solidFill>
              <a:latin typeface="Arial"/>
              <a:ea typeface="Arial"/>
              <a:cs typeface="Arial"/>
              <a:sym typeface="Arial"/>
            </a:endParaRPr>
          </a:p>
        </p:txBody>
      </p:sp>
      <p:sp>
        <p:nvSpPr>
          <p:cNvPr id="312" name="Google Shape;312;p14"/>
          <p:cNvSpPr txBox="1"/>
          <p:nvPr/>
        </p:nvSpPr>
        <p:spPr>
          <a:xfrm>
            <a:off x="7863840" y="1651406"/>
            <a:ext cx="3934800" cy="2031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1200"/>
              <a:buFont typeface="Arial"/>
              <a:buNone/>
            </a:pPr>
            <a:r>
              <a:rPr b="1" i="0" lang="en-US" spc="0" sz="1200" u="none" cap="none" strike="noStrike">
                <a:solidFill>
                  <a:srgbClr val="F27BD8"/>
                </a:solidFill>
                <a:latin typeface="Arial"/>
                <a:ea typeface="Arial"/>
                <a:cs typeface="Arial"/>
                <a:sym typeface="Arial"/>
              </a:rPr>
              <a:t>Когда масштабируем</a:t>
            </a:r>
            <a:endParaRPr b="0" i="0" spc="0" sz="1400" u="none" cap="none" strike="noStrike">
              <a:solidFill>
                <a:srgbClr val="000000"/>
              </a:solidFill>
              <a:latin typeface="Arial"/>
              <a:ea typeface="Arial"/>
              <a:cs typeface="Arial"/>
              <a:sym typeface="Arial"/>
            </a:endParaRPr>
          </a:p>
        </p:txBody>
      </p:sp>
      <p:cxnSp>
        <p:nvCxnSpPr>
          <p:cNvPr id="313" name="Google Shape;313;p14"/>
          <p:cNvCxnSpPr/>
          <p:nvPr/>
        </p:nvCxnSpPr>
        <p:spPr>
          <a:xfrm>
            <a:off x="711403" y="1917497"/>
            <a:ext cx="11087100" cy="0"/>
          </a:xfrm>
          <a:prstGeom prst="straightConnector1">
            <a:avLst/>
          </a:prstGeom>
          <a:noFill/>
          <a:ln cap="flat" cmpd="sng" w="19050">
            <a:solidFill>
              <a:srgbClr val="F27BD8"/>
            </a:solidFill>
            <a:prstDash val="solid"/>
            <a:round/>
            <a:headEnd len="sm" w="sm" type="none"/>
            <a:tailEnd len="sm" w="sm" type="none"/>
          </a:ln>
        </p:spPr>
      </p:cxnSp>
      <p:sp>
        <p:nvSpPr>
          <p:cNvPr id="314" name="Google Shape;314;p14"/>
          <p:cNvSpPr txBox="1"/>
          <p:nvPr/>
        </p:nvSpPr>
        <p:spPr>
          <a:xfrm>
            <a:off x="711403" y="1998204"/>
            <a:ext cx="381300" cy="304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1" i="0" lang="en-US" spc="0" sz="1800" u="none" cap="none" strike="noStrike">
                <a:solidFill>
                  <a:srgbClr val="F27BD8"/>
                </a:solidFill>
                <a:latin typeface="Arial"/>
                <a:ea typeface="Arial"/>
                <a:cs typeface="Arial"/>
                <a:sym typeface="Arial"/>
              </a:rPr>
              <a:t>01</a:t>
            </a:r>
            <a:endParaRPr b="0" i="0" spc="0" sz="1400" u="none" cap="none" strike="noStrike">
              <a:solidFill>
                <a:srgbClr val="000000"/>
              </a:solidFill>
              <a:latin typeface="Arial"/>
              <a:ea typeface="Arial"/>
              <a:cs typeface="Arial"/>
              <a:sym typeface="Arial"/>
            </a:endParaRPr>
          </a:p>
        </p:txBody>
      </p:sp>
      <p:sp>
        <p:nvSpPr>
          <p:cNvPr id="315" name="Google Shape;315;p14"/>
          <p:cNvSpPr txBox="1"/>
          <p:nvPr/>
        </p:nvSpPr>
        <p:spPr>
          <a:xfrm>
            <a:off x="1168603" y="2022892"/>
            <a:ext cx="2743200" cy="2088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1300"/>
              <a:buFont typeface="Arial"/>
              <a:buNone/>
            </a:pPr>
            <a:r>
              <a:rPr b="1" i="0" lang="en-US" spc="0" sz="1300" u="none" cap="none" strike="noStrike">
                <a:solidFill>
                  <a:srgbClr val="FBF6FD"/>
                </a:solidFill>
                <a:latin typeface="Arial"/>
                <a:ea typeface="Arial"/>
                <a:cs typeface="Arial"/>
                <a:sym typeface="Arial"/>
              </a:rPr>
              <a:t>Покупатель доверяет совету</a:t>
            </a:r>
            <a:endParaRPr b="0" i="0" spc="0" sz="1400" u="none" cap="none" strike="noStrike">
              <a:solidFill>
                <a:srgbClr val="000000"/>
              </a:solidFill>
              <a:latin typeface="Arial"/>
              <a:ea typeface="Arial"/>
              <a:cs typeface="Arial"/>
              <a:sym typeface="Arial"/>
            </a:endParaRPr>
          </a:p>
        </p:txBody>
      </p:sp>
      <p:sp>
        <p:nvSpPr>
          <p:cNvPr id="316" name="Google Shape;316;p14"/>
          <p:cNvSpPr txBox="1"/>
          <p:nvPr/>
        </p:nvSpPr>
        <p:spPr>
          <a:xfrm>
            <a:off x="4206240" y="2022892"/>
            <a:ext cx="3337500" cy="763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pc="0" sz="1200" u="none" cap="none" strike="noStrike">
                <a:solidFill>
                  <a:srgbClr val="DCCCE8"/>
                </a:solidFill>
                <a:latin typeface="Arial"/>
                <a:ea typeface="Arial"/>
                <a:cs typeface="Arial"/>
                <a:sym typeface="Arial"/>
              </a:rPr>
              <a:t>Попробовавшие чаще начинают с консультанта, чем с поиска</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000000"/>
              </a:buClr>
              <a:buSzPts val="1200"/>
              <a:buFont typeface="Arial"/>
              <a:buNone/>
            </a:pPr>
            <a:r>
              <a:rPr b="0" i="0" lang="en-US" spc="0" sz="1200" u="none" cap="none" strike="noStrike">
                <a:solidFill>
                  <a:srgbClr val="DCCCE8"/>
                </a:solidFill>
                <a:latin typeface="Arial"/>
                <a:ea typeface="Arial"/>
                <a:cs typeface="Arial"/>
                <a:sym typeface="Arial"/>
              </a:rPr>
              <a:t>Возвратов по размеру в одежде на 10% меньше, чем в контроле</a:t>
            </a:r>
            <a:endParaRPr b="0" i="0" spc="0" sz="1400" u="none" cap="none" strike="noStrike">
              <a:solidFill>
                <a:srgbClr val="000000"/>
              </a:solidFill>
              <a:latin typeface="Arial"/>
              <a:ea typeface="Arial"/>
              <a:cs typeface="Arial"/>
              <a:sym typeface="Arial"/>
            </a:endParaRPr>
          </a:p>
        </p:txBody>
      </p:sp>
      <p:sp>
        <p:nvSpPr>
          <p:cNvPr id="317" name="Google Shape;317;p14"/>
          <p:cNvSpPr/>
          <p:nvPr/>
        </p:nvSpPr>
        <p:spPr>
          <a:xfrm>
            <a:off x="7863840" y="2063374"/>
            <a:ext cx="87000" cy="87000"/>
          </a:xfrm>
          <a:prstGeom prst="diamond">
            <a:avLst/>
          </a:prstGeom>
          <a:solidFill>
            <a:srgbClr val="F27BD8"/>
          </a:solidFill>
          <a:ln>
            <a:noFill/>
          </a:ln>
        </p:spPr>
        <p:txBody>
          <a:bodyPr anchorCtr="0" anchor="ctr" bIns="0" lIns="82275" spcFirstLastPara="1" rIns="82275"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18" name="Google Shape;318;p14"/>
          <p:cNvSpPr txBox="1"/>
          <p:nvPr/>
        </p:nvSpPr>
        <p:spPr>
          <a:xfrm>
            <a:off x="8019288" y="2022892"/>
            <a:ext cx="3779100" cy="160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US" spc="0" sz="1100" u="none" cap="none" strike="noStrike">
                <a:solidFill>
                  <a:srgbClr val="F27BD8"/>
                </a:solidFill>
                <a:latin typeface="Arial"/>
                <a:ea typeface="Arial"/>
                <a:cs typeface="Arial"/>
                <a:sym typeface="Arial"/>
              </a:rPr>
              <a:t>Июль 2027</a:t>
            </a:r>
            <a:endParaRPr b="0" i="0" spc="0" sz="1400" u="none" cap="none" strike="noStrike">
              <a:solidFill>
                <a:srgbClr val="000000"/>
              </a:solidFill>
              <a:latin typeface="Arial"/>
              <a:ea typeface="Arial"/>
              <a:cs typeface="Arial"/>
              <a:sym typeface="Arial"/>
            </a:endParaRPr>
          </a:p>
        </p:txBody>
      </p:sp>
      <p:sp>
        <p:nvSpPr>
          <p:cNvPr id="319" name="Google Shape;319;p14"/>
          <p:cNvSpPr txBox="1"/>
          <p:nvPr/>
        </p:nvSpPr>
        <p:spPr>
          <a:xfrm>
            <a:off x="7863840" y="2247416"/>
            <a:ext cx="3934800" cy="865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pc="0" sz="1200" u="none" cap="none" strike="noStrike">
                <a:solidFill>
                  <a:srgbClr val="DCCCE8"/>
                </a:solidFill>
                <a:latin typeface="Arial"/>
                <a:ea typeface="Arial"/>
                <a:cs typeface="Arial"/>
                <a:sym typeface="Arial"/>
              </a:rPr>
              <a:t>GMV без возвратов на покупателя выше контроля </a:t>
            </a:r>
            <a:r>
              <a:rPr b="1" i="0" lang="en-US" spc="0" sz="1200" u="none" cap="none" strike="noStrike">
                <a:solidFill>
                  <a:srgbClr val="F3ECF7"/>
                </a:solidFill>
                <a:latin typeface="Arial"/>
                <a:ea typeface="Arial"/>
                <a:cs typeface="Arial"/>
                <a:sym typeface="Arial"/>
              </a:rPr>
              <a:t>минимум на 2%</a:t>
            </a:r>
            <a:r>
              <a:rPr b="0" i="0" lang="en-US" spc="0" sz="1200" u="none" cap="none" strike="noStrike">
                <a:solidFill>
                  <a:srgbClr val="DCCCE8"/>
                </a:solidFill>
                <a:latin typeface="Arial"/>
                <a:ea typeface="Arial"/>
                <a:cs typeface="Arial"/>
                <a:sym typeface="Arial"/>
              </a:rPr>
              <a:t> в 2 из 3 категорий</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000000"/>
              </a:buClr>
              <a:buSzPts val="1200"/>
              <a:buFont typeface="Arial"/>
              <a:buNone/>
            </a:pPr>
            <a:r>
              <a:rPr b="0" i="0" lang="en-US" spc="0" sz="1200" u="none" cap="none" strike="noStrike">
                <a:solidFill>
                  <a:srgbClr val="DCCCE8"/>
                </a:solidFill>
                <a:latin typeface="Arial"/>
                <a:ea typeface="Arial"/>
                <a:cs typeface="Arial"/>
                <a:sym typeface="Arial"/>
              </a:rPr>
              <a:t>Окупаемость диалога </a:t>
            </a:r>
            <a:r>
              <a:rPr b="1" i="0" lang="en-US" spc="0" sz="1200" u="none" cap="none" strike="noStrike">
                <a:solidFill>
                  <a:srgbClr val="F3ECF7"/>
                </a:solidFill>
                <a:latin typeface="Arial"/>
                <a:ea typeface="Arial"/>
                <a:cs typeface="Arial"/>
                <a:sym typeface="Arial"/>
              </a:rPr>
              <a:t>не ниже 1</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1200"/>
              <a:buFont typeface="Arial"/>
              <a:buNone/>
            </a:pPr>
            <a:r>
              <a:rPr b="0" i="0" lang="en-US" spc="0" sz="1200" u="none" cap="none" strike="noStrike">
                <a:solidFill>
                  <a:srgbClr val="FBF6FD"/>
                </a:solidFill>
                <a:latin typeface="Arial"/>
                <a:ea typeface="Arial"/>
                <a:cs typeface="Arial"/>
                <a:sym typeface="Arial"/>
              </a:rPr>
              <a:t>→ Открываем все категории</a:t>
            </a:r>
            <a:endParaRPr b="0" i="0" spc="0" sz="1400" u="none" cap="none" strike="noStrike">
              <a:solidFill>
                <a:srgbClr val="000000"/>
              </a:solidFill>
              <a:latin typeface="Arial"/>
              <a:ea typeface="Arial"/>
              <a:cs typeface="Arial"/>
              <a:sym typeface="Arial"/>
            </a:endParaRPr>
          </a:p>
        </p:txBody>
      </p:sp>
      <p:cxnSp>
        <p:nvCxnSpPr>
          <p:cNvPr id="320" name="Google Shape;320;p14"/>
          <p:cNvCxnSpPr/>
          <p:nvPr/>
        </p:nvCxnSpPr>
        <p:spPr>
          <a:xfrm>
            <a:off x="711403" y="3236671"/>
            <a:ext cx="11087100" cy="0"/>
          </a:xfrm>
          <a:prstGeom prst="straightConnector1">
            <a:avLst/>
          </a:prstGeom>
          <a:noFill/>
          <a:ln cap="flat" cmpd="sng" w="9525">
            <a:solidFill>
              <a:srgbClr val="57376F"/>
            </a:solidFill>
            <a:prstDash val="solid"/>
            <a:round/>
            <a:headEnd len="sm" w="sm" type="none"/>
            <a:tailEnd len="sm" w="sm" type="none"/>
          </a:ln>
        </p:spPr>
      </p:cxnSp>
      <p:sp>
        <p:nvSpPr>
          <p:cNvPr id="321" name="Google Shape;321;p14"/>
          <p:cNvSpPr txBox="1"/>
          <p:nvPr/>
        </p:nvSpPr>
        <p:spPr>
          <a:xfrm>
            <a:off x="711403" y="3317378"/>
            <a:ext cx="381300" cy="304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1" i="0" lang="en-US" spc="0" sz="1800" u="none" cap="none" strike="noStrike">
                <a:solidFill>
                  <a:srgbClr val="F27BD8"/>
                </a:solidFill>
                <a:latin typeface="Arial"/>
                <a:ea typeface="Arial"/>
                <a:cs typeface="Arial"/>
                <a:sym typeface="Arial"/>
              </a:rPr>
              <a:t>02</a:t>
            </a:r>
            <a:endParaRPr b="0" i="0" spc="0" sz="1400" u="none" cap="none" strike="noStrike">
              <a:solidFill>
                <a:srgbClr val="000000"/>
              </a:solidFill>
              <a:latin typeface="Arial"/>
              <a:ea typeface="Arial"/>
              <a:cs typeface="Arial"/>
              <a:sym typeface="Arial"/>
            </a:endParaRPr>
          </a:p>
        </p:txBody>
      </p:sp>
      <p:sp>
        <p:nvSpPr>
          <p:cNvPr id="322" name="Google Shape;322;p14"/>
          <p:cNvSpPr txBox="1"/>
          <p:nvPr/>
        </p:nvSpPr>
        <p:spPr>
          <a:xfrm>
            <a:off x="1168603" y="3342067"/>
            <a:ext cx="2743200" cy="2088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1300"/>
              <a:buFont typeface="Arial"/>
              <a:buNone/>
            </a:pPr>
            <a:r>
              <a:rPr b="1" i="0" lang="en-US" spc="0" sz="1300" u="none" cap="none" strike="noStrike">
                <a:solidFill>
                  <a:srgbClr val="FBF6FD"/>
                </a:solidFill>
                <a:latin typeface="Arial"/>
                <a:ea typeface="Arial"/>
                <a:cs typeface="Arial"/>
                <a:sym typeface="Arial"/>
              </a:rPr>
              <a:t>Ответ окупается</a:t>
            </a:r>
            <a:endParaRPr b="0" i="0" spc="0" sz="1400" u="none" cap="none" strike="noStrike">
              <a:solidFill>
                <a:srgbClr val="000000"/>
              </a:solidFill>
              <a:latin typeface="Arial"/>
              <a:ea typeface="Arial"/>
              <a:cs typeface="Arial"/>
              <a:sym typeface="Arial"/>
            </a:endParaRPr>
          </a:p>
        </p:txBody>
      </p:sp>
      <p:sp>
        <p:nvSpPr>
          <p:cNvPr id="323" name="Google Shape;323;p14"/>
          <p:cNvSpPr txBox="1"/>
          <p:nvPr/>
        </p:nvSpPr>
        <p:spPr>
          <a:xfrm>
            <a:off x="1168603" y="3642177"/>
            <a:ext cx="2926200" cy="14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pc="0" sz="1000" u="none" cap="none" strike="noStrike">
                <a:solidFill>
                  <a:srgbClr val="DCCCE8"/>
                </a:solidFill>
                <a:latin typeface="Arial"/>
                <a:ea typeface="Arial"/>
                <a:cs typeface="Arial"/>
                <a:sym typeface="Arial"/>
              </a:rPr>
              <a:t>окупаемость диалога =</a:t>
            </a:r>
            <a:endParaRPr b="0" i="0" spc="0" sz="1400" u="none" cap="none" strike="noStrike">
              <a:solidFill>
                <a:srgbClr val="000000"/>
              </a:solidFill>
              <a:latin typeface="Arial"/>
              <a:ea typeface="Arial"/>
              <a:cs typeface="Arial"/>
              <a:sym typeface="Arial"/>
            </a:endParaRPr>
          </a:p>
        </p:txBody>
      </p:sp>
      <p:sp>
        <p:nvSpPr>
          <p:cNvPr id="324" name="Google Shape;324;p14"/>
          <p:cNvSpPr txBox="1"/>
          <p:nvPr/>
        </p:nvSpPr>
        <p:spPr>
          <a:xfrm>
            <a:off x="1168603" y="3797244"/>
            <a:ext cx="2926200" cy="14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pc="0" sz="1000" u="none" cap="none" strike="noStrike">
                <a:solidFill>
                  <a:srgbClr val="F3ECF7"/>
                </a:solidFill>
                <a:latin typeface="Arial"/>
                <a:ea typeface="Arial"/>
                <a:cs typeface="Arial"/>
                <a:sym typeface="Arial"/>
              </a:rPr>
              <a:t>добавленная маржа от покупок без рекламы</a:t>
            </a:r>
            <a:endParaRPr b="0" i="0" spc="0" sz="1400" u="none" cap="none" strike="noStrike">
              <a:solidFill>
                <a:srgbClr val="000000"/>
              </a:solidFill>
              <a:latin typeface="Arial"/>
              <a:ea typeface="Arial"/>
              <a:cs typeface="Arial"/>
              <a:sym typeface="Arial"/>
            </a:endParaRPr>
          </a:p>
        </p:txBody>
      </p:sp>
      <p:cxnSp>
        <p:nvCxnSpPr>
          <p:cNvPr id="325" name="Google Shape;325;p14"/>
          <p:cNvCxnSpPr/>
          <p:nvPr/>
        </p:nvCxnSpPr>
        <p:spPr>
          <a:xfrm>
            <a:off x="1168603" y="3999859"/>
            <a:ext cx="2634600" cy="0"/>
          </a:xfrm>
          <a:prstGeom prst="straightConnector1">
            <a:avLst/>
          </a:prstGeom>
          <a:noFill/>
          <a:ln cap="flat" cmpd="sng" w="9525">
            <a:solidFill>
              <a:srgbClr val="DCCCE8"/>
            </a:solidFill>
            <a:prstDash val="solid"/>
            <a:round/>
            <a:headEnd len="sm" w="sm" type="none"/>
            <a:tailEnd len="sm" w="sm" type="none"/>
          </a:ln>
        </p:spPr>
      </p:cxnSp>
      <p:sp>
        <p:nvSpPr>
          <p:cNvPr id="326" name="Google Shape;326;p14"/>
          <p:cNvSpPr txBox="1"/>
          <p:nvPr/>
        </p:nvSpPr>
        <p:spPr>
          <a:xfrm>
            <a:off x="1168603" y="4018147"/>
            <a:ext cx="2926200" cy="14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pc="0" sz="1000" u="none" cap="none" strike="noStrike">
                <a:solidFill>
                  <a:srgbClr val="F3ECF7"/>
                </a:solidFill>
                <a:latin typeface="Arial"/>
                <a:ea typeface="Arial"/>
                <a:cs typeface="Arial"/>
                <a:sym typeface="Arial"/>
              </a:rPr>
              <a:t>стоимость диалогов с амортизацией GPU</a:t>
            </a:r>
            <a:endParaRPr b="0" i="0" spc="0" sz="1400" u="none" cap="none" strike="noStrike">
              <a:solidFill>
                <a:srgbClr val="000000"/>
              </a:solidFill>
              <a:latin typeface="Arial"/>
              <a:ea typeface="Arial"/>
              <a:cs typeface="Arial"/>
              <a:sym typeface="Arial"/>
            </a:endParaRPr>
          </a:p>
        </p:txBody>
      </p:sp>
      <p:sp>
        <p:nvSpPr>
          <p:cNvPr id="327" name="Google Shape;327;p14"/>
          <p:cNvSpPr txBox="1"/>
          <p:nvPr/>
        </p:nvSpPr>
        <p:spPr>
          <a:xfrm>
            <a:off x="4206240" y="3342067"/>
            <a:ext cx="3337500" cy="588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pc="0" sz="1200" u="none" cap="none" strike="noStrike">
                <a:solidFill>
                  <a:srgbClr val="DCCCE8"/>
                </a:solidFill>
                <a:latin typeface="Arial"/>
                <a:ea typeface="Arial"/>
                <a:cs typeface="Arial"/>
                <a:sym typeface="Arial"/>
              </a:rPr>
              <a:t>Диалог дешевеет каждый месяц</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000000"/>
              </a:buClr>
              <a:buSzPts val="1200"/>
              <a:buFont typeface="Arial"/>
              <a:buNone/>
            </a:pPr>
            <a:r>
              <a:rPr b="0" i="0" lang="en-US" spc="0" sz="1200" u="none" cap="none" strike="noStrike">
                <a:solidFill>
                  <a:srgbClr val="DCCCE8"/>
                </a:solidFill>
                <a:latin typeface="Arial"/>
                <a:ea typeface="Arial"/>
                <a:cs typeface="Arial"/>
                <a:sym typeface="Arial"/>
              </a:rPr>
              <a:t>Больше половины запросов закрывает л</a:t>
            </a:r>
            <a:r>
              <a:rPr lang="en-US" sz="1200">
                <a:solidFill>
                  <a:srgbClr val="DCCCE8"/>
                </a:solidFill>
              </a:rPr>
              <a:t>е</a:t>
            </a:r>
            <a:r>
              <a:rPr b="0" i="0" lang="en-US" spc="0" sz="1200" u="none" cap="none" strike="noStrike">
                <a:solidFill>
                  <a:srgbClr val="DCCCE8"/>
                </a:solidFill>
                <a:latin typeface="Arial"/>
                <a:ea typeface="Arial"/>
                <a:cs typeface="Arial"/>
                <a:sym typeface="Arial"/>
              </a:rPr>
              <a:t>гкая модель</a:t>
            </a:r>
            <a:endParaRPr b="0" i="0" spc="0" sz="1400" u="none" cap="none" strike="noStrike">
              <a:solidFill>
                <a:srgbClr val="000000"/>
              </a:solidFill>
              <a:latin typeface="Arial"/>
              <a:ea typeface="Arial"/>
              <a:cs typeface="Arial"/>
              <a:sym typeface="Arial"/>
            </a:endParaRPr>
          </a:p>
        </p:txBody>
      </p:sp>
      <p:sp>
        <p:nvSpPr>
          <p:cNvPr id="328" name="Google Shape;328;p14"/>
          <p:cNvSpPr/>
          <p:nvPr/>
        </p:nvSpPr>
        <p:spPr>
          <a:xfrm>
            <a:off x="7863840" y="3382548"/>
            <a:ext cx="87000" cy="87000"/>
          </a:xfrm>
          <a:prstGeom prst="diamond">
            <a:avLst/>
          </a:prstGeom>
          <a:solidFill>
            <a:srgbClr val="F27BD8"/>
          </a:solidFill>
          <a:ln>
            <a:noFill/>
          </a:ln>
        </p:spPr>
        <p:txBody>
          <a:bodyPr anchorCtr="0" anchor="ctr" bIns="0" lIns="82275" spcFirstLastPara="1" rIns="82275"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29" name="Google Shape;329;p14"/>
          <p:cNvSpPr txBox="1"/>
          <p:nvPr/>
        </p:nvSpPr>
        <p:spPr>
          <a:xfrm>
            <a:off x="8019288" y="3342067"/>
            <a:ext cx="3779100" cy="160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US" spc="0" sz="1100" u="none" cap="none" strike="noStrike">
                <a:solidFill>
                  <a:srgbClr val="F27BD8"/>
                </a:solidFill>
                <a:latin typeface="Arial"/>
                <a:ea typeface="Arial"/>
                <a:cs typeface="Arial"/>
                <a:sym typeface="Arial"/>
              </a:rPr>
              <a:t>Январь 2028</a:t>
            </a:r>
            <a:endParaRPr b="0" i="0" spc="0" sz="1400" u="none" cap="none" strike="noStrike">
              <a:solidFill>
                <a:srgbClr val="000000"/>
              </a:solidFill>
              <a:latin typeface="Arial"/>
              <a:ea typeface="Arial"/>
              <a:cs typeface="Arial"/>
              <a:sym typeface="Arial"/>
            </a:endParaRPr>
          </a:p>
        </p:txBody>
      </p:sp>
      <p:sp>
        <p:nvSpPr>
          <p:cNvPr id="330" name="Google Shape;330;p14"/>
          <p:cNvSpPr txBox="1"/>
          <p:nvPr/>
        </p:nvSpPr>
        <p:spPr>
          <a:xfrm>
            <a:off x="7863840" y="3566590"/>
            <a:ext cx="3934800" cy="690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pc="0" sz="1200" u="none" cap="none" strike="noStrike">
                <a:solidFill>
                  <a:srgbClr val="DCCCE8"/>
                </a:solidFill>
                <a:latin typeface="Arial"/>
                <a:ea typeface="Arial"/>
                <a:cs typeface="Arial"/>
                <a:sym typeface="Arial"/>
              </a:rPr>
              <a:t>Окупаемость диалога </a:t>
            </a:r>
            <a:r>
              <a:rPr b="1" i="0" lang="en-US" spc="0" sz="1200" u="none" cap="none" strike="noStrike">
                <a:solidFill>
                  <a:srgbClr val="F3ECF7"/>
                </a:solidFill>
                <a:latin typeface="Arial"/>
                <a:ea typeface="Arial"/>
                <a:cs typeface="Arial"/>
                <a:sym typeface="Arial"/>
              </a:rPr>
              <a:t>не ниже 2</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000000"/>
              </a:buClr>
              <a:buSzPts val="1200"/>
              <a:buFont typeface="Arial"/>
              <a:buNone/>
            </a:pPr>
            <a:r>
              <a:rPr b="0" i="0" lang="en-US" spc="0" sz="1200" u="none" cap="none" strike="noStrike">
                <a:solidFill>
                  <a:srgbClr val="DCCCE8"/>
                </a:solidFill>
                <a:latin typeface="Arial"/>
                <a:ea typeface="Arial"/>
                <a:cs typeface="Arial"/>
                <a:sym typeface="Arial"/>
              </a:rPr>
              <a:t>Мощностей хватает на пик</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1200"/>
              <a:buFont typeface="Arial"/>
              <a:buNone/>
            </a:pPr>
            <a:r>
              <a:rPr b="0" i="0" lang="en-US" spc="0" sz="1200" u="none" cap="none" strike="noStrike">
                <a:solidFill>
                  <a:srgbClr val="FBF6FD"/>
                </a:solidFill>
                <a:latin typeface="Arial"/>
                <a:ea typeface="Arial"/>
                <a:cs typeface="Arial"/>
                <a:sym typeface="Arial"/>
              </a:rPr>
              <a:t>→ Консультант становится главной дверью</a:t>
            </a:r>
            <a:endParaRPr b="0" i="0" spc="0" sz="1400" u="none" cap="none" strike="noStrike">
              <a:solidFill>
                <a:srgbClr val="000000"/>
              </a:solidFill>
              <a:latin typeface="Arial"/>
              <a:ea typeface="Arial"/>
              <a:cs typeface="Arial"/>
              <a:sym typeface="Arial"/>
            </a:endParaRPr>
          </a:p>
        </p:txBody>
      </p:sp>
      <p:cxnSp>
        <p:nvCxnSpPr>
          <p:cNvPr id="331" name="Google Shape;331;p14"/>
          <p:cNvCxnSpPr/>
          <p:nvPr/>
        </p:nvCxnSpPr>
        <p:spPr>
          <a:xfrm>
            <a:off x="711403" y="4380738"/>
            <a:ext cx="11087100" cy="0"/>
          </a:xfrm>
          <a:prstGeom prst="straightConnector1">
            <a:avLst/>
          </a:prstGeom>
          <a:noFill/>
          <a:ln cap="flat" cmpd="sng" w="9525">
            <a:solidFill>
              <a:srgbClr val="57376F"/>
            </a:solidFill>
            <a:prstDash val="solid"/>
            <a:round/>
            <a:headEnd len="sm" w="sm" type="none"/>
            <a:tailEnd len="sm" w="sm" type="none"/>
          </a:ln>
        </p:spPr>
      </p:cxnSp>
      <p:sp>
        <p:nvSpPr>
          <p:cNvPr id="332" name="Google Shape;332;p14"/>
          <p:cNvSpPr txBox="1"/>
          <p:nvPr/>
        </p:nvSpPr>
        <p:spPr>
          <a:xfrm>
            <a:off x="711403" y="4461445"/>
            <a:ext cx="381300" cy="304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1" i="0" lang="en-US" spc="0" sz="1800" u="none" cap="none" strike="noStrike">
                <a:solidFill>
                  <a:srgbClr val="F27BD8"/>
                </a:solidFill>
                <a:latin typeface="Arial"/>
                <a:ea typeface="Arial"/>
                <a:cs typeface="Arial"/>
                <a:sym typeface="Arial"/>
              </a:rPr>
              <a:t>03</a:t>
            </a:r>
            <a:endParaRPr b="0" i="0" spc="0" sz="1400" u="none" cap="none" strike="noStrike">
              <a:solidFill>
                <a:srgbClr val="000000"/>
              </a:solidFill>
              <a:latin typeface="Arial"/>
              <a:ea typeface="Arial"/>
              <a:cs typeface="Arial"/>
              <a:sym typeface="Arial"/>
            </a:endParaRPr>
          </a:p>
        </p:txBody>
      </p:sp>
      <p:sp>
        <p:nvSpPr>
          <p:cNvPr id="333" name="Google Shape;333;p14"/>
          <p:cNvSpPr txBox="1"/>
          <p:nvPr/>
        </p:nvSpPr>
        <p:spPr>
          <a:xfrm>
            <a:off x="1168603" y="4486134"/>
            <a:ext cx="2743200" cy="4173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1300"/>
              <a:buFont typeface="Arial"/>
              <a:buNone/>
            </a:pPr>
            <a:r>
              <a:rPr b="1" i="0" lang="en-US" spc="0" sz="1300" u="none" cap="none" strike="noStrike">
                <a:solidFill>
                  <a:srgbClr val="FBF6FD"/>
                </a:solidFill>
                <a:latin typeface="Arial"/>
                <a:ea typeface="Arial"/>
                <a:cs typeface="Arial"/>
                <a:sym typeface="Arial"/>
              </a:rPr>
              <a:t>Продавцы и закон принимают подборку</a:t>
            </a:r>
            <a:endParaRPr b="0" i="0" spc="0" sz="1400" u="none" cap="none" strike="noStrike">
              <a:solidFill>
                <a:srgbClr val="000000"/>
              </a:solidFill>
              <a:latin typeface="Arial"/>
              <a:ea typeface="Arial"/>
              <a:cs typeface="Arial"/>
              <a:sym typeface="Arial"/>
            </a:endParaRPr>
          </a:p>
        </p:txBody>
      </p:sp>
      <p:sp>
        <p:nvSpPr>
          <p:cNvPr id="334" name="Google Shape;334;p14"/>
          <p:cNvSpPr txBox="1"/>
          <p:nvPr/>
        </p:nvSpPr>
        <p:spPr>
          <a:xfrm>
            <a:off x="4206240" y="4486134"/>
            <a:ext cx="3337500" cy="588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pc="0" sz="1200" u="none" cap="none" strike="noStrike">
                <a:solidFill>
                  <a:srgbClr val="DCCCE8"/>
                </a:solidFill>
                <a:latin typeface="Arial"/>
                <a:ea typeface="Arial"/>
                <a:cs typeface="Arial"/>
                <a:sym typeface="Arial"/>
              </a:rPr>
              <a:t>Жалоб на подборку не больше, чем на обычную выдачу</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000000"/>
              </a:buClr>
              <a:buSzPts val="1200"/>
              <a:buFont typeface="Arial"/>
              <a:buNone/>
            </a:pPr>
            <a:r>
              <a:rPr b="0" i="0" lang="en-US" spc="0" sz="1200" u="none" cap="none" strike="noStrike">
                <a:solidFill>
                  <a:srgbClr val="DCCCE8"/>
                </a:solidFill>
                <a:latin typeface="Arial"/>
                <a:ea typeface="Arial"/>
                <a:cs typeface="Arial"/>
                <a:sym typeface="Arial"/>
              </a:rPr>
              <a:t>Продавцы правят карточки по отч</a:t>
            </a:r>
            <a:r>
              <a:rPr lang="en-US" sz="1200">
                <a:solidFill>
                  <a:srgbClr val="DCCCE8"/>
                </a:solidFill>
              </a:rPr>
              <a:t>е</a:t>
            </a:r>
            <a:r>
              <a:rPr b="0" i="0" lang="en-US" spc="0" sz="1200" u="none" cap="none" strike="noStrike">
                <a:solidFill>
                  <a:srgbClr val="DCCCE8"/>
                </a:solidFill>
                <a:latin typeface="Arial"/>
                <a:ea typeface="Arial"/>
                <a:cs typeface="Arial"/>
                <a:sym typeface="Arial"/>
              </a:rPr>
              <a:t>ту</a:t>
            </a:r>
            <a:endParaRPr b="0" i="0" spc="0" sz="1400" u="none" cap="none" strike="noStrike">
              <a:solidFill>
                <a:srgbClr val="000000"/>
              </a:solidFill>
              <a:latin typeface="Arial"/>
              <a:ea typeface="Arial"/>
              <a:cs typeface="Arial"/>
              <a:sym typeface="Arial"/>
            </a:endParaRPr>
          </a:p>
        </p:txBody>
      </p:sp>
      <p:sp>
        <p:nvSpPr>
          <p:cNvPr id="335" name="Google Shape;335;p14"/>
          <p:cNvSpPr/>
          <p:nvPr/>
        </p:nvSpPr>
        <p:spPr>
          <a:xfrm>
            <a:off x="7863840" y="4526615"/>
            <a:ext cx="87000" cy="87000"/>
          </a:xfrm>
          <a:prstGeom prst="diamond">
            <a:avLst/>
          </a:prstGeom>
          <a:solidFill>
            <a:srgbClr val="F27BD8"/>
          </a:solidFill>
          <a:ln>
            <a:noFill/>
          </a:ln>
        </p:spPr>
        <p:txBody>
          <a:bodyPr anchorCtr="0" anchor="ctr" bIns="0" lIns="82275" spcFirstLastPara="1" rIns="82275"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36" name="Google Shape;336;p14"/>
          <p:cNvSpPr txBox="1"/>
          <p:nvPr/>
        </p:nvSpPr>
        <p:spPr>
          <a:xfrm>
            <a:off x="8019288" y="4486134"/>
            <a:ext cx="3779100" cy="160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US" spc="0" sz="1100" u="none" cap="none" strike="noStrike">
                <a:solidFill>
                  <a:srgbClr val="F27BD8"/>
                </a:solidFill>
                <a:latin typeface="Arial"/>
                <a:ea typeface="Arial"/>
                <a:cs typeface="Arial"/>
                <a:sym typeface="Arial"/>
              </a:rPr>
              <a:t>Январь 2028</a:t>
            </a:r>
            <a:endParaRPr b="0" i="0" spc="0" sz="1400" u="none" cap="none" strike="noStrike">
              <a:solidFill>
                <a:srgbClr val="000000"/>
              </a:solidFill>
              <a:latin typeface="Arial"/>
              <a:ea typeface="Arial"/>
              <a:cs typeface="Arial"/>
              <a:sym typeface="Arial"/>
            </a:endParaRPr>
          </a:p>
        </p:txBody>
      </p:sp>
      <p:sp>
        <p:nvSpPr>
          <p:cNvPr id="337" name="Google Shape;337;p14"/>
          <p:cNvSpPr txBox="1"/>
          <p:nvPr/>
        </p:nvSpPr>
        <p:spPr>
          <a:xfrm>
            <a:off x="7863840" y="4710657"/>
            <a:ext cx="3934800" cy="690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pc="0" sz="1200" u="none" cap="none" strike="noStrike">
                <a:solidFill>
                  <a:srgbClr val="DCCCE8"/>
                </a:solidFill>
                <a:latin typeface="Arial"/>
                <a:ea typeface="Arial"/>
                <a:cs typeface="Arial"/>
                <a:sym typeface="Arial"/>
              </a:rPr>
              <a:t>Отч</a:t>
            </a:r>
            <a:r>
              <a:rPr lang="en-US" sz="1200">
                <a:solidFill>
                  <a:srgbClr val="DCCCE8"/>
                </a:solidFill>
              </a:rPr>
              <a:t>е</a:t>
            </a:r>
            <a:r>
              <a:rPr b="0" i="0" lang="en-US" spc="0" sz="1200" u="none" cap="none" strike="noStrike">
                <a:solidFill>
                  <a:srgbClr val="DCCCE8"/>
                </a:solidFill>
                <a:latin typeface="Arial"/>
                <a:ea typeface="Arial"/>
                <a:cs typeface="Arial"/>
                <a:sym typeface="Arial"/>
              </a:rPr>
              <a:t>т открыт всем продавцам</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000000"/>
              </a:buClr>
              <a:buSzPts val="1200"/>
              <a:buFont typeface="Arial"/>
              <a:buNone/>
            </a:pPr>
            <a:r>
              <a:rPr b="0" i="0" lang="en-US" spc="0" sz="1200" u="none" cap="none" strike="noStrike">
                <a:solidFill>
                  <a:srgbClr val="DCCCE8"/>
                </a:solidFill>
                <a:latin typeface="Arial"/>
                <a:ea typeface="Arial"/>
                <a:cs typeface="Arial"/>
                <a:sym typeface="Arial"/>
              </a:rPr>
              <a:t>Предписаний регулятора </a:t>
            </a:r>
            <a:r>
              <a:rPr b="1" i="0" lang="en-US" spc="0" sz="1200" u="none" cap="none" strike="noStrike">
                <a:solidFill>
                  <a:srgbClr val="F3ECF7"/>
                </a:solidFill>
                <a:latin typeface="Arial"/>
                <a:ea typeface="Arial"/>
                <a:cs typeface="Arial"/>
                <a:sym typeface="Arial"/>
              </a:rPr>
              <a:t>нет</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1200"/>
              <a:buFont typeface="Arial"/>
              <a:buNone/>
            </a:pPr>
            <a:r>
              <a:rPr b="0" i="0" lang="en-US" spc="0" sz="1200" u="none" cap="none" strike="noStrike">
                <a:solidFill>
                  <a:srgbClr val="FBF6FD"/>
                </a:solidFill>
                <a:latin typeface="Arial"/>
                <a:ea typeface="Arial"/>
                <a:cs typeface="Arial"/>
                <a:sym typeface="Arial"/>
              </a:rPr>
              <a:t>→ Реклама ид</a:t>
            </a:r>
            <a:r>
              <a:rPr lang="en-US" sz="1200">
                <a:solidFill>
                  <a:srgbClr val="FBF6FD"/>
                </a:solidFill>
              </a:rPr>
              <a:t>е</a:t>
            </a:r>
            <a:r>
              <a:rPr b="0" i="0" lang="en-US" spc="0" sz="1200" u="none" cap="none" strike="noStrike">
                <a:solidFill>
                  <a:srgbClr val="FBF6FD"/>
                </a:solidFill>
                <a:latin typeface="Arial"/>
                <a:ea typeface="Arial"/>
                <a:cs typeface="Arial"/>
                <a:sym typeface="Arial"/>
              </a:rPr>
              <a:t>т во все категории</a:t>
            </a:r>
            <a:endParaRPr b="0" i="0" spc="0" sz="1400" u="none" cap="none" strike="noStrike">
              <a:solidFill>
                <a:srgbClr val="000000"/>
              </a:solidFill>
              <a:latin typeface="Arial"/>
              <a:ea typeface="Arial"/>
              <a:cs typeface="Arial"/>
              <a:sym typeface="Arial"/>
            </a:endParaRPr>
          </a:p>
        </p:txBody>
      </p:sp>
      <p:cxnSp>
        <p:nvCxnSpPr>
          <p:cNvPr id="338" name="Google Shape;338;p14"/>
          <p:cNvCxnSpPr/>
          <p:nvPr/>
        </p:nvCxnSpPr>
        <p:spPr>
          <a:xfrm>
            <a:off x="711403" y="5524805"/>
            <a:ext cx="11087100" cy="0"/>
          </a:xfrm>
          <a:prstGeom prst="straightConnector1">
            <a:avLst/>
          </a:prstGeom>
          <a:noFill/>
          <a:ln cap="flat" cmpd="sng" w="9525">
            <a:solidFill>
              <a:srgbClr val="57376F"/>
            </a:solidFill>
            <a:prstDash val="solid"/>
            <a:round/>
            <a:headEnd len="sm" w="sm" type="none"/>
            <a:tailEnd len="sm" w="sm" type="none"/>
          </a:ln>
        </p:spPr>
      </p:cxnSp>
      <p:sp>
        <p:nvSpPr>
          <p:cNvPr id="339" name="Google Shape;339;p14"/>
          <p:cNvSpPr txBox="1"/>
          <p:nvPr/>
        </p:nvSpPr>
        <p:spPr>
          <a:xfrm>
            <a:off x="711403" y="5613502"/>
            <a:ext cx="11087100" cy="4572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1200"/>
              <a:buFont typeface="Arial"/>
              <a:buNone/>
            </a:pPr>
            <a:r>
              <a:rPr b="1" i="0" lang="en-US" spc="0" sz="1200" u="none" cap="none" strike="noStrike">
                <a:solidFill>
                  <a:srgbClr val="F3ECF7"/>
                </a:solidFill>
                <a:latin typeface="Arial"/>
                <a:ea typeface="Arial"/>
                <a:cs typeface="Arial"/>
                <a:sym typeface="Arial"/>
              </a:rPr>
              <a:t>Как измеряем.</a:t>
            </a:r>
            <a:r>
              <a:rPr b="0" i="0" lang="en-US" spc="0" sz="1200" u="none" cap="none" strike="noStrike">
                <a:solidFill>
                  <a:srgbClr val="F3ECF7"/>
                </a:solidFill>
                <a:latin typeface="Arial"/>
                <a:ea typeface="Arial"/>
                <a:cs typeface="Arial"/>
                <a:sym typeface="Arial"/>
              </a:rPr>
              <a:t> В пилоте GPU-час считаем по цене заказанных GPU с амортизацией, формула в июле и январе одна. Пороги рабочие, окончательные фиксируем после первого месяца пилота и дальше не двигаем.</a:t>
            </a:r>
            <a:endParaRPr b="0" i="0" spc="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A0B45"/>
        </a:solidFill>
      </p:bgPr>
    </p:bg>
    <p:spTree>
      <p:nvGrpSpPr>
        <p:cNvPr id="307" name="Shape 307"/>
        <p:cNvGrpSpPr/>
        <p:nvPr/>
      </p:nvGrpSpPr>
      <p:grpSpPr>
        <a:xfrm>
          <a:off x="0" y="0"/>
          <a:ext cx="0" cy="0"/>
          <a:chOff x="0" y="0"/>
          <a:chExt cx="0" cy="0"/>
        </a:xfrm>
      </p:grpSpPr>
      <p:sp>
        <p:nvSpPr>
          <p:cNvPr id="308" name="Google Shape;308;p14"/>
          <p:cNvSpPr txBox="1"/>
          <p:nvPr>
            <p:ph type="title"/>
          </p:nvPr>
        </p:nvSpPr>
        <p:spPr>
          <a:xfrm>
            <a:off x="711403" y="774497"/>
            <a:ext cx="11087100" cy="736200"/>
          </a:xfrm>
          <a:prstGeom prst="rect">
            <a:avLst/>
          </a:prstGeom>
          <a:noFill/>
          <a:ln>
            <a:noFill/>
          </a:ln>
        </p:spPr>
        <p:txBody>
          <a:bodyPr anchorCtr="0" anchor="t" bIns="0" lIns="0" spcFirstLastPara="1" rIns="0" wrap="square" tIns="0">
            <a:noAutofit/>
          </a:bodyPr>
          <a:lstStyle/>
          <a:p>
            <a:pPr indent="0" lvl="0" marL="0" rtl="0" algn="l">
              <a:lnSpc>
                <a:spcPct val="112000"/>
              </a:lnSpc>
              <a:spcBef>
                <a:spcPts val="0"/>
              </a:spcBef>
              <a:spcAft>
                <a:spcPts val="0"/>
              </a:spcAft>
              <a:buClr>
                <a:srgbClr val="000000"/>
              </a:buClr>
              <a:buSzPts val="2500"/>
              <a:buFont typeface="Arial"/>
              <a:buNone/>
            </a:pPr>
            <a:r>
              <a:rPr b="1" lang="en-US" sz="2300">
                <a:solidFill>
                  <a:srgbClr val="FBF6FD"/>
                </a:solidFill>
                <a:latin typeface="Arial"/>
                <a:ea typeface="Arial"/>
                <a:cs typeface="Arial"/>
                <a:sym typeface="Arial"/>
              </a:rPr>
              <a:t>Три главные слабости нашего решения — мы согласны с коллегой в каждой из них</a:t>
            </a:r>
            <a:endParaRPr/>
          </a:p>
        </p:txBody>
      </p:sp>
      <p:sp>
        <p:nvSpPr>
          <p:cNvPr id="309" name="Google Shape;309;p14"/>
          <p:cNvSpPr txBox="1"/>
          <p:nvPr/>
        </p:nvSpPr>
        <p:spPr>
          <a:xfrm>
            <a:off x="711403" y="405994"/>
            <a:ext cx="6350400" cy="241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00000"/>
              </a:buClr>
              <a:buSzPts val="1200"/>
              <a:buFont typeface="Arial"/>
              <a:buNone/>
            </a:pPr>
            <a:r>
              <a:rPr b="1" lang="en-US" sz="1200">
                <a:solidFill>
                  <a:srgbClr val="F27BD8"/>
                </a:solidFill>
              </a:rPr>
              <a:t>Критика · честный разбор ставки</a:t>
            </a:r>
            <a:r>
              <a:rPr b="1" i="0" lang="en-US" spc="0" sz="1200" u="none" cap="none" strike="noStrike">
                <a:solidFill>
                  <a:srgbClr val="F27BD8"/>
                </a:solidFill>
                <a:latin typeface="Arial"/>
                <a:ea typeface="Arial"/>
                <a:cs typeface="Arial"/>
                <a:sym typeface="Arial"/>
              </a:rPr>
              <a:t/>
            </a:r>
            <a:endParaRPr b="0" i="0" spc="0" sz="1400" u="none" cap="none" strike="noStrike">
              <a:solidFill>
                <a:srgbClr val="000000"/>
              </a:solidFill>
              <a:latin typeface="Arial"/>
              <a:ea typeface="Arial"/>
              <a:cs typeface="Arial"/>
              <a:sym typeface="Arial"/>
            </a:endParaRPr>
          </a:p>
        </p:txBody>
      </p:sp>
      <p:sp>
        <p:nvSpPr>
          <p:cNvPr id="310" name="Google Shape;310;p14"/>
          <p:cNvSpPr txBox="1"/>
          <p:nvPr/>
        </p:nvSpPr>
        <p:spPr>
          <a:xfrm>
            <a:off x="1168603" y="1651406"/>
            <a:ext cx="2743200" cy="2031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1200"/>
              <a:buFont typeface="Arial"/>
              <a:buNone/>
            </a:pPr>
            <a:r>
              <a:rPr b="1" i="0" lang="en-US" spc="0" sz="1200" u="none" cap="none" strike="noStrike">
                <a:solidFill>
                  <a:srgbClr val="F27BD8"/>
                </a:solidFill>
                <a:latin typeface="Arial"/>
                <a:ea typeface="Arial"/>
                <a:cs typeface="Arial"/>
                <a:sym typeface="Arial"/>
              </a:rPr>
              <a:t>Слабость</a:t>
            </a:r>
            <a:endParaRPr b="0" i="0" spc="0" sz="1400" u="none" cap="none" strike="noStrike">
              <a:solidFill>
                <a:srgbClr val="000000"/>
              </a:solidFill>
              <a:latin typeface="Arial"/>
              <a:ea typeface="Arial"/>
              <a:cs typeface="Arial"/>
              <a:sym typeface="Arial"/>
            </a:endParaRPr>
          </a:p>
        </p:txBody>
      </p:sp>
      <p:sp>
        <p:nvSpPr>
          <p:cNvPr id="311" name="Google Shape;311;p14"/>
          <p:cNvSpPr txBox="1"/>
          <p:nvPr/>
        </p:nvSpPr>
        <p:spPr>
          <a:xfrm>
            <a:off x="4206240" y="1651406"/>
            <a:ext cx="3337500" cy="2031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1200"/>
              <a:buFont typeface="Arial"/>
              <a:buNone/>
            </a:pPr>
            <a:r>
              <a:rPr b="1" i="0" lang="en-US" spc="0" sz="1200" u="none" cap="none" strike="noStrike">
                <a:solidFill>
                  <a:srgbClr val="F27BD8"/>
                </a:solidFill>
                <a:latin typeface="Arial"/>
                <a:ea typeface="Arial"/>
                <a:cs typeface="Arial"/>
                <a:sym typeface="Arial"/>
              </a:rPr>
              <a:t>В чём она по нашему же плану</a:t>
            </a:r>
            <a:endParaRPr b="0" i="0" spc="0" sz="1400" u="none" cap="none" strike="noStrike">
              <a:solidFill>
                <a:srgbClr val="000000"/>
              </a:solidFill>
              <a:latin typeface="Arial"/>
              <a:ea typeface="Arial"/>
              <a:cs typeface="Arial"/>
              <a:sym typeface="Arial"/>
            </a:endParaRPr>
          </a:p>
        </p:txBody>
      </p:sp>
      <p:sp>
        <p:nvSpPr>
          <p:cNvPr id="312" name="Google Shape;312;p14"/>
          <p:cNvSpPr txBox="1"/>
          <p:nvPr/>
        </p:nvSpPr>
        <p:spPr>
          <a:xfrm>
            <a:off x="7863840" y="1651406"/>
            <a:ext cx="3934800" cy="2031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1200"/>
              <a:buFont typeface="Arial"/>
              <a:buNone/>
            </a:pPr>
            <a:r>
              <a:rPr b="1" i="0" lang="en-US" spc="0" sz="1200" u="none" cap="none" strike="noStrike">
                <a:solidFill>
                  <a:srgbClr val="F27BD8"/>
                </a:solidFill>
                <a:latin typeface="Arial"/>
                <a:ea typeface="Arial"/>
                <a:cs typeface="Arial"/>
                <a:sym typeface="Arial"/>
              </a:rPr>
              <a:t>Что это значит</a:t>
            </a:r>
            <a:endParaRPr b="0" i="0" spc="0" sz="1400" u="none" cap="none" strike="noStrike">
              <a:solidFill>
                <a:srgbClr val="000000"/>
              </a:solidFill>
              <a:latin typeface="Arial"/>
              <a:ea typeface="Arial"/>
              <a:cs typeface="Arial"/>
              <a:sym typeface="Arial"/>
            </a:endParaRPr>
          </a:p>
        </p:txBody>
      </p:sp>
      <p:cxnSp>
        <p:nvCxnSpPr>
          <p:cNvPr id="313" name="Google Shape;313;p14"/>
          <p:cNvCxnSpPr/>
          <p:nvPr/>
        </p:nvCxnSpPr>
        <p:spPr>
          <a:xfrm>
            <a:off x="711403" y="1917497"/>
            <a:ext cx="11087100" cy="0"/>
          </a:xfrm>
          <a:prstGeom prst="straightConnector1">
            <a:avLst/>
          </a:prstGeom>
          <a:noFill/>
          <a:ln cap="flat" cmpd="sng" w="19050">
            <a:solidFill>
              <a:srgbClr val="F27BD8"/>
            </a:solidFill>
            <a:prstDash val="solid"/>
            <a:round/>
            <a:headEnd len="sm" w="sm" type="none"/>
            <a:tailEnd len="sm" w="sm" type="none"/>
          </a:ln>
        </p:spPr>
      </p:cxnSp>
      <p:sp>
        <p:nvSpPr>
          <p:cNvPr id="314" name="Google Shape;314;p14"/>
          <p:cNvSpPr txBox="1"/>
          <p:nvPr/>
        </p:nvSpPr>
        <p:spPr>
          <a:xfrm>
            <a:off x="711403" y="1998204"/>
            <a:ext cx="381300" cy="304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1" i="0" lang="en-US" spc="0" sz="1800" u="none" cap="none" strike="noStrike">
                <a:solidFill>
                  <a:srgbClr val="F27BD8"/>
                </a:solidFill>
                <a:latin typeface="Arial"/>
                <a:ea typeface="Arial"/>
                <a:cs typeface="Arial"/>
                <a:sym typeface="Arial"/>
              </a:rPr>
              <a:t>01</a:t>
            </a:r>
            <a:endParaRPr b="0" i="0" spc="0" sz="1400" u="none" cap="none" strike="noStrike">
              <a:solidFill>
                <a:srgbClr val="000000"/>
              </a:solidFill>
              <a:latin typeface="Arial"/>
              <a:ea typeface="Arial"/>
              <a:cs typeface="Arial"/>
              <a:sym typeface="Arial"/>
            </a:endParaRPr>
          </a:p>
        </p:txBody>
      </p:sp>
      <p:sp>
        <p:nvSpPr>
          <p:cNvPr id="315" name="Google Shape;315;p14"/>
          <p:cNvSpPr txBox="1"/>
          <p:nvPr/>
        </p:nvSpPr>
        <p:spPr>
          <a:xfrm>
            <a:off x="1168603" y="2022892"/>
            <a:ext cx="2743200" cy="2088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1300"/>
              <a:buFont typeface="Arial"/>
              <a:buNone/>
            </a:pPr>
            <a:r>
              <a:rPr b="1" i="0" lang="en-US" spc="0" sz="1300" u="none" cap="none" strike="noStrike">
                <a:solidFill>
                  <a:srgbClr val="FBF6FD"/>
                </a:solidFill>
                <a:latin typeface="Arial"/>
                <a:ea typeface="Arial"/>
                <a:cs typeface="Arial"/>
                <a:sym typeface="Arial"/>
              </a:rPr>
              <a:t>Пилот не измеряет ни реальный продукт, ни реальную экономику</a:t>
            </a:r>
            <a:endParaRPr b="0" i="0" spc="0" sz="1400" u="none" cap="none" strike="noStrike">
              <a:solidFill>
                <a:srgbClr val="000000"/>
              </a:solidFill>
              <a:latin typeface="Arial"/>
              <a:ea typeface="Arial"/>
              <a:cs typeface="Arial"/>
              <a:sym typeface="Arial"/>
            </a:endParaRPr>
          </a:p>
        </p:txBody>
      </p:sp>
      <p:sp>
        <p:nvSpPr>
          <p:cNvPr id="316" name="Google Shape;316;p14"/>
          <p:cNvSpPr txBox="1"/>
          <p:nvPr/>
        </p:nvSpPr>
        <p:spPr>
          <a:xfrm>
            <a:off x="4206240" y="2022892"/>
            <a:ext cx="3337500" cy="763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pc="0" sz="1200" u="none" cap="none" strike="noStrike">
                <a:solidFill>
                  <a:srgbClr val="DCCCE8"/>
                </a:solidFill>
                <a:latin typeface="Arial"/>
                <a:ea typeface="Arial"/>
                <a:cs typeface="Arial"/>
                <a:sym typeface="Arial"/>
              </a:rPr>
              <a:t>В пилоте нет рекламы, своих GPU и обуви — самой возвратной категории</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000000"/>
              </a:buClr>
              <a:buSzPts val="1200"/>
              <a:buFont typeface="Arial"/>
              <a:buNone/>
            </a:pPr>
            <a:r>
              <a:rPr b="0" i="0" lang="en-US" spc="0" sz="1200" u="none" cap="none" strike="noStrike">
                <a:solidFill>
                  <a:srgbClr val="DCCCE8"/>
                </a:solidFill>
                <a:latin typeface="Arial"/>
                <a:ea typeface="Arial"/>
                <a:cs typeface="Arial"/>
                <a:sym typeface="Arial"/>
              </a:rPr>
              <a:t>К июльской развилке не измерено три опоры ставки, а она уже открывает все категории</a:t>
            </a:r>
            <a:endParaRPr b="0" i="0" spc="0" sz="1400" u="none" cap="none" strike="noStrike">
              <a:solidFill>
                <a:srgbClr val="000000"/>
              </a:solidFill>
              <a:latin typeface="Arial"/>
              <a:ea typeface="Arial"/>
              <a:cs typeface="Arial"/>
              <a:sym typeface="Arial"/>
            </a:endParaRPr>
          </a:p>
        </p:txBody>
      </p:sp>
      <p:sp>
        <p:nvSpPr>
          <p:cNvPr id="317" name="Google Shape;317;p14"/>
          <p:cNvSpPr/>
          <p:nvPr/>
        </p:nvSpPr>
        <p:spPr>
          <a:xfrm>
            <a:off x="7863840" y="2063374"/>
            <a:ext cx="87000" cy="87000"/>
          </a:xfrm>
          <a:prstGeom prst="diamond">
            <a:avLst/>
          </a:prstGeom>
          <a:solidFill>
            <a:srgbClr val="F27BD8"/>
          </a:solidFill>
          <a:ln>
            <a:noFill/>
          </a:ln>
        </p:spPr>
        <p:txBody>
          <a:bodyPr anchorCtr="0" anchor="ctr" bIns="0" lIns="82275" spcFirstLastPara="1" rIns="82275"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18" name="Google Shape;318;p14"/>
          <p:cNvSpPr txBox="1"/>
          <p:nvPr/>
        </p:nvSpPr>
        <p:spPr>
          <a:xfrm>
            <a:off x="8019288" y="2022892"/>
            <a:ext cx="3779100" cy="160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US" spc="0" sz="1100" u="none" cap="none" strike="noStrike">
                <a:solidFill>
                  <a:srgbClr val="F27BD8"/>
                </a:solidFill>
                <a:latin typeface="Arial"/>
                <a:ea typeface="Arial"/>
                <a:cs typeface="Arial"/>
                <a:sym typeface="Arial"/>
              </a:rPr>
              <a:t>Июль 2027</a:t>
            </a:r>
            <a:endParaRPr b="0" i="0" spc="0" sz="1400" u="none" cap="none" strike="noStrike">
              <a:solidFill>
                <a:srgbClr val="000000"/>
              </a:solidFill>
              <a:latin typeface="Arial"/>
              <a:ea typeface="Arial"/>
              <a:cs typeface="Arial"/>
              <a:sym typeface="Arial"/>
            </a:endParaRPr>
          </a:p>
        </p:txBody>
      </p:sp>
      <p:sp>
        <p:nvSpPr>
          <p:cNvPr id="319" name="Google Shape;319;p14"/>
          <p:cNvSpPr txBox="1"/>
          <p:nvPr/>
        </p:nvSpPr>
        <p:spPr>
          <a:xfrm>
            <a:off x="7863840" y="2247416"/>
            <a:ext cx="3934800" cy="865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pc="0" sz="1200" u="none" cap="none" strike="noStrike">
                <a:solidFill>
                  <a:srgbClr val="DCCCE8"/>
                </a:solidFill>
                <a:latin typeface="Arial"/>
                <a:ea typeface="Arial"/>
                <a:cs typeface="Arial"/>
                <a:sym typeface="Arial"/>
              </a:rPr>
              <a:t>Реклама и обувь приходят только после развилки</a:t>
            </a:r>
            <a:r>
              <a:rPr b="1" i="0" lang="en-US" spc="0" sz="1200" u="none" cap="none" strike="noStrike">
                <a:solidFill>
                  <a:srgbClr val="F3ECF7"/>
                </a:solidFill>
                <a:latin typeface="Arial"/>
                <a:ea typeface="Arial"/>
                <a:cs typeface="Arial"/>
                <a:sym typeface="Arial"/>
              </a:rPr>
              <a:t/>
            </a:r>
            <a:r>
              <a:rPr b="0" i="0" lang="en-US" spc="0" sz="1200" u="none" cap="none" strike="noStrike">
                <a:solidFill>
                  <a:srgbClr val="DCCCE8"/>
                </a:solidFill>
                <a:latin typeface="Arial"/>
                <a:ea typeface="Arial"/>
                <a:cs typeface="Arial"/>
                <a:sym typeface="Arial"/>
              </a:rPr>
              <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000000"/>
              </a:buClr>
              <a:buSzPts val="1200"/>
              <a:buFont typeface="Arial"/>
              <a:buNone/>
            </a:pPr>
            <a:r>
              <a:rPr b="0" i="0" lang="en-US" spc="0" sz="1200" u="none" cap="none" strike="noStrike">
                <a:solidFill>
                  <a:srgbClr val="DCCCE8"/>
                </a:solidFill>
                <a:latin typeface="Arial"/>
                <a:ea typeface="Arial"/>
                <a:cs typeface="Arial"/>
                <a:sym typeface="Arial"/>
              </a:rPr>
              <a:t>Свои GPU в пилоте отсутствуют, ввод к распродаже</a:t>
            </a:r>
            <a:r>
              <a:rPr b="1" i="0" lang="en-US" spc="0" sz="1200" u="none" cap="none" strike="noStrike">
                <a:solidFill>
                  <a:srgbClr val="F3ECF7"/>
                </a:solidFill>
                <a:latin typeface="Arial"/>
                <a:ea typeface="Arial"/>
                <a:cs typeface="Arial"/>
                <a:sym typeface="Arial"/>
              </a:rPr>
              <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1200"/>
              <a:buFont typeface="Arial"/>
              <a:buNone/>
            </a:pPr>
            <a:r>
              <a:rPr b="0" i="0" lang="en-US" spc="0" sz="1200" u="none" cap="none" strike="noStrike">
                <a:solidFill>
                  <a:srgbClr val="FBF6FD"/>
                </a:solidFill>
                <a:latin typeface="Arial"/>
                <a:ea typeface="Arial"/>
                <a:cs typeface="Arial"/>
                <a:sym typeface="Arial"/>
              </a:rPr>
              <a:t>→ Признаём: масштаб решается по неполным данным</a:t>
            </a:r>
            <a:endParaRPr b="0" i="0" spc="0" sz="1400" u="none" cap="none" strike="noStrike">
              <a:solidFill>
                <a:srgbClr val="000000"/>
              </a:solidFill>
              <a:latin typeface="Arial"/>
              <a:ea typeface="Arial"/>
              <a:cs typeface="Arial"/>
              <a:sym typeface="Arial"/>
            </a:endParaRPr>
          </a:p>
        </p:txBody>
      </p:sp>
      <p:cxnSp>
        <p:nvCxnSpPr>
          <p:cNvPr id="320" name="Google Shape;320;p14"/>
          <p:cNvCxnSpPr/>
          <p:nvPr/>
        </p:nvCxnSpPr>
        <p:spPr>
          <a:xfrm>
            <a:off x="711403" y="3236671"/>
            <a:ext cx="11087100" cy="0"/>
          </a:xfrm>
          <a:prstGeom prst="straightConnector1">
            <a:avLst/>
          </a:prstGeom>
          <a:noFill/>
          <a:ln cap="flat" cmpd="sng" w="9525">
            <a:solidFill>
              <a:srgbClr val="57376F"/>
            </a:solidFill>
            <a:prstDash val="solid"/>
            <a:round/>
            <a:headEnd len="sm" w="sm" type="none"/>
            <a:tailEnd len="sm" w="sm" type="none"/>
          </a:ln>
        </p:spPr>
      </p:cxnSp>
      <p:sp>
        <p:nvSpPr>
          <p:cNvPr id="321" name="Google Shape;321;p14"/>
          <p:cNvSpPr txBox="1"/>
          <p:nvPr/>
        </p:nvSpPr>
        <p:spPr>
          <a:xfrm>
            <a:off x="711403" y="3317378"/>
            <a:ext cx="381300" cy="304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1" i="0" lang="en-US" spc="0" sz="1800" u="none" cap="none" strike="noStrike">
                <a:solidFill>
                  <a:srgbClr val="F27BD8"/>
                </a:solidFill>
                <a:latin typeface="Arial"/>
                <a:ea typeface="Arial"/>
                <a:cs typeface="Arial"/>
                <a:sym typeface="Arial"/>
              </a:rPr>
              <a:t>02</a:t>
            </a:r>
            <a:endParaRPr b="0" i="0" spc="0" sz="1400" u="none" cap="none" strike="noStrike">
              <a:solidFill>
                <a:srgbClr val="000000"/>
              </a:solidFill>
              <a:latin typeface="Arial"/>
              <a:ea typeface="Arial"/>
              <a:cs typeface="Arial"/>
              <a:sym typeface="Arial"/>
            </a:endParaRPr>
          </a:p>
        </p:txBody>
      </p:sp>
      <p:sp>
        <p:nvSpPr>
          <p:cNvPr id="322" name="Google Shape;322;p14"/>
          <p:cNvSpPr txBox="1"/>
          <p:nvPr/>
        </p:nvSpPr>
        <p:spPr>
          <a:xfrm>
            <a:off x="1168603" y="3342067"/>
            <a:ext cx="2743200" cy="2088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1300"/>
              <a:buFont typeface="Arial"/>
              <a:buNone/>
            </a:pPr>
            <a:r>
              <a:rPr b="1" i="0" lang="en-US" spc="0" sz="1300" u="none" cap="none" strike="noStrike">
                <a:solidFill>
                  <a:srgbClr val="FBF6FD"/>
                </a:solidFill>
                <a:latin typeface="Arial"/>
                <a:ea typeface="Arial"/>
                <a:cs typeface="Arial"/>
                <a:sym typeface="Arial"/>
              </a:rPr>
              <a:t>Монетизация зависит от условия вне нашего контроля</a:t>
            </a:r>
            <a:endParaRPr b="0" i="0" spc="0" sz="1400" u="none" cap="none" strike="noStrike">
              <a:solidFill>
                <a:srgbClr val="000000"/>
              </a:solidFill>
              <a:latin typeface="Arial"/>
              <a:ea typeface="Arial"/>
              <a:cs typeface="Arial"/>
              <a:sym typeface="Arial"/>
            </a:endParaRPr>
          </a:p>
        </p:txBody>
      </p:sp>
      <p:sp>
        <p:nvSpPr>
          <p:cNvPr id="323" name="Google Shape;323;p14"/>
          <p:cNvSpPr txBox="1"/>
          <p:nvPr/>
        </p:nvSpPr>
        <p:spPr>
          <a:xfrm>
            <a:off x="1168603" y="3642177"/>
            <a:ext cx="2926200" cy="14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pc="0" sz="1000" u="none" cap="none" strike="noStrike">
                <a:solidFill>
                  <a:srgbClr val="DCCCE8"/>
                </a:solidFill>
                <a:latin typeface="Arial"/>
                <a:ea typeface="Arial"/>
                <a:cs typeface="Arial"/>
                <a:sym typeface="Arial"/>
              </a:rPr>
              <a:t>«Предписаний регулятора нет» — внешнее событие</a:t>
            </a:r>
            <a:endParaRPr b="0" i="0" spc="0" sz="1400" u="none" cap="none" strike="noStrike">
              <a:solidFill>
                <a:srgbClr val="000000"/>
              </a:solidFill>
              <a:latin typeface="Arial"/>
              <a:ea typeface="Arial"/>
              <a:cs typeface="Arial"/>
              <a:sym typeface="Arial"/>
            </a:endParaRPr>
          </a:p>
        </p:txBody>
      </p:sp>
      <p:sp>
        <p:nvSpPr>
          <p:cNvPr id="324" name="Google Shape;324;p14"/>
          <p:cNvSpPr txBox="1"/>
          <p:nvPr/>
        </p:nvSpPr>
        <p:spPr>
          <a:xfrm>
            <a:off x="1168603" y="3797244"/>
            <a:ext cx="2926200" cy="14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pc="0" sz="1000" u="none" cap="none" strike="noStrike">
                <a:solidFill>
                  <a:srgbClr val="F3ECF7"/>
                </a:solidFill>
                <a:latin typeface="Arial"/>
                <a:ea typeface="Arial"/>
                <a:cs typeface="Arial"/>
                <a:sym typeface="Arial"/>
              </a:rPr>
              <a:t>Поправки вступают в силу 1 марта 2027, в середине пилота</a:t>
            </a:r>
            <a:endParaRPr b="0" i="0" spc="0" sz="1400" u="none" cap="none" strike="noStrike">
              <a:solidFill>
                <a:srgbClr val="000000"/>
              </a:solidFill>
              <a:latin typeface="Arial"/>
              <a:ea typeface="Arial"/>
              <a:cs typeface="Arial"/>
              <a:sym typeface="Arial"/>
            </a:endParaRPr>
          </a:p>
        </p:txBody>
      </p:sp>
      <p:cxnSp>
        <p:nvCxnSpPr>
          <p:cNvPr id="325" name="Google Shape;325;p14"/>
          <p:cNvCxnSpPr/>
          <p:nvPr/>
        </p:nvCxnSpPr>
        <p:spPr>
          <a:xfrm>
            <a:off x="1168603" y="3999859"/>
            <a:ext cx="2634600" cy="0"/>
          </a:xfrm>
          <a:prstGeom prst="straightConnector1">
            <a:avLst/>
          </a:prstGeom>
          <a:noFill/>
          <a:ln cap="flat" cmpd="sng" w="9525">
            <a:solidFill>
              <a:srgbClr val="DCCCE8"/>
            </a:solidFill>
            <a:prstDash val="solid"/>
            <a:round/>
            <a:headEnd len="sm" w="sm" type="none"/>
            <a:tailEnd len="sm" w="sm" type="none"/>
          </a:ln>
        </p:spPr>
      </p:cxnSp>
      <p:sp>
        <p:nvSpPr>
          <p:cNvPr id="326" name="Google Shape;326;p14"/>
          <p:cNvSpPr txBox="1"/>
          <p:nvPr/>
        </p:nvSpPr>
        <p:spPr>
          <a:xfrm>
            <a:off x="1168603" y="4018147"/>
            <a:ext cx="2926200" cy="14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pc="0" sz="1000" u="none" cap="none" strike="noStrike">
                <a:solidFill>
                  <a:srgbClr val="F3ECF7"/>
                </a:solidFill>
                <a:latin typeface="Arial"/>
                <a:ea typeface="Arial"/>
                <a:cs typeface="Arial"/>
                <a:sym typeface="Arial"/>
              </a:rPr>
              <a:t>Рассрочка WB Банка — банк под санкциями ЕС</a:t>
            </a:r>
            <a:endParaRPr b="0" i="0" spc="0" sz="1400" u="none" cap="none" strike="noStrike">
              <a:solidFill>
                <a:srgbClr val="000000"/>
              </a:solidFill>
              <a:latin typeface="Arial"/>
              <a:ea typeface="Arial"/>
              <a:cs typeface="Arial"/>
              <a:sym typeface="Arial"/>
            </a:endParaRPr>
          </a:p>
        </p:txBody>
      </p:sp>
      <p:sp>
        <p:nvSpPr>
          <p:cNvPr id="327" name="Google Shape;327;p14"/>
          <p:cNvSpPr txBox="1"/>
          <p:nvPr/>
        </p:nvSpPr>
        <p:spPr>
          <a:xfrm>
            <a:off x="4206240" y="3342067"/>
            <a:ext cx="3337500" cy="588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pc="0" sz="1200" u="none" cap="none" strike="noStrike">
                <a:solidFill>
                  <a:srgbClr val="DCCCE8"/>
                </a:solidFill>
                <a:latin typeface="Arial"/>
                <a:ea typeface="Arial"/>
                <a:cs typeface="Arial"/>
                <a:sym typeface="Arial"/>
              </a:rPr>
              <a:t>Второй источник нового дохода опирается на институт под ограничениями</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000000"/>
              </a:buClr>
              <a:buSzPts val="1200"/>
              <a:buFont typeface="Arial"/>
              <a:buNone/>
            </a:pPr>
            <a:r>
              <a:rPr b="0" i="0" lang="en-US" spc="0" sz="1200" u="none" cap="none" strike="noStrike">
                <a:solidFill>
                  <a:srgbClr val="DCCCE8"/>
                </a:solidFill>
                <a:latin typeface="Arial"/>
                <a:ea typeface="Arial"/>
                <a:cs typeface="Arial"/>
                <a:sym typeface="Arial"/>
              </a:rPr>
              <a:t>Условие 03 не сигнал и не метрика — оно не в нашей власти</a:t>
            </a:r>
            <a:r>
              <a:rPr lang="en-US" sz="1200">
                <a:solidFill>
                  <a:srgbClr val="DCCCE8"/>
                </a:solidFill>
              </a:rPr>
              <a:t/>
            </a:r>
            <a:r>
              <a:rPr b="0" i="0" lang="en-US" spc="0" sz="1200" u="none" cap="none" strike="noStrike">
                <a:solidFill>
                  <a:srgbClr val="DCCCE8"/>
                </a:solidFill>
                <a:latin typeface="Arial"/>
                <a:ea typeface="Arial"/>
                <a:cs typeface="Arial"/>
                <a:sym typeface="Arial"/>
              </a:rPr>
              <a:t/>
            </a:r>
            <a:endParaRPr b="0" i="0" spc="0" sz="1400" u="none" cap="none" strike="noStrike">
              <a:solidFill>
                <a:srgbClr val="000000"/>
              </a:solidFill>
              <a:latin typeface="Arial"/>
              <a:ea typeface="Arial"/>
              <a:cs typeface="Arial"/>
              <a:sym typeface="Arial"/>
            </a:endParaRPr>
          </a:p>
        </p:txBody>
      </p:sp>
      <p:sp>
        <p:nvSpPr>
          <p:cNvPr id="328" name="Google Shape;328;p14"/>
          <p:cNvSpPr/>
          <p:nvPr/>
        </p:nvSpPr>
        <p:spPr>
          <a:xfrm>
            <a:off x="7863840" y="3382548"/>
            <a:ext cx="87000" cy="87000"/>
          </a:xfrm>
          <a:prstGeom prst="diamond">
            <a:avLst/>
          </a:prstGeom>
          <a:solidFill>
            <a:srgbClr val="F27BD8"/>
          </a:solidFill>
          <a:ln>
            <a:noFill/>
          </a:ln>
        </p:spPr>
        <p:txBody>
          <a:bodyPr anchorCtr="0" anchor="ctr" bIns="0" lIns="82275" spcFirstLastPara="1" rIns="82275"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29" name="Google Shape;329;p14"/>
          <p:cNvSpPr txBox="1"/>
          <p:nvPr/>
        </p:nvSpPr>
        <p:spPr>
          <a:xfrm>
            <a:off x="8019288" y="3342067"/>
            <a:ext cx="3779100" cy="160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US" spc="0" sz="1100" u="none" cap="none" strike="noStrike">
                <a:solidFill>
                  <a:srgbClr val="F27BD8"/>
                </a:solidFill>
                <a:latin typeface="Arial"/>
                <a:ea typeface="Arial"/>
                <a:cs typeface="Arial"/>
                <a:sym typeface="Arial"/>
              </a:rPr>
              <a:t>Январь 2028</a:t>
            </a:r>
            <a:endParaRPr b="0" i="0" spc="0" sz="1400" u="none" cap="none" strike="noStrike">
              <a:solidFill>
                <a:srgbClr val="000000"/>
              </a:solidFill>
              <a:latin typeface="Arial"/>
              <a:ea typeface="Arial"/>
              <a:cs typeface="Arial"/>
              <a:sym typeface="Arial"/>
            </a:endParaRPr>
          </a:p>
        </p:txBody>
      </p:sp>
      <p:sp>
        <p:nvSpPr>
          <p:cNvPr id="330" name="Google Shape;330;p14"/>
          <p:cNvSpPr txBox="1"/>
          <p:nvPr/>
        </p:nvSpPr>
        <p:spPr>
          <a:xfrm>
            <a:off x="7863840" y="3566590"/>
            <a:ext cx="3934800" cy="690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pc="0" sz="1200" u="none" cap="none" strike="noStrike">
                <a:solidFill>
                  <a:srgbClr val="DCCCE8"/>
                </a:solidFill>
                <a:latin typeface="Arial"/>
                <a:ea typeface="Arial"/>
                <a:cs typeface="Arial"/>
                <a:sym typeface="Arial"/>
              </a:rPr>
              <a:t>Ставка обязана окупаться без рекламы</a:t>
            </a:r>
            <a:r>
              <a:rPr b="1" i="0" lang="en-US" spc="0" sz="1200" u="none" cap="none" strike="noStrike">
                <a:solidFill>
                  <a:srgbClr val="F3ECF7"/>
                </a:solidFill>
                <a:latin typeface="Arial"/>
                <a:ea typeface="Arial"/>
                <a:cs typeface="Arial"/>
                <a:sym typeface="Arial"/>
              </a:rPr>
              <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000000"/>
              </a:buClr>
              <a:buSzPts val="1200"/>
              <a:buFont typeface="Arial"/>
              <a:buNone/>
            </a:pPr>
            <a:r>
              <a:rPr b="0" i="0" lang="en-US" spc="0" sz="1200" u="none" cap="none" strike="noStrike">
                <a:solidFill>
                  <a:srgbClr val="DCCCE8"/>
                </a:solidFill>
                <a:latin typeface="Arial"/>
                <a:ea typeface="Arial"/>
                <a:cs typeface="Arial"/>
                <a:sym typeface="Arial"/>
              </a:rPr>
              <a:t>При предписании — полная выдача рядом с ответом</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1200"/>
              <a:buFont typeface="Arial"/>
              <a:buNone/>
            </a:pPr>
            <a:r>
              <a:rPr b="0" i="0" lang="en-US" spc="0" sz="1200" u="none" cap="none" strike="noStrike">
                <a:solidFill>
                  <a:srgbClr val="FBF6FD"/>
                </a:solidFill>
                <a:latin typeface="Arial"/>
                <a:ea typeface="Arial"/>
                <a:cs typeface="Arial"/>
                <a:sym typeface="Arial"/>
              </a:rPr>
              <a:t>→ Признаём: регулятор может остановить монетизацию</a:t>
            </a:r>
            <a:endParaRPr b="0" i="0" spc="0" sz="1400" u="none" cap="none" strike="noStrike">
              <a:solidFill>
                <a:srgbClr val="000000"/>
              </a:solidFill>
              <a:latin typeface="Arial"/>
              <a:ea typeface="Arial"/>
              <a:cs typeface="Arial"/>
              <a:sym typeface="Arial"/>
            </a:endParaRPr>
          </a:p>
        </p:txBody>
      </p:sp>
      <p:cxnSp>
        <p:nvCxnSpPr>
          <p:cNvPr id="331" name="Google Shape;331;p14"/>
          <p:cNvCxnSpPr/>
          <p:nvPr/>
        </p:nvCxnSpPr>
        <p:spPr>
          <a:xfrm>
            <a:off x="711403" y="4380738"/>
            <a:ext cx="11087100" cy="0"/>
          </a:xfrm>
          <a:prstGeom prst="straightConnector1">
            <a:avLst/>
          </a:prstGeom>
          <a:noFill/>
          <a:ln cap="flat" cmpd="sng" w="9525">
            <a:solidFill>
              <a:srgbClr val="57376F"/>
            </a:solidFill>
            <a:prstDash val="solid"/>
            <a:round/>
            <a:headEnd len="sm" w="sm" type="none"/>
            <a:tailEnd len="sm" w="sm" type="none"/>
          </a:ln>
        </p:spPr>
      </p:cxnSp>
      <p:sp>
        <p:nvSpPr>
          <p:cNvPr id="332" name="Google Shape;332;p14"/>
          <p:cNvSpPr txBox="1"/>
          <p:nvPr/>
        </p:nvSpPr>
        <p:spPr>
          <a:xfrm>
            <a:off x="711403" y="4461445"/>
            <a:ext cx="381300" cy="304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1" i="0" lang="en-US" spc="0" sz="1800" u="none" cap="none" strike="noStrike">
                <a:solidFill>
                  <a:srgbClr val="F27BD8"/>
                </a:solidFill>
                <a:latin typeface="Arial"/>
                <a:ea typeface="Arial"/>
                <a:cs typeface="Arial"/>
                <a:sym typeface="Arial"/>
              </a:rPr>
              <a:t>03</a:t>
            </a:r>
            <a:endParaRPr b="0" i="0" spc="0" sz="1400" u="none" cap="none" strike="noStrike">
              <a:solidFill>
                <a:srgbClr val="000000"/>
              </a:solidFill>
              <a:latin typeface="Arial"/>
              <a:ea typeface="Arial"/>
              <a:cs typeface="Arial"/>
              <a:sym typeface="Arial"/>
            </a:endParaRPr>
          </a:p>
        </p:txBody>
      </p:sp>
      <p:sp>
        <p:nvSpPr>
          <p:cNvPr id="333" name="Google Shape;333;p14"/>
          <p:cNvSpPr txBox="1"/>
          <p:nvPr/>
        </p:nvSpPr>
        <p:spPr>
          <a:xfrm>
            <a:off x="1168603" y="4486134"/>
            <a:ext cx="2743200" cy="4173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1300"/>
              <a:buFont typeface="Arial"/>
              <a:buNone/>
            </a:pPr>
            <a:r>
              <a:rPr b="1" i="0" lang="en-US" spc="0" sz="1300" u="none" cap="none" strike="noStrike">
                <a:solidFill>
                  <a:srgbClr val="FBF6FD"/>
                </a:solidFill>
                <a:latin typeface="Arial"/>
                <a:ea typeface="Arial"/>
                <a:cs typeface="Arial"/>
                <a:sym typeface="Arial"/>
              </a:rPr>
              <a:t>Ставка жертвует тремя опорами лидерства</a:t>
            </a:r>
            <a:endParaRPr b="0" i="0" spc="0" sz="1400" u="none" cap="none" strike="noStrike">
              <a:solidFill>
                <a:srgbClr val="000000"/>
              </a:solidFill>
              <a:latin typeface="Arial"/>
              <a:ea typeface="Arial"/>
              <a:cs typeface="Arial"/>
              <a:sym typeface="Arial"/>
            </a:endParaRPr>
          </a:p>
        </p:txBody>
      </p:sp>
      <p:sp>
        <p:nvSpPr>
          <p:cNvPr id="334" name="Google Shape;334;p14"/>
          <p:cNvSpPr txBox="1"/>
          <p:nvPr/>
        </p:nvSpPr>
        <p:spPr>
          <a:xfrm>
            <a:off x="4206240" y="4486134"/>
            <a:ext cx="3337500" cy="588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pc="0" sz="1200" u="none" cap="none" strike="noStrike">
                <a:solidFill>
                  <a:srgbClr val="DCCCE8"/>
                </a:solidFill>
                <a:latin typeface="Arial"/>
                <a:ea typeface="Arial"/>
                <a:cs typeface="Arial"/>
                <a:sym typeface="Arial"/>
              </a:rPr>
              <a:t>Срочные покупки уходят Лавке, Самокату и Ozon при разрыве роста +25% / +42%</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000000"/>
              </a:buClr>
              <a:buSzPts val="1200"/>
              <a:buFont typeface="Arial"/>
              <a:buNone/>
            </a:pPr>
            <a:r>
              <a:rPr b="0" i="0" lang="en-US" spc="0" sz="1200" u="none" cap="none" strike="noStrike">
                <a:solidFill>
                  <a:srgbClr val="DCCCE8"/>
                </a:solidFill>
                <a:latin typeface="Arial"/>
                <a:ea typeface="Arial"/>
                <a:cs typeface="Arial"/>
                <a:sym typeface="Arial"/>
              </a:rPr>
              <a:t>Валовой GMV — главная публичная цифра — замедлится, мелкие продавцы теряют показы при 289-ФЗ</a:t>
            </a:r>
            <a:r>
              <a:rPr lang="en-US" sz="1200">
                <a:solidFill>
                  <a:srgbClr val="DCCCE8"/>
                </a:solidFill>
              </a:rPr>
              <a:t/>
            </a:r>
            <a:r>
              <a:rPr b="0" i="0" lang="en-US" spc="0" sz="1200" u="none" cap="none" strike="noStrike">
                <a:solidFill>
                  <a:srgbClr val="DCCCE8"/>
                </a:solidFill>
                <a:latin typeface="Arial"/>
                <a:ea typeface="Arial"/>
                <a:cs typeface="Arial"/>
                <a:sym typeface="Arial"/>
              </a:rPr>
              <a:t/>
            </a:r>
            <a:endParaRPr b="0" i="0" spc="0" sz="1400" u="none" cap="none" strike="noStrike">
              <a:solidFill>
                <a:srgbClr val="000000"/>
              </a:solidFill>
              <a:latin typeface="Arial"/>
              <a:ea typeface="Arial"/>
              <a:cs typeface="Arial"/>
              <a:sym typeface="Arial"/>
            </a:endParaRPr>
          </a:p>
        </p:txBody>
      </p:sp>
      <p:sp>
        <p:nvSpPr>
          <p:cNvPr id="335" name="Google Shape;335;p14"/>
          <p:cNvSpPr/>
          <p:nvPr/>
        </p:nvSpPr>
        <p:spPr>
          <a:xfrm>
            <a:off x="7863840" y="4526615"/>
            <a:ext cx="87000" cy="87000"/>
          </a:xfrm>
          <a:prstGeom prst="diamond">
            <a:avLst/>
          </a:prstGeom>
          <a:solidFill>
            <a:srgbClr val="F27BD8"/>
          </a:solidFill>
          <a:ln>
            <a:noFill/>
          </a:ln>
        </p:spPr>
        <p:txBody>
          <a:bodyPr anchorCtr="0" anchor="ctr" bIns="0" lIns="82275" spcFirstLastPara="1" rIns="82275"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36" name="Google Shape;336;p14"/>
          <p:cNvSpPr txBox="1"/>
          <p:nvPr/>
        </p:nvSpPr>
        <p:spPr>
          <a:xfrm>
            <a:off x="8019288" y="4486134"/>
            <a:ext cx="3779100" cy="160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US" spc="0" sz="1100" u="none" cap="none" strike="noStrike">
                <a:solidFill>
                  <a:srgbClr val="F27BD8"/>
                </a:solidFill>
                <a:latin typeface="Arial"/>
                <a:ea typeface="Arial"/>
                <a:cs typeface="Arial"/>
                <a:sym typeface="Arial"/>
              </a:rPr>
              <a:t>Декабрь 2028</a:t>
            </a:r>
            <a:endParaRPr b="0" i="0" spc="0" sz="1400" u="none" cap="none" strike="noStrike">
              <a:solidFill>
                <a:srgbClr val="000000"/>
              </a:solidFill>
              <a:latin typeface="Arial"/>
              <a:ea typeface="Arial"/>
              <a:cs typeface="Arial"/>
              <a:sym typeface="Arial"/>
            </a:endParaRPr>
          </a:p>
        </p:txBody>
      </p:sp>
      <p:sp>
        <p:nvSpPr>
          <p:cNvPr id="337" name="Google Shape;337;p14"/>
          <p:cNvSpPr txBox="1"/>
          <p:nvPr/>
        </p:nvSpPr>
        <p:spPr>
          <a:xfrm>
            <a:off x="7863840" y="4710657"/>
            <a:ext cx="3934800" cy="690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pc="0" sz="1200" u="none" cap="none" strike="noStrike">
                <a:solidFill>
                  <a:srgbClr val="DCCCE8"/>
                </a:solidFill>
                <a:latin typeface="Arial"/>
                <a:ea typeface="Arial"/>
                <a:cs typeface="Arial"/>
                <a:sym typeface="Arial"/>
              </a:rPr>
              <a:t>Претензии продавцов — прямая заявленная претензия к WB</a:t>
            </a:r>
            <a:r>
              <a:rPr lang="en-US" sz="1200">
                <a:solidFill>
                  <a:srgbClr val="DCCCE8"/>
                </a:solidFill>
              </a:rPr>
              <a:t/>
            </a:r>
            <a:r>
              <a:rPr b="0" i="0" lang="en-US" spc="0" sz="1200" u="none" cap="none" strike="noStrike">
                <a:solidFill>
                  <a:srgbClr val="DCCCE8"/>
                </a:solidFill>
                <a:latin typeface="Arial"/>
                <a:ea typeface="Arial"/>
                <a:cs typeface="Arial"/>
                <a:sym typeface="Arial"/>
              </a:rPr>
              <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000000"/>
              </a:buClr>
              <a:buSzPts val="1200"/>
              <a:buFont typeface="Arial"/>
              <a:buNone/>
            </a:pPr>
            <a:r>
              <a:rPr b="0" i="0" lang="en-US" spc="0" sz="1200" u="none" cap="none" strike="noStrike">
                <a:solidFill>
                  <a:srgbClr val="DCCCE8"/>
                </a:solidFill>
                <a:latin typeface="Arial"/>
                <a:ea typeface="Arial"/>
                <a:cs typeface="Arial"/>
                <a:sym typeface="Arial"/>
              </a:rPr>
              <a:t>Реклама официально признана способной снизить доверие</a:t>
            </a:r>
            <a:r>
              <a:rPr b="1" i="0" lang="en-US" spc="0" sz="1200" u="none" cap="none" strike="noStrike">
                <a:solidFill>
                  <a:srgbClr val="F3ECF7"/>
                </a:solidFill>
                <a:latin typeface="Arial"/>
                <a:ea typeface="Arial"/>
                <a:cs typeface="Arial"/>
                <a:sym typeface="Arial"/>
              </a:rPr>
              <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1200"/>
              <a:buFont typeface="Arial"/>
              <a:buNone/>
            </a:pPr>
            <a:r>
              <a:rPr b="0" i="0" lang="en-US" spc="0" sz="1200" u="none" cap="none" strike="noStrike">
                <a:solidFill>
                  <a:srgbClr val="FBF6FD"/>
                </a:solidFill>
                <a:latin typeface="Arial"/>
                <a:ea typeface="Arial"/>
                <a:cs typeface="Arial"/>
                <a:sym typeface="Arial"/>
              </a:rPr>
              <a:t>→ Признаём: единственный доход может разрушить ценность ставки</a:t>
            </a:r>
            <a:r>
              <a:rPr lang="en-US" sz="1200">
                <a:solidFill>
                  <a:srgbClr val="FBF6FD"/>
                </a:solidFill>
              </a:rPr>
              <a:t/>
            </a:r>
            <a:r>
              <a:rPr b="0" i="0" lang="en-US" spc="0" sz="1200" u="none" cap="none" strike="noStrike">
                <a:solidFill>
                  <a:srgbClr val="FBF6FD"/>
                </a:solidFill>
                <a:latin typeface="Arial"/>
                <a:ea typeface="Arial"/>
                <a:cs typeface="Arial"/>
                <a:sym typeface="Arial"/>
              </a:rPr>
              <a:t/>
            </a:r>
            <a:endParaRPr b="0" i="0" spc="0" sz="1400" u="none" cap="none" strike="noStrike">
              <a:solidFill>
                <a:srgbClr val="000000"/>
              </a:solidFill>
              <a:latin typeface="Arial"/>
              <a:ea typeface="Arial"/>
              <a:cs typeface="Arial"/>
              <a:sym typeface="Arial"/>
            </a:endParaRPr>
          </a:p>
        </p:txBody>
      </p:sp>
      <p:cxnSp>
        <p:nvCxnSpPr>
          <p:cNvPr id="338" name="Google Shape;338;p14"/>
          <p:cNvCxnSpPr/>
          <p:nvPr/>
        </p:nvCxnSpPr>
        <p:spPr>
          <a:xfrm>
            <a:off x="711403" y="5524805"/>
            <a:ext cx="11087100" cy="0"/>
          </a:xfrm>
          <a:prstGeom prst="straightConnector1">
            <a:avLst/>
          </a:prstGeom>
          <a:noFill/>
          <a:ln cap="flat" cmpd="sng" w="9525">
            <a:solidFill>
              <a:srgbClr val="57376F"/>
            </a:solidFill>
            <a:prstDash val="solid"/>
            <a:round/>
            <a:headEnd len="sm" w="sm" type="none"/>
            <a:tailEnd len="sm" w="sm" type="none"/>
          </a:ln>
        </p:spPr>
      </p:cxnSp>
      <p:sp>
        <p:nvSpPr>
          <p:cNvPr id="339" name="Google Shape;339;p14"/>
          <p:cNvSpPr txBox="1"/>
          <p:nvPr/>
        </p:nvSpPr>
        <p:spPr>
          <a:xfrm>
            <a:off x="711403" y="5613502"/>
            <a:ext cx="11087100" cy="4572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1200"/>
              <a:buFont typeface="Arial"/>
              <a:buNone/>
            </a:pPr>
            <a:r>
              <a:rPr b="1" i="0" lang="en-US" spc="0" sz="1200" u="none" cap="none" strike="noStrike">
                <a:solidFill>
                  <a:srgbClr val="F3ECF7"/>
                </a:solidFill>
                <a:latin typeface="Arial"/>
                <a:ea typeface="Arial"/>
                <a:cs typeface="Arial"/>
                <a:sym typeface="Arial"/>
              </a:rPr>
              <a:t>Разбор коллеги верен по фактам, и мы эти слабости не скрываем: они вшиты в конструкцию ставки. Следующий слайд — почему, несмотря на это, действовать нужно именно так и никак иначе.</a:t>
            </a:r>
            <a:r>
              <a:rPr b="0" i="0" lang="en-US" spc="0" sz="1200" u="none" cap="none" strike="noStrike">
                <a:solidFill>
                  <a:srgbClr val="F3ECF7"/>
                </a:solidFill>
                <a:latin typeface="Arial"/>
                <a:ea typeface="Arial"/>
                <a:cs typeface="Arial"/>
                <a:sym typeface="Arial"/>
              </a:rPr>
              <a:t/>
            </a:r>
            <a:endParaRPr b="0" i="0" spc="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A0B45"/>
        </a:solidFill>
      </p:bgPr>
    </p:bg>
    <p:spTree>
      <p:nvGrpSpPr>
        <p:cNvPr id="307" name="Shape 307"/>
        <p:cNvGrpSpPr/>
        <p:nvPr/>
      </p:nvGrpSpPr>
      <p:grpSpPr>
        <a:xfrm>
          <a:off x="0" y="0"/>
          <a:ext cx="0" cy="0"/>
          <a:chOff x="0" y="0"/>
          <a:chExt cx="0" cy="0"/>
        </a:xfrm>
      </p:grpSpPr>
      <p:sp>
        <p:nvSpPr>
          <p:cNvPr id="308" name="Google Shape;308;p14"/>
          <p:cNvSpPr txBox="1"/>
          <p:nvPr>
            <p:ph type="title"/>
          </p:nvPr>
        </p:nvSpPr>
        <p:spPr>
          <a:xfrm>
            <a:off x="711403" y="774497"/>
            <a:ext cx="11087100" cy="736200"/>
          </a:xfrm>
          <a:prstGeom prst="rect">
            <a:avLst/>
          </a:prstGeom>
          <a:noFill/>
          <a:ln>
            <a:noFill/>
          </a:ln>
        </p:spPr>
        <p:txBody>
          <a:bodyPr anchorCtr="0" anchor="t" bIns="0" lIns="0" spcFirstLastPara="1" rIns="0" wrap="square" tIns="0">
            <a:noAutofit/>
          </a:bodyPr>
          <a:lstStyle/>
          <a:p>
            <a:pPr indent="0" lvl="0" marL="0" rtl="0" algn="l">
              <a:lnSpc>
                <a:spcPct val="112000"/>
              </a:lnSpc>
              <a:spcBef>
                <a:spcPts val="0"/>
              </a:spcBef>
              <a:spcAft>
                <a:spcPts val="0"/>
              </a:spcAft>
              <a:buClr>
                <a:srgbClr val="000000"/>
              </a:buClr>
              <a:buSzPts val="2500"/>
              <a:buFont typeface="Arial"/>
              <a:buNone/>
            </a:pPr>
            <a:r>
              <a:rPr b="1" lang="en-US" sz="2300">
                <a:solidFill>
                  <a:srgbClr val="FBF6FD"/>
                </a:solidFill>
                <a:latin typeface="Arial"/>
                <a:ea typeface="Arial"/>
                <a:cs typeface="Arial"/>
                <a:sym typeface="Arial"/>
              </a:rPr>
              <a:t>Почему мы всё равно идём: слабости — цена единственной ставки на актив, который не отнимут</a:t>
            </a:r>
            <a:endParaRPr/>
          </a:p>
        </p:txBody>
      </p:sp>
      <p:sp>
        <p:nvSpPr>
          <p:cNvPr id="309" name="Google Shape;309;p14"/>
          <p:cNvSpPr txBox="1"/>
          <p:nvPr/>
        </p:nvSpPr>
        <p:spPr>
          <a:xfrm>
            <a:off x="711403" y="405994"/>
            <a:ext cx="6350400" cy="241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00000"/>
              </a:buClr>
              <a:buSzPts val="1200"/>
              <a:buFont typeface="Arial"/>
              <a:buNone/>
            </a:pPr>
            <a:r>
              <a:rPr b="1" lang="en-US" sz="1200">
                <a:solidFill>
                  <a:srgbClr val="F27BD8"/>
                </a:solidFill>
              </a:rPr>
              <a:t>Решение · ответ на три слабости</a:t>
            </a:r>
            <a:r>
              <a:rPr b="1" i="0" lang="en-US" spc="0" sz="1200" u="none" cap="none" strike="noStrike">
                <a:solidFill>
                  <a:srgbClr val="F27BD8"/>
                </a:solidFill>
                <a:latin typeface="Arial"/>
                <a:ea typeface="Arial"/>
                <a:cs typeface="Arial"/>
                <a:sym typeface="Arial"/>
              </a:rPr>
              <a:t/>
            </a:r>
            <a:endParaRPr b="0" i="0" spc="0" sz="1400" u="none" cap="none" strike="noStrike">
              <a:solidFill>
                <a:srgbClr val="000000"/>
              </a:solidFill>
              <a:latin typeface="Arial"/>
              <a:ea typeface="Arial"/>
              <a:cs typeface="Arial"/>
              <a:sym typeface="Arial"/>
            </a:endParaRPr>
          </a:p>
        </p:txBody>
      </p:sp>
      <p:sp>
        <p:nvSpPr>
          <p:cNvPr id="310" name="Google Shape;310;p14"/>
          <p:cNvSpPr txBox="1"/>
          <p:nvPr/>
        </p:nvSpPr>
        <p:spPr>
          <a:xfrm>
            <a:off x="1168603" y="1651406"/>
            <a:ext cx="2743200" cy="2031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1200"/>
              <a:buFont typeface="Arial"/>
              <a:buNone/>
            </a:pPr>
            <a:r>
              <a:rPr b="1" i="0" lang="en-US" spc="0" sz="1200" u="none" cap="none" strike="noStrike">
                <a:solidFill>
                  <a:srgbClr val="F27BD8"/>
                </a:solidFill>
                <a:latin typeface="Arial"/>
                <a:ea typeface="Arial"/>
                <a:cs typeface="Arial"/>
                <a:sym typeface="Arial"/>
              </a:rPr>
              <a:t>Слабость</a:t>
            </a:r>
            <a:endParaRPr b="0" i="0" spc="0" sz="1400" u="none" cap="none" strike="noStrike">
              <a:solidFill>
                <a:srgbClr val="000000"/>
              </a:solidFill>
              <a:latin typeface="Arial"/>
              <a:ea typeface="Arial"/>
              <a:cs typeface="Arial"/>
              <a:sym typeface="Arial"/>
            </a:endParaRPr>
          </a:p>
        </p:txBody>
      </p:sp>
      <p:sp>
        <p:nvSpPr>
          <p:cNvPr id="311" name="Google Shape;311;p14"/>
          <p:cNvSpPr txBox="1"/>
          <p:nvPr/>
        </p:nvSpPr>
        <p:spPr>
          <a:xfrm>
            <a:off x="4206240" y="1651406"/>
            <a:ext cx="3337500" cy="2031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1200"/>
              <a:buFont typeface="Arial"/>
              <a:buNone/>
            </a:pPr>
            <a:r>
              <a:rPr b="1" i="0" lang="en-US" spc="0" sz="1200" u="none" cap="none" strike="noStrike">
                <a:solidFill>
                  <a:srgbClr val="F27BD8"/>
                </a:solidFill>
                <a:latin typeface="Arial"/>
                <a:ea typeface="Arial"/>
                <a:cs typeface="Arial"/>
                <a:sym typeface="Arial"/>
              </a:rPr>
              <a:t>Почему она не отменяет ставку</a:t>
            </a:r>
            <a:endParaRPr b="0" i="0" spc="0" sz="1400" u="none" cap="none" strike="noStrike">
              <a:solidFill>
                <a:srgbClr val="000000"/>
              </a:solidFill>
              <a:latin typeface="Arial"/>
              <a:ea typeface="Arial"/>
              <a:cs typeface="Arial"/>
              <a:sym typeface="Arial"/>
            </a:endParaRPr>
          </a:p>
        </p:txBody>
      </p:sp>
      <p:sp>
        <p:nvSpPr>
          <p:cNvPr id="312" name="Google Shape;312;p14"/>
          <p:cNvSpPr txBox="1"/>
          <p:nvPr/>
        </p:nvSpPr>
        <p:spPr>
          <a:xfrm>
            <a:off x="7863840" y="1651406"/>
            <a:ext cx="3934800" cy="2031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1200"/>
              <a:buFont typeface="Arial"/>
              <a:buNone/>
            </a:pPr>
            <a:r>
              <a:rPr b="1" i="0" lang="en-US" spc="0" sz="1200" u="none" cap="none" strike="noStrike">
                <a:solidFill>
                  <a:srgbClr val="F27BD8"/>
                </a:solidFill>
                <a:latin typeface="Arial"/>
                <a:ea typeface="Arial"/>
                <a:cs typeface="Arial"/>
                <a:sym typeface="Arial"/>
              </a:rPr>
              <a:t>Что закрывает риск</a:t>
            </a:r>
            <a:endParaRPr b="0" i="0" spc="0" sz="1400" u="none" cap="none" strike="noStrike">
              <a:solidFill>
                <a:srgbClr val="000000"/>
              </a:solidFill>
              <a:latin typeface="Arial"/>
              <a:ea typeface="Arial"/>
              <a:cs typeface="Arial"/>
              <a:sym typeface="Arial"/>
            </a:endParaRPr>
          </a:p>
        </p:txBody>
      </p:sp>
      <p:cxnSp>
        <p:nvCxnSpPr>
          <p:cNvPr id="313" name="Google Shape;313;p14"/>
          <p:cNvCxnSpPr/>
          <p:nvPr/>
        </p:nvCxnSpPr>
        <p:spPr>
          <a:xfrm>
            <a:off x="711403" y="1917497"/>
            <a:ext cx="11087100" cy="0"/>
          </a:xfrm>
          <a:prstGeom prst="straightConnector1">
            <a:avLst/>
          </a:prstGeom>
          <a:noFill/>
          <a:ln cap="flat" cmpd="sng" w="19050">
            <a:solidFill>
              <a:srgbClr val="F27BD8"/>
            </a:solidFill>
            <a:prstDash val="solid"/>
            <a:round/>
            <a:headEnd len="sm" w="sm" type="none"/>
            <a:tailEnd len="sm" w="sm" type="none"/>
          </a:ln>
        </p:spPr>
      </p:cxnSp>
      <p:sp>
        <p:nvSpPr>
          <p:cNvPr id="314" name="Google Shape;314;p14"/>
          <p:cNvSpPr txBox="1"/>
          <p:nvPr/>
        </p:nvSpPr>
        <p:spPr>
          <a:xfrm>
            <a:off x="711403" y="1998204"/>
            <a:ext cx="381300" cy="304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1" i="0" lang="en-US" spc="0" sz="1800" u="none" cap="none" strike="noStrike">
                <a:solidFill>
                  <a:srgbClr val="F27BD8"/>
                </a:solidFill>
                <a:latin typeface="Arial"/>
                <a:ea typeface="Arial"/>
                <a:cs typeface="Arial"/>
                <a:sym typeface="Arial"/>
              </a:rPr>
              <a:t>01</a:t>
            </a:r>
            <a:endParaRPr b="0" i="0" spc="0" sz="1400" u="none" cap="none" strike="noStrike">
              <a:solidFill>
                <a:srgbClr val="000000"/>
              </a:solidFill>
              <a:latin typeface="Arial"/>
              <a:ea typeface="Arial"/>
              <a:cs typeface="Arial"/>
              <a:sym typeface="Arial"/>
            </a:endParaRPr>
          </a:p>
        </p:txBody>
      </p:sp>
      <p:sp>
        <p:nvSpPr>
          <p:cNvPr id="315" name="Google Shape;315;p14"/>
          <p:cNvSpPr txBox="1"/>
          <p:nvPr/>
        </p:nvSpPr>
        <p:spPr>
          <a:xfrm>
            <a:off x="1168603" y="2022892"/>
            <a:ext cx="2743200" cy="2088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1300"/>
              <a:buFont typeface="Arial"/>
              <a:buNone/>
            </a:pPr>
            <a:r>
              <a:rPr b="1" i="0" lang="en-US" spc="0" sz="1300" u="none" cap="none" strike="noStrike">
                <a:solidFill>
                  <a:srgbClr val="FBF6FD"/>
                </a:solidFill>
                <a:latin typeface="Arial"/>
                <a:ea typeface="Arial"/>
                <a:cs typeface="Arial"/>
                <a:sym typeface="Arial"/>
              </a:rPr>
              <a:t>Пилот измеряет не тот продукт</a:t>
            </a:r>
            <a:endParaRPr b="0" i="0" spc="0" sz="1400" u="none" cap="none" strike="noStrike">
              <a:solidFill>
                <a:srgbClr val="000000"/>
              </a:solidFill>
              <a:latin typeface="Arial"/>
              <a:ea typeface="Arial"/>
              <a:cs typeface="Arial"/>
              <a:sym typeface="Arial"/>
            </a:endParaRPr>
          </a:p>
        </p:txBody>
      </p:sp>
      <p:sp>
        <p:nvSpPr>
          <p:cNvPr id="316" name="Google Shape;316;p14"/>
          <p:cNvSpPr txBox="1"/>
          <p:nvPr/>
        </p:nvSpPr>
        <p:spPr>
          <a:xfrm>
            <a:off x="4206240" y="2022892"/>
            <a:ext cx="3337500" cy="763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pc="0" sz="1200" u="none" cap="none" strike="noStrike">
                <a:solidFill>
                  <a:srgbClr val="DCCCE8"/>
                </a:solidFill>
                <a:latin typeface="Arial"/>
                <a:ea typeface="Arial"/>
                <a:cs typeface="Arial"/>
                <a:sym typeface="Arial"/>
              </a:rPr>
              <a:t>Пилот сознательно строже реального продукта</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000000"/>
              </a:buClr>
              <a:buSzPts val="1200"/>
              <a:buFont typeface="Arial"/>
              <a:buNone/>
            </a:pPr>
            <a:r>
              <a:rPr b="0" i="0" lang="en-US" spc="0" sz="1200" u="none" cap="none" strike="noStrike">
                <a:solidFill>
                  <a:srgbClr val="DCCCE8"/>
                </a:solidFill>
                <a:latin typeface="Arial"/>
                <a:ea typeface="Arial"/>
                <a:cs typeface="Arial"/>
                <a:sym typeface="Arial"/>
              </a:rPr>
              <a:t>Окупаемость — без рекламного дохода и с полной амортизацией GPU</a:t>
            </a:r>
            <a:endParaRPr b="0" i="0" spc="0" sz="1400" u="none" cap="none" strike="noStrike">
              <a:solidFill>
                <a:srgbClr val="000000"/>
              </a:solidFill>
              <a:latin typeface="Arial"/>
              <a:ea typeface="Arial"/>
              <a:cs typeface="Arial"/>
              <a:sym typeface="Arial"/>
            </a:endParaRPr>
          </a:p>
        </p:txBody>
      </p:sp>
      <p:sp>
        <p:nvSpPr>
          <p:cNvPr id="317" name="Google Shape;317;p14"/>
          <p:cNvSpPr/>
          <p:nvPr/>
        </p:nvSpPr>
        <p:spPr>
          <a:xfrm>
            <a:off x="7863840" y="2063374"/>
            <a:ext cx="87000" cy="87000"/>
          </a:xfrm>
          <a:prstGeom prst="diamond">
            <a:avLst/>
          </a:prstGeom>
          <a:solidFill>
            <a:srgbClr val="F27BD8"/>
          </a:solidFill>
          <a:ln>
            <a:noFill/>
          </a:ln>
        </p:spPr>
        <p:txBody>
          <a:bodyPr anchorCtr="0" anchor="ctr" bIns="0" lIns="82275" spcFirstLastPara="1" rIns="82275"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18" name="Google Shape;318;p14"/>
          <p:cNvSpPr txBox="1"/>
          <p:nvPr/>
        </p:nvSpPr>
        <p:spPr>
          <a:xfrm>
            <a:off x="8019288" y="2022892"/>
            <a:ext cx="3779100" cy="160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US" spc="0" sz="1100" u="none" cap="none" strike="noStrike">
                <a:solidFill>
                  <a:srgbClr val="F27BD8"/>
                </a:solidFill>
                <a:latin typeface="Arial"/>
                <a:ea typeface="Arial"/>
                <a:cs typeface="Arial"/>
                <a:sym typeface="Arial"/>
              </a:rPr>
              <a:t>Июль 2027</a:t>
            </a:r>
            <a:endParaRPr b="0" i="0" spc="0" sz="1400" u="none" cap="none" strike="noStrike">
              <a:solidFill>
                <a:srgbClr val="000000"/>
              </a:solidFill>
              <a:latin typeface="Arial"/>
              <a:ea typeface="Arial"/>
              <a:cs typeface="Arial"/>
              <a:sym typeface="Arial"/>
            </a:endParaRPr>
          </a:p>
        </p:txBody>
      </p:sp>
      <p:sp>
        <p:nvSpPr>
          <p:cNvPr id="319" name="Google Shape;319;p14"/>
          <p:cNvSpPr txBox="1"/>
          <p:nvPr/>
        </p:nvSpPr>
        <p:spPr>
          <a:xfrm>
            <a:off x="7863840" y="2247416"/>
            <a:ext cx="3934800" cy="865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pc="0" sz="1200" u="none" cap="none" strike="noStrike">
                <a:solidFill>
                  <a:srgbClr val="DCCCE8"/>
                </a:solidFill>
                <a:latin typeface="Arial"/>
                <a:ea typeface="Arial"/>
                <a:cs typeface="Arial"/>
                <a:sym typeface="Arial"/>
              </a:rPr>
              <a:t>Если окупается «голый» ассистент, продукт со спонсорскими местами строго лучше</a:t>
            </a:r>
            <a:r>
              <a:rPr b="1" i="0" lang="en-US" spc="0" sz="1200" u="none" cap="none" strike="noStrike">
                <a:solidFill>
                  <a:srgbClr val="F3ECF7"/>
                </a:solidFill>
                <a:latin typeface="Arial"/>
                <a:ea typeface="Arial"/>
                <a:cs typeface="Arial"/>
                <a:sym typeface="Arial"/>
              </a:rPr>
              <a:t/>
            </a:r>
            <a:r>
              <a:rPr b="0" i="0" lang="en-US" spc="0" sz="1200" u="none" cap="none" strike="noStrike">
                <a:solidFill>
                  <a:srgbClr val="DCCCE8"/>
                </a:solidFill>
                <a:latin typeface="Arial"/>
                <a:ea typeface="Arial"/>
                <a:cs typeface="Arial"/>
                <a:sym typeface="Arial"/>
              </a:rPr>
              <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000000"/>
              </a:buClr>
              <a:buSzPts val="1200"/>
              <a:buFont typeface="Arial"/>
              <a:buNone/>
            </a:pPr>
            <a:r>
              <a:rPr b="0" i="0" lang="en-US" spc="0" sz="1200" u="none" cap="none" strike="noStrike">
                <a:solidFill>
                  <a:srgbClr val="DCCCE8"/>
                </a:solidFill>
                <a:latin typeface="Arial"/>
                <a:ea typeface="Arial"/>
                <a:cs typeface="Arial"/>
                <a:sym typeface="Arial"/>
              </a:rPr>
              <a:t>Рекламу и обувь добавляем к доказанному основанию, а не вместо него</a:t>
            </a:r>
            <a:r>
              <a:rPr b="1" i="0" lang="en-US" spc="0" sz="1200" u="none" cap="none" strike="noStrike">
                <a:solidFill>
                  <a:srgbClr val="F3ECF7"/>
                </a:solidFill>
                <a:latin typeface="Arial"/>
                <a:ea typeface="Arial"/>
                <a:cs typeface="Arial"/>
                <a:sym typeface="Arial"/>
              </a:rPr>
              <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1200"/>
              <a:buFont typeface="Arial"/>
              <a:buNone/>
            </a:pPr>
            <a:r>
              <a:rPr b="0" i="0" lang="en-US" spc="0" sz="1200" u="none" cap="none" strike="noStrike">
                <a:solidFill>
                  <a:srgbClr val="FBF6FD"/>
                </a:solidFill>
                <a:latin typeface="Arial"/>
                <a:ea typeface="Arial"/>
                <a:cs typeface="Arial"/>
                <a:sym typeface="Arial"/>
              </a:rPr>
              <a:t>→ Порог проверяет хуже, чем жизнь</a:t>
            </a:r>
            <a:endParaRPr b="0" i="0" spc="0" sz="1400" u="none" cap="none" strike="noStrike">
              <a:solidFill>
                <a:srgbClr val="000000"/>
              </a:solidFill>
              <a:latin typeface="Arial"/>
              <a:ea typeface="Arial"/>
              <a:cs typeface="Arial"/>
              <a:sym typeface="Arial"/>
            </a:endParaRPr>
          </a:p>
        </p:txBody>
      </p:sp>
      <p:cxnSp>
        <p:nvCxnSpPr>
          <p:cNvPr id="320" name="Google Shape;320;p14"/>
          <p:cNvCxnSpPr/>
          <p:nvPr/>
        </p:nvCxnSpPr>
        <p:spPr>
          <a:xfrm>
            <a:off x="711403" y="3236671"/>
            <a:ext cx="11087100" cy="0"/>
          </a:xfrm>
          <a:prstGeom prst="straightConnector1">
            <a:avLst/>
          </a:prstGeom>
          <a:noFill/>
          <a:ln cap="flat" cmpd="sng" w="9525">
            <a:solidFill>
              <a:srgbClr val="57376F"/>
            </a:solidFill>
            <a:prstDash val="solid"/>
            <a:round/>
            <a:headEnd len="sm" w="sm" type="none"/>
            <a:tailEnd len="sm" w="sm" type="none"/>
          </a:ln>
        </p:spPr>
      </p:cxnSp>
      <p:sp>
        <p:nvSpPr>
          <p:cNvPr id="321" name="Google Shape;321;p14"/>
          <p:cNvSpPr txBox="1"/>
          <p:nvPr/>
        </p:nvSpPr>
        <p:spPr>
          <a:xfrm>
            <a:off x="711403" y="3317378"/>
            <a:ext cx="381300" cy="304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1" i="0" lang="en-US" spc="0" sz="1800" u="none" cap="none" strike="noStrike">
                <a:solidFill>
                  <a:srgbClr val="F27BD8"/>
                </a:solidFill>
                <a:latin typeface="Arial"/>
                <a:ea typeface="Arial"/>
                <a:cs typeface="Arial"/>
                <a:sym typeface="Arial"/>
              </a:rPr>
              <a:t>02</a:t>
            </a:r>
            <a:endParaRPr b="0" i="0" spc="0" sz="1400" u="none" cap="none" strike="noStrike">
              <a:solidFill>
                <a:srgbClr val="000000"/>
              </a:solidFill>
              <a:latin typeface="Arial"/>
              <a:ea typeface="Arial"/>
              <a:cs typeface="Arial"/>
              <a:sym typeface="Arial"/>
            </a:endParaRPr>
          </a:p>
        </p:txBody>
      </p:sp>
      <p:sp>
        <p:nvSpPr>
          <p:cNvPr id="322" name="Google Shape;322;p14"/>
          <p:cNvSpPr txBox="1"/>
          <p:nvPr/>
        </p:nvSpPr>
        <p:spPr>
          <a:xfrm>
            <a:off x="1168603" y="3342067"/>
            <a:ext cx="2743200" cy="2088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1300"/>
              <a:buFont typeface="Arial"/>
              <a:buNone/>
            </a:pPr>
            <a:r>
              <a:rPr b="1" i="0" lang="en-US" spc="0" sz="1300" u="none" cap="none" strike="noStrike">
                <a:solidFill>
                  <a:srgbClr val="FBF6FD"/>
                </a:solidFill>
                <a:latin typeface="Arial"/>
                <a:ea typeface="Arial"/>
                <a:cs typeface="Arial"/>
                <a:sym typeface="Arial"/>
              </a:rPr>
              <a:t>Условие успеха вне контроля</a:t>
            </a:r>
            <a:endParaRPr b="0" i="0" spc="0" sz="1400" u="none" cap="none" strike="noStrike">
              <a:solidFill>
                <a:srgbClr val="000000"/>
              </a:solidFill>
              <a:latin typeface="Arial"/>
              <a:ea typeface="Arial"/>
              <a:cs typeface="Arial"/>
              <a:sym typeface="Arial"/>
            </a:endParaRPr>
          </a:p>
        </p:txBody>
      </p:sp>
      <p:sp>
        <p:nvSpPr>
          <p:cNvPr id="323" name="Google Shape;323;p14"/>
          <p:cNvSpPr txBox="1"/>
          <p:nvPr/>
        </p:nvSpPr>
        <p:spPr>
          <a:xfrm>
            <a:off x="1168603" y="3642177"/>
            <a:ext cx="2926200" cy="14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pc="0" sz="1000" u="none" cap="none" strike="noStrike">
                <a:solidFill>
                  <a:srgbClr val="DCCCE8"/>
                </a:solidFill>
                <a:latin typeface="Arial"/>
                <a:ea typeface="Arial"/>
                <a:cs typeface="Arial"/>
                <a:sym typeface="Arial"/>
              </a:rPr>
              <a:t>Тот же регулятор разбирает все альтернативы</a:t>
            </a:r>
            <a:endParaRPr b="0" i="0" spc="0" sz="1400" u="none" cap="none" strike="noStrike">
              <a:solidFill>
                <a:srgbClr val="000000"/>
              </a:solidFill>
              <a:latin typeface="Arial"/>
              <a:ea typeface="Arial"/>
              <a:cs typeface="Arial"/>
              <a:sym typeface="Arial"/>
            </a:endParaRPr>
          </a:p>
        </p:txBody>
      </p:sp>
      <p:sp>
        <p:nvSpPr>
          <p:cNvPr id="324" name="Google Shape;324;p14"/>
          <p:cNvSpPr txBox="1"/>
          <p:nvPr/>
        </p:nvSpPr>
        <p:spPr>
          <a:xfrm>
            <a:off x="1168603" y="3797244"/>
            <a:ext cx="2926200" cy="14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pc="0" sz="1000" u="none" cap="none" strike="noStrike">
                <a:solidFill>
                  <a:srgbClr val="F3ECF7"/>
                </a:solidFill>
                <a:latin typeface="Arial"/>
                <a:ea typeface="Arial"/>
                <a:cs typeface="Arial"/>
                <a:sym typeface="Arial"/>
              </a:rPr>
              <a:t>Карточку, банк и ранжирование регулирует 289-ФЗ вне зависимости от нашего выбора</a:t>
            </a:r>
            <a:endParaRPr b="0" i="0" spc="0" sz="1400" u="none" cap="none" strike="noStrike">
              <a:solidFill>
                <a:srgbClr val="000000"/>
              </a:solidFill>
              <a:latin typeface="Arial"/>
              <a:ea typeface="Arial"/>
              <a:cs typeface="Arial"/>
              <a:sym typeface="Arial"/>
            </a:endParaRPr>
          </a:p>
        </p:txBody>
      </p:sp>
      <p:cxnSp>
        <p:nvCxnSpPr>
          <p:cNvPr id="325" name="Google Shape;325;p14"/>
          <p:cNvCxnSpPr/>
          <p:nvPr/>
        </p:nvCxnSpPr>
        <p:spPr>
          <a:xfrm>
            <a:off x="1168603" y="3999859"/>
            <a:ext cx="2634600" cy="0"/>
          </a:xfrm>
          <a:prstGeom prst="straightConnector1">
            <a:avLst/>
          </a:prstGeom>
          <a:noFill/>
          <a:ln cap="flat" cmpd="sng" w="9525">
            <a:solidFill>
              <a:srgbClr val="DCCCE8"/>
            </a:solidFill>
            <a:prstDash val="solid"/>
            <a:round/>
            <a:headEnd len="sm" w="sm" type="none"/>
            <a:tailEnd len="sm" w="sm" type="none"/>
          </a:ln>
        </p:spPr>
      </p:cxnSp>
      <p:sp>
        <p:nvSpPr>
          <p:cNvPr id="326" name="Google Shape;326;p14"/>
          <p:cNvSpPr txBox="1"/>
          <p:nvPr/>
        </p:nvSpPr>
        <p:spPr>
          <a:xfrm>
            <a:off x="1168603" y="4018147"/>
            <a:ext cx="2926200" cy="14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pc="0" sz="1000" u="none" cap="none" strike="noStrike">
                <a:solidFill>
                  <a:srgbClr val="F3ECF7"/>
                </a:solidFill>
                <a:latin typeface="Arial"/>
                <a:ea typeface="Arial"/>
                <a:cs typeface="Arial"/>
                <a:sym typeface="Arial"/>
              </a:rPr>
              <a:t>Альтернативы набрали 5–7 из 12, у каждой тот же закон плюс отрыв конкурента</a:t>
            </a:r>
            <a:endParaRPr b="0" i="0" spc="0" sz="1400" u="none" cap="none" strike="noStrike">
              <a:solidFill>
                <a:srgbClr val="000000"/>
              </a:solidFill>
              <a:latin typeface="Arial"/>
              <a:ea typeface="Arial"/>
              <a:cs typeface="Arial"/>
              <a:sym typeface="Arial"/>
            </a:endParaRPr>
          </a:p>
        </p:txBody>
      </p:sp>
      <p:sp>
        <p:nvSpPr>
          <p:cNvPr id="327" name="Google Shape;327;p14"/>
          <p:cNvSpPr txBox="1"/>
          <p:nvPr/>
        </p:nvSpPr>
        <p:spPr>
          <a:xfrm>
            <a:off x="4206240" y="3342067"/>
            <a:ext cx="3337500" cy="588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pc="0" sz="1200" u="none" cap="none" strike="noStrike">
                <a:solidFill>
                  <a:srgbClr val="DCCCE8"/>
                </a:solidFill>
                <a:latin typeface="Arial"/>
                <a:ea typeface="Arial"/>
                <a:cs typeface="Arial"/>
                <a:sym typeface="Arial"/>
              </a:rPr>
              <a:t>У доверия покупателя у регулятора нет рычага: оно не переносится и не сгорает</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000000"/>
              </a:buClr>
              <a:buSzPts val="1200"/>
              <a:buFont typeface="Arial"/>
              <a:buNone/>
            </a:pPr>
            <a:r>
              <a:rPr b="0" i="0" lang="en-US" spc="0" sz="1200" u="none" cap="none" strike="noStrike">
                <a:solidFill>
                  <a:srgbClr val="DCCCE8"/>
                </a:solidFill>
                <a:latin typeface="Arial"/>
                <a:ea typeface="Arial"/>
                <a:cs typeface="Arial"/>
                <a:sym typeface="Arial"/>
              </a:rPr>
              <a:t>При предписании масштабирование стопорится, а выдача и комиссия остаются</a:t>
            </a:r>
            <a:r>
              <a:rPr lang="en-US" sz="1200">
                <a:solidFill>
                  <a:srgbClr val="DCCCE8"/>
                </a:solidFill>
              </a:rPr>
              <a:t/>
            </a:r>
            <a:r>
              <a:rPr b="0" i="0" lang="en-US" spc="0" sz="1200" u="none" cap="none" strike="noStrike">
                <a:solidFill>
                  <a:srgbClr val="DCCCE8"/>
                </a:solidFill>
                <a:latin typeface="Arial"/>
                <a:ea typeface="Arial"/>
                <a:cs typeface="Arial"/>
                <a:sym typeface="Arial"/>
              </a:rPr>
              <a:t/>
            </a:r>
            <a:endParaRPr b="0" i="0" spc="0" sz="1400" u="none" cap="none" strike="noStrike">
              <a:solidFill>
                <a:srgbClr val="000000"/>
              </a:solidFill>
              <a:latin typeface="Arial"/>
              <a:ea typeface="Arial"/>
              <a:cs typeface="Arial"/>
              <a:sym typeface="Arial"/>
            </a:endParaRPr>
          </a:p>
        </p:txBody>
      </p:sp>
      <p:sp>
        <p:nvSpPr>
          <p:cNvPr id="328" name="Google Shape;328;p14"/>
          <p:cNvSpPr/>
          <p:nvPr/>
        </p:nvSpPr>
        <p:spPr>
          <a:xfrm>
            <a:off x="7863840" y="3382548"/>
            <a:ext cx="87000" cy="87000"/>
          </a:xfrm>
          <a:prstGeom prst="diamond">
            <a:avLst/>
          </a:prstGeom>
          <a:solidFill>
            <a:srgbClr val="F27BD8"/>
          </a:solidFill>
          <a:ln>
            <a:noFill/>
          </a:ln>
        </p:spPr>
        <p:txBody>
          <a:bodyPr anchorCtr="0" anchor="ctr" bIns="0" lIns="82275" spcFirstLastPara="1" rIns="82275"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29" name="Google Shape;329;p14"/>
          <p:cNvSpPr txBox="1"/>
          <p:nvPr/>
        </p:nvSpPr>
        <p:spPr>
          <a:xfrm>
            <a:off x="8019288" y="3342067"/>
            <a:ext cx="3779100" cy="160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US" spc="0" sz="1100" u="none" cap="none" strike="noStrike">
                <a:solidFill>
                  <a:srgbClr val="F27BD8"/>
                </a:solidFill>
                <a:latin typeface="Arial"/>
                <a:ea typeface="Arial"/>
                <a:cs typeface="Arial"/>
                <a:sym typeface="Arial"/>
              </a:rPr>
              <a:t>Январь 2028</a:t>
            </a:r>
            <a:endParaRPr b="0" i="0" spc="0" sz="1400" u="none" cap="none" strike="noStrike">
              <a:solidFill>
                <a:srgbClr val="000000"/>
              </a:solidFill>
              <a:latin typeface="Arial"/>
              <a:ea typeface="Arial"/>
              <a:cs typeface="Arial"/>
              <a:sym typeface="Arial"/>
            </a:endParaRPr>
          </a:p>
        </p:txBody>
      </p:sp>
      <p:sp>
        <p:nvSpPr>
          <p:cNvPr id="330" name="Google Shape;330;p14"/>
          <p:cNvSpPr txBox="1"/>
          <p:nvPr/>
        </p:nvSpPr>
        <p:spPr>
          <a:xfrm>
            <a:off x="7863840" y="3566590"/>
            <a:ext cx="3934800" cy="690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pc="0" sz="1200" u="none" cap="none" strike="noStrike">
                <a:solidFill>
                  <a:srgbClr val="DCCCE8"/>
                </a:solidFill>
                <a:latin typeface="Arial"/>
                <a:ea typeface="Arial"/>
                <a:cs typeface="Arial"/>
                <a:sym typeface="Arial"/>
              </a:rPr>
              <a:t>Регулятор — сторож развилки, а не двигатель ставки</a:t>
            </a:r>
            <a:r>
              <a:rPr b="1" i="0" lang="en-US" spc="0" sz="1200" u="none" cap="none" strike="noStrike">
                <a:solidFill>
                  <a:srgbClr val="F3ECF7"/>
                </a:solidFill>
                <a:latin typeface="Arial"/>
                <a:ea typeface="Arial"/>
                <a:cs typeface="Arial"/>
                <a:sym typeface="Arial"/>
              </a:rPr>
              <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000000"/>
              </a:buClr>
              <a:buSzPts val="1200"/>
              <a:buFont typeface="Arial"/>
              <a:buNone/>
            </a:pPr>
            <a:r>
              <a:rPr b="0" i="0" lang="en-US" spc="0" sz="1200" u="none" cap="none" strike="noStrike">
                <a:solidFill>
                  <a:srgbClr val="DCCCE8"/>
                </a:solidFill>
                <a:latin typeface="Arial"/>
                <a:ea typeface="Arial"/>
                <a:cs typeface="Arial"/>
                <a:sym typeface="Arial"/>
              </a:rPr>
              <a:t>Риск мониторим отдельно от сигналов пилота</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1200"/>
              <a:buFont typeface="Arial"/>
              <a:buNone/>
            </a:pPr>
            <a:r>
              <a:rPr b="0" i="0" lang="en-US" spc="0" sz="1200" u="none" cap="none" strike="noStrike">
                <a:solidFill>
                  <a:srgbClr val="FBF6FD"/>
                </a:solidFill>
                <a:latin typeface="Arial"/>
                <a:ea typeface="Arial"/>
                <a:cs typeface="Arial"/>
                <a:sym typeface="Arial"/>
              </a:rPr>
              <a:t>→ Ставка не масштабируется в регуляторную беду</a:t>
            </a:r>
            <a:endParaRPr b="0" i="0" spc="0" sz="1400" u="none" cap="none" strike="noStrike">
              <a:solidFill>
                <a:srgbClr val="000000"/>
              </a:solidFill>
              <a:latin typeface="Arial"/>
              <a:ea typeface="Arial"/>
              <a:cs typeface="Arial"/>
              <a:sym typeface="Arial"/>
            </a:endParaRPr>
          </a:p>
        </p:txBody>
      </p:sp>
      <p:cxnSp>
        <p:nvCxnSpPr>
          <p:cNvPr id="331" name="Google Shape;331;p14"/>
          <p:cNvCxnSpPr/>
          <p:nvPr/>
        </p:nvCxnSpPr>
        <p:spPr>
          <a:xfrm>
            <a:off x="711403" y="4380738"/>
            <a:ext cx="11087100" cy="0"/>
          </a:xfrm>
          <a:prstGeom prst="straightConnector1">
            <a:avLst/>
          </a:prstGeom>
          <a:noFill/>
          <a:ln cap="flat" cmpd="sng" w="9525">
            <a:solidFill>
              <a:srgbClr val="57376F"/>
            </a:solidFill>
            <a:prstDash val="solid"/>
            <a:round/>
            <a:headEnd len="sm" w="sm" type="none"/>
            <a:tailEnd len="sm" w="sm" type="none"/>
          </a:ln>
        </p:spPr>
      </p:cxnSp>
      <p:sp>
        <p:nvSpPr>
          <p:cNvPr id="332" name="Google Shape;332;p14"/>
          <p:cNvSpPr txBox="1"/>
          <p:nvPr/>
        </p:nvSpPr>
        <p:spPr>
          <a:xfrm>
            <a:off x="711403" y="4461445"/>
            <a:ext cx="381300" cy="304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1" i="0" lang="en-US" spc="0" sz="1800" u="none" cap="none" strike="noStrike">
                <a:solidFill>
                  <a:srgbClr val="F27BD8"/>
                </a:solidFill>
                <a:latin typeface="Arial"/>
                <a:ea typeface="Arial"/>
                <a:cs typeface="Arial"/>
                <a:sym typeface="Arial"/>
              </a:rPr>
              <a:t>03</a:t>
            </a:r>
            <a:endParaRPr b="0" i="0" spc="0" sz="1400" u="none" cap="none" strike="noStrike">
              <a:solidFill>
                <a:srgbClr val="000000"/>
              </a:solidFill>
              <a:latin typeface="Arial"/>
              <a:ea typeface="Arial"/>
              <a:cs typeface="Arial"/>
              <a:sym typeface="Arial"/>
            </a:endParaRPr>
          </a:p>
        </p:txBody>
      </p:sp>
      <p:sp>
        <p:nvSpPr>
          <p:cNvPr id="333" name="Google Shape;333;p14"/>
          <p:cNvSpPr txBox="1"/>
          <p:nvPr/>
        </p:nvSpPr>
        <p:spPr>
          <a:xfrm>
            <a:off x="1168603" y="4486134"/>
            <a:ext cx="2743200" cy="4173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1300"/>
              <a:buFont typeface="Arial"/>
              <a:buNone/>
            </a:pPr>
            <a:r>
              <a:rPr b="1" i="0" lang="en-US" spc="0" sz="1300" u="none" cap="none" strike="noStrike">
                <a:solidFill>
                  <a:srgbClr val="FBF6FD"/>
                </a:solidFill>
                <a:latin typeface="Arial"/>
                <a:ea typeface="Arial"/>
                <a:cs typeface="Arial"/>
                <a:sym typeface="Arial"/>
              </a:rPr>
              <a:t>Жертвуем опорами лидерства</a:t>
            </a:r>
            <a:endParaRPr b="0" i="0" spc="0" sz="1400" u="none" cap="none" strike="noStrike">
              <a:solidFill>
                <a:srgbClr val="000000"/>
              </a:solidFill>
              <a:latin typeface="Arial"/>
              <a:ea typeface="Arial"/>
              <a:cs typeface="Arial"/>
              <a:sym typeface="Arial"/>
            </a:endParaRPr>
          </a:p>
        </p:txBody>
      </p:sp>
      <p:sp>
        <p:nvSpPr>
          <p:cNvPr id="334" name="Google Shape;334;p14"/>
          <p:cNvSpPr txBox="1"/>
          <p:nvPr/>
        </p:nvSpPr>
        <p:spPr>
          <a:xfrm>
            <a:off x="4206240" y="4486134"/>
            <a:ext cx="3337500" cy="588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pc="0" sz="1200" u="none" cap="none" strike="noStrike">
                <a:solidFill>
                  <a:srgbClr val="DCCCE8"/>
                </a:solidFill>
                <a:latin typeface="Arial"/>
                <a:ea typeface="Arial"/>
                <a:cs typeface="Arial"/>
                <a:sym typeface="Arial"/>
              </a:rPr>
              <a:t>Склады и ПВЗ восстанавливаются, валовой GMV — следствие, а не причина №1</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000000"/>
              </a:buClr>
              <a:buSzPts val="1200"/>
              <a:buFont typeface="Arial"/>
              <a:buNone/>
            </a:pPr>
            <a:r>
              <a:rPr b="0" i="0" lang="en-US" spc="0" sz="1200" u="none" cap="none" strike="noStrike">
                <a:solidFill>
                  <a:srgbClr val="DCCCE8"/>
                </a:solidFill>
                <a:latin typeface="Arial"/>
                <a:ea typeface="Arial"/>
                <a:cs typeface="Arial"/>
                <a:sym typeface="Arial"/>
              </a:rPr>
              <a:t>Продавцам — отчёт «почему не в ответе», критерий подборки — отзывы и выкуп, а не бюджет</a:t>
            </a:r>
            <a:r>
              <a:rPr lang="en-US" sz="1200">
                <a:solidFill>
                  <a:srgbClr val="DCCCE8"/>
                </a:solidFill>
              </a:rPr>
              <a:t/>
            </a:r>
            <a:r>
              <a:rPr b="0" i="0" lang="en-US" spc="0" sz="1200" u="none" cap="none" strike="noStrike">
                <a:solidFill>
                  <a:srgbClr val="DCCCE8"/>
                </a:solidFill>
                <a:latin typeface="Arial"/>
                <a:ea typeface="Arial"/>
                <a:cs typeface="Arial"/>
                <a:sym typeface="Arial"/>
              </a:rPr>
              <a:t/>
            </a:r>
            <a:endParaRPr b="0" i="0" spc="0" sz="1400" u="none" cap="none" strike="noStrike">
              <a:solidFill>
                <a:srgbClr val="000000"/>
              </a:solidFill>
              <a:latin typeface="Arial"/>
              <a:ea typeface="Arial"/>
              <a:cs typeface="Arial"/>
              <a:sym typeface="Arial"/>
            </a:endParaRPr>
          </a:p>
        </p:txBody>
      </p:sp>
      <p:sp>
        <p:nvSpPr>
          <p:cNvPr id="335" name="Google Shape;335;p14"/>
          <p:cNvSpPr/>
          <p:nvPr/>
        </p:nvSpPr>
        <p:spPr>
          <a:xfrm>
            <a:off x="7863840" y="4526615"/>
            <a:ext cx="87000" cy="87000"/>
          </a:xfrm>
          <a:prstGeom prst="diamond">
            <a:avLst/>
          </a:prstGeom>
          <a:solidFill>
            <a:srgbClr val="F27BD8"/>
          </a:solidFill>
          <a:ln>
            <a:noFill/>
          </a:ln>
        </p:spPr>
        <p:txBody>
          <a:bodyPr anchorCtr="0" anchor="ctr" bIns="0" lIns="82275" spcFirstLastPara="1" rIns="82275"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36" name="Google Shape;336;p14"/>
          <p:cNvSpPr txBox="1"/>
          <p:nvPr/>
        </p:nvSpPr>
        <p:spPr>
          <a:xfrm>
            <a:off x="8019288" y="4486134"/>
            <a:ext cx="3779100" cy="160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US" spc="0" sz="1100" u="none" cap="none" strike="noStrike">
                <a:solidFill>
                  <a:srgbClr val="F27BD8"/>
                </a:solidFill>
                <a:latin typeface="Arial"/>
                <a:ea typeface="Arial"/>
                <a:cs typeface="Arial"/>
                <a:sym typeface="Arial"/>
              </a:rPr>
              <a:t>Декабрь 2028</a:t>
            </a:r>
            <a:endParaRPr b="0" i="0" spc="0" sz="1400" u="none" cap="none" strike="noStrike">
              <a:solidFill>
                <a:srgbClr val="000000"/>
              </a:solidFill>
              <a:latin typeface="Arial"/>
              <a:ea typeface="Arial"/>
              <a:cs typeface="Arial"/>
              <a:sym typeface="Arial"/>
            </a:endParaRPr>
          </a:p>
        </p:txBody>
      </p:sp>
      <p:sp>
        <p:nvSpPr>
          <p:cNvPr id="337" name="Google Shape;337;p14"/>
          <p:cNvSpPr txBox="1"/>
          <p:nvPr/>
        </p:nvSpPr>
        <p:spPr>
          <a:xfrm>
            <a:off x="7863840" y="4710657"/>
            <a:ext cx="3934800" cy="690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pc="0" sz="1200" u="none" cap="none" strike="noStrike">
                <a:solidFill>
                  <a:srgbClr val="DCCCE8"/>
                </a:solidFill>
                <a:latin typeface="Arial"/>
                <a:ea typeface="Arial"/>
                <a:cs typeface="Arial"/>
                <a:sym typeface="Arial"/>
              </a:rPr>
              <a:t>Догнать Ozon в финтехе и экспрессе — гонка без отрыва: там годы форы</a:t>
            </a:r>
            <a:r>
              <a:rPr lang="en-US" sz="1200">
                <a:solidFill>
                  <a:srgbClr val="DCCCE8"/>
                </a:solidFill>
              </a:rPr>
              <a:t/>
            </a:r>
            <a:r>
              <a:rPr b="0" i="0" lang="en-US" spc="0" sz="1200" u="none" cap="none" strike="noStrike">
                <a:solidFill>
                  <a:srgbClr val="DCCCE8"/>
                </a:solidFill>
                <a:latin typeface="Arial"/>
                <a:ea typeface="Arial"/>
                <a:cs typeface="Arial"/>
                <a:sym typeface="Arial"/>
              </a:rPr>
              <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000000"/>
              </a:buClr>
              <a:buSzPts val="1200"/>
              <a:buFont typeface="Arial"/>
              <a:buNone/>
            </a:pPr>
            <a:r>
              <a:rPr b="0" i="0" lang="en-US" spc="0" sz="1200" u="none" cap="none" strike="noStrike">
                <a:solidFill>
                  <a:srgbClr val="DCCCE8"/>
                </a:solidFill>
                <a:latin typeface="Arial"/>
                <a:ea typeface="Arial"/>
                <a:cs typeface="Arial"/>
                <a:sym typeface="Arial"/>
              </a:rPr>
              <a:t>Если пилот не даёт роста по условию 01, ставку закрываем, GPU уходят в общий ИИ-пул</a:t>
            </a:r>
            <a:r>
              <a:rPr b="1" i="0" lang="en-US" spc="0" sz="1200" u="none" cap="none" strike="noStrike">
                <a:solidFill>
                  <a:srgbClr val="F3ECF7"/>
                </a:solidFill>
                <a:latin typeface="Arial"/>
                <a:ea typeface="Arial"/>
                <a:cs typeface="Arial"/>
                <a:sym typeface="Arial"/>
              </a:rPr>
              <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1200"/>
              <a:buFont typeface="Arial"/>
              <a:buNone/>
            </a:pPr>
            <a:r>
              <a:rPr b="0" i="0" lang="en-US" spc="0" sz="1200" u="none" cap="none" strike="noStrike">
                <a:solidFill>
                  <a:srgbClr val="FBF6FD"/>
                </a:solidFill>
                <a:latin typeface="Arial"/>
                <a:ea typeface="Arial"/>
                <a:cs typeface="Arial"/>
                <a:sym typeface="Arial"/>
              </a:rPr>
              <a:t>→ Выход расписан до входа</a:t>
            </a:r>
            <a:r>
              <a:rPr lang="en-US" sz="1200">
                <a:solidFill>
                  <a:srgbClr val="FBF6FD"/>
                </a:solidFill>
              </a:rPr>
              <a:t/>
            </a:r>
            <a:r>
              <a:rPr b="0" i="0" lang="en-US" spc="0" sz="1200" u="none" cap="none" strike="noStrike">
                <a:solidFill>
                  <a:srgbClr val="FBF6FD"/>
                </a:solidFill>
                <a:latin typeface="Arial"/>
                <a:ea typeface="Arial"/>
                <a:cs typeface="Arial"/>
                <a:sym typeface="Arial"/>
              </a:rPr>
              <a:t/>
            </a:r>
            <a:endParaRPr b="0" i="0" spc="0" sz="1400" u="none" cap="none" strike="noStrike">
              <a:solidFill>
                <a:srgbClr val="000000"/>
              </a:solidFill>
              <a:latin typeface="Arial"/>
              <a:ea typeface="Arial"/>
              <a:cs typeface="Arial"/>
              <a:sym typeface="Arial"/>
            </a:endParaRPr>
          </a:p>
        </p:txBody>
      </p:sp>
      <p:cxnSp>
        <p:nvCxnSpPr>
          <p:cNvPr id="338" name="Google Shape;338;p14"/>
          <p:cNvCxnSpPr/>
          <p:nvPr/>
        </p:nvCxnSpPr>
        <p:spPr>
          <a:xfrm>
            <a:off x="711403" y="5524805"/>
            <a:ext cx="11087100" cy="0"/>
          </a:xfrm>
          <a:prstGeom prst="straightConnector1">
            <a:avLst/>
          </a:prstGeom>
          <a:noFill/>
          <a:ln cap="flat" cmpd="sng" w="9525">
            <a:solidFill>
              <a:srgbClr val="57376F"/>
            </a:solidFill>
            <a:prstDash val="solid"/>
            <a:round/>
            <a:headEnd len="sm" w="sm" type="none"/>
            <a:tailEnd len="sm" w="sm" type="none"/>
          </a:ln>
        </p:spPr>
      </p:cxnSp>
      <p:sp>
        <p:nvSpPr>
          <p:cNvPr id="339" name="Google Shape;339;p14"/>
          <p:cNvSpPr txBox="1"/>
          <p:nvPr/>
        </p:nvSpPr>
        <p:spPr>
          <a:xfrm>
            <a:off x="711403" y="5613502"/>
            <a:ext cx="11087100" cy="4572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1200"/>
              <a:buFont typeface="Arial"/>
              <a:buNone/>
            </a:pPr>
            <a:r>
              <a:rPr b="1" i="0" lang="en-US" spc="0" sz="1200" u="none" cap="none" strike="noStrike">
                <a:solidFill>
                  <a:srgbClr val="F3ECF7"/>
                </a:solidFill>
                <a:latin typeface="Arial"/>
                <a:ea typeface="Arial"/>
                <a:cs typeface="Arial"/>
                <a:sym typeface="Arial"/>
              </a:rPr>
              <a:t>Цель слайда 1 — остаться №1 и зарабатывать сверх комиссии. Это единственный из рассмотренных путей, где опора не отнимается ни дронами, ни законом, ни санкциями. Поэтому слабости признаём — и идём.</a:t>
            </a:r>
            <a:r>
              <a:rPr b="0" i="0" lang="en-US" spc="0" sz="1200" u="none" cap="none" strike="noStrike">
                <a:solidFill>
                  <a:srgbClr val="F3ECF7"/>
                </a:solidFill>
                <a:latin typeface="Arial"/>
                <a:ea typeface="Arial"/>
                <a:cs typeface="Arial"/>
                <a:sym typeface="Arial"/>
              </a:rPr>
              <a:t/>
            </a:r>
            <a:endParaRPr b="0" i="0" spc="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A0B45"/>
        </a:solidFill>
      </p:bgPr>
    </p:bg>
    <p:spTree>
      <p:nvGrpSpPr>
        <p:cNvPr id="130" name="Shape 130"/>
        <p:cNvGrpSpPr/>
        <p:nvPr/>
      </p:nvGrpSpPr>
      <p:grpSpPr>
        <a:xfrm>
          <a:off x="0" y="0"/>
          <a:ext cx="0" cy="0"/>
          <a:chOff x="0" y="0"/>
          <a:chExt cx="0" cy="0"/>
        </a:xfrm>
      </p:grpSpPr>
      <p:sp>
        <p:nvSpPr>
          <p:cNvPr id="131" name="Google Shape;131;p10"/>
          <p:cNvSpPr txBox="1"/>
          <p:nvPr>
            <p:ph type="title"/>
          </p:nvPr>
        </p:nvSpPr>
        <p:spPr>
          <a:xfrm>
            <a:off x="711200" y="797560"/>
            <a:ext cx="10769700" cy="711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241036"/>
              </a:buClr>
              <a:buSzPts val="2500"/>
              <a:buFont typeface="Inter"/>
              <a:buNone/>
            </a:pPr>
            <a:r>
              <a:t/>
            </a:r>
            <a:endParaRPr/>
          </a:p>
        </p:txBody>
      </p:sp>
      <p:sp>
        <p:nvSpPr>
          <p:cNvPr id="132" name="Google Shape;132;p10"/>
          <p:cNvSpPr txBox="1"/>
          <p:nvPr/>
        </p:nvSpPr>
        <p:spPr>
          <a:xfrm>
            <a:off x="711200" y="406400"/>
            <a:ext cx="6350100" cy="2412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None/>
            </a:pPr>
            <a:r>
              <a:rPr b="1" i="0" lang="en-US" spc="0" sz="1200" u="none" cap="none" strike="noStrike">
                <a:solidFill>
                  <a:srgbClr val="F27BD8"/>
                </a:solidFill>
                <a:latin typeface="Arial"/>
                <a:ea typeface="Arial"/>
                <a:cs typeface="Arial"/>
                <a:sym typeface="Arial"/>
              </a:rPr>
              <a:t>2029 · три года спустя</a:t>
            </a:r>
            <a:endParaRPr/>
          </a:p>
        </p:txBody>
      </p:sp>
      <p:sp>
        <p:nvSpPr>
          <p:cNvPr id="133" name="Google Shape;133;p10"/>
          <p:cNvSpPr txBox="1"/>
          <p:nvPr/>
        </p:nvSpPr>
        <p:spPr>
          <a:xfrm>
            <a:off x="711200" y="774700"/>
            <a:ext cx="11087100" cy="73650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None/>
            </a:pPr>
            <a:r>
              <a:rPr b="1" i="0" lang="en-US" spc="0" sz="2300" u="none" cap="none" strike="noStrike">
                <a:solidFill>
                  <a:srgbClr val="FBF6FD"/>
                </a:solidFill>
                <a:latin typeface="Arial"/>
                <a:ea typeface="Arial"/>
                <a:cs typeface="Arial"/>
                <a:sym typeface="Arial"/>
              </a:rPr>
              <a:t>Wildberries, в котором покупка начинается с разговора, а не с поиска</a:t>
            </a:r>
            <a:endParaRPr/>
          </a:p>
        </p:txBody>
      </p:sp>
      <p:sp>
        <p:nvSpPr>
          <p:cNvPr id="134" name="Google Shape;134;p10"/>
          <p:cNvSpPr txBox="1"/>
          <p:nvPr/>
        </p:nvSpPr>
        <p:spPr>
          <a:xfrm>
            <a:off x="1168400" y="1651000"/>
            <a:ext cx="2031900" cy="2031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1" i="0" lang="en-US" spc="0" sz="1200" u="none" cap="none" strike="noStrike">
                <a:solidFill>
                  <a:srgbClr val="F27BD8"/>
                </a:solidFill>
                <a:latin typeface="Arial"/>
                <a:ea typeface="Arial"/>
                <a:cs typeface="Arial"/>
                <a:sym typeface="Arial"/>
              </a:rPr>
              <a:t>Измерение</a:t>
            </a:r>
            <a:endParaRPr/>
          </a:p>
        </p:txBody>
      </p:sp>
      <p:sp>
        <p:nvSpPr>
          <p:cNvPr id="135" name="Google Shape;135;p10"/>
          <p:cNvSpPr txBox="1"/>
          <p:nvPr/>
        </p:nvSpPr>
        <p:spPr>
          <a:xfrm>
            <a:off x="3378200" y="1651000"/>
            <a:ext cx="2603400" cy="2031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1" i="0" lang="en-US" spc="0" sz="1200" u="none" cap="none" strike="noStrike">
                <a:solidFill>
                  <a:srgbClr val="F27BD8"/>
                </a:solidFill>
                <a:latin typeface="Arial"/>
                <a:ea typeface="Arial"/>
                <a:cs typeface="Arial"/>
                <a:sym typeface="Arial"/>
              </a:rPr>
              <a:t>Что стало наблюдаться</a:t>
            </a:r>
            <a:endParaRPr/>
          </a:p>
        </p:txBody>
      </p:sp>
      <p:sp>
        <p:nvSpPr>
          <p:cNvPr id="136" name="Google Shape;136;p10"/>
          <p:cNvSpPr txBox="1"/>
          <p:nvPr/>
        </p:nvSpPr>
        <p:spPr>
          <a:xfrm>
            <a:off x="6159500" y="1651000"/>
            <a:ext cx="2603400" cy="2031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1" i="0" lang="en-US" spc="0" sz="1200" u="none" cap="none" strike="noStrike">
                <a:solidFill>
                  <a:srgbClr val="F27BD8"/>
                </a:solidFill>
                <a:latin typeface="Arial"/>
                <a:ea typeface="Arial"/>
                <a:cs typeface="Arial"/>
                <a:sym typeface="Arial"/>
              </a:rPr>
              <a:t>Что при этом исчезло</a:t>
            </a:r>
            <a:endParaRPr/>
          </a:p>
        </p:txBody>
      </p:sp>
      <p:sp>
        <p:nvSpPr>
          <p:cNvPr id="137" name="Google Shape;137;p10"/>
          <p:cNvSpPr txBox="1"/>
          <p:nvPr/>
        </p:nvSpPr>
        <p:spPr>
          <a:xfrm>
            <a:off x="8940800" y="1651000"/>
            <a:ext cx="2857500" cy="2031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1" i="0" lang="en-US" spc="0" sz="1200" u="none" cap="none" strike="noStrike">
                <a:solidFill>
                  <a:srgbClr val="F27BD8"/>
                </a:solidFill>
                <a:latin typeface="Arial"/>
                <a:ea typeface="Arial"/>
                <a:cs typeface="Arial"/>
                <a:sym typeface="Arial"/>
              </a:rPr>
              <a:t>К чему пришли</a:t>
            </a:r>
            <a:r>
              <a:rPr b="1" lang="en-US" sz="1200">
                <a:solidFill>
                  <a:srgbClr val="F27BD8"/>
                </a:solidFill>
              </a:rPr>
              <a:t/>
            </a:r>
            <a:r>
              <a:rPr b="1" i="0" lang="en-US" spc="0" sz="1200" u="none" cap="none" strike="noStrike">
                <a:solidFill>
                  <a:srgbClr val="F27BD8"/>
                </a:solidFill>
                <a:latin typeface="Arial"/>
                <a:ea typeface="Arial"/>
                <a:cs typeface="Arial"/>
                <a:sym typeface="Arial"/>
              </a:rPr>
              <a:t/>
            </a:r>
            <a:endParaRPr/>
          </a:p>
        </p:txBody>
      </p:sp>
      <p:cxnSp>
        <p:nvCxnSpPr>
          <p:cNvPr id="138" name="Google Shape;138;p10"/>
          <p:cNvCxnSpPr/>
          <p:nvPr/>
        </p:nvCxnSpPr>
        <p:spPr>
          <a:xfrm>
            <a:off x="711200" y="1917700"/>
            <a:ext cx="11087100" cy="0"/>
          </a:xfrm>
          <a:prstGeom prst="straightConnector1">
            <a:avLst/>
          </a:prstGeom>
          <a:noFill/>
          <a:ln cap="flat" cmpd="sng" w="19050">
            <a:solidFill>
              <a:srgbClr val="F27BD8"/>
            </a:solidFill>
            <a:prstDash val="solid"/>
            <a:round/>
            <a:headEnd len="sm" w="sm" type="none"/>
            <a:tailEnd len="sm" w="sm" type="none"/>
          </a:ln>
        </p:spPr>
      </p:cxnSp>
      <p:sp>
        <p:nvSpPr>
          <p:cNvPr id="139" name="Google Shape;139;p10"/>
          <p:cNvSpPr txBox="1"/>
          <p:nvPr/>
        </p:nvSpPr>
        <p:spPr>
          <a:xfrm>
            <a:off x="711200" y="1981200"/>
            <a:ext cx="381000"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pc="0" sz="1800" u="none" cap="none" strike="noStrike">
                <a:solidFill>
                  <a:srgbClr val="F27BD8"/>
                </a:solidFill>
                <a:latin typeface="Arial"/>
                <a:ea typeface="Arial"/>
                <a:cs typeface="Arial"/>
                <a:sym typeface="Arial"/>
              </a:rPr>
              <a:t>01</a:t>
            </a:r>
            <a:endParaRPr/>
          </a:p>
        </p:txBody>
      </p:sp>
      <p:sp>
        <p:nvSpPr>
          <p:cNvPr id="140" name="Google Shape;140;p10"/>
          <p:cNvSpPr txBox="1"/>
          <p:nvPr/>
        </p:nvSpPr>
        <p:spPr>
          <a:xfrm>
            <a:off x="1168400" y="2006600"/>
            <a:ext cx="2031900" cy="7875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1" i="0" lang="en-US" spc="0" sz="1300" u="none" cap="none" strike="noStrike">
                <a:solidFill>
                  <a:srgbClr val="FBF6FD"/>
                </a:solidFill>
                <a:latin typeface="Arial"/>
                <a:ea typeface="Arial"/>
                <a:cs typeface="Arial"/>
                <a:sym typeface="Arial"/>
              </a:rPr>
              <a:t>Поведение пользователей</a:t>
            </a:r>
            <a:endParaRPr/>
          </a:p>
        </p:txBody>
      </p:sp>
      <p:sp>
        <p:nvSpPr>
          <p:cNvPr id="141" name="Google Shape;141;p10"/>
          <p:cNvSpPr txBox="1"/>
          <p:nvPr/>
        </p:nvSpPr>
        <p:spPr>
          <a:xfrm>
            <a:off x="3378200" y="2006600"/>
            <a:ext cx="2603400" cy="787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pc="0" sz="1200" u="none" cap="none" strike="noStrike">
                <a:solidFill>
                  <a:srgbClr val="DCCCE8"/>
                </a:solidFill>
                <a:latin typeface="Arial"/>
                <a:ea typeface="Arial"/>
                <a:cs typeface="Arial"/>
                <a:sym typeface="Arial"/>
              </a:rPr>
              <a:t>Покупатель рассказывает задачу, а не ищет товар: «одеть ребёнка в школу за 5 тысяч» — привычный способ начать покупку. Повторный визит начинается с консультанта, который помнит размеры, бюджет и состав семьи.</a:t>
            </a:r>
            <a:endParaRPr/>
          </a:p>
        </p:txBody>
      </p:sp>
      <p:sp>
        <p:nvSpPr>
          <p:cNvPr id="142" name="Google Shape;142;p10"/>
          <p:cNvSpPr txBox="1"/>
          <p:nvPr/>
        </p:nvSpPr>
        <p:spPr>
          <a:xfrm>
            <a:off x="6159500" y="2006600"/>
            <a:ext cx="2603400" cy="787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pc="0" sz="1200" u="none" cap="none" strike="noStrike">
                <a:solidFill>
                  <a:srgbClr val="DCCCE8"/>
                </a:solidFill>
                <a:latin typeface="Arial"/>
                <a:ea typeface="Arial"/>
                <a:cs typeface="Arial"/>
                <a:sym typeface="Arial"/>
              </a:rPr>
              <a:t>Реже брошенные поиски и «примерочные» заказы на три размера: одежду выкупают чаще, очереди в ПВЗ на возвраты короче, десятки карточек подряд никто не листает.</a:t>
            </a:r>
            <a:endParaRPr/>
          </a:p>
        </p:txBody>
      </p:sp>
      <p:sp>
        <p:nvSpPr>
          <p:cNvPr id="143" name="Google Shape;143;p10"/>
          <p:cNvSpPr txBox="1"/>
          <p:nvPr/>
        </p:nvSpPr>
        <p:spPr>
          <a:xfrm>
            <a:off x="8940800" y="2006600"/>
            <a:ext cx="2857500" cy="787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pc="0" sz="1200" u="none" cap="none" strike="noStrike">
                <a:solidFill>
                  <a:srgbClr val="F3ECF7"/>
                </a:solidFill>
                <a:latin typeface="Arial"/>
                <a:ea typeface="Arial"/>
                <a:cs typeface="Arial"/>
                <a:sym typeface="Arial"/>
              </a:rPr>
              <a:t>Покупатель планирует траты неделей вперёд и приходит за советом, а не за скидкой: скидка за карту банка перестала быть главным крючком выбора маркетплейса.</a:t>
            </a:r>
            <a:r>
              <a:rPr lang="en-US" sz="1200">
                <a:solidFill>
                  <a:srgbClr val="F3ECF7"/>
                </a:solidFill>
              </a:rPr>
              <a:t/>
            </a:r>
            <a:r>
              <a:rPr b="0" i="0" lang="en-US" spc="0" sz="1200" u="none" cap="none" strike="noStrike">
                <a:solidFill>
                  <a:srgbClr val="F3ECF7"/>
                </a:solidFill>
                <a:latin typeface="Arial"/>
                <a:ea typeface="Arial"/>
                <a:cs typeface="Arial"/>
                <a:sym typeface="Arial"/>
              </a:rPr>
              <a:t/>
            </a:r>
            <a:endParaRPr/>
          </a:p>
        </p:txBody>
      </p:sp>
      <p:cxnSp>
        <p:nvCxnSpPr>
          <p:cNvPr id="144" name="Google Shape;144;p10"/>
          <p:cNvCxnSpPr/>
          <p:nvPr/>
        </p:nvCxnSpPr>
        <p:spPr>
          <a:xfrm>
            <a:off x="711200" y="2832100"/>
            <a:ext cx="11087100" cy="0"/>
          </a:xfrm>
          <a:prstGeom prst="straightConnector1">
            <a:avLst/>
          </a:prstGeom>
          <a:noFill/>
          <a:ln cap="flat" cmpd="sng" w="9525">
            <a:solidFill>
              <a:srgbClr val="57376F"/>
            </a:solidFill>
            <a:prstDash val="solid"/>
            <a:round/>
            <a:headEnd len="sm" w="sm" type="none"/>
            <a:tailEnd len="sm" w="sm" type="none"/>
          </a:ln>
        </p:spPr>
      </p:cxnSp>
      <p:sp>
        <p:nvSpPr>
          <p:cNvPr id="145" name="Google Shape;145;p10"/>
          <p:cNvSpPr txBox="1"/>
          <p:nvPr/>
        </p:nvSpPr>
        <p:spPr>
          <a:xfrm>
            <a:off x="711200" y="2870200"/>
            <a:ext cx="381000"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pc="0" sz="1800" u="none" cap="none" strike="noStrike">
                <a:solidFill>
                  <a:srgbClr val="F27BD8"/>
                </a:solidFill>
                <a:latin typeface="Arial"/>
                <a:ea typeface="Arial"/>
                <a:cs typeface="Arial"/>
                <a:sym typeface="Arial"/>
              </a:rPr>
              <a:t>02</a:t>
            </a:r>
            <a:endParaRPr/>
          </a:p>
        </p:txBody>
      </p:sp>
      <p:sp>
        <p:nvSpPr>
          <p:cNvPr id="146" name="Google Shape;146;p10"/>
          <p:cNvSpPr txBox="1"/>
          <p:nvPr/>
        </p:nvSpPr>
        <p:spPr>
          <a:xfrm>
            <a:off x="1168400" y="2895600"/>
            <a:ext cx="2031900" cy="7875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1" i="0" lang="en-US" spc="0" sz="1300" u="none" cap="none" strike="noStrike">
                <a:solidFill>
                  <a:srgbClr val="FBF6FD"/>
                </a:solidFill>
                <a:latin typeface="Arial"/>
                <a:ea typeface="Arial"/>
                <a:cs typeface="Arial"/>
                <a:sym typeface="Arial"/>
              </a:rPr>
              <a:t>Продукт</a:t>
            </a:r>
            <a:endParaRPr/>
          </a:p>
        </p:txBody>
      </p:sp>
      <p:sp>
        <p:nvSpPr>
          <p:cNvPr id="147" name="Google Shape;147;p10"/>
          <p:cNvSpPr txBox="1"/>
          <p:nvPr/>
        </p:nvSpPr>
        <p:spPr>
          <a:xfrm>
            <a:off x="3378200" y="2895600"/>
            <a:ext cx="2603400" cy="787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pc="0" sz="1200" u="none" cap="none" strike="noStrike">
                <a:solidFill>
                  <a:srgbClr val="DCCCE8"/>
                </a:solidFill>
                <a:latin typeface="Arial"/>
                <a:ea typeface="Arial"/>
                <a:cs typeface="Arial"/>
                <a:sym typeface="Arial"/>
              </a:rPr>
              <a:t>Поисковая строка стала диалогом: короткий разговор, 3–5 подходящих вариантов и честный срок «завтра в ПВЗ у дома». Приложение отвечает на задачу, как продавец в магазине у дома.</a:t>
            </a:r>
            <a:endParaRPr/>
          </a:p>
        </p:txBody>
      </p:sp>
      <p:sp>
        <p:nvSpPr>
          <p:cNvPr id="148" name="Google Shape;148;p10"/>
          <p:cNvSpPr txBox="1"/>
          <p:nvPr/>
        </p:nvSpPr>
        <p:spPr>
          <a:xfrm>
            <a:off x="6159500" y="2895600"/>
            <a:ext cx="2603400" cy="787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pc="0" sz="1200" u="none" cap="none" strike="noStrike">
                <a:solidFill>
                  <a:srgbClr val="DCCCE8"/>
                </a:solidFill>
                <a:latin typeface="Arial"/>
                <a:ea typeface="Arial"/>
                <a:cs typeface="Arial"/>
                <a:sym typeface="Arial"/>
              </a:rPr>
              <a:t>Реклама живёт отдельно от совета: спонсорские места помечены и занимают не больше одной из пяти позиций, совет без пометки воспринимают как мнение, а не как баннер.</a:t>
            </a:r>
            <a:r>
              <a:rPr lang="en-US" sz="1200">
                <a:solidFill>
                  <a:srgbClr val="DCCCE8"/>
                </a:solidFill>
              </a:rPr>
              <a:t/>
            </a:r>
            <a:r>
              <a:rPr b="0" i="0" lang="en-US" spc="0" sz="1200" u="none" cap="none" strike="noStrike">
                <a:solidFill>
                  <a:srgbClr val="DCCCE8"/>
                </a:solidFill>
                <a:latin typeface="Arial"/>
                <a:ea typeface="Arial"/>
                <a:cs typeface="Arial"/>
                <a:sym typeface="Arial"/>
              </a:rPr>
              <a:t/>
            </a:r>
            <a:endParaRPr/>
          </a:p>
        </p:txBody>
      </p:sp>
      <p:sp>
        <p:nvSpPr>
          <p:cNvPr id="149" name="Google Shape;149;p10"/>
          <p:cNvSpPr txBox="1"/>
          <p:nvPr/>
        </p:nvSpPr>
        <p:spPr>
          <a:xfrm>
            <a:off x="8940800" y="2895600"/>
            <a:ext cx="2857500" cy="787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pc="0" sz="1200" u="none" cap="none" strike="noStrike">
                <a:solidFill>
                  <a:srgbClr val="F3ECF7"/>
                </a:solidFill>
                <a:latin typeface="Arial"/>
                <a:ea typeface="Arial"/>
                <a:cs typeface="Arial"/>
                <a:sym typeface="Arial"/>
              </a:rPr>
              <a:t>Продавец видит, почему товар не попал в ответ, и правит карточку: подборку решают отзывы и выкуп, а не рекламный бюджет.</a:t>
            </a:r>
            <a:endParaRPr/>
          </a:p>
        </p:txBody>
      </p:sp>
      <p:cxnSp>
        <p:nvCxnSpPr>
          <p:cNvPr id="150" name="Google Shape;150;p10"/>
          <p:cNvCxnSpPr/>
          <p:nvPr/>
        </p:nvCxnSpPr>
        <p:spPr>
          <a:xfrm>
            <a:off x="711200" y="3721100"/>
            <a:ext cx="11087100" cy="0"/>
          </a:xfrm>
          <a:prstGeom prst="straightConnector1">
            <a:avLst/>
          </a:prstGeom>
          <a:noFill/>
          <a:ln cap="flat" cmpd="sng" w="9525">
            <a:solidFill>
              <a:srgbClr val="57376F"/>
            </a:solidFill>
            <a:prstDash val="solid"/>
            <a:round/>
            <a:headEnd len="sm" w="sm" type="none"/>
            <a:tailEnd len="sm" w="sm" type="none"/>
          </a:ln>
        </p:spPr>
      </p:cxnSp>
      <p:sp>
        <p:nvSpPr>
          <p:cNvPr id="151" name="Google Shape;151;p10"/>
          <p:cNvSpPr txBox="1"/>
          <p:nvPr/>
        </p:nvSpPr>
        <p:spPr>
          <a:xfrm>
            <a:off x="711200" y="3759200"/>
            <a:ext cx="381000"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pc="0" sz="1800" u="none" cap="none" strike="noStrike">
                <a:solidFill>
                  <a:srgbClr val="F27BD8"/>
                </a:solidFill>
                <a:latin typeface="Arial"/>
                <a:ea typeface="Arial"/>
                <a:cs typeface="Arial"/>
                <a:sym typeface="Arial"/>
              </a:rPr>
              <a:t>03</a:t>
            </a:r>
            <a:endParaRPr/>
          </a:p>
        </p:txBody>
      </p:sp>
      <p:sp>
        <p:nvSpPr>
          <p:cNvPr id="152" name="Google Shape;152;p10"/>
          <p:cNvSpPr txBox="1"/>
          <p:nvPr/>
        </p:nvSpPr>
        <p:spPr>
          <a:xfrm>
            <a:off x="1168400" y="3784600"/>
            <a:ext cx="2031900" cy="7875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1" i="0" lang="en-US" spc="0" sz="1300" u="none" cap="none" strike="noStrike">
                <a:solidFill>
                  <a:srgbClr val="FBF6FD"/>
                </a:solidFill>
                <a:latin typeface="Arial"/>
                <a:ea typeface="Arial"/>
                <a:cs typeface="Arial"/>
                <a:sym typeface="Arial"/>
              </a:rPr>
              <a:t>Бизнес</a:t>
            </a:r>
            <a:endParaRPr/>
          </a:p>
        </p:txBody>
      </p:sp>
      <p:sp>
        <p:nvSpPr>
          <p:cNvPr id="153" name="Google Shape;153;p10"/>
          <p:cNvSpPr txBox="1"/>
          <p:nvPr/>
        </p:nvSpPr>
        <p:spPr>
          <a:xfrm>
            <a:off x="3378200" y="3784600"/>
            <a:ext cx="2603400" cy="787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pc="0" sz="1200" u="none" cap="none" strike="noStrike">
                <a:solidFill>
                  <a:srgbClr val="DCCCE8"/>
                </a:solidFill>
                <a:latin typeface="Arial"/>
                <a:ea typeface="Arial"/>
                <a:cs typeface="Arial"/>
                <a:sym typeface="Arial"/>
              </a:rPr>
              <a:t>Доход сверх комиссии вырос за счёт спонсорских рекомендаций внутри ответа и рассрочки WB Банка в совете; диалог окупается с запасом, свои GPU работают на всю аудиторию, включая пики распродаж.</a:t>
            </a:r>
            <a:endParaRPr/>
          </a:p>
        </p:txBody>
      </p:sp>
      <p:sp>
        <p:nvSpPr>
          <p:cNvPr id="154" name="Google Shape;154;p10"/>
          <p:cNvSpPr txBox="1"/>
          <p:nvPr/>
        </p:nvSpPr>
        <p:spPr>
          <a:xfrm>
            <a:off x="6159500" y="3784600"/>
            <a:ext cx="2603400" cy="787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pc="0" sz="1200" u="none" cap="none" strike="noStrike">
                <a:solidFill>
                  <a:srgbClr val="DCCCE8"/>
                </a:solidFill>
                <a:latin typeface="Arial"/>
                <a:ea typeface="Arial"/>
                <a:cs typeface="Arial"/>
                <a:sym typeface="Arial"/>
              </a:rPr>
              <a:t>Валовой GMV растёт медленнее, чем мог бы: «примерочные» заказы исчезли, зато выше выкуп, ниже расходы на обратную логистику и меньше нагрузка на склады, которых и так не хватает.</a:t>
            </a:r>
            <a:r>
              <a:rPr lang="en-US" sz="1200">
                <a:solidFill>
                  <a:srgbClr val="DCCCE8"/>
                </a:solidFill>
              </a:rPr>
              <a:t/>
            </a:r>
            <a:r>
              <a:rPr b="0" i="0" lang="en-US" spc="0" sz="1200" u="none" cap="none" strike="noStrike">
                <a:solidFill>
                  <a:srgbClr val="DCCCE8"/>
                </a:solidFill>
                <a:latin typeface="Arial"/>
                <a:ea typeface="Arial"/>
                <a:cs typeface="Arial"/>
                <a:sym typeface="Arial"/>
              </a:rPr>
              <a:t/>
            </a:r>
            <a:endParaRPr/>
          </a:p>
        </p:txBody>
      </p:sp>
      <p:sp>
        <p:nvSpPr>
          <p:cNvPr id="155" name="Google Shape;155;p10"/>
          <p:cNvSpPr txBox="1"/>
          <p:nvPr/>
        </p:nvSpPr>
        <p:spPr>
          <a:xfrm>
            <a:off x="8940800" y="3784600"/>
            <a:ext cx="2857500" cy="787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pc="0" sz="1200" u="none" cap="none" strike="noStrike">
                <a:solidFill>
                  <a:srgbClr val="F3ECF7"/>
                </a:solidFill>
                <a:latin typeface="Arial"/>
                <a:ea typeface="Arial"/>
                <a:cs typeface="Arial"/>
                <a:sym typeface="Arial"/>
              </a:rPr>
              <a:t>Компания и инвесторы перешли на главную метрику — GMV без возвратов на покупателя. Её рост идёт на зрелом рынке, где все конкурируют за конверсию, а не за новых покупателей.</a:t>
            </a:r>
            <a:endParaRPr/>
          </a:p>
        </p:txBody>
      </p:sp>
      <p:cxnSp>
        <p:nvCxnSpPr>
          <p:cNvPr id="156" name="Google Shape;156;p10"/>
          <p:cNvCxnSpPr/>
          <p:nvPr/>
        </p:nvCxnSpPr>
        <p:spPr>
          <a:xfrm>
            <a:off x="711200" y="4610100"/>
            <a:ext cx="11087100" cy="0"/>
          </a:xfrm>
          <a:prstGeom prst="straightConnector1">
            <a:avLst/>
          </a:prstGeom>
          <a:noFill/>
          <a:ln cap="flat" cmpd="sng" w="9525">
            <a:solidFill>
              <a:srgbClr val="57376F"/>
            </a:solidFill>
            <a:prstDash val="solid"/>
            <a:round/>
            <a:headEnd len="sm" w="sm" type="none"/>
            <a:tailEnd len="sm" w="sm" type="none"/>
          </a:ln>
        </p:spPr>
      </p:cxnSp>
      <p:sp>
        <p:nvSpPr>
          <p:cNvPr id="157" name="Google Shape;157;p10"/>
          <p:cNvSpPr txBox="1"/>
          <p:nvPr/>
        </p:nvSpPr>
        <p:spPr>
          <a:xfrm>
            <a:off x="711200" y="4648200"/>
            <a:ext cx="381000"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pc="0" sz="1800" u="none" cap="none" strike="noStrike">
                <a:solidFill>
                  <a:srgbClr val="F27BD8"/>
                </a:solidFill>
                <a:latin typeface="Arial"/>
                <a:ea typeface="Arial"/>
                <a:cs typeface="Arial"/>
                <a:sym typeface="Arial"/>
              </a:rPr>
              <a:t>04</a:t>
            </a:r>
            <a:endParaRPr/>
          </a:p>
        </p:txBody>
      </p:sp>
      <p:sp>
        <p:nvSpPr>
          <p:cNvPr id="158" name="Google Shape;158;p10"/>
          <p:cNvSpPr txBox="1"/>
          <p:nvPr/>
        </p:nvSpPr>
        <p:spPr>
          <a:xfrm>
            <a:off x="1168400" y="4673600"/>
            <a:ext cx="2031900" cy="7875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1" i="0" lang="en-US" spc="0" sz="1300" u="none" cap="none" strike="noStrike">
                <a:solidFill>
                  <a:srgbClr val="FBF6FD"/>
                </a:solidFill>
                <a:latin typeface="Arial"/>
                <a:ea typeface="Arial"/>
                <a:cs typeface="Arial"/>
                <a:sym typeface="Arial"/>
              </a:rPr>
              <a:t>Конкурентная позиция</a:t>
            </a:r>
            <a:endParaRPr/>
          </a:p>
        </p:txBody>
      </p:sp>
      <p:sp>
        <p:nvSpPr>
          <p:cNvPr id="159" name="Google Shape;159;p10"/>
          <p:cNvSpPr txBox="1"/>
          <p:nvPr/>
        </p:nvSpPr>
        <p:spPr>
          <a:xfrm>
            <a:off x="3378200" y="4673600"/>
            <a:ext cx="2603400" cy="787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pc="0" sz="1200" u="none" cap="none" strike="noStrike">
                <a:solidFill>
                  <a:srgbClr val="DCCCE8"/>
                </a:solidFill>
                <a:latin typeface="Arial"/>
                <a:ea typeface="Arial"/>
                <a:cs typeface="Arial"/>
                <a:sym typeface="Arial"/>
              </a:rPr>
              <a:t>WB удержал статус крупнейшего маркетплейса: знание покупателя, накопленное в миллиардах диалогов, не переносится конкурентам и не пострадало ни в одной атаке на склады.</a:t>
            </a:r>
            <a:endParaRPr/>
          </a:p>
        </p:txBody>
      </p:sp>
      <p:sp>
        <p:nvSpPr>
          <p:cNvPr id="160" name="Google Shape;160;p10"/>
          <p:cNvSpPr txBox="1"/>
          <p:nvPr/>
        </p:nvSpPr>
        <p:spPr>
          <a:xfrm>
            <a:off x="6159500" y="4673600"/>
            <a:ext cx="2603400" cy="787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pc="0" sz="1200" u="none" cap="none" strike="noStrike">
                <a:solidFill>
                  <a:srgbClr val="DCCCE8"/>
                </a:solidFill>
                <a:latin typeface="Arial"/>
                <a:ea typeface="Arial"/>
                <a:cs typeface="Arial"/>
                <a:sym typeface="Arial"/>
              </a:rPr>
              <a:t>Ozon и Яндекс остались быстрее в срочной доставке и сильнее в финтехе, но их ассистенты вторые: они догоняют там, где WB накопил годы разговоров и памяти.</a:t>
            </a:r>
            <a:r>
              <a:rPr lang="en-US" sz="1200">
                <a:solidFill>
                  <a:srgbClr val="DCCCE8"/>
                </a:solidFill>
              </a:rPr>
              <a:t/>
            </a:r>
            <a:r>
              <a:rPr b="0" i="0" lang="en-US" spc="0" sz="1200" u="none" cap="none" strike="noStrike">
                <a:solidFill>
                  <a:srgbClr val="DCCCE8"/>
                </a:solidFill>
                <a:latin typeface="Arial"/>
                <a:ea typeface="Arial"/>
                <a:cs typeface="Arial"/>
                <a:sym typeface="Arial"/>
              </a:rPr>
              <a:t/>
            </a:r>
            <a:endParaRPr/>
          </a:p>
        </p:txBody>
      </p:sp>
      <p:sp>
        <p:nvSpPr>
          <p:cNvPr id="161" name="Google Shape;161;p10"/>
          <p:cNvSpPr txBox="1"/>
          <p:nvPr/>
        </p:nvSpPr>
        <p:spPr>
          <a:xfrm>
            <a:off x="8940800" y="4673600"/>
            <a:ext cx="2857500" cy="787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pc="0" sz="1200" u="none" cap="none" strike="noStrike">
                <a:solidFill>
                  <a:srgbClr val="F3ECF7"/>
                </a:solidFill>
                <a:latin typeface="Arial"/>
                <a:ea typeface="Arial"/>
                <a:cs typeface="Arial"/>
                <a:sym typeface="Arial"/>
              </a:rPr>
              <a:t>Карточку товара разрешили переносить между площадками, как предлагал Минэк, — и это почти не ударило по WB: главной дверью оказалось доверие, и оно осталось собственностью компании.</a:t>
            </a:r>
            <a:endParaRPr/>
          </a:p>
        </p:txBody>
      </p:sp>
      <p:cxnSp>
        <p:nvCxnSpPr>
          <p:cNvPr id="162" name="Google Shape;162;p10"/>
          <p:cNvCxnSpPr/>
          <p:nvPr/>
        </p:nvCxnSpPr>
        <p:spPr>
          <a:xfrm>
            <a:off x="711200" y="5524500"/>
            <a:ext cx="11087100" cy="0"/>
          </a:xfrm>
          <a:prstGeom prst="straightConnector1">
            <a:avLst/>
          </a:prstGeom>
          <a:noFill/>
          <a:ln cap="flat" cmpd="sng" w="9525">
            <a:solidFill>
              <a:srgbClr val="57376F"/>
            </a:solidFill>
            <a:prstDash val="solid"/>
            <a:round/>
            <a:headEnd len="sm" w="sm" type="none"/>
            <a:tailEnd len="sm" w="sm" type="none"/>
          </a:ln>
        </p:spPr>
      </p:cxnSp>
      <p:sp>
        <p:nvSpPr>
          <p:cNvPr id="163" name="Google Shape;163;p10"/>
          <p:cNvSpPr txBox="1"/>
          <p:nvPr/>
        </p:nvSpPr>
        <p:spPr>
          <a:xfrm>
            <a:off x="711200" y="5613400"/>
            <a:ext cx="11087100" cy="4572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None/>
            </a:pPr>
            <a:r>
              <a:rPr b="1" i="0" lang="en-US" spc="0" sz="1300" u="none" cap="none" strike="noStrike">
                <a:solidFill>
                  <a:srgbClr val="F3ECF7"/>
                </a:solidFill>
                <a:latin typeface="Arial"/>
                <a:ea typeface="Arial"/>
                <a:cs typeface="Arial"/>
                <a:sym typeface="Arial"/>
              </a:rPr>
              <a:t>Общий принцип. Каждое из этих изменений заработано пройденной развилкой — июлем 2027, январём и декабрём 2028 года: масштаб открывал порог, а не обещание. Ставка сработала, потому что проверяла себя раньше, чем масштабировалась.</a:t>
            </a:r>
            <a:r>
              <a:rPr b="0" i="0" lang="en-US" spc="0" sz="1300" u="none" cap="none" strike="noStrike">
                <a:solidFill>
                  <a:srgbClr val="F3ECF7"/>
                </a:solidFill>
                <a:latin typeface="Arial"/>
                <a:ea typeface="Arial"/>
                <a:cs typeface="Arial"/>
                <a:sym typeface="Arial"/>
              </a:rPr>
              <a:t/>
            </a:r>
            <a:r>
              <a:rPr lang="en-US" sz="1300">
                <a:solidFill>
                  <a:srgbClr val="F3ECF7"/>
                </a:solidFill>
              </a:rPr>
              <a:t/>
            </a:r>
            <a:r>
              <a:rPr b="0" i="0" lang="en-US" spc="0" sz="1300" u="none" cap="none" strike="noStrike">
                <a:solidFill>
                  <a:srgbClr val="F3ECF7"/>
                </a:solidFill>
                <a:latin typeface="Arial"/>
                <a:ea typeface="Arial"/>
                <a:cs typeface="Arial"/>
                <a:sym typeface="Arial"/>
              </a:rPr>
              <a:t/>
            </a:r>
            <a:r>
              <a:rPr lang="en-US" sz="1300">
                <a:solidFill>
                  <a:srgbClr val="F3ECF7"/>
                </a:solidFill>
              </a:rPr>
              <a:t/>
            </a:r>
            <a:r>
              <a:rPr b="0" i="0" lang="en-US" spc="0" sz="1300" u="none" cap="none" strike="noStrike">
                <a:solidFill>
                  <a:srgbClr val="F3ECF7"/>
                </a:solidFill>
                <a:latin typeface="Arial"/>
                <a:ea typeface="Arial"/>
                <a:cs typeface="Arial"/>
                <a:sym typeface="Arial"/>
              </a:rPr>
              <a:t/>
            </a:r>
            <a:endParaRPr/>
          </a:p>
        </p:txBody>
      </p:sp>
      <p:sp>
        <p:nvSpPr>
          <p:cNvPr id="164" name="Google Shape;164;p10"/>
          <p:cNvSpPr txBox="1"/>
          <p:nvPr/>
        </p:nvSpPr>
        <p:spPr>
          <a:xfrm>
            <a:off x="711200" y="6248400"/>
            <a:ext cx="11087100" cy="3810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None/>
            </a:pPr>
            <a:r>
              <a:rPr b="0" i="0" lang="en-US" spc="0" sz="1100" u="none" cap="none" strike="noStrike">
                <a:solidFill>
                  <a:srgbClr val="F7F4F9"/>
                </a:solidFill>
                <a:latin typeface="Arial"/>
                <a:ea typeface="Arial"/>
                <a:cs typeface="Arial"/>
                <a:sym typeface="Arial"/>
              </a:rPr>
              <a:t>- Сценарий 2029 года построен на целях, трейд-оффах и порогах развилок слайдов 1, 2, 4, 5, 6 и 7 этой презентации</a:t>
            </a:r>
            <a:r>
              <a:rPr b="0" i="0" lang="en-US" spc="0" sz="1100" u="sng" cap="none" strike="noStrike">
                <a:solidFill>
                  <a:schemeClr val="hlink"/>
                </a:solidFill>
                <a:latin typeface="Arial"/>
                <a:ea typeface="Arial"/>
                <a:cs typeface="Arial"/>
                <a:sym typeface="Arial"/>
                <a:hlinkClick r:id="rId3"/>
              </a:rPr>
              <a:t/>
            </a:r>
            <a:r>
              <a:rPr b="0" i="0" lang="en-US" spc="0" sz="1100" u="none" cap="none" strike="noStrike">
                <a:solidFill>
                  <a:srgbClr val="F7F4F9"/>
                </a:solidFill>
                <a:latin typeface="Arial"/>
                <a:ea typeface="Arial"/>
                <a:cs typeface="Arial"/>
                <a:sym typeface="Arial"/>
              </a:rPr>
              <a:t/>
            </a:r>
            <a:r>
              <a:rPr b="0" i="0" lang="en-US" spc="0" sz="1100" u="sng" cap="none" strike="noStrike">
                <a:solidFill>
                  <a:schemeClr val="hlink"/>
                </a:solidFill>
                <a:latin typeface="Arial"/>
                <a:ea typeface="Arial"/>
                <a:cs typeface="Arial"/>
                <a:sym typeface="Arial"/>
                <a:hlinkClick r:id="rId4"/>
              </a:rPr>
              <a:t/>
            </a:r>
            <a:r>
              <a:rPr b="0" i="0" lang="en-US" spc="0" sz="1100" u="none" cap="none" strike="noStrike">
                <a:solidFill>
                  <a:srgbClr val="F7F4F9"/>
                </a:solidFill>
                <a:latin typeface="Arial"/>
                <a:ea typeface="Arial"/>
                <a:cs typeface="Arial"/>
                <a:sym typeface="Arial"/>
              </a:rPr>
              <a:t/>
            </a:r>
            <a:r>
              <a:rPr b="0" i="0" lang="en-US" spc="0" sz="1100" u="sng" cap="none" strike="noStrike">
                <a:solidFill>
                  <a:schemeClr val="hlink"/>
                </a:solidFill>
                <a:latin typeface="Arial"/>
                <a:ea typeface="Arial"/>
                <a:cs typeface="Arial"/>
                <a:sym typeface="Arial"/>
                <a:hlinkClick r:id="rId5"/>
              </a:rPr>
              <a:t/>
            </a:r>
            <a:r>
              <a:rPr b="0" i="0" lang="en-US" spc="0" sz="1100" u="none" cap="none" strike="noStrike">
                <a:solidFill>
                  <a:srgbClr val="F7F4F9"/>
                </a:solidFill>
                <a:latin typeface="Arial"/>
                <a:ea typeface="Arial"/>
                <a:cs typeface="Arial"/>
                <a:sym typeface="Arial"/>
              </a:rPr>
              <a:t/>
            </a:r>
            <a:r>
              <a:rPr b="0" i="0" lang="en-US" spc="0" sz="1100" u="sng" cap="none" strike="noStrike">
                <a:solidFill>
                  <a:schemeClr val="hlink"/>
                </a:solidFill>
                <a:latin typeface="Arial"/>
                <a:ea typeface="Arial"/>
                <a:cs typeface="Arial"/>
                <a:sym typeface="Arial"/>
                <a:hlinkClick r:id="rId6"/>
              </a:rPr>
              <a:t/>
            </a:r>
            <a:endParaRPr b="0" i="0" spc="0" sz="1100" u="none" cap="none" strike="noStrike">
              <a:solidFill>
                <a:srgbClr val="F7F4F9"/>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Wildberries: стратегия и ставка">
  <a:themeElements>
    <a:clrScheme name="Wildberries: стратегия и ставка">
      <a:dk1>
        <a:srgbClr val="3D2A4F"/>
      </a:dk1>
      <a:lt1>
        <a:srgbClr val="F7F4F9"/>
      </a:lt1>
      <a:dk2>
        <a:srgbClr val="6C5D7A"/>
      </a:dk2>
      <a:lt2>
        <a:srgbClr val="E4E0E8"/>
      </a:lt2>
      <a:accent1>
        <a:srgbClr val="A80E8E"/>
      </a:accent1>
      <a:accent2>
        <a:srgbClr val="F27BD8"/>
      </a:accent2>
      <a:accent3>
        <a:srgbClr val="2A0B45"/>
      </a:accent3>
      <a:accent4>
        <a:srgbClr val="241036"/>
      </a:accent4>
      <a:accent5>
        <a:srgbClr val="5E4D6E"/>
      </a:accent5>
      <a:accent6>
        <a:srgbClr val="DCCCE8"/>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Wildberries: стратегия и ставка">
  <a:themeElements>
    <a:clrScheme name="Wildberries: стратегия и ставка">
      <a:dk1>
        <a:srgbClr val="3D2A4F"/>
      </a:dk1>
      <a:lt1>
        <a:srgbClr val="F7F4F9"/>
      </a:lt1>
      <a:dk2>
        <a:srgbClr val="6C5D7A"/>
      </a:dk2>
      <a:lt2>
        <a:srgbClr val="E4E0E8"/>
      </a:lt2>
      <a:accent1>
        <a:srgbClr val="A80E8E"/>
      </a:accent1>
      <a:accent2>
        <a:srgbClr val="F27BD8"/>
      </a:accent2>
      <a:accent3>
        <a:srgbClr val="2A0B45"/>
      </a:accent3>
      <a:accent4>
        <a:srgbClr val="241036"/>
      </a:accent4>
      <a:accent5>
        <a:srgbClr val="5E4D6E"/>
      </a:accent5>
      <a:accent6>
        <a:srgbClr val="DCCCE8"/>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Wildberries: стратегия и ставка">
  <a:themeElements>
    <a:clrScheme name="Wildberries: стратегия и ставка">
      <a:dk1>
        <a:srgbClr val="3D2A4F"/>
      </a:dk1>
      <a:lt1>
        <a:srgbClr val="F7F4F9"/>
      </a:lt1>
      <a:dk2>
        <a:srgbClr val="6C5D7A"/>
      </a:dk2>
      <a:lt2>
        <a:srgbClr val="E4E0E8"/>
      </a:lt2>
      <a:accent1>
        <a:srgbClr val="A80E8E"/>
      </a:accent1>
      <a:accent2>
        <a:srgbClr val="F27BD8"/>
      </a:accent2>
      <a:accent3>
        <a:srgbClr val="2A0B45"/>
      </a:accent3>
      <a:accent4>
        <a:srgbClr val="241036"/>
      </a:accent4>
      <a:accent5>
        <a:srgbClr val="5E4D6E"/>
      </a:accent5>
      <a:accent6>
        <a:srgbClr val="DCCCE8"/>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