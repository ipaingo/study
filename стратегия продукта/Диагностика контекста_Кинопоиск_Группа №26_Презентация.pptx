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-654"/>
    </p:cViewPr>
  </p:notesTextViewPr>
  <p:gridSpacing cx="39601" cy="396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Выручка</c:v>
          </c:tx>
          <c:spPr>
            <a:solidFill>
              <a:srgbClr val="FF6B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F7F7F8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3"/>
              <c:pt idx="0">
                <c:v>2023</c:v>
              </c:pt>
              <c:pt idx="1">
                <c:v>2024</c:v>
              </c:pt>
              <c:pt idx="2">
                <c:v>2025</c:v>
              </c:pt>
            </c:numLit>
          </c:cat>
          <c:val>
            <c:numLit>
              <c:formatCode>General</c:formatCode>
              <c:ptCount val="3"/>
              <c:pt idx="0">
                <c:v>31.29</c:v>
              </c:pt>
              <c:pt idx="1">
                <c:v>47.16</c:v>
              </c:pt>
              <c:pt idx="2">
                <c:v>57.8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8D9-4E57-ACBB-1CFAA29CC6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FFFFFF">
                <a:alpha val="20000"/>
              </a:srgbClr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5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endParaRPr lang="ru-RU"/>
          </a:p>
        </c:txPr>
        <c:crossAx val="48650112"/>
        <c:crosses val="autoZero"/>
        <c:crossBetween val="between"/>
      </c:valAx>
      <c:spPr>
        <a:solidFill>
          <a:srgbClr val="09090B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09090B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Комментарий к слайду:</a:t>
            </a:r>
          </a:p>
          <a:p>
            <a:r>
              <a:t>Мы диагностировали Кинопоиск как зрелый цифровой продукт и проверили, какая стратегия опирается на его реальное преимущество. Логика презентации идет от пользовательской задачи к экономике, конкуренции, рискам и финальной рекомендации.</a:t>
            </a:r>
          </a:p>
          <a:p>
            <a:endParaRPr/>
          </a:p>
          <a:p>
            <a:r>
              <a:t>Источники:</a:t>
            </a:r>
          </a:p>
          <a:p>
            <a:r>
              <a:t>• https://cdn.comss.net/img/112025/kinopoisk3.png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Комментарий</a:t>
            </a:r>
            <a:r>
              <a:rPr dirty="0"/>
              <a:t> к </a:t>
            </a:r>
            <a:r>
              <a:rPr dirty="0" err="1"/>
              <a:t>слайду</a:t>
            </a:r>
            <a:r>
              <a:rPr dirty="0"/>
              <a:t>:</a:t>
            </a:r>
          </a:p>
          <a:p>
            <a:r>
              <a:rPr dirty="0"/>
              <a:t>Кинопоиск </a:t>
            </a:r>
            <a:r>
              <a:rPr dirty="0" err="1"/>
              <a:t>совмещает</a:t>
            </a:r>
            <a:r>
              <a:rPr dirty="0"/>
              <a:t> </a:t>
            </a:r>
            <a:r>
              <a:rPr dirty="0" err="1"/>
              <a:t>онлайн-кинотеатр</a:t>
            </a:r>
            <a:r>
              <a:rPr dirty="0"/>
              <a:t> и </a:t>
            </a:r>
            <a:r>
              <a:rPr dirty="0" err="1"/>
              <a:t>бесплатную</a:t>
            </a:r>
            <a:r>
              <a:rPr dirty="0"/>
              <a:t> </a:t>
            </a:r>
            <a:r>
              <a:rPr dirty="0" err="1"/>
              <a:t>платформу</a:t>
            </a:r>
            <a:r>
              <a:rPr dirty="0"/>
              <a:t> о </a:t>
            </a:r>
            <a:r>
              <a:rPr dirty="0" err="1"/>
              <a:t>кино</a:t>
            </a:r>
            <a:r>
              <a:rPr dirty="0"/>
              <a:t>. </a:t>
            </a:r>
            <a:r>
              <a:rPr dirty="0" err="1"/>
              <a:t>Приоритетный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— </a:t>
            </a:r>
            <a:r>
              <a:rPr dirty="0" err="1"/>
              <a:t>подписчик</a:t>
            </a:r>
            <a:r>
              <a:rPr dirty="0"/>
              <a:t> </a:t>
            </a:r>
            <a:r>
              <a:rPr dirty="0" err="1"/>
              <a:t>Плюса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регулярно</a:t>
            </a:r>
            <a:r>
              <a:rPr dirty="0"/>
              <a:t> </a:t>
            </a:r>
            <a:r>
              <a:rPr dirty="0" err="1"/>
              <a:t>смотрит</a:t>
            </a:r>
            <a:r>
              <a:rPr dirty="0"/>
              <a:t> </a:t>
            </a:r>
            <a:r>
              <a:rPr dirty="0" err="1"/>
              <a:t>контент</a:t>
            </a:r>
            <a:r>
              <a:rPr dirty="0"/>
              <a:t>. </a:t>
            </a:r>
            <a:r>
              <a:rPr dirty="0" err="1"/>
              <a:t>Общая</a:t>
            </a:r>
            <a:r>
              <a:rPr dirty="0"/>
              <a:t> </a:t>
            </a: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Плюса</a:t>
            </a:r>
            <a:r>
              <a:rPr dirty="0"/>
              <a:t> </a:t>
            </a:r>
            <a:r>
              <a:rPr dirty="0" err="1"/>
              <a:t>существенно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аудитории</a:t>
            </a:r>
            <a:r>
              <a:rPr dirty="0"/>
              <a:t> </a:t>
            </a:r>
            <a:r>
              <a:rPr dirty="0" err="1"/>
              <a:t>активных</a:t>
            </a:r>
            <a:r>
              <a:rPr dirty="0"/>
              <a:t> </a:t>
            </a:r>
            <a:r>
              <a:rPr dirty="0" err="1"/>
              <a:t>зрителей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продукту</a:t>
            </a:r>
            <a:r>
              <a:rPr dirty="0"/>
              <a:t>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наращивать</a:t>
            </a:r>
            <a:r>
              <a:rPr dirty="0"/>
              <a:t> </a:t>
            </a:r>
            <a:r>
              <a:rPr dirty="0" err="1"/>
              <a:t>долю</a:t>
            </a:r>
            <a:r>
              <a:rPr dirty="0"/>
              <a:t> </a:t>
            </a:r>
            <a:r>
              <a:rPr dirty="0" err="1"/>
              <a:t>смотрящих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отчитываться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ростом</a:t>
            </a:r>
            <a:r>
              <a:rPr dirty="0"/>
              <a:t> </a:t>
            </a:r>
            <a:r>
              <a:rPr dirty="0" err="1"/>
              <a:t>подписки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• https://www.cnews.ru/news/line/2026-09-01_vitrina_onlajn-kinoteatra</a:t>
            </a:r>
          </a:p>
          <a:p>
            <a:r>
              <a:rPr dirty="0"/>
              <a:t>• https://brokerkf.ru/invest/analytics/ideas/yandeks-silnye-rezultaty-po-itogam-2025-goda/</a:t>
            </a:r>
          </a:p>
          <a:p>
            <a:r>
              <a:rPr dirty="0"/>
              <a:t>• https://yandex.ru/company/news/25-04-2025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Комментарий</a:t>
            </a:r>
            <a:r>
              <a:rPr dirty="0"/>
              <a:t> к </a:t>
            </a:r>
            <a:r>
              <a:rPr dirty="0" err="1"/>
              <a:t>слайду</a:t>
            </a:r>
            <a:r>
              <a:rPr dirty="0"/>
              <a:t>:</a:t>
            </a:r>
          </a:p>
          <a:p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нанимает</a:t>
            </a:r>
            <a:r>
              <a:rPr dirty="0"/>
              <a:t> </a:t>
            </a:r>
            <a:r>
              <a:rPr dirty="0" err="1"/>
              <a:t>продукт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.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задача</a:t>
            </a:r>
            <a:r>
              <a:rPr dirty="0"/>
              <a:t> —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снять</a:t>
            </a:r>
            <a:r>
              <a:rPr dirty="0"/>
              <a:t> </a:t>
            </a:r>
            <a:r>
              <a:rPr dirty="0" err="1"/>
              <a:t>неопределенность</a:t>
            </a:r>
            <a:r>
              <a:rPr dirty="0"/>
              <a:t> и </a:t>
            </a:r>
            <a:r>
              <a:rPr dirty="0" err="1"/>
              <a:t>начать</a:t>
            </a:r>
            <a:r>
              <a:rPr dirty="0"/>
              <a:t> </a:t>
            </a:r>
            <a:r>
              <a:rPr dirty="0" err="1"/>
              <a:t>отдыхать</a:t>
            </a:r>
            <a:r>
              <a:rPr dirty="0"/>
              <a:t>. Кинопоиск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ценность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рейтинги</a:t>
            </a:r>
            <a:r>
              <a:rPr dirty="0"/>
              <a:t>, </a:t>
            </a:r>
            <a:r>
              <a:rPr dirty="0" err="1"/>
              <a:t>историю</a:t>
            </a:r>
            <a:r>
              <a:rPr dirty="0"/>
              <a:t> </a:t>
            </a:r>
            <a:r>
              <a:rPr dirty="0" err="1"/>
              <a:t>взаимодействий</a:t>
            </a:r>
            <a:r>
              <a:rPr dirty="0"/>
              <a:t> и </a:t>
            </a:r>
            <a:r>
              <a:rPr dirty="0" err="1"/>
              <a:t>рекомендации</a:t>
            </a:r>
            <a:r>
              <a:rPr dirty="0"/>
              <a:t>. </a:t>
            </a:r>
            <a:r>
              <a:rPr dirty="0" err="1"/>
              <a:t>Уникальный</a:t>
            </a:r>
            <a:r>
              <a:rPr dirty="0"/>
              <a:t> </a:t>
            </a:r>
            <a:r>
              <a:rPr dirty="0" err="1"/>
              <a:t>актив</a:t>
            </a:r>
            <a:r>
              <a:rPr dirty="0"/>
              <a:t> — </a:t>
            </a:r>
            <a:r>
              <a:rPr dirty="0" err="1"/>
              <a:t>накопленный</a:t>
            </a:r>
            <a:r>
              <a:rPr dirty="0"/>
              <a:t> </a:t>
            </a:r>
            <a:r>
              <a:rPr dirty="0" err="1"/>
              <a:t>массив</a:t>
            </a:r>
            <a:r>
              <a:rPr dirty="0"/>
              <a:t> </a:t>
            </a:r>
            <a:r>
              <a:rPr dirty="0" err="1"/>
              <a:t>оценок</a:t>
            </a:r>
            <a:r>
              <a:rPr dirty="0"/>
              <a:t> и </a:t>
            </a:r>
            <a:r>
              <a:rPr dirty="0" err="1"/>
              <a:t>поведенческих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• https://www.kinopoisk.ru/media/article/4012047/</a:t>
            </a:r>
          </a:p>
          <a:p>
            <a:r>
              <a:rPr dirty="0"/>
              <a:t>• https://habr.com/ru/news/965104/</a:t>
            </a:r>
          </a:p>
          <a:p>
            <a:r>
              <a:rPr dirty="0"/>
              <a:t>• https://opis-cdn.tinkoffjournal.ru/mercury/01-kinopoisk-gets-more-ai.png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Комментарий</a:t>
            </a:r>
            <a:r>
              <a:rPr dirty="0"/>
              <a:t> к </a:t>
            </a:r>
            <a:r>
              <a:rPr dirty="0" err="1"/>
              <a:t>слайду</a:t>
            </a:r>
            <a:r>
              <a:rPr dirty="0"/>
              <a:t>:</a:t>
            </a:r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 Кинопоиск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обычный</a:t>
            </a:r>
            <a:r>
              <a:rPr dirty="0"/>
              <a:t> </a:t>
            </a:r>
            <a:r>
              <a:rPr dirty="0" err="1"/>
              <a:t>онлайн-кинотеатр</a:t>
            </a:r>
            <a:r>
              <a:rPr dirty="0"/>
              <a:t>, </a:t>
            </a:r>
            <a:r>
              <a:rPr dirty="0" err="1"/>
              <a:t>слабость</a:t>
            </a:r>
            <a:r>
              <a:rPr dirty="0"/>
              <a:t> </a:t>
            </a:r>
            <a:r>
              <a:rPr dirty="0" err="1"/>
              <a:t>видна</a:t>
            </a:r>
            <a:r>
              <a:rPr dirty="0"/>
              <a:t> в </a:t>
            </a:r>
            <a:r>
              <a:rPr dirty="0" err="1"/>
              <a:t>гонке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оригинальным</a:t>
            </a:r>
            <a:r>
              <a:rPr dirty="0"/>
              <a:t> </a:t>
            </a:r>
            <a:r>
              <a:rPr dirty="0" err="1"/>
              <a:t>контентом</a:t>
            </a:r>
            <a:r>
              <a:rPr dirty="0"/>
              <a:t>.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сильная</a:t>
            </a:r>
            <a:r>
              <a:rPr dirty="0"/>
              <a:t> </a:t>
            </a:r>
            <a:r>
              <a:rPr dirty="0" err="1"/>
              <a:t>позиция</a:t>
            </a:r>
            <a:r>
              <a:rPr dirty="0"/>
              <a:t> — </a:t>
            </a:r>
            <a:r>
              <a:rPr dirty="0" err="1"/>
              <a:t>бизнес</a:t>
            </a:r>
            <a:r>
              <a:rPr dirty="0"/>
              <a:t> </a:t>
            </a:r>
            <a:r>
              <a:rPr dirty="0" err="1"/>
              <a:t>навигации</a:t>
            </a:r>
            <a:r>
              <a:rPr dirty="0"/>
              <a:t> и </a:t>
            </a:r>
            <a:r>
              <a:rPr dirty="0" err="1"/>
              <a:t>выбора</a:t>
            </a:r>
            <a:r>
              <a:rPr dirty="0"/>
              <a:t>.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соответствует</a:t>
            </a:r>
            <a:r>
              <a:rPr dirty="0"/>
              <a:t> JTBD и </a:t>
            </a:r>
            <a:r>
              <a:rPr dirty="0" err="1"/>
              <a:t>опирается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активы</a:t>
            </a:r>
            <a:r>
              <a:rPr dirty="0"/>
              <a:t>, </a:t>
            </a:r>
            <a:r>
              <a:rPr dirty="0" err="1"/>
              <a:t>которых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у </a:t>
            </a:r>
            <a:r>
              <a:rPr dirty="0" err="1"/>
              <a:t>конкурентов</a:t>
            </a:r>
            <a:r>
              <a:rPr dirty="0"/>
              <a:t> в </a:t>
            </a:r>
            <a:r>
              <a:rPr dirty="0" err="1"/>
              <a:t>таком</a:t>
            </a:r>
            <a:r>
              <a:rPr dirty="0"/>
              <a:t> </a:t>
            </a:r>
            <a:r>
              <a:rPr dirty="0" err="1"/>
              <a:t>масштабе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• https://www.kinometro.ru/analytics/show/name/russtreaming_itogi25_06052026</a:t>
            </a:r>
          </a:p>
          <a:p>
            <a:r>
              <a:rPr dirty="0"/>
              <a:t>• https://www.ixbt.com/news/2026/07/30/425815-vse-premery-pod-rukoi-kinopoisk-obieedinil-rekomendacii-raznyx-strimingov.html</a:t>
            </a:r>
          </a:p>
          <a:p>
            <a:r>
              <a:rPr dirty="0"/>
              <a:t>• https://www.cnews.ru/news/line/2026-09-01_vitrina_onlajn-kinoteatra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Комментарий</a:t>
            </a:r>
            <a:r>
              <a:rPr dirty="0"/>
              <a:t> к </a:t>
            </a:r>
            <a:r>
              <a:rPr dirty="0" err="1"/>
              <a:t>слайду</a:t>
            </a:r>
            <a:r>
              <a:rPr dirty="0"/>
              <a:t>:</a:t>
            </a:r>
          </a:p>
          <a:p>
            <a:r>
              <a:rPr dirty="0" err="1"/>
              <a:t>Экономика</a:t>
            </a:r>
            <a:r>
              <a:rPr dirty="0"/>
              <a:t> Кинопоиска </a:t>
            </a:r>
            <a:r>
              <a:rPr dirty="0" err="1"/>
              <a:t>связана</a:t>
            </a:r>
            <a:r>
              <a:rPr dirty="0"/>
              <a:t> с </a:t>
            </a:r>
            <a:r>
              <a:rPr dirty="0" err="1"/>
              <a:t>Плюсом</a:t>
            </a:r>
            <a:r>
              <a:rPr dirty="0"/>
              <a:t>. </a:t>
            </a:r>
            <a:r>
              <a:rPr dirty="0" err="1"/>
              <a:t>Базовая</a:t>
            </a:r>
            <a:r>
              <a:rPr dirty="0"/>
              <a:t> </a:t>
            </a:r>
            <a:r>
              <a:rPr dirty="0" err="1"/>
              <a:t>подписка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масштаб</a:t>
            </a:r>
            <a:r>
              <a:rPr dirty="0"/>
              <a:t>, а </a:t>
            </a:r>
            <a:r>
              <a:rPr dirty="0" err="1"/>
              <a:t>опции</a:t>
            </a:r>
            <a:r>
              <a:rPr dirty="0"/>
              <a:t>, </a:t>
            </a:r>
            <a:r>
              <a:rPr dirty="0" err="1"/>
              <a:t>партнерские</a:t>
            </a:r>
            <a:r>
              <a:rPr dirty="0"/>
              <a:t> </a:t>
            </a:r>
            <a:r>
              <a:rPr dirty="0" err="1"/>
              <a:t>продажи</a:t>
            </a:r>
            <a:r>
              <a:rPr dirty="0"/>
              <a:t> и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покупки</a:t>
            </a:r>
            <a:r>
              <a:rPr dirty="0"/>
              <a:t> </a:t>
            </a:r>
            <a:r>
              <a:rPr dirty="0" err="1"/>
              <a:t>повышают</a:t>
            </a:r>
            <a:r>
              <a:rPr dirty="0"/>
              <a:t> </a:t>
            </a:r>
            <a:r>
              <a:rPr dirty="0" err="1"/>
              <a:t>средний</a:t>
            </a:r>
            <a:r>
              <a:rPr dirty="0"/>
              <a:t> </a:t>
            </a:r>
            <a:r>
              <a:rPr dirty="0" err="1"/>
              <a:t>доход</a:t>
            </a:r>
            <a:r>
              <a:rPr dirty="0"/>
              <a:t>.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продуктовый</a:t>
            </a:r>
            <a:r>
              <a:rPr dirty="0"/>
              <a:t> </a:t>
            </a:r>
            <a:r>
              <a:rPr dirty="0" err="1"/>
              <a:t>рычаг</a:t>
            </a:r>
            <a:r>
              <a:rPr dirty="0"/>
              <a:t> — </a:t>
            </a:r>
            <a:r>
              <a:rPr dirty="0" err="1"/>
              <a:t>переводить</a:t>
            </a:r>
            <a:r>
              <a:rPr dirty="0"/>
              <a:t> </a:t>
            </a:r>
            <a:r>
              <a:rPr dirty="0" err="1"/>
              <a:t>подписчиков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 «</a:t>
            </a:r>
            <a:r>
              <a:rPr dirty="0" err="1"/>
              <a:t>платит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смотрит</a:t>
            </a:r>
            <a:r>
              <a:rPr dirty="0"/>
              <a:t>» в </a:t>
            </a:r>
            <a:r>
              <a:rPr dirty="0" err="1"/>
              <a:t>регулярный</a:t>
            </a:r>
            <a:r>
              <a:rPr dirty="0"/>
              <a:t> </a:t>
            </a:r>
            <a:r>
              <a:rPr dirty="0" err="1"/>
              <a:t>просмотр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• https://www.tadviser.ru/index.php/Компания:Кинопоиск</a:t>
            </a:r>
          </a:p>
          <a:p>
            <a:r>
              <a:rPr dirty="0"/>
              <a:t>• https://yandex.ru/company/news/17-02-2026</a:t>
            </a:r>
          </a:p>
          <a:p>
            <a:r>
              <a:rPr dirty="0"/>
              <a:t>• https://yandex.ru/company/news/25-04-2025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Комментарий</a:t>
            </a:r>
            <a:r>
              <a:rPr dirty="0"/>
              <a:t> к </a:t>
            </a:r>
            <a:r>
              <a:rPr dirty="0" err="1"/>
              <a:t>слайду</a:t>
            </a:r>
            <a:r>
              <a:rPr dirty="0"/>
              <a:t>:</a:t>
            </a:r>
          </a:p>
          <a:p>
            <a:r>
              <a:rPr dirty="0" err="1"/>
              <a:t>Конкуренция</a:t>
            </a:r>
            <a:r>
              <a:rPr dirty="0"/>
              <a:t> </a:t>
            </a:r>
            <a:r>
              <a:rPr dirty="0" err="1"/>
              <a:t>шире</a:t>
            </a:r>
            <a:r>
              <a:rPr dirty="0"/>
              <a:t> </a:t>
            </a:r>
            <a:r>
              <a:rPr dirty="0" err="1"/>
              <a:t>рынка</a:t>
            </a:r>
            <a:r>
              <a:rPr dirty="0"/>
              <a:t> </a:t>
            </a:r>
            <a:r>
              <a:rPr dirty="0" err="1"/>
              <a:t>подписных</a:t>
            </a:r>
            <a:r>
              <a:rPr dirty="0"/>
              <a:t> </a:t>
            </a:r>
            <a:r>
              <a:rPr dirty="0" err="1"/>
              <a:t>кинотеатров</a:t>
            </a:r>
            <a:r>
              <a:rPr dirty="0"/>
              <a:t>. </a:t>
            </a:r>
            <a:r>
              <a:rPr dirty="0" err="1"/>
              <a:t>Прямые</a:t>
            </a:r>
            <a:r>
              <a:rPr dirty="0"/>
              <a:t> </a:t>
            </a:r>
            <a:r>
              <a:rPr dirty="0" err="1"/>
              <a:t>игроки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 </a:t>
            </a:r>
            <a:r>
              <a:rPr dirty="0" err="1"/>
              <a:t>становятся</a:t>
            </a:r>
            <a:r>
              <a:rPr dirty="0"/>
              <a:t> </a:t>
            </a:r>
            <a:r>
              <a:rPr dirty="0" err="1"/>
              <a:t>партнерами</a:t>
            </a:r>
            <a:r>
              <a:rPr dirty="0"/>
              <a:t> Кинопоиска. </a:t>
            </a:r>
            <a:r>
              <a:rPr dirty="0" err="1"/>
              <a:t>Самая</a:t>
            </a:r>
            <a:r>
              <a:rPr dirty="0"/>
              <a:t> </a:t>
            </a:r>
            <a:r>
              <a:rPr dirty="0" err="1"/>
              <a:t>опасная</a:t>
            </a:r>
            <a:r>
              <a:rPr dirty="0"/>
              <a:t> </a:t>
            </a:r>
            <a:r>
              <a:rPr dirty="0" err="1"/>
              <a:t>зона</a:t>
            </a:r>
            <a:r>
              <a:rPr dirty="0"/>
              <a:t> — </a:t>
            </a:r>
            <a:r>
              <a:rPr dirty="0" err="1"/>
              <a:t>бесплатное</a:t>
            </a:r>
            <a:r>
              <a:rPr dirty="0"/>
              <a:t> </a:t>
            </a:r>
            <a:r>
              <a:rPr dirty="0" err="1"/>
              <a:t>видео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оно</a:t>
            </a:r>
            <a:r>
              <a:rPr dirty="0"/>
              <a:t> </a:t>
            </a:r>
            <a:r>
              <a:rPr dirty="0" err="1"/>
              <a:t>претендует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вечерний</a:t>
            </a:r>
            <a:r>
              <a:rPr dirty="0"/>
              <a:t> </a:t>
            </a:r>
            <a:r>
              <a:rPr dirty="0" err="1"/>
              <a:t>сценарий</a:t>
            </a:r>
            <a:r>
              <a:rPr dirty="0"/>
              <a:t> и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телевизор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подписки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• https://cinemaplex.ru/2026/03/03/itogi-2025-goda-dlya-onlajn-kinoteatrov-rossii.html</a:t>
            </a:r>
          </a:p>
          <a:p>
            <a:r>
              <a:rPr dirty="0"/>
              <a:t>• https://rb.ru/news/vk-video-stal-samym-populyarnym-videoservisom-v-rossii-v-2026-godu-obognal-youtube-i-rutube/</a:t>
            </a:r>
          </a:p>
          <a:p>
            <a:r>
              <a:rPr dirty="0"/>
              <a:t>• https://vc.ru/marketing/3046418-auditoriya-sotsialnykh-setey-v-rossii</a:t>
            </a:r>
          </a:p>
          <a:p>
            <a:r>
              <a:rPr dirty="0"/>
              <a:t>• https://www.cnews.ru/news/line/2025-07-10_polovina_kinoprokatnyh_premer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Комментарий</a:t>
            </a:r>
            <a:r>
              <a:rPr dirty="0"/>
              <a:t> к </a:t>
            </a:r>
            <a:r>
              <a:rPr dirty="0" err="1"/>
              <a:t>слайду</a:t>
            </a:r>
            <a:r>
              <a:rPr dirty="0"/>
              <a:t>:</a:t>
            </a:r>
          </a:p>
          <a:p>
            <a:r>
              <a:rPr dirty="0" err="1"/>
              <a:t>Продукт</a:t>
            </a:r>
            <a:r>
              <a:rPr dirty="0"/>
              <a:t> </a:t>
            </a:r>
            <a:r>
              <a:rPr dirty="0" err="1"/>
              <a:t>достиг</a:t>
            </a:r>
            <a:r>
              <a:rPr dirty="0"/>
              <a:t> </a:t>
            </a:r>
            <a:r>
              <a:rPr dirty="0" err="1"/>
              <a:t>ранней</a:t>
            </a:r>
            <a:r>
              <a:rPr dirty="0"/>
              <a:t> </a:t>
            </a:r>
            <a:r>
              <a:rPr dirty="0" err="1"/>
              <a:t>зрелости</a:t>
            </a:r>
            <a:r>
              <a:rPr dirty="0"/>
              <a:t>, </a:t>
            </a:r>
            <a:r>
              <a:rPr dirty="0" err="1"/>
              <a:t>хотя</a:t>
            </a:r>
            <a:r>
              <a:rPr dirty="0"/>
              <a:t> </a:t>
            </a:r>
            <a:r>
              <a:rPr dirty="0" err="1"/>
              <a:t>рынок</a:t>
            </a:r>
            <a:r>
              <a:rPr dirty="0"/>
              <a:t> </a:t>
            </a:r>
            <a:r>
              <a:rPr dirty="0" err="1"/>
              <a:t>еще</a:t>
            </a:r>
            <a:r>
              <a:rPr dirty="0"/>
              <a:t> </a:t>
            </a:r>
            <a:r>
              <a:rPr dirty="0" err="1"/>
              <a:t>растет</a:t>
            </a:r>
            <a:r>
              <a:rPr dirty="0"/>
              <a:t>. </a:t>
            </a:r>
            <a:r>
              <a:rPr dirty="0" err="1"/>
              <a:t>Темпы</a:t>
            </a:r>
            <a:r>
              <a:rPr dirty="0"/>
              <a:t> </a:t>
            </a:r>
            <a:r>
              <a:rPr dirty="0" err="1"/>
              <a:t>рынка</a:t>
            </a:r>
            <a:r>
              <a:rPr dirty="0"/>
              <a:t> </a:t>
            </a:r>
            <a:r>
              <a:rPr dirty="0" err="1"/>
              <a:t>замедляются</a:t>
            </a:r>
            <a:r>
              <a:rPr dirty="0"/>
              <a:t>, а </a:t>
            </a: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Плюса</a:t>
            </a:r>
            <a:r>
              <a:rPr dirty="0"/>
              <a:t> </a:t>
            </a:r>
            <a:r>
              <a:rPr dirty="0" err="1"/>
              <a:t>растет</a:t>
            </a:r>
            <a:r>
              <a:rPr dirty="0"/>
              <a:t> </a:t>
            </a:r>
            <a:r>
              <a:rPr dirty="0" err="1"/>
              <a:t>медленнее</a:t>
            </a:r>
            <a:r>
              <a:rPr dirty="0"/>
              <a:t>.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прежняя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привлечения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меньше</a:t>
            </a:r>
            <a:r>
              <a:rPr dirty="0"/>
              <a:t> </a:t>
            </a:r>
            <a:r>
              <a:rPr dirty="0" err="1"/>
              <a:t>эффекта</a:t>
            </a:r>
            <a:r>
              <a:rPr dirty="0"/>
              <a:t>. </a:t>
            </a:r>
            <a:r>
              <a:rPr dirty="0" err="1"/>
              <a:t>Новая</a:t>
            </a:r>
            <a:r>
              <a:rPr dirty="0"/>
              <a:t> </a:t>
            </a:r>
            <a:r>
              <a:rPr dirty="0" err="1"/>
              <a:t>кривая</a:t>
            </a:r>
            <a:r>
              <a:rPr dirty="0"/>
              <a:t> </a:t>
            </a:r>
            <a:r>
              <a:rPr dirty="0" err="1"/>
              <a:t>роста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прийти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удержания</a:t>
            </a:r>
            <a:r>
              <a:rPr dirty="0"/>
              <a:t>, ARPU и </a:t>
            </a:r>
            <a:r>
              <a:rPr dirty="0" err="1"/>
              <a:t>платформенной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• https://vc.ru/media/2767618-vyruchka-onlajn-kinoteatrov-2025</a:t>
            </a:r>
          </a:p>
          <a:p>
            <a:r>
              <a:rPr dirty="0"/>
              <a:t>• https://cinemaplex.ru/2026/03/03/itogi-2025-goda-dlya-onlajn-kinoteatrov-rossii.html</a:t>
            </a:r>
          </a:p>
          <a:p>
            <a:r>
              <a:rPr dirty="0"/>
              <a:t>• https://www.kinometro.ru/analytics/show/name/russtreaming_itogi25_06052026</a:t>
            </a:r>
          </a:p>
          <a:p>
            <a:r>
              <a:rPr dirty="0"/>
              <a:t>• https://brokerkf.ru/invest/analytics/ideas/yandeks-silnye-rezultaty-po-itogam-2025-goda/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Комментарий</a:t>
            </a:r>
            <a:r>
              <a:rPr dirty="0"/>
              <a:t> к </a:t>
            </a:r>
            <a:r>
              <a:rPr dirty="0" err="1"/>
              <a:t>слайду</a:t>
            </a:r>
            <a:r>
              <a:rPr dirty="0"/>
              <a:t>:</a:t>
            </a:r>
          </a:p>
          <a:p>
            <a:r>
              <a:rPr dirty="0" err="1"/>
              <a:t>Стратегия</a:t>
            </a:r>
            <a:r>
              <a:rPr dirty="0"/>
              <a:t> </a:t>
            </a:r>
            <a:r>
              <a:rPr dirty="0" err="1"/>
              <a:t>держится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пяти</a:t>
            </a:r>
            <a:r>
              <a:rPr dirty="0"/>
              <a:t> </a:t>
            </a:r>
            <a:r>
              <a:rPr dirty="0" err="1"/>
              <a:t>допущениях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в </a:t>
            </a:r>
            <a:r>
              <a:rPr dirty="0" err="1"/>
              <a:t>первую</a:t>
            </a:r>
            <a:r>
              <a:rPr dirty="0"/>
              <a:t> </a:t>
            </a:r>
            <a:r>
              <a:rPr dirty="0" err="1"/>
              <a:t>очередь</a:t>
            </a:r>
            <a:r>
              <a:rPr dirty="0"/>
              <a:t>. </a:t>
            </a:r>
            <a:r>
              <a:rPr dirty="0" err="1"/>
              <a:t>Первое</a:t>
            </a:r>
            <a:r>
              <a:rPr dirty="0"/>
              <a:t>: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действительно</a:t>
            </a:r>
            <a:r>
              <a:rPr dirty="0"/>
              <a:t> </a:t>
            </a:r>
            <a:r>
              <a:rPr dirty="0" err="1"/>
              <a:t>приносит</a:t>
            </a:r>
            <a:r>
              <a:rPr dirty="0"/>
              <a:t> </a:t>
            </a:r>
            <a:r>
              <a:rPr dirty="0" err="1"/>
              <a:t>деньги</a:t>
            </a:r>
            <a:r>
              <a:rPr dirty="0"/>
              <a:t> и </a:t>
            </a:r>
            <a:r>
              <a:rPr dirty="0" err="1"/>
              <a:t>удержание</a:t>
            </a:r>
            <a:r>
              <a:rPr dirty="0"/>
              <a:t>. </a:t>
            </a:r>
            <a:r>
              <a:rPr dirty="0" err="1"/>
              <a:t>Второе</a:t>
            </a:r>
            <a:r>
              <a:rPr dirty="0"/>
              <a:t>: </a:t>
            </a:r>
            <a:r>
              <a:rPr dirty="0" err="1"/>
              <a:t>платный</a:t>
            </a:r>
            <a:r>
              <a:rPr dirty="0"/>
              <a:t> </a:t>
            </a:r>
            <a:r>
              <a:rPr dirty="0" err="1"/>
              <a:t>продукт</a:t>
            </a:r>
            <a:r>
              <a:rPr dirty="0"/>
              <a:t> </a:t>
            </a:r>
            <a:r>
              <a:rPr dirty="0" err="1"/>
              <a:t>способен</a:t>
            </a:r>
            <a:r>
              <a:rPr dirty="0"/>
              <a:t> </a:t>
            </a:r>
            <a:r>
              <a:rPr dirty="0" err="1"/>
              <a:t>удержать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 </a:t>
            </a:r>
            <a:r>
              <a:rPr dirty="0" err="1"/>
              <a:t>против</a:t>
            </a:r>
            <a:r>
              <a:rPr dirty="0"/>
              <a:t> </a:t>
            </a:r>
            <a:r>
              <a:rPr dirty="0" err="1"/>
              <a:t>бесплатных</a:t>
            </a:r>
            <a:r>
              <a:rPr dirty="0"/>
              <a:t> </a:t>
            </a:r>
            <a:r>
              <a:rPr dirty="0" err="1"/>
              <a:t>платформ</a:t>
            </a:r>
            <a:r>
              <a:rPr dirty="0"/>
              <a:t>.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допущения</a:t>
            </a:r>
            <a:r>
              <a:rPr dirty="0"/>
              <a:t> </a:t>
            </a:r>
            <a:r>
              <a:rPr dirty="0" err="1"/>
              <a:t>ложны</a:t>
            </a:r>
            <a:r>
              <a:rPr dirty="0"/>
              <a:t>, </a:t>
            </a:r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ставка</a:t>
            </a:r>
            <a:r>
              <a:rPr dirty="0"/>
              <a:t> </a:t>
            </a:r>
            <a:r>
              <a:rPr dirty="0" err="1"/>
              <a:t>теряет</a:t>
            </a:r>
            <a:r>
              <a:rPr dirty="0"/>
              <a:t> </a:t>
            </a:r>
            <a:r>
              <a:rPr dirty="0" err="1"/>
              <a:t>смысл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• https://habr.com/ru/news/965104/</a:t>
            </a:r>
          </a:p>
          <a:p>
            <a:r>
              <a:rPr dirty="0"/>
              <a:t>• https://rb.ru/news/vk-video-stal-samym-populyarnym-videoservisom-v-rossii-v-2026-godu-obognal-youtube-i-rutube/</a:t>
            </a:r>
          </a:p>
          <a:p>
            <a:r>
              <a:rPr dirty="0"/>
              <a:t>• https://vc.ru/media/2330878-kinopoisk-obnovil-podpiski-na-servisy-bez-yandeks-plyusa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Комментарий</a:t>
            </a:r>
            <a:r>
              <a:rPr dirty="0"/>
              <a:t> к </a:t>
            </a:r>
            <a:r>
              <a:rPr dirty="0" err="1"/>
              <a:t>слайду</a:t>
            </a:r>
            <a:r>
              <a:rPr dirty="0"/>
              <a:t>:</a:t>
            </a:r>
          </a:p>
          <a:p>
            <a:r>
              <a:rPr dirty="0" err="1"/>
              <a:t>Основная</a:t>
            </a:r>
            <a:r>
              <a:rPr dirty="0"/>
              <a:t> </a:t>
            </a:r>
            <a:r>
              <a:rPr dirty="0" err="1"/>
              <a:t>ставка</a:t>
            </a:r>
            <a:r>
              <a:rPr dirty="0"/>
              <a:t> </a:t>
            </a:r>
            <a:r>
              <a:rPr dirty="0" err="1"/>
              <a:t>одна</a:t>
            </a:r>
            <a:r>
              <a:rPr dirty="0"/>
              <a:t>: </a:t>
            </a:r>
            <a:r>
              <a:rPr dirty="0" err="1"/>
              <a:t>стать</a:t>
            </a:r>
            <a:r>
              <a:rPr dirty="0"/>
              <a:t> </a:t>
            </a:r>
            <a:r>
              <a:rPr dirty="0" err="1"/>
              <a:t>лучшим</a:t>
            </a:r>
            <a:r>
              <a:rPr dirty="0"/>
              <a:t> </a:t>
            </a:r>
            <a:r>
              <a:rPr dirty="0" err="1"/>
              <a:t>инструментом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 </a:t>
            </a:r>
            <a:r>
              <a:rPr dirty="0" err="1"/>
              <a:t>поверх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подписок</a:t>
            </a:r>
            <a:r>
              <a:rPr dirty="0"/>
              <a:t>. </a:t>
            </a:r>
            <a:r>
              <a:rPr dirty="0" err="1"/>
              <a:t>Остальные</a:t>
            </a:r>
            <a:r>
              <a:rPr dirty="0"/>
              <a:t> </a:t>
            </a:r>
            <a:r>
              <a:rPr dirty="0" err="1"/>
              <a:t>направления</a:t>
            </a:r>
            <a:r>
              <a:rPr dirty="0"/>
              <a:t> </a:t>
            </a:r>
            <a:r>
              <a:rPr dirty="0" err="1"/>
              <a:t>включаются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результатам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предположений</a:t>
            </a:r>
            <a:r>
              <a:rPr dirty="0"/>
              <a:t>. </a:t>
            </a:r>
            <a:r>
              <a:rPr dirty="0" err="1"/>
              <a:t>Конверсия</a:t>
            </a:r>
            <a:r>
              <a:rPr dirty="0"/>
              <a:t> </a:t>
            </a:r>
            <a:r>
              <a:rPr dirty="0" err="1"/>
              <a:t>справочной</a:t>
            </a:r>
            <a:r>
              <a:rPr dirty="0"/>
              <a:t> </a:t>
            </a:r>
            <a:r>
              <a:rPr dirty="0" err="1"/>
              <a:t>аудитории</a:t>
            </a:r>
            <a:r>
              <a:rPr dirty="0"/>
              <a:t> </a:t>
            </a:r>
            <a:r>
              <a:rPr dirty="0" err="1"/>
              <a:t>поддерживает</a:t>
            </a:r>
            <a:r>
              <a:rPr dirty="0"/>
              <a:t> </a:t>
            </a:r>
            <a:r>
              <a:rPr dirty="0" err="1"/>
              <a:t>долю</a:t>
            </a:r>
            <a:r>
              <a:rPr dirty="0"/>
              <a:t> </a:t>
            </a:r>
            <a:r>
              <a:rPr dirty="0" err="1"/>
              <a:t>смотрящих</a:t>
            </a:r>
            <a:r>
              <a:rPr dirty="0"/>
              <a:t>, </a:t>
            </a:r>
            <a:r>
              <a:rPr dirty="0" err="1"/>
              <a:t>спорт</a:t>
            </a:r>
            <a:r>
              <a:rPr dirty="0"/>
              <a:t>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частоту</a:t>
            </a:r>
            <a:r>
              <a:rPr dirty="0"/>
              <a:t> и ARPU, а </a:t>
            </a:r>
            <a:r>
              <a:rPr dirty="0" err="1"/>
              <a:t>улучшенный</a:t>
            </a:r>
            <a:r>
              <a:rPr dirty="0"/>
              <a:t> Smart TV </a:t>
            </a:r>
            <a:r>
              <a:rPr dirty="0" err="1"/>
              <a:t>сценарий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бесплатному</a:t>
            </a:r>
            <a:r>
              <a:rPr dirty="0"/>
              <a:t> </a:t>
            </a:r>
            <a:r>
              <a:rPr dirty="0" err="1"/>
              <a:t>видео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• https://www.ixbt.com/news/2026/07/30/425815-vse-premery-pod-rukoi-kinopoisk-obieedinil-rekomendacii-raznyx-strimingov.html</a:t>
            </a:r>
          </a:p>
          <a:p>
            <a:r>
              <a:rPr dirty="0"/>
              <a:t>• https://www.kinometro.ru/news/show/name/yandex_2025_q2_29072025</a:t>
            </a:r>
          </a:p>
          <a:p>
            <a:r>
              <a:rPr dirty="0"/>
              <a:t>• </a:t>
            </a:r>
            <a:r>
              <a:rPr dirty="0" err="1"/>
              <a:t>Материалы</a:t>
            </a:r>
            <a:r>
              <a:rPr dirty="0"/>
              <a:t>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, </a:t>
            </a:r>
            <a:r>
              <a:rPr dirty="0" err="1"/>
              <a:t>разделы</a:t>
            </a:r>
            <a:r>
              <a:rPr dirty="0"/>
              <a:t> 7–8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Комментарий</a:t>
            </a:r>
            <a:r>
              <a:rPr dirty="0"/>
              <a:t> к </a:t>
            </a:r>
            <a:r>
              <a:rPr dirty="0" err="1"/>
              <a:t>слайду</a:t>
            </a:r>
            <a:r>
              <a:rPr dirty="0"/>
              <a:t>:</a:t>
            </a:r>
          </a:p>
          <a:p>
            <a:r>
              <a:rPr dirty="0" err="1"/>
              <a:t>Главное</a:t>
            </a:r>
            <a:r>
              <a:rPr dirty="0"/>
              <a:t> </a:t>
            </a:r>
            <a:r>
              <a:rPr dirty="0" err="1"/>
              <a:t>преимущество</a:t>
            </a:r>
            <a:r>
              <a:rPr dirty="0"/>
              <a:t> Кинопоиска — </a:t>
            </a:r>
            <a:r>
              <a:rPr dirty="0" err="1"/>
              <a:t>данные</a:t>
            </a:r>
            <a:r>
              <a:rPr dirty="0"/>
              <a:t> и </a:t>
            </a:r>
            <a:r>
              <a:rPr dirty="0" err="1"/>
              <a:t>способность</a:t>
            </a:r>
            <a:r>
              <a:rPr dirty="0"/>
              <a:t> </a:t>
            </a:r>
            <a:r>
              <a:rPr dirty="0" err="1"/>
              <a:t>помочь</a:t>
            </a:r>
            <a:r>
              <a:rPr dirty="0"/>
              <a:t> с </a:t>
            </a:r>
            <a:r>
              <a:rPr dirty="0" err="1"/>
              <a:t>выбором</a:t>
            </a:r>
            <a:r>
              <a:rPr dirty="0"/>
              <a:t>. </a:t>
            </a: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угроза</a:t>
            </a:r>
            <a:r>
              <a:rPr dirty="0"/>
              <a:t> — </a:t>
            </a:r>
            <a:r>
              <a:rPr dirty="0" err="1"/>
              <a:t>бесплатные</a:t>
            </a:r>
            <a:r>
              <a:rPr dirty="0"/>
              <a:t> </a:t>
            </a:r>
            <a:r>
              <a:rPr dirty="0" err="1"/>
              <a:t>платформы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забирают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, </a:t>
            </a:r>
            <a:r>
              <a:rPr dirty="0" err="1"/>
              <a:t>пока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подписчиков</a:t>
            </a:r>
            <a:r>
              <a:rPr dirty="0"/>
              <a:t> </a:t>
            </a:r>
            <a:r>
              <a:rPr dirty="0" err="1"/>
              <a:t>Плюса</a:t>
            </a:r>
            <a:r>
              <a:rPr dirty="0"/>
              <a:t> </a:t>
            </a:r>
            <a:r>
              <a:rPr dirty="0" err="1"/>
              <a:t>остается</a:t>
            </a:r>
            <a:r>
              <a:rPr dirty="0"/>
              <a:t> </a:t>
            </a:r>
            <a:r>
              <a:rPr dirty="0" err="1"/>
              <a:t>неактивной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горизонте</a:t>
            </a:r>
            <a:r>
              <a:rPr dirty="0"/>
              <a:t> </a:t>
            </a:r>
            <a:r>
              <a:rPr dirty="0" err="1"/>
              <a:t>трех-пяти</a:t>
            </a:r>
            <a:r>
              <a:rPr dirty="0"/>
              <a:t> </a:t>
            </a:r>
            <a:r>
              <a:rPr dirty="0" err="1"/>
              <a:t>лет</a:t>
            </a:r>
            <a:r>
              <a:rPr dirty="0"/>
              <a:t> </a:t>
            </a:r>
            <a:r>
              <a:rPr dirty="0" err="1"/>
              <a:t>рекомендуем</a:t>
            </a:r>
            <a:r>
              <a:rPr dirty="0"/>
              <a:t> </a:t>
            </a:r>
            <a:r>
              <a:rPr dirty="0" err="1"/>
              <a:t>развивать</a:t>
            </a:r>
            <a:r>
              <a:rPr dirty="0"/>
              <a:t> </a:t>
            </a:r>
            <a:r>
              <a:rPr dirty="0" err="1"/>
              <a:t>платформу</a:t>
            </a:r>
            <a:r>
              <a:rPr dirty="0"/>
              <a:t> </a:t>
            </a:r>
            <a:r>
              <a:rPr dirty="0" err="1"/>
              <a:t>выбора</a:t>
            </a:r>
            <a:r>
              <a:rPr dirty="0"/>
              <a:t>.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крупные</a:t>
            </a:r>
            <a:r>
              <a:rPr dirty="0"/>
              <a:t> </a:t>
            </a:r>
            <a:r>
              <a:rPr dirty="0" err="1"/>
              <a:t>инвестиции</a:t>
            </a:r>
            <a:r>
              <a:rPr dirty="0"/>
              <a:t> </a:t>
            </a:r>
            <a:r>
              <a:rPr dirty="0" err="1"/>
              <a:t>оправданы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влияния</a:t>
            </a:r>
            <a:r>
              <a:rPr dirty="0"/>
              <a:t> </a:t>
            </a:r>
            <a:r>
              <a:rPr dirty="0" err="1"/>
              <a:t>рекомендаций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удержание</a:t>
            </a:r>
            <a:r>
              <a:rPr dirty="0"/>
              <a:t> и </a:t>
            </a:r>
            <a:r>
              <a:rPr dirty="0" err="1"/>
              <a:t>экономики</a:t>
            </a:r>
            <a:r>
              <a:rPr dirty="0"/>
              <a:t> </a:t>
            </a:r>
            <a:r>
              <a:rPr dirty="0" err="1"/>
              <a:t>партнерств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Источники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Материалы</a:t>
            </a:r>
            <a:r>
              <a:rPr dirty="0"/>
              <a:t>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, </a:t>
            </a:r>
            <a:r>
              <a:rPr dirty="0" err="1"/>
              <a:t>разделы</a:t>
            </a:r>
            <a:r>
              <a:rPr dirty="0"/>
              <a:t> 1–9</a:t>
            </a:r>
          </a:p>
          <a:p>
            <a:r>
              <a:rPr dirty="0"/>
              <a:t>• https://habr.com/ru/news/965104/</a:t>
            </a:r>
          </a:p>
          <a:p>
            <a:r>
              <a:rPr dirty="0"/>
              <a:t>• https://rb.ru/news/vk-video-stal-samym-populyarnym-videoservisom-v-rossii-v-2026-godu-obognal-youtube-i-rutube/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48BB345-ABE0-47C3-B824-DCB00E46DE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6000"/>
            </a:srgbClr>
          </a:solidFill>
          <a:ln w="0">
            <a:noFill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E96CBB1-B15C-4933-8F53-045768A31A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953250" cy="6858000"/>
          </a:xfrm>
          <a:prstGeom prst="rect">
            <a:avLst/>
          </a:prstGeom>
          <a:solidFill>
            <a:srgbClr val="09090B">
              <a:alpha val="82000"/>
            </a:srgbClr>
          </a:solidFill>
          <a:ln w="0">
            <a:noFill/>
          </a:ln>
        </p:spPr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552450"/>
            <a:ext cx="552450" cy="552450"/>
          </a:xfrm>
          <a:prstGeom prst="roundRect">
            <a:avLst>
              <a:gd name="adj" fmla="val 20690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7210BB1-12EE-49B0-B7C3-0806562BFF08}"/>
              </a:ext>
            </a:extLst>
          </p:cNvPr>
          <p:cNvSpPr>
            <a:spLocks noGrp="1"/>
          </p:cNvSpPr>
          <p:nvPr/>
        </p:nvSpPr>
        <p:spPr>
          <a:xfrm>
            <a:off x="1333500" y="710336"/>
            <a:ext cx="3333750" cy="22051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КИНОПОИСК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CA13B62-C26F-4926-A9A0-2EB8B96601FE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77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39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Стратегия</a:t>
            </a:r>
            <a:r>
              <a:rPr sz="39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9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продукта</a:t>
            </a:r>
            <a:endParaRPr sz="390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92000"/>
              </a:lnSpc>
              <a:buNone/>
              <a:defRPr sz="39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на</a:t>
            </a:r>
            <a:r>
              <a:rPr sz="39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9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основе</a:t>
            </a:r>
            <a:r>
              <a:rPr sz="39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39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данных</a:t>
            </a:r>
            <a:endParaRPr sz="390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0142F37-4AD5-4E45-8144-D54960293962}"/>
              </a:ext>
            </a:extLst>
          </p:cNvPr>
          <p:cNvSpPr>
            <a:spLocks noGrp="1"/>
          </p:cNvSpPr>
          <p:nvPr/>
        </p:nvSpPr>
        <p:spPr>
          <a:xfrm>
            <a:off x="628650" y="3371850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FFFFFF">
                    <a:alpha val="78000"/>
                  </a:srgbClr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>
                    <a:alpha val="78000"/>
                  </a:srgbClr>
                </a:solidFill>
                <a:latin typeface="DejaVu Sans"/>
                <a:ea typeface="DejaVu Sans"/>
                <a:cs typeface="DejaVu Sans"/>
              </a:rPr>
              <a:t>Диагностика контекста и рекомендация CEO</a:t>
            </a:r>
          </a:p>
        </p:txBody>
      </p:sp>
      <p:sp>
        <p:nv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882C379-30C4-4E59-BAD1-9ACBEE2706A9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5048250" cy="0"/>
          </a:xfrm>
          <a:prstGeom prst="line">
            <a:avLst/>
          </a:prstGeom>
          <a:noFill/>
          <a:ln w="38100">
            <a:solidFill>
              <a:srgbClr val="FF6B00"/>
            </a:solidFill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0A1954-2B96-4AD3-BE64-46D8DA944988}"/>
              </a:ext>
            </a:extLst>
          </p:cNvPr>
          <p:cNvSpPr>
            <a:spLocks noGrp="1"/>
          </p:cNvSpPr>
          <p:nvPr/>
        </p:nvSpPr>
        <p:spPr>
          <a:xfrm>
            <a:off x="628650" y="4343400"/>
            <a:ext cx="5905500" cy="48721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2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Зименкова Софья</a:t>
            </a:r>
            <a:r>
              <a:rPr sz="12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 ·  </a:t>
            </a:r>
            <a:r>
              <a:rPr lang="ru-RU" sz="12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Давыдов </a:t>
            </a:r>
            <a:r>
              <a:rPr sz="12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Андрей</a:t>
            </a:r>
            <a:endParaRPr lang="ru-RU" sz="1275" b="0" dirty="0">
              <a:solidFill>
                <a:srgbClr val="A6A6B0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2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Муратов </a:t>
            </a:r>
            <a:r>
              <a:rPr sz="12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Данил</a:t>
            </a:r>
            <a:r>
              <a:rPr sz="12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 ·  </a:t>
            </a:r>
            <a:r>
              <a:rPr lang="ru-RU" sz="12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Пальдяев</a:t>
            </a:r>
            <a:r>
              <a:rPr lang="ru-RU" sz="12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2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Дмитрий</a:t>
            </a:r>
            <a:endParaRPr sz="1275" b="0" dirty="0">
              <a:solidFill>
                <a:srgbClr val="A6A6B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A6B6527-0D90-4938-A5D3-A6F758F88F88}"/>
              </a:ext>
            </a:extLst>
          </p:cNvPr>
          <p:cNvSpPr>
            <a:spLocks noGrp="1"/>
          </p:cNvSpPr>
          <p:nvPr/>
        </p:nvSpPr>
        <p:spPr>
          <a:xfrm>
            <a:off x="628650" y="60007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Домашнее задание 1</a:t>
            </a:r>
          </a:p>
        </p:txBody>
      </p:sp>
    </p:spTree>
    <p:extLst>
      <p:ext uri="{BB962C8B-B14F-4D97-AF65-F5344CB8AC3E}">
        <p14:creationId xmlns:p14="http://schemas.microsoft.com/office/powerpoint/2010/main" val="892435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48CED26-50B2-44EE-8F68-870BBD377E2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FF042D-BAD9-4407-BE81-307C50D2552B}"/>
              </a:ext>
            </a:extLst>
          </p:cNvPr>
          <p:cNvSpPr>
            <a:spLocks noGrp="1"/>
          </p:cNvSpPr>
          <p:nvPr/>
        </p:nvSpPr>
        <p:spPr>
          <a:xfrm>
            <a:off x="1162050" y="3429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Продукт и приоритетный пользователь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5D4D308-C14B-4E44-8B57-4D5076664A4D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64112D-5097-402E-B461-B9E008DA058B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Две роли продукта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15F905-8675-48B6-8E2C-7C8E9DB73C16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429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72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Онлайн-кинотеатр</a:t>
            </a:r>
            <a:r>
              <a:rPr sz="172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— просмотр фильмов, сериалов, спорта и телеканалов</a:t>
            </a:r>
          </a:p>
          <a:p>
            <a:pPr algn="l">
              <a:lnSpc>
                <a:spcPct val="116000"/>
              </a:lnSpc>
              <a:buNone/>
              <a:defRPr sz="172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Платформа о кино</a:t>
            </a:r>
            <a:r>
              <a:rPr sz="172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— поиск, рейтинги, рецензии, подборки и билеты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454B077-1162-4468-BE7A-4CAB825BC57D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Приоритетный сегмент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62CC91-A3CF-4366-8837-8A0501574E49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54292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Регулярные пользователи Яндекс Плюса, которые хотят провести вечер за фильмом или сериалом и ценят быстрый выбор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DD7F31B-3913-4644-B8A6-8080FC3181D6}"/>
              </a:ext>
            </a:extLst>
          </p:cNvPr>
          <p:cNvSpPr>
            <a:spLocks noGrp="1"/>
          </p:cNvSpPr>
          <p:nvPr/>
        </p:nvSpPr>
        <p:spPr>
          <a:xfrm>
            <a:off x="6496050" y="1352550"/>
            <a:ext cx="5086350" cy="4000500"/>
          </a:xfrm>
          <a:prstGeom prst="roundRect">
            <a:avLst>
              <a:gd name="adj" fmla="val 5714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5A83E5A-9A84-4B79-BC7B-54888290F2C1}"/>
              </a:ext>
            </a:extLst>
          </p:cNvPr>
          <p:cNvSpPr>
            <a:spLocks noGrp="1"/>
          </p:cNvSpPr>
          <p:nvPr/>
        </p:nvSpPr>
        <p:spPr>
          <a:xfrm>
            <a:off x="6896100" y="175260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60 млн+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84B399-94FF-424F-B49D-D5CE75C15F11}"/>
              </a:ext>
            </a:extLst>
          </p:cNvPr>
          <p:cNvSpPr>
            <a:spLocks noGrp="1"/>
          </p:cNvSpPr>
          <p:nvPr/>
        </p:nvSpPr>
        <p:spPr>
          <a:xfrm>
            <a:off x="6896100" y="2228850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посетителей платформы в месяц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EBC9B85-2318-4398-8E4E-BB75F750586D}"/>
              </a:ext>
            </a:extLst>
          </p:cNvPr>
          <p:cNvSpPr>
            <a:spLocks noGrp="1"/>
          </p:cNvSpPr>
          <p:nvPr/>
        </p:nvSpPr>
        <p:spPr>
          <a:xfrm>
            <a:off x="9239250" y="1752600"/>
            <a:ext cx="1981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47,5 млн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170BECE-234D-4221-AB1B-C7E8F1931A5D}"/>
              </a:ext>
            </a:extLst>
          </p:cNvPr>
          <p:cNvSpPr>
            <a:spLocks noGrp="1"/>
          </p:cNvSpPr>
          <p:nvPr/>
        </p:nvSpPr>
        <p:spPr>
          <a:xfrm>
            <a:off x="9239250" y="2228850"/>
            <a:ext cx="1981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подписчиков Яндекс Плюса по итогам 2025 года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0A76F750-6107-4458-84C7-A8C61BDEAF4F}"/>
              </a:ext>
            </a:extLst>
          </p:cNvPr>
          <p:cNvSpPr>
            <a:spLocks noGrp="1"/>
          </p:cNvSpPr>
          <p:nvPr/>
        </p:nvSpPr>
        <p:spPr>
          <a:xfrm>
            <a:off x="6896100" y="2905125"/>
            <a:ext cx="4324350" cy="0"/>
          </a:xfrm>
          <a:prstGeom prst="line">
            <a:avLst/>
          </a:prstGeom>
          <a:noFill/>
          <a:ln w="9525">
            <a:solidFill>
              <a:srgbClr val="FFFFFF">
                <a:alpha val="14000"/>
              </a:srgbClr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4564125-54CF-480B-89C8-B48379DB9F45}"/>
              </a:ext>
            </a:extLst>
          </p:cNvPr>
          <p:cNvSpPr>
            <a:spLocks noGrp="1"/>
          </p:cNvSpPr>
          <p:nvPr/>
        </p:nvSpPr>
        <p:spPr>
          <a:xfrm>
            <a:off x="6896100" y="32575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6AA9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6AA9FF"/>
                </a:solidFill>
                <a:latin typeface="DejaVu Sans"/>
                <a:ea typeface="DejaVu Sans"/>
                <a:cs typeface="DejaVu Sans"/>
              </a:rPr>
              <a:t>16,5 млн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2F53F64-743E-4DA5-9A29-851BDFDBCF37}"/>
              </a:ext>
            </a:extLst>
          </p:cNvPr>
          <p:cNvSpPr>
            <a:spLocks noGrp="1"/>
          </p:cNvSpPr>
          <p:nvPr/>
        </p:nvSpPr>
        <p:spPr>
          <a:xfrm>
            <a:off x="6896100" y="3733800"/>
            <a:ext cx="209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смотрящих Кинопоиск в месяц, I кв. 2025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C056FF4-41CC-45A0-81C3-A325FED67BEB}"/>
              </a:ext>
            </a:extLst>
          </p:cNvPr>
          <p:cNvSpPr>
            <a:spLocks noGrp="1"/>
          </p:cNvSpPr>
          <p:nvPr/>
        </p:nvSpPr>
        <p:spPr>
          <a:xfrm>
            <a:off x="9239250" y="3257550"/>
            <a:ext cx="1981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45D48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dirty="0">
                <a:solidFill>
                  <a:srgbClr val="45D483"/>
                </a:solidFill>
                <a:latin typeface="DejaVu Sans"/>
                <a:ea typeface="DejaVu Sans"/>
                <a:cs typeface="DejaVu Sans"/>
              </a:rPr>
              <a:t>≈</a:t>
            </a:r>
            <a:r>
              <a:rPr lang="ru-RU" sz="2550" b="1" dirty="0">
                <a:solidFill>
                  <a:srgbClr val="45D483"/>
                </a:solidFill>
                <a:latin typeface="DejaVu Sans"/>
                <a:ea typeface="DejaVu Sans"/>
                <a:cs typeface="DejaVu Sans"/>
              </a:rPr>
              <a:t>35</a:t>
            </a:r>
            <a:r>
              <a:rPr sz="2550" b="1" dirty="0">
                <a:solidFill>
                  <a:srgbClr val="45D483"/>
                </a:solidFill>
                <a:latin typeface="DejaVu Sans"/>
                <a:ea typeface="DejaVu Sans"/>
                <a:cs typeface="DejaVu Sans"/>
              </a:rPr>
              <a:t>%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95FC73A-2515-4523-BEA6-FEACC467D17A}"/>
              </a:ext>
            </a:extLst>
          </p:cNvPr>
          <p:cNvSpPr>
            <a:spLocks noGrp="1"/>
          </p:cNvSpPr>
          <p:nvPr/>
        </p:nvSpPr>
        <p:spPr>
          <a:xfrm>
            <a:off x="9239250" y="3733800"/>
            <a:ext cx="1981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доля</a:t>
            </a:r>
            <a:r>
              <a:rPr sz="112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ru-RU" sz="112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смотрящих</a:t>
            </a:r>
            <a:r>
              <a:rPr sz="112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ru-RU" sz="112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в базе </a:t>
            </a:r>
            <a:r>
              <a:rPr sz="112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Плюса</a:t>
            </a:r>
            <a:r>
              <a:rPr sz="112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, I </a:t>
            </a:r>
            <a:r>
              <a:rPr sz="112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кв</a:t>
            </a:r>
            <a:r>
              <a:rPr sz="112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. 2025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ED1C06-DA6F-4C5D-B4BB-EFF6536BA04B}"/>
              </a:ext>
            </a:extLst>
          </p:cNvPr>
          <p:cNvSpPr>
            <a:spLocks noGrp="1"/>
          </p:cNvSpPr>
          <p:nvPr/>
        </p:nvSpPr>
        <p:spPr>
          <a:xfrm>
            <a:off x="6896100" y="4762500"/>
            <a:ext cx="4305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00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Показатели относятся к разным периодам и описывают разные аудитории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BF72DF1-C5F5-4E57-84D1-154BCB3B7361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72800" cy="647700"/>
          </a:xfrm>
          <a:prstGeom prst="roundRect">
            <a:avLst>
              <a:gd name="adj" fmla="val 26471"/>
            </a:avLst>
          </a:prstGeom>
          <a:solidFill>
            <a:srgbClr val="FF6B00">
              <a:alpha val="14000"/>
            </a:srgbClr>
          </a:solidFill>
          <a:ln w="9525">
            <a:solidFill>
              <a:srgbClr val="FF6B00">
                <a:alpha val="45000"/>
              </a:srgbClr>
            </a:solidFill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D6D85B2-A5AF-4AEE-9E07-3957C0EA0A11}"/>
              </a:ext>
            </a:extLst>
          </p:cNvPr>
          <p:cNvSpPr>
            <a:spLocks noGrp="1"/>
          </p:cNvSpPr>
          <p:nvPr/>
        </p:nvSpPr>
        <p:spPr>
          <a:xfrm>
            <a:off x="876300" y="5715000"/>
            <a:ext cx="10439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Вывод: рост общей базы Плюса не гарантирует рост Кинопоиска. Стратегическая метрика — доля регулярно смотрящих подписчиков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9742DDE-58F0-4875-96F8-FE4B9B82ECB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762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Стратегия продукта на основе данных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4CEC54A-2792-426F-B693-8DE076E6D380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535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9331FB9-79C2-4F77-A413-F4F380C3D75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73EA222-99DA-4823-A43F-5CAF43E67DDC}"/>
              </a:ext>
            </a:extLst>
          </p:cNvPr>
          <p:cNvSpPr>
            <a:spLocks noGrp="1"/>
          </p:cNvSpPr>
          <p:nvPr/>
        </p:nvSpPr>
        <p:spPr>
          <a:xfrm>
            <a:off x="1162050" y="3429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JTBD и источник ценности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CDE3FDD-9457-4980-9CA6-BDCDD44B5A6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9C314B9-5E16-4CCB-91AD-1746EBDBE771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6096000" cy="2000250"/>
          </a:xfrm>
          <a:prstGeom prst="roundRect">
            <a:avLst>
              <a:gd name="adj" fmla="val 11009"/>
            </a:avLst>
          </a:prstGeom>
          <a:solidFill>
            <a:srgbClr val="FF6B00">
              <a:alpha val="13000"/>
            </a:srgbClr>
          </a:solidFill>
          <a:ln w="9525">
            <a:solidFill>
              <a:srgbClr val="FF6B00">
                <a:alpha val="45000"/>
              </a:srgbClr>
            </a:solidFill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FDEE21-D43B-44D0-BA04-152A02239E30}"/>
              </a:ext>
            </a:extLst>
          </p:cNvPr>
          <p:cNvSpPr>
            <a:spLocks noGrp="1"/>
          </p:cNvSpPr>
          <p:nvPr/>
        </p:nvSpPr>
        <p:spPr>
          <a:xfrm>
            <a:off x="914400" y="1738745"/>
            <a:ext cx="5486400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Когда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у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меня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появляется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свободное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время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, я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хочу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быстро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найти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подходящий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фильм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или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сериал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сразу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перейти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к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просмотру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чтобы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не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потратить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вечер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на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долгий</a:t>
            </a:r>
            <a:r>
              <a:rPr sz="18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поиск</a:t>
            </a:r>
            <a:endParaRPr sz="180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93D6EE-335E-49FA-A6EF-C52175111F5B}"/>
              </a:ext>
            </a:extLst>
          </p:cNvPr>
          <p:cNvSpPr>
            <a:spLocks noGrp="1"/>
          </p:cNvSpPr>
          <p:nvPr/>
        </p:nvSpPr>
        <p:spPr>
          <a:xfrm>
            <a:off x="914400" y="1466848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dirty="0" err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Ключевой</a:t>
            </a:r>
            <a:r>
              <a:rPr sz="1050" b="1" dirty="0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 JTBD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/>
          <a:srcRect t="2810" b="2810"/>
          <a:stretch>
            <a:fillRect/>
          </a:stretch>
        </p:blipFill>
        <p:spPr>
          <a:xfrm>
            <a:off x="7086600" y="1314450"/>
            <a:ext cx="4495800" cy="3143250"/>
          </a:xfrm>
          <a:prstGeom prst="roundRect">
            <a:avLst>
              <a:gd name="adj" fmla="val 6667"/>
            </a:avLst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6EFFEF8-9F86-49B7-B93D-EF8EF2C16A67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Главные боли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9540358-C32A-4397-BAED-89B4BA5D51E7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5715000" cy="1352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Слишком большой выбор</a:t>
            </a:r>
            <a:r>
              <a: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: легко потратить время и ничего не включить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Каталог раздроблен</a:t>
            </a:r>
            <a:r>
              <a: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: нужный фильм может быть в другой подписке</a:t>
            </a:r>
          </a:p>
          <a:p>
            <a:pPr algn="l">
              <a:lnSpc>
                <a:spcPct val="112000"/>
              </a:lnSpc>
              <a:buNone/>
              <a:def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Ошибка дорого стоит</a:t>
            </a:r>
            <a:r>
              <a: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: вечер и деньги уже потрачены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111DA97-208D-4D43-92D3-D0154D780F08}"/>
              </a:ext>
            </a:extLst>
          </p:cNvPr>
          <p:cNvSpPr>
            <a:spLocks noGrp="1"/>
          </p:cNvSpPr>
          <p:nvPr/>
        </p:nvSpPr>
        <p:spPr>
          <a:xfrm>
            <a:off x="7086600" y="4762500"/>
            <a:ext cx="4495800" cy="1295400"/>
          </a:xfrm>
          <a:prstGeom prst="roundRect">
            <a:avLst>
              <a:gd name="adj" fmla="val 14706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38B45DB-A72C-4A8B-A340-EFF5D2BCE680}"/>
              </a:ext>
            </a:extLst>
          </p:cNvPr>
          <p:cNvSpPr>
            <a:spLocks noGrp="1"/>
          </p:cNvSpPr>
          <p:nvPr/>
        </p:nvSpPr>
        <p:spPr>
          <a:xfrm>
            <a:off x="7391400" y="50482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1,2 млрд+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846C61-4F3D-4705-84E4-239FC8729F8A}"/>
              </a:ext>
            </a:extLst>
          </p:cNvPr>
          <p:cNvSpPr>
            <a:spLocks noGrp="1"/>
          </p:cNvSpPr>
          <p:nvPr/>
        </p:nvSpPr>
        <p:spPr>
          <a:xfrm>
            <a:off x="7391400" y="5429250"/>
            <a:ext cx="190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оценок пользователей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C7A543C-26AB-4CA2-A05D-C31150E1464F}"/>
              </a:ext>
            </a:extLst>
          </p:cNvPr>
          <p:cNvSpPr>
            <a:spLocks noGrp="1"/>
          </p:cNvSpPr>
          <p:nvPr/>
        </p:nvSpPr>
        <p:spPr>
          <a:xfrm>
            <a:off x="9525000" y="4938568"/>
            <a:ext cx="18288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1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История</a:t>
            </a:r>
            <a:r>
              <a:rPr sz="11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11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данные</a:t>
            </a:r>
            <a:r>
              <a:rPr sz="11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экосистемы</a:t>
            </a:r>
            <a:r>
              <a:rPr sz="11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делают</a:t>
            </a:r>
            <a:r>
              <a:rPr sz="11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персонализацию</a:t>
            </a:r>
            <a:r>
              <a:rPr sz="11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трудной</a:t>
            </a:r>
            <a:r>
              <a:rPr sz="11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для</a:t>
            </a:r>
            <a:r>
              <a:rPr sz="11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1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копирования</a:t>
            </a:r>
            <a:endParaRPr sz="1125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1C0DC8D-6120-4DAD-87C6-6A425B656D97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6096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Источник ценности: персональный выбор, который сокращает путь от намерения к просмотру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64A19B1-9327-4555-9F92-99F8F622B4D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762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Стратегия продукта на основе данных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08D7F92-2CD8-4143-916E-B5EC6A362357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2089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6382BDD-FF49-485C-B1B1-B3B734649C0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43DF7D-BED9-4D64-93F8-3B645B5087F1}"/>
              </a:ext>
            </a:extLst>
          </p:cNvPr>
          <p:cNvSpPr>
            <a:spLocks noGrp="1"/>
          </p:cNvSpPr>
          <p:nvPr/>
        </p:nvSpPr>
        <p:spPr>
          <a:xfrm>
            <a:off x="1162050" y="3429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 каком бизнесе находится Кинопоиск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60CA5B49-A1FF-43BF-AF88-86621980F086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35CC67B-9A3E-4238-A518-18026A51AE2A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Продуктовый взгляд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1FC1A2-A1E7-4C63-BD88-1721E445672B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Онлайн-кинотеатр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AA37C92-ED6D-4082-AA6F-3B60B502AC5F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Конкуренция за каталог, эксклюзивы и стоимость подписки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6723ACD-A5C8-4DCF-A9A3-800028355740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4762500" cy="1009650"/>
          </a:xfrm>
          <a:prstGeom prst="roundRect">
            <a:avLst>
              <a:gd name="adj" fmla="val 16981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9138852-CD14-422F-93EA-5A5FA75DA264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8953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B0C49F-7730-40AB-A1DF-A2AFC60423A5}"/>
              </a:ext>
            </a:extLst>
          </p:cNvPr>
          <p:cNvSpPr>
            <a:spLocks noGrp="1"/>
          </p:cNvSpPr>
          <p:nvPr/>
        </p:nvSpPr>
        <p:spPr>
          <a:xfrm>
            <a:off x="1695450" y="3390900"/>
            <a:ext cx="3371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оригинальных проектов Кинопоиска в 2025 году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83D3259-ED10-4D15-B349-E1EDC5B9CFA7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4762500" cy="1009650"/>
          </a:xfrm>
          <a:prstGeom prst="roundRect">
            <a:avLst>
              <a:gd name="adj" fmla="val 16981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6E1E62D-CED5-46C2-99AA-FBD46BEF24DD}"/>
              </a:ext>
            </a:extLst>
          </p:cNvPr>
          <p:cNvSpPr>
            <a:spLocks noGrp="1"/>
          </p:cNvSpPr>
          <p:nvPr/>
        </p:nvSpPr>
        <p:spPr>
          <a:xfrm>
            <a:off x="876300" y="4495800"/>
            <a:ext cx="8953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FF3B3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3B30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4EA76D4-BF54-44C7-98ED-02DA94C3CB26}"/>
              </a:ext>
            </a:extLst>
          </p:cNvPr>
          <p:cNvSpPr>
            <a:spLocks noGrp="1"/>
          </p:cNvSpPr>
          <p:nvPr/>
        </p:nvSpPr>
        <p:spPr>
          <a:xfrm>
            <a:off x="1695450" y="4514850"/>
            <a:ext cx="3371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оригинальных проектов Okko в 2025 году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13E77A6-C72E-4784-A8CB-C407B4EDC1BC}"/>
              </a:ext>
            </a:extLst>
          </p:cNvPr>
          <p:cNvSpPr>
            <a:spLocks noGrp="1"/>
          </p:cNvSpPr>
          <p:nvPr/>
        </p:nvSpPr>
        <p:spPr>
          <a:xfrm>
            <a:off x="5962650" y="1314450"/>
            <a:ext cx="5619750" cy="4000500"/>
          </a:xfrm>
          <a:prstGeom prst="roundRect">
            <a:avLst>
              <a:gd name="adj" fmla="val 6667"/>
            </a:avLst>
          </a:prstGeom>
          <a:solidFill>
            <a:srgbClr val="FF6B00">
              <a:alpha val="12000"/>
            </a:srgbClr>
          </a:solidFill>
          <a:ln w="9525">
            <a:solidFill>
              <a:srgbClr val="FF6B00">
                <a:alpha val="45000"/>
              </a:srgbClr>
            </a:solidFill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0ADFCC-C34A-40C3-BABD-215391E25F44}"/>
              </a:ext>
            </a:extLst>
          </p:cNvPr>
          <p:cNvSpPr>
            <a:spLocks noGrp="1"/>
          </p:cNvSpPr>
          <p:nvPr/>
        </p:nvSpPr>
        <p:spPr>
          <a:xfrm>
            <a:off x="6343650" y="1638300"/>
            <a:ext cx="4476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Взгляд через потребность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1A7ECCC-E25B-4075-81EB-6E75B8EF81BC}"/>
              </a:ext>
            </a:extLst>
          </p:cNvPr>
          <p:cNvSpPr>
            <a:spLocks noGrp="1"/>
          </p:cNvSpPr>
          <p:nvPr/>
        </p:nvSpPr>
        <p:spPr>
          <a:xfrm>
            <a:off x="6343650" y="2076450"/>
            <a:ext cx="4572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Навигация и выбор видеоконтента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6636E8E-B516-475D-A64E-9B0593773091}"/>
              </a:ext>
            </a:extLst>
          </p:cNvPr>
          <p:cNvSpPr>
            <a:spLocks noGrp="1"/>
          </p:cNvSpPr>
          <p:nvPr/>
        </p:nvSpPr>
        <p:spPr>
          <a:xfrm>
            <a:off x="6343650" y="3181350"/>
            <a:ext cx="4572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Кинопоиск становится точкой входа в вечерний просмотр независимо от того, где пользователь продолжит смотреть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3DAD0F-49D9-42A4-8679-0CD6462D1555}"/>
              </a:ext>
            </a:extLst>
          </p:cNvPr>
          <p:cNvSpPr>
            <a:spLocks noGrp="1"/>
          </p:cNvSpPr>
          <p:nvPr/>
        </p:nvSpPr>
        <p:spPr>
          <a:xfrm>
            <a:off x="6343650" y="4533900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Рекомендации + рейтинги + витрина партнеров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137E48F-4F65-42E8-A90D-FAD783E3780B}"/>
              </a:ext>
            </a:extLst>
          </p:cNvPr>
          <p:cNvSpPr>
            <a:spLocks noGrp="1"/>
          </p:cNvSpPr>
          <p:nvPr/>
        </p:nvSpPr>
        <p:spPr>
          <a:xfrm>
            <a:off x="609600" y="5657849"/>
            <a:ext cx="10972800" cy="696765"/>
          </a:xfrm>
          <a:prstGeom prst="roundRect">
            <a:avLst>
              <a:gd name="adj" fmla="val 27586"/>
            </a:avLst>
          </a:prstGeom>
          <a:solidFill>
            <a:srgbClr val="FFFFFF">
              <a:alpha val="8000"/>
            </a:srgbClr>
          </a:solidFill>
          <a:ln w="0">
            <a:noFill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1407B3E-6646-456A-84A3-3F0E3CE496B0}"/>
              </a:ext>
            </a:extLst>
          </p:cNvPr>
          <p:cNvSpPr>
            <a:spLocks noGrp="1"/>
          </p:cNvSpPr>
          <p:nvPr/>
        </p:nvSpPr>
        <p:spPr>
          <a:xfrm>
            <a:off x="847725" y="5777631"/>
            <a:ext cx="10515600" cy="4571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Стратегия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«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лучший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выбор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»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опирается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на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уникальные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данные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Стратегия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«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лучший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каталог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»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требует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догонять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лидеров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затратам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на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контент</a:t>
            </a:r>
            <a:endParaRPr sz="1425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7F4D5D9-CD32-4189-B3B8-2E270CCFE8B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762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Стратегия продукта на основе данных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0D29111-0BB7-4886-894F-243BB0AD4D1A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27842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B3C0BCD-2899-475F-892E-9BFC7D9E017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564E2D-9DF8-4293-9519-7D91C7E510AA}"/>
              </a:ext>
            </a:extLst>
          </p:cNvPr>
          <p:cNvSpPr>
            <a:spLocks noGrp="1"/>
          </p:cNvSpPr>
          <p:nvPr/>
        </p:nvSpPr>
        <p:spPr>
          <a:xfrm>
            <a:off x="1162050" y="3429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Бизнес-модель и драйверы экономики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A6E3A2D7-0B42-4534-A577-FE9902A826C6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10541C-99AB-457E-AF66-638FD4F9B2FE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Выручка Кинопоиска, млрд ₽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495300" y="1676400"/>
          <a:ext cx="5524500" cy="300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EF47AEB-F4E9-4CBC-A59F-289BE752AF9C}"/>
              </a:ext>
            </a:extLst>
          </p:cNvPr>
          <p:cNvSpPr>
            <a:spLocks noGrp="1"/>
          </p:cNvSpPr>
          <p:nvPr/>
        </p:nvSpPr>
        <p:spPr>
          <a:xfrm>
            <a:off x="6477000" y="1352550"/>
            <a:ext cx="5105400" cy="3333750"/>
          </a:xfrm>
          <a:prstGeom prst="roundRect">
            <a:avLst>
              <a:gd name="adj" fmla="val 6857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9D0973D-54D9-4B51-BD2F-34320FCBFBFC}"/>
              </a:ext>
            </a:extLst>
          </p:cNvPr>
          <p:cNvSpPr>
            <a:spLocks noGrp="1"/>
          </p:cNvSpPr>
          <p:nvPr/>
        </p:nvSpPr>
        <p:spPr>
          <a:xfrm>
            <a:off x="6819900" y="1657350"/>
            <a:ext cx="428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Откуда приходит выручка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33E2F2C-6681-42C3-9A17-89AA65BDDBCB}"/>
              </a:ext>
            </a:extLst>
          </p:cNvPr>
          <p:cNvSpPr>
            <a:spLocks noGrp="1"/>
          </p:cNvSpPr>
          <p:nvPr/>
        </p:nvSpPr>
        <p:spPr>
          <a:xfrm>
            <a:off x="6819900" y="2188438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5D2AB34-F418-4456-B0F9-F842645B17F3}"/>
              </a:ext>
            </a:extLst>
          </p:cNvPr>
          <p:cNvSpPr>
            <a:spLocks noGrp="1"/>
          </p:cNvSpPr>
          <p:nvPr/>
        </p:nvSpPr>
        <p:spPr>
          <a:xfrm>
            <a:off x="7334250" y="2187281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Яндекс</a:t>
            </a:r>
            <a:r>
              <a:rPr sz="13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3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Плюс</a:t>
            </a:r>
            <a:endParaRPr sz="135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5CC2986-5F3C-4FE9-99A6-A8566D561B66}"/>
              </a:ext>
            </a:extLst>
          </p:cNvPr>
          <p:cNvSpPr>
            <a:spLocks noGrp="1"/>
          </p:cNvSpPr>
          <p:nvPr/>
        </p:nvSpPr>
        <p:spPr>
          <a:xfrm>
            <a:off x="9220200" y="2186708"/>
            <a:ext cx="1885950" cy="37003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базовая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подписка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удержание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внутри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бандла</a:t>
            </a:r>
            <a:endParaRPr sz="975" b="0" dirty="0">
              <a:solidFill>
                <a:srgbClr val="A6A6B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B6010A5-207B-4331-881B-CE7C9C1AF455}"/>
              </a:ext>
            </a:extLst>
          </p:cNvPr>
          <p:cNvSpPr>
            <a:spLocks noGrp="1"/>
          </p:cNvSpPr>
          <p:nvPr/>
        </p:nvSpPr>
        <p:spPr>
          <a:xfrm>
            <a:off x="6819900" y="2969488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E39E595-F07E-46A4-9D94-632B8405253E}"/>
              </a:ext>
            </a:extLst>
          </p:cNvPr>
          <p:cNvSpPr>
            <a:spLocks noGrp="1"/>
          </p:cNvSpPr>
          <p:nvPr/>
        </p:nvSpPr>
        <p:spPr>
          <a:xfrm>
            <a:off x="7334250" y="2969488"/>
            <a:ext cx="17526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Опции</a:t>
            </a:r>
            <a:r>
              <a:rPr sz="13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13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партнеры</a:t>
            </a:r>
            <a:endParaRPr sz="135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4A6506-6E95-4808-8F8B-2F1392E1F35F}"/>
              </a:ext>
            </a:extLst>
          </p:cNvPr>
          <p:cNvSpPr>
            <a:spLocks noGrp="1"/>
          </p:cNvSpPr>
          <p:nvPr/>
        </p:nvSpPr>
        <p:spPr>
          <a:xfrm>
            <a:off x="9220200" y="3015100"/>
            <a:ext cx="18859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спорт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Амедиатека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, Start,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Иви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Kion</a:t>
            </a:r>
            <a:endParaRPr sz="975" b="0" dirty="0">
              <a:solidFill>
                <a:srgbClr val="A6A6B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C2CCE6F-224D-4333-B425-A6BB7F974764}"/>
              </a:ext>
            </a:extLst>
          </p:cNvPr>
          <p:cNvSpPr>
            <a:spLocks noGrp="1"/>
          </p:cNvSpPr>
          <p:nvPr/>
        </p:nvSpPr>
        <p:spPr>
          <a:xfrm>
            <a:off x="6819900" y="3842900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FA16FFD-D06F-4F65-BE8E-7CD35C9A90D3}"/>
              </a:ext>
            </a:extLst>
          </p:cNvPr>
          <p:cNvSpPr>
            <a:spLocks noGrp="1"/>
          </p:cNvSpPr>
          <p:nvPr/>
        </p:nvSpPr>
        <p:spPr>
          <a:xfrm>
            <a:off x="7334250" y="3845205"/>
            <a:ext cx="17526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TVOD и </a:t>
            </a:r>
            <a:r>
              <a:rPr sz="13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лицензирование</a:t>
            </a:r>
            <a:endParaRPr sz="135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887645E-CC33-4502-821A-0735B78C2FCE}"/>
              </a:ext>
            </a:extLst>
          </p:cNvPr>
          <p:cNvSpPr>
            <a:spLocks noGrp="1"/>
          </p:cNvSpPr>
          <p:nvPr/>
        </p:nvSpPr>
        <p:spPr>
          <a:xfrm>
            <a:off x="9220200" y="3850700"/>
            <a:ext cx="18859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покупка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аренда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контентные</a:t>
            </a:r>
            <a:r>
              <a:rPr sz="975" b="0" dirty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975" b="0" dirty="0" err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права</a:t>
            </a:r>
            <a:endParaRPr sz="975" b="0" dirty="0">
              <a:solidFill>
                <a:srgbClr val="A6A6B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A5F23D9F-9D0A-4187-95D4-6E04B59D1AAC}"/>
              </a:ext>
            </a:extLst>
          </p:cNvPr>
          <p:cNvSpPr>
            <a:spLocks noGrp="1"/>
          </p:cNvSpPr>
          <p:nvPr/>
        </p:nvSpPr>
        <p:spPr>
          <a:xfrm>
            <a:off x="609600" y="5010149"/>
            <a:ext cx="10972800" cy="1270571"/>
          </a:xfrm>
          <a:prstGeom prst="roundRect">
            <a:avLst>
              <a:gd name="adj" fmla="val 16949"/>
            </a:avLst>
          </a:prstGeom>
          <a:solidFill>
            <a:srgbClr val="FFFFFF">
              <a:alpha val="7000"/>
            </a:srgbClr>
          </a:solidFill>
          <a:ln w="0">
            <a:noFill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11F1840-02E4-45BA-B258-731AB7ECABA7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2362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6AA9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6AA9FF"/>
                </a:solidFill>
                <a:latin typeface="DejaVu Sans"/>
                <a:ea typeface="DejaVu Sans"/>
                <a:cs typeface="DejaVu Sans"/>
              </a:rPr>
              <a:t>≈40%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3076E82-4A15-405F-B865-921370342D90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2362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подписчиков Плюса смотрят Кинопоиск ежемесячно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9CFF9D0-BE90-49D1-B70C-6F4381FE8316}"/>
              </a:ext>
            </a:extLst>
          </p:cNvPr>
          <p:cNvSpPr>
            <a:spLocks noGrp="1"/>
          </p:cNvSpPr>
          <p:nvPr/>
        </p:nvSpPr>
        <p:spPr>
          <a:xfrm>
            <a:off x="3695700" y="5219700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45D48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5D483"/>
                </a:solidFill>
                <a:latin typeface="DejaVu Sans"/>
                <a:ea typeface="DejaVu Sans"/>
                <a:cs typeface="DejaVu Sans"/>
              </a:rPr>
              <a:t>+44,9%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6E61C24-7319-4690-8032-2AE13D716BF1}"/>
              </a:ext>
            </a:extLst>
          </p:cNvPr>
          <p:cNvSpPr>
            <a:spLocks noGrp="1"/>
          </p:cNvSpPr>
          <p:nvPr/>
        </p:nvSpPr>
        <p:spPr>
          <a:xfrm>
            <a:off x="3695700" y="56959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рост подписочной выручки Плюса в 2025 году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EA40110-7968-496F-994C-8CE90DDE43B9}"/>
              </a:ext>
            </a:extLst>
          </p:cNvPr>
          <p:cNvSpPr>
            <a:spLocks noGrp="1"/>
          </p:cNvSpPr>
          <p:nvPr/>
        </p:nvSpPr>
        <p:spPr>
          <a:xfrm>
            <a:off x="6667500" y="5296476"/>
            <a:ext cx="44386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Главный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рычаг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: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вовлечь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«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спящих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»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подписчиков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повышать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ARPU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без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разгона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затрат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на</a:t>
            </a:r>
            <a:r>
              <a:rPr sz="1425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425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контент</a:t>
            </a:r>
            <a:endParaRPr sz="1425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50E5B84-9F8D-4086-9050-1AC9F74C816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762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Стратегия продукта на основе данных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ED3D225-36CD-4186-9F7E-40437E011611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85002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F7B5B432-F169-4205-839E-479C3C08526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A65FBCE-EA7B-43BB-B4FE-066AB80149B3}"/>
              </a:ext>
            </a:extLst>
          </p:cNvPr>
          <p:cNvSpPr>
            <a:spLocks noGrp="1"/>
          </p:cNvSpPr>
          <p:nvPr/>
        </p:nvSpPr>
        <p:spPr>
          <a:xfrm>
            <a:off x="1162050" y="3429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Карта конкуренции и заменителей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7B02343-CEFB-4D6A-80D5-FCBA2A416DF4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1CF4D3F-581F-4070-AB09-725AEB754C5A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7429500" cy="723900"/>
          </a:xfrm>
          <a:prstGeom prst="roundRect">
            <a:avLst>
              <a:gd name="adj" fmla="val 23684"/>
            </a:avLst>
          </a:prstGeom>
          <a:solidFill>
            <a:srgbClr val="FF6B00">
              <a:alpha val="18000"/>
            </a:srgbClr>
          </a:solidFill>
          <a:ln w="0">
            <a:noFill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25063B-EBB5-4380-8206-8DF209268A35}"/>
              </a:ext>
            </a:extLst>
          </p:cNvPr>
          <p:cNvSpPr>
            <a:spLocks noGrp="1"/>
          </p:cNvSpPr>
          <p:nvPr/>
        </p:nvSpPr>
        <p:spPr>
          <a:xfrm>
            <a:off x="838200" y="1571625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3B087A-5F2D-4BF6-9727-7F44007D5D4C}"/>
              </a:ext>
            </a:extLst>
          </p:cNvPr>
          <p:cNvSpPr>
            <a:spLocks noGrp="1"/>
          </p:cNvSpPr>
          <p:nvPr/>
        </p:nvSpPr>
        <p:spPr>
          <a:xfrm>
            <a:off x="1352550" y="1504950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Прямые конкуренты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9B9F508-F646-4102-8A54-0F96DA6EF512}"/>
              </a:ext>
            </a:extLst>
          </p:cNvPr>
          <p:cNvSpPr>
            <a:spLocks noGrp="1"/>
          </p:cNvSpPr>
          <p:nvPr/>
        </p:nvSpPr>
        <p:spPr>
          <a:xfrm>
            <a:off x="1352550" y="1781175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Okko, Wink, Иви, Kion, Premier, Start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BFC0C31-E94E-4AAC-AA72-43EFBB7A5CC6}"/>
              </a:ext>
            </a:extLst>
          </p:cNvPr>
          <p:cNvSpPr>
            <a:spLocks noGrp="1"/>
          </p:cNvSpPr>
          <p:nvPr/>
        </p:nvSpPr>
        <p:spPr>
          <a:xfrm>
            <a:off x="5219700" y="16002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контент и экосистемы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BEEC9E9-6205-43DF-A48C-5D8873D7D2ED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7429500" cy="723900"/>
          </a:xfrm>
          <a:prstGeom prst="roundRect">
            <a:avLst>
              <a:gd name="adj" fmla="val 23684"/>
            </a:avLst>
          </a:prstGeom>
          <a:solidFill>
            <a:srgbClr val="FF3B30">
              <a:alpha val="18000"/>
            </a:srgbClr>
          </a:solidFill>
          <a:ln w="0">
            <a:noFill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CF51F6B-1932-41E9-9092-7AD7FFAA1DDE}"/>
              </a:ext>
            </a:extLst>
          </p:cNvPr>
          <p:cNvSpPr>
            <a:spLocks noGrp="1"/>
          </p:cNvSpPr>
          <p:nvPr/>
        </p:nvSpPr>
        <p:spPr>
          <a:xfrm>
            <a:off x="838200" y="2447925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BA081ED-C6C9-4374-A413-2071352EBD07}"/>
              </a:ext>
            </a:extLst>
          </p:cNvPr>
          <p:cNvSpPr>
            <a:spLocks noGrp="1"/>
          </p:cNvSpPr>
          <p:nvPr/>
        </p:nvSpPr>
        <p:spPr>
          <a:xfrm>
            <a:off x="1352550" y="2381250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Бесплатное видео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FC6E5D2-4830-43BF-B6C3-3AE03C9F83D9}"/>
              </a:ext>
            </a:extLst>
          </p:cNvPr>
          <p:cNvSpPr>
            <a:spLocks noGrp="1"/>
          </p:cNvSpPr>
          <p:nvPr/>
        </p:nvSpPr>
        <p:spPr>
          <a:xfrm>
            <a:off x="1352550" y="2657475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VK Видео, Rutube, YouTube, онлайн-ТВ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19FD544-C2C3-47C8-8623-A45D60CD9FDB}"/>
              </a:ext>
            </a:extLst>
          </p:cNvPr>
          <p:cNvSpPr>
            <a:spLocks noGrp="1"/>
          </p:cNvSpPr>
          <p:nvPr/>
        </p:nvSpPr>
        <p:spPr>
          <a:xfrm>
            <a:off x="5219700" y="2476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тот же вечерний экран без платы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9002468-DFF4-489E-B1C6-F39761E6B87E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7429500" cy="723900"/>
          </a:xfrm>
          <a:prstGeom prst="roundRect">
            <a:avLst>
              <a:gd name="adj" fmla="val 23684"/>
            </a:avLst>
          </a:prstGeom>
          <a:solidFill>
            <a:srgbClr val="A98BFF">
              <a:alpha val="16000"/>
            </a:srgbClr>
          </a:solidFill>
          <a:ln w="0">
            <a:noFill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80BE10B-88E4-43BF-B017-C64427C50419}"/>
              </a:ext>
            </a:extLst>
          </p:cNvPr>
          <p:cNvSpPr>
            <a:spLocks noGrp="1"/>
          </p:cNvSpPr>
          <p:nvPr/>
        </p:nvSpPr>
        <p:spPr>
          <a:xfrm>
            <a:off x="838200" y="3324225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2A4D8B6-7F6A-48A7-8143-42CFCBABD07F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Нелегальный просмотр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D44E38E-CEDA-447E-9B66-B14A273FB667}"/>
              </a:ext>
            </a:extLst>
          </p:cNvPr>
          <p:cNvSpPr>
            <a:spLocks noGrp="1"/>
          </p:cNvSpPr>
          <p:nvPr/>
        </p:nvSpPr>
        <p:spPr>
          <a:xfrm>
            <a:off x="1352550" y="3533775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пиратские кинотеатры и торренты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478A354-A751-4147-A6F1-C8D091ECD911}"/>
              </a:ext>
            </a:extLst>
          </p:cNvPr>
          <p:cNvSpPr>
            <a:spLocks noGrp="1"/>
          </p:cNvSpPr>
          <p:nvPr/>
        </p:nvSpPr>
        <p:spPr>
          <a:xfrm>
            <a:off x="5219700" y="33528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закрывают дыры в каталоге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9D39874-A4AD-46A2-B453-6A3444D7614B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7429500" cy="723900"/>
          </a:xfrm>
          <a:prstGeom prst="roundRect">
            <a:avLst>
              <a:gd name="adj" fmla="val 23684"/>
            </a:avLst>
          </a:prstGeom>
          <a:solidFill>
            <a:srgbClr val="6AA9FF">
              <a:alpha val="14000"/>
            </a:srgbClr>
          </a:solidFill>
          <a:ln w="0">
            <a:noFill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9F9D0D9-1D64-4497-9378-2E9AB9C311E9}"/>
              </a:ext>
            </a:extLst>
          </p:cNvPr>
          <p:cNvSpPr>
            <a:spLocks noGrp="1"/>
          </p:cNvSpPr>
          <p:nvPr/>
        </p:nvSpPr>
        <p:spPr>
          <a:xfrm>
            <a:off x="838200" y="4200525"/>
            <a:ext cx="342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5943DAF-D3C4-452F-AE5F-198F03191805}"/>
              </a:ext>
            </a:extLst>
          </p:cNvPr>
          <p:cNvSpPr>
            <a:spLocks noGrp="1"/>
          </p:cNvSpPr>
          <p:nvPr/>
        </p:nvSpPr>
        <p:spPr>
          <a:xfrm>
            <a:off x="1352550" y="4133850"/>
            <a:ext cx="266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Другие способы отдыха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34322F-BB8A-4244-BF25-C4F511738C58}"/>
              </a:ext>
            </a:extLst>
          </p:cNvPr>
          <p:cNvSpPr>
            <a:spLocks noGrp="1"/>
          </p:cNvSpPr>
          <p:nvPr/>
        </p:nvSpPr>
        <p:spPr>
          <a:xfrm>
            <a:off x="1352550" y="4410075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соцсети, игры, книги, поход в кино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76B0DE6-7328-4ED6-96CA-308665EBE7D4}"/>
              </a:ext>
            </a:extLst>
          </p:cNvPr>
          <p:cNvSpPr>
            <a:spLocks noGrp="1"/>
          </p:cNvSpPr>
          <p:nvPr/>
        </p:nvSpPr>
        <p:spPr>
          <a:xfrm>
            <a:off x="5219700" y="42291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12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решают ту же задачу отдыха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D7DA963-C0C9-482F-ADA4-4F2FFDACD4C4}"/>
              </a:ext>
            </a:extLst>
          </p:cNvPr>
          <p:cNvSpPr>
            <a:spLocks noGrp="1"/>
          </p:cNvSpPr>
          <p:nvPr/>
        </p:nvSpPr>
        <p:spPr>
          <a:xfrm>
            <a:off x="8420100" y="1371600"/>
            <a:ext cx="3162300" cy="3352800"/>
          </a:xfrm>
          <a:prstGeom prst="roundRect">
            <a:avLst>
              <a:gd name="adj" fmla="val 7229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A00346D-42F0-43D0-BD73-F13A7E9022E7}"/>
              </a:ext>
            </a:extLst>
          </p:cNvPr>
          <p:cNvSpPr>
            <a:spLocks noGrp="1"/>
          </p:cNvSpPr>
          <p:nvPr/>
        </p:nvSpPr>
        <p:spPr>
          <a:xfrm>
            <a:off x="8724900" y="1676400"/>
            <a:ext cx="2552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3B3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3B30"/>
                </a:solidFill>
                <a:latin typeface="DejaVu Sans"/>
                <a:ea typeface="DejaVu Sans"/>
                <a:cs typeface="DejaVu Sans"/>
              </a:rPr>
              <a:t>Главная угроза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4CC290D-92E4-45D8-B1A5-AE1798410877}"/>
              </a:ext>
            </a:extLst>
          </p:cNvPr>
          <p:cNvSpPr>
            <a:spLocks noGrp="1"/>
          </p:cNvSpPr>
          <p:nvPr/>
        </p:nvSpPr>
        <p:spPr>
          <a:xfrm>
            <a:off x="8724900" y="2057400"/>
            <a:ext cx="25527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VK Видео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AFC6310-146B-4785-9585-BCFB20D51AF0}"/>
              </a:ext>
            </a:extLst>
          </p:cNvPr>
          <p:cNvSpPr>
            <a:spLocks noGrp="1"/>
          </p:cNvSpPr>
          <p:nvPr/>
        </p:nvSpPr>
        <p:spPr>
          <a:xfrm>
            <a:off x="8724900" y="278130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81,5 млн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4AB9907-04B1-47C1-8835-531CADAC44B2}"/>
              </a:ext>
            </a:extLst>
          </p:cNvPr>
          <p:cNvSpPr>
            <a:spLocks noGrp="1"/>
          </p:cNvSpPr>
          <p:nvPr/>
        </p:nvSpPr>
        <p:spPr>
          <a:xfrm>
            <a:off x="8724900" y="325755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месячная аудитория в декабре 2025 года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DFD23C8-9A4B-49FD-B430-C35AB708AD07}"/>
              </a:ext>
            </a:extLst>
          </p:cNvPr>
          <p:cNvSpPr>
            <a:spLocks noGrp="1"/>
          </p:cNvSpPr>
          <p:nvPr/>
        </p:nvSpPr>
        <p:spPr>
          <a:xfrm>
            <a:off x="8724900" y="3714750"/>
            <a:ext cx="247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до 241 мин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B9A5D0B-CA86-4DF4-BE41-CE2186763BB0}"/>
              </a:ext>
            </a:extLst>
          </p:cNvPr>
          <p:cNvSpPr>
            <a:spLocks noGrp="1"/>
          </p:cNvSpPr>
          <p:nvPr/>
        </p:nvSpPr>
        <p:spPr>
          <a:xfrm>
            <a:off x="8724900" y="419100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просмотра в день на Smart TV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452DDCD7-6F01-44EC-BF77-AF2EF5339DA0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10972800" cy="1066800"/>
          </a:xfrm>
          <a:prstGeom prst="roundRect">
            <a:avLst>
              <a:gd name="adj" fmla="val 17857"/>
            </a:avLst>
          </a:prstGeom>
          <a:solidFill>
            <a:srgbClr val="FF3B30">
              <a:alpha val="10000"/>
            </a:srgbClr>
          </a:solidFill>
          <a:ln w="9525">
            <a:solidFill>
              <a:srgbClr val="FF3B30">
                <a:alpha val="38000"/>
              </a:srgbClr>
            </a:solidFill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613E5DD-E7A1-49D0-9E87-3F73F52AEDC7}"/>
              </a:ext>
            </a:extLst>
          </p:cNvPr>
          <p:cNvSpPr>
            <a:spLocks noGrp="1"/>
          </p:cNvSpPr>
          <p:nvPr/>
        </p:nvSpPr>
        <p:spPr>
          <a:xfrm>
            <a:off x="876300" y="5254336"/>
            <a:ext cx="104394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Прямых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конкурентов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Кинопоиск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частично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превращает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в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партнеров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Бесплатные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платформы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встроить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в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витрину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нельзя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поэтому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борьба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смещается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за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время</a:t>
            </a:r>
            <a:r>
              <a:rPr sz="16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6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пользователя</a:t>
            </a:r>
            <a:endParaRPr sz="165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434E1EF-F5D1-45A6-AB58-E2B2B81C078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762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Стратегия продукта на основе данных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2E706F3-556D-4344-A2D9-4ED3DD8F763A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5660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EFBC191-4240-47E5-932B-EE169509EAE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EB236A6-696E-4ED6-8656-589A65EDCE9A}"/>
              </a:ext>
            </a:extLst>
          </p:cNvPr>
          <p:cNvSpPr>
            <a:spLocks noGrp="1"/>
          </p:cNvSpPr>
          <p:nvPr/>
        </p:nvSpPr>
        <p:spPr>
          <a:xfrm>
            <a:off x="1162050" y="3429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Стадия жизненного цикла и новая кривая роста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8BC0DFA-8CBA-43C8-8C00-A34E49D1690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7DD09E8-D116-44FB-85D5-4B458DE404C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Рынок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ECC657A-AEFF-4905-9D85-7C9293F9B931}"/>
              </a:ext>
            </a:extLst>
          </p:cNvPr>
          <p:cNvSpPr>
            <a:spLocks noGrp="1"/>
          </p:cNvSpPr>
          <p:nvPr/>
        </p:nvSpPr>
        <p:spPr>
          <a:xfrm>
            <a:off x="1866900" y="140970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45D48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45D483"/>
                </a:solidFill>
                <a:latin typeface="DejaVu Sans"/>
                <a:ea typeface="DejaVu Sans"/>
                <a:cs typeface="DejaVu Sans"/>
              </a:rPr>
              <a:t>Поздний рост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39EEB48-471F-4534-8239-9BECEC90B6DC}"/>
              </a:ext>
            </a:extLst>
          </p:cNvPr>
          <p:cNvSpPr>
            <a:spLocks noGrp="1"/>
          </p:cNvSpPr>
          <p:nvPr/>
        </p:nvSpPr>
        <p:spPr>
          <a:xfrm>
            <a:off x="1866900" y="1885950"/>
            <a:ext cx="6096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Рынок вырос примерно на 45% в 2025 году, но прогноз на 2026 год снижается до ≈20%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9BE381-798B-4F36-AF24-BD503A85E433}"/>
              </a:ext>
            </a:extLst>
          </p:cNvPr>
          <p:cNvSpPr>
            <a:spLocks noGrp="1"/>
          </p:cNvSpPr>
          <p:nvPr/>
        </p:nvSpPr>
        <p:spPr>
          <a:xfrm>
            <a:off x="8458200" y="1390650"/>
            <a:ext cx="3124200" cy="1162050"/>
          </a:xfrm>
          <a:prstGeom prst="roundRect">
            <a:avLst>
              <a:gd name="adj" fmla="val 14754"/>
            </a:avLst>
          </a:prstGeom>
          <a:solidFill>
            <a:srgbClr val="45D483">
              <a:alpha val="12000"/>
            </a:srgbClr>
          </a:solidFill>
          <a:ln w="0">
            <a:noFill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AA3EB5-7A7B-4AB1-BD5C-E80CF763D2D2}"/>
              </a:ext>
            </a:extLst>
          </p:cNvPr>
          <p:cNvSpPr>
            <a:spLocks noGrp="1"/>
          </p:cNvSpPr>
          <p:nvPr/>
        </p:nvSpPr>
        <p:spPr>
          <a:xfrm>
            <a:off x="8724900" y="1543050"/>
            <a:ext cx="259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45D48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45D483"/>
                </a:solidFill>
                <a:latin typeface="DejaVu Sans"/>
                <a:ea typeface="DejaVu Sans"/>
                <a:cs typeface="DejaVu Sans"/>
              </a:rPr>
              <a:t>≈20%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678D0B-30EA-49AC-8A25-6BD6A7A572B3}"/>
              </a:ext>
            </a:extLst>
          </p:cNvPr>
          <p:cNvSpPr>
            <a:spLocks noGrp="1"/>
          </p:cNvSpPr>
          <p:nvPr/>
        </p:nvSpPr>
        <p:spPr>
          <a:xfrm>
            <a:off x="8724900" y="2019300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ожидаемый рост рынка в 2026 году</a:t>
            </a:r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17F2642-6C25-4DC9-AEAA-9B4131BFAD26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0972800" cy="0"/>
          </a:xfrm>
          <a:prstGeom prst="line">
            <a:avLst/>
          </a:prstGeom>
          <a:noFill/>
          <a:ln w="19050">
            <a:solidFill>
              <a:srgbClr val="FFFFFF">
                <a:alpha val="15000"/>
              </a:srgbClr>
            </a:solidFill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85AD850-4FC2-42B9-816A-58B8FFC16E7B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238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Продукт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B3B5936-B002-483D-BDC3-471716C11CDC}"/>
              </a:ext>
            </a:extLst>
          </p:cNvPr>
          <p:cNvSpPr>
            <a:spLocks noGrp="1"/>
          </p:cNvSpPr>
          <p:nvPr/>
        </p:nvSpPr>
        <p:spPr>
          <a:xfrm>
            <a:off x="1866900" y="30099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Ранняя зрелость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FD1D7E9-6133-4627-89DD-EECD6D3B22DA}"/>
              </a:ext>
            </a:extLst>
          </p:cNvPr>
          <p:cNvSpPr>
            <a:spLocks noGrp="1"/>
          </p:cNvSpPr>
          <p:nvPr/>
        </p:nvSpPr>
        <p:spPr>
          <a:xfrm>
            <a:off x="1866900" y="3486150"/>
            <a:ext cx="609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Лидер около трети рынка, рост близок к рынку, база Плюса замедляется, фокус переходит на эффективность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4D51AFE-142D-4626-98A6-7865B22A1A38}"/>
              </a:ext>
            </a:extLst>
          </p:cNvPr>
          <p:cNvSpPr>
            <a:spLocks noGrp="1"/>
          </p:cNvSpPr>
          <p:nvPr/>
        </p:nvSpPr>
        <p:spPr>
          <a:xfrm>
            <a:off x="8458200" y="3009900"/>
            <a:ext cx="3124200" cy="1257300"/>
          </a:xfrm>
          <a:prstGeom prst="roundRect">
            <a:avLst>
              <a:gd name="adj" fmla="val 13636"/>
            </a:avLst>
          </a:prstGeom>
          <a:solidFill>
            <a:srgbClr val="FF6B00">
              <a:alpha val="12000"/>
            </a:srgbClr>
          </a:solidFill>
          <a:ln w="0">
            <a:noFill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168EFD5-0452-4D83-97AD-F697196D1C5E}"/>
              </a:ext>
            </a:extLst>
          </p:cNvPr>
          <p:cNvSpPr>
            <a:spLocks noGrp="1"/>
          </p:cNvSpPr>
          <p:nvPr/>
        </p:nvSpPr>
        <p:spPr>
          <a:xfrm>
            <a:off x="8724900" y="3219450"/>
            <a:ext cx="2590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+21%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F129BE1-2B2B-49E2-AF26-29D8F5BD8AFC}"/>
              </a:ext>
            </a:extLst>
          </p:cNvPr>
          <p:cNvSpPr>
            <a:spLocks noGrp="1"/>
          </p:cNvSpPr>
          <p:nvPr/>
        </p:nvSpPr>
        <p:spPr>
          <a:xfrm>
            <a:off x="8724900" y="3695700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рост базы Плюса в 2025 году против +26% годом ранее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0C2D73B-4CA3-4AC2-B91A-174F2685AFD1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Новая кривая роста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77C685C-D1B2-4F96-9AA6-7A3E0FCEA8E7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2209800" cy="647700"/>
          </a:xfrm>
          <a:prstGeom prst="roundRect">
            <a:avLst>
              <a:gd name="adj" fmla="val 23529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9D9ECD2-FF75-419B-8312-CFB8CA33390A}"/>
              </a:ext>
            </a:extLst>
          </p:cNvPr>
          <p:cNvSpPr>
            <a:spLocks noGrp="1"/>
          </p:cNvSpPr>
          <p:nvPr/>
        </p:nvSpPr>
        <p:spPr>
          <a:xfrm>
            <a:off x="781050" y="5467350"/>
            <a:ext cx="1866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Привлечение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53CACFC-FDF8-4EB7-A0D7-8C621C9EC603}"/>
              </a:ext>
            </a:extLst>
          </p:cNvPr>
          <p:cNvSpPr>
            <a:spLocks noGrp="1"/>
          </p:cNvSpPr>
          <p:nvPr/>
        </p:nvSpPr>
        <p:spPr>
          <a:xfrm>
            <a:off x="2876550" y="5353050"/>
            <a:ext cx="28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E39F0EA-54F9-4868-91AF-0E1C3532B372}"/>
              </a:ext>
            </a:extLst>
          </p:cNvPr>
          <p:cNvSpPr>
            <a:spLocks noGrp="1"/>
          </p:cNvSpPr>
          <p:nvPr/>
        </p:nvSpPr>
        <p:spPr>
          <a:xfrm>
            <a:off x="3238500" y="5257800"/>
            <a:ext cx="2209800" cy="647700"/>
          </a:xfrm>
          <a:prstGeom prst="roundRect">
            <a:avLst>
              <a:gd name="adj" fmla="val 23529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23F5865-81D9-4A32-9240-73F182C03FF5}"/>
              </a:ext>
            </a:extLst>
          </p:cNvPr>
          <p:cNvSpPr>
            <a:spLocks noGrp="1"/>
          </p:cNvSpPr>
          <p:nvPr/>
        </p:nvSpPr>
        <p:spPr>
          <a:xfrm>
            <a:off x="3409950" y="5467350"/>
            <a:ext cx="1866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Удержание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C1C84F6-BF15-4B32-ABCA-2CEAA83B877A}"/>
              </a:ext>
            </a:extLst>
          </p:cNvPr>
          <p:cNvSpPr>
            <a:spLocks noGrp="1"/>
          </p:cNvSpPr>
          <p:nvPr/>
        </p:nvSpPr>
        <p:spPr>
          <a:xfrm>
            <a:off x="5505450" y="5353050"/>
            <a:ext cx="28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1C09817-1EE5-4BE0-9EF7-0557A3AD77AA}"/>
              </a:ext>
            </a:extLst>
          </p:cNvPr>
          <p:cNvSpPr>
            <a:spLocks noGrp="1"/>
          </p:cNvSpPr>
          <p:nvPr/>
        </p:nvSpPr>
        <p:spPr>
          <a:xfrm>
            <a:off x="5867400" y="5257800"/>
            <a:ext cx="2209800" cy="647700"/>
          </a:xfrm>
          <a:prstGeom prst="roundRect">
            <a:avLst>
              <a:gd name="adj" fmla="val 23529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ED96B20-576A-4BAF-BAF0-FC9732B35D46}"/>
              </a:ext>
            </a:extLst>
          </p:cNvPr>
          <p:cNvSpPr>
            <a:spLocks noGrp="1"/>
          </p:cNvSpPr>
          <p:nvPr/>
        </p:nvSpPr>
        <p:spPr>
          <a:xfrm>
            <a:off x="6038850" y="5467350"/>
            <a:ext cx="1866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Рост ARPU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CF13E61-5021-4060-8682-0A54D4AE7CB4}"/>
              </a:ext>
            </a:extLst>
          </p:cNvPr>
          <p:cNvSpPr>
            <a:spLocks noGrp="1"/>
          </p:cNvSpPr>
          <p:nvPr/>
        </p:nvSpPr>
        <p:spPr>
          <a:xfrm>
            <a:off x="8134350" y="5353050"/>
            <a:ext cx="28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550" b="1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5B3EB566-532C-448D-A1B0-77720619560E}"/>
              </a:ext>
            </a:extLst>
          </p:cNvPr>
          <p:cNvSpPr>
            <a:spLocks noGrp="1"/>
          </p:cNvSpPr>
          <p:nvPr/>
        </p:nvSpPr>
        <p:spPr>
          <a:xfrm>
            <a:off x="8496300" y="5257800"/>
            <a:ext cx="2209800" cy="647700"/>
          </a:xfrm>
          <a:prstGeom prst="roundRect">
            <a:avLst>
              <a:gd name="adj" fmla="val 23529"/>
            </a:avLst>
          </a:prstGeom>
          <a:solidFill>
            <a:srgbClr val="FF6B00">
              <a:alpha val="22000"/>
            </a:srgbClr>
          </a:solidFill>
          <a:ln w="9525">
            <a:solidFill>
              <a:srgbClr val="FF6B00">
                <a:alpha val="55000"/>
              </a:srgbClr>
            </a:solidFill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EAB8804-4F22-4594-99E9-A60CC9118142}"/>
              </a:ext>
            </a:extLst>
          </p:cNvPr>
          <p:cNvSpPr>
            <a:spLocks noGrp="1"/>
          </p:cNvSpPr>
          <p:nvPr/>
        </p:nvSpPr>
        <p:spPr>
          <a:xfrm>
            <a:off x="8667750" y="5391150"/>
            <a:ext cx="1866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Платформа</a:t>
            </a:r>
            <a:r>
              <a:rPr sz="13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35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выбора</a:t>
            </a:r>
            <a:endParaRPr sz="135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6526EA6-38D1-4986-9B19-26EB0E43258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762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Стратегия продукта на основе данных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E634052-BE20-404D-9452-330278AEBCB3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863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738ACEF-8477-418A-A240-A206C8D358C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C755BF-B6B8-4D17-9574-6F5EF0AE3294}"/>
              </a:ext>
            </a:extLst>
          </p:cNvPr>
          <p:cNvSpPr>
            <a:spLocks noGrp="1"/>
          </p:cNvSpPr>
          <p:nvPr/>
        </p:nvSpPr>
        <p:spPr>
          <a:xfrm>
            <a:off x="1162050" y="3429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Несущие предположения и стратегические риски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39DB5BF4-F8B8-43DE-9404-319A0F75EC24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DB2D18-12D6-4E76-B95B-8F7B9BA4A623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Два самых хрупких предположения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80415DC-3875-403F-BF70-035A4FD43C46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238750" cy="1390650"/>
          </a:xfrm>
          <a:prstGeom prst="roundRect">
            <a:avLst>
              <a:gd name="adj" fmla="val 15068"/>
            </a:avLst>
          </a:prstGeom>
          <a:solidFill>
            <a:srgbClr val="FF6B00">
              <a:alpha val="14000"/>
            </a:srgbClr>
          </a:solidFill>
          <a:ln w="9525">
            <a:solidFill>
              <a:srgbClr val="FF6B00">
                <a:alpha val="45000"/>
              </a:srgbClr>
            </a:solidFill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49F59E-AA57-48F6-8B44-8778694C0AD8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6E465E6-75C3-47FD-987C-56021F5E124F}"/>
              </a:ext>
            </a:extLst>
          </p:cNvPr>
          <p:cNvSpPr>
            <a:spLocks noGrp="1"/>
          </p:cNvSpPr>
          <p:nvPr/>
        </p:nvSpPr>
        <p:spPr>
          <a:xfrm>
            <a:off x="1466850" y="196215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Выбор конвертируется в удержание и деньги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72A2635-581D-47D8-B7AA-571F914F7782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45910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Проверка: A/B-тест рекомендаций, партнерская выручка и повторные взаимодействия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27F28E1-6DC7-4BA1-81A1-F61334747BBD}"/>
              </a:ext>
            </a:extLst>
          </p:cNvPr>
          <p:cNvSpPr>
            <a:spLocks noGrp="1"/>
          </p:cNvSpPr>
          <p:nvPr/>
        </p:nvSpPr>
        <p:spPr>
          <a:xfrm>
            <a:off x="6038850" y="1752600"/>
            <a:ext cx="5543550" cy="1390650"/>
          </a:xfrm>
          <a:prstGeom prst="roundRect">
            <a:avLst>
              <a:gd name="adj" fmla="val 15068"/>
            </a:avLst>
          </a:prstGeom>
          <a:solidFill>
            <a:srgbClr val="FF3B30">
              <a:alpha val="13000"/>
            </a:srgbClr>
          </a:solidFill>
          <a:ln w="9525">
            <a:solidFill>
              <a:srgbClr val="FF3B30">
                <a:alpha val="42000"/>
              </a:srgbClr>
            </a:solidFill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10F9B3-99D8-4EBD-8EF1-21AA3DDA162E}"/>
              </a:ext>
            </a:extLst>
          </p:cNvPr>
          <p:cNvSpPr>
            <a:spLocks noGrp="1"/>
          </p:cNvSpPr>
          <p:nvPr/>
        </p:nvSpPr>
        <p:spPr>
          <a:xfrm>
            <a:off x="6305550" y="20002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3B3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3B3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99B9859-8FE2-4F5C-8DA0-0EEE59DFAFCF}"/>
              </a:ext>
            </a:extLst>
          </p:cNvPr>
          <p:cNvSpPr>
            <a:spLocks noGrp="1"/>
          </p:cNvSpPr>
          <p:nvPr/>
        </p:nvSpPr>
        <p:spPr>
          <a:xfrm>
            <a:off x="6896100" y="1962150"/>
            <a:ext cx="43053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Платный опыт выигрывает борьбу за внимание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DA41866-8245-4EBA-9C43-DFE2E93DEE26}"/>
              </a:ext>
            </a:extLst>
          </p:cNvPr>
          <p:cNvSpPr>
            <a:spLocks noGrp="1"/>
          </p:cNvSpPr>
          <p:nvPr/>
        </p:nvSpPr>
        <p:spPr>
          <a:xfrm>
            <a:off x="6305550" y="2647950"/>
            <a:ext cx="4895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Проверка: вечернее время на Smart TV, отток и причины перехода к бесплатному видео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D74915F-EF62-47B0-9BB5-655526BD8159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Остальные условия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A5F542E1-9A73-46AF-B821-9E3C773A6821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3371850" cy="666750"/>
          </a:xfrm>
          <a:prstGeom prst="roundRect">
            <a:avLst>
              <a:gd name="adj" fmla="val 22857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43F3B75-4FEF-4B0C-8EC6-273AF3E097C8}"/>
              </a:ext>
            </a:extLst>
          </p:cNvPr>
          <p:cNvSpPr>
            <a:spLocks noGrp="1"/>
          </p:cNvSpPr>
          <p:nvPr/>
        </p:nvSpPr>
        <p:spPr>
          <a:xfrm>
            <a:off x="800100" y="4143375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Доля смотрящих в Плюсе растет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5F1481B-5B5D-4756-9178-EC5C51E05B98}"/>
              </a:ext>
            </a:extLst>
          </p:cNvPr>
          <p:cNvSpPr>
            <a:spLocks noGrp="1"/>
          </p:cNvSpPr>
          <p:nvPr/>
        </p:nvSpPr>
        <p:spPr>
          <a:xfrm>
            <a:off x="4267200" y="3943350"/>
            <a:ext cx="3371850" cy="666750"/>
          </a:xfrm>
          <a:prstGeom prst="roundRect">
            <a:avLst>
              <a:gd name="adj" fmla="val 22857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CCED2ED-7001-4776-9767-67A12BD48CF1}"/>
              </a:ext>
            </a:extLst>
          </p:cNvPr>
          <p:cNvSpPr>
            <a:spLocks noGrp="1"/>
          </p:cNvSpPr>
          <p:nvPr/>
        </p:nvSpPr>
        <p:spPr>
          <a:xfrm>
            <a:off x="4457700" y="4143375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Партнерства усиливают Кинопоиск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F7BD424D-DE66-4DD2-8CDC-CD9A878D4C68}"/>
              </a:ext>
            </a:extLst>
          </p:cNvPr>
          <p:cNvSpPr>
            <a:spLocks noGrp="1"/>
          </p:cNvSpPr>
          <p:nvPr/>
        </p:nvSpPr>
        <p:spPr>
          <a:xfrm>
            <a:off x="7924800" y="3943350"/>
            <a:ext cx="3371850" cy="666750"/>
          </a:xfrm>
          <a:prstGeom prst="roundRect">
            <a:avLst>
              <a:gd name="adj" fmla="val 22857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058C09C-C3BC-40A1-B35F-1BC14329091A}"/>
              </a:ext>
            </a:extLst>
          </p:cNvPr>
          <p:cNvSpPr>
            <a:spLocks noGrp="1"/>
          </p:cNvSpPr>
          <p:nvPr/>
        </p:nvSpPr>
        <p:spPr>
          <a:xfrm>
            <a:off x="8115300" y="4143375"/>
            <a:ext cx="2990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Рынок и подписка сохраняют устойчивость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5FCF704-E196-4720-AB79-B47C2E899C8E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Если предположения ложны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6C40996-C597-4903-BDD6-CBC66B5BD1CF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2514600" cy="628650"/>
          </a:xfrm>
          <a:prstGeom prst="roundRect">
            <a:avLst>
              <a:gd name="adj" fmla="val 24242"/>
            </a:avLst>
          </a:prstGeom>
          <a:solidFill>
            <a:srgbClr val="FF3B30">
              <a:alpha val="18000"/>
            </a:srgbClr>
          </a:solidFill>
          <a:ln w="9525">
            <a:solidFill>
              <a:srgbClr val="FF3B30">
                <a:alpha val="50000"/>
              </a:srgbClr>
            </a:solidFill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1E027BD-A6E7-473D-B13E-79B48AFB8CC3}"/>
              </a:ext>
            </a:extLst>
          </p:cNvPr>
          <p:cNvSpPr>
            <a:spLocks noGrp="1"/>
          </p:cNvSpPr>
          <p:nvPr/>
        </p:nvSpPr>
        <p:spPr>
          <a:xfrm>
            <a:off x="762000" y="5610225"/>
            <a:ext cx="2209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VK Видео забирает вечер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EDDEF4E6-AD7F-457C-9F27-232CD2AE86EA}"/>
              </a:ext>
            </a:extLst>
          </p:cNvPr>
          <p:cNvSpPr>
            <a:spLocks noGrp="1"/>
          </p:cNvSpPr>
          <p:nvPr/>
        </p:nvSpPr>
        <p:spPr>
          <a:xfrm>
            <a:off x="3352800" y="5429250"/>
            <a:ext cx="2514600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7000"/>
            </a:srgbClr>
          </a:solidFill>
          <a:ln w="0">
            <a:noFill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54A44F5-DA9E-4CE5-950F-5D3BB27ABFBD}"/>
              </a:ext>
            </a:extLst>
          </p:cNvPr>
          <p:cNvSpPr>
            <a:spLocks noGrp="1"/>
          </p:cNvSpPr>
          <p:nvPr/>
        </p:nvSpPr>
        <p:spPr>
          <a:xfrm>
            <a:off x="3505200" y="5610225"/>
            <a:ext cx="2209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«Спящие» подписчики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B360497A-D579-4418-A4AC-010A79DAAFAF}"/>
              </a:ext>
            </a:extLst>
          </p:cNvPr>
          <p:cNvSpPr>
            <a:spLocks noGrp="1"/>
          </p:cNvSpPr>
          <p:nvPr/>
        </p:nvSpPr>
        <p:spPr>
          <a:xfrm>
            <a:off x="6096000" y="5429250"/>
            <a:ext cx="2514600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7000"/>
            </a:srgbClr>
          </a:solidFill>
          <a:ln w="0">
            <a:noFill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E333BED-AB62-4ACF-AC9D-F19A96E90A60}"/>
              </a:ext>
            </a:extLst>
          </p:cNvPr>
          <p:cNvSpPr>
            <a:spLocks noGrp="1"/>
          </p:cNvSpPr>
          <p:nvPr/>
        </p:nvSpPr>
        <p:spPr>
          <a:xfrm>
            <a:off x="6248400" y="5610225"/>
            <a:ext cx="2209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Утечка аудитории партнерам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7E8572A5-68F6-4146-BA58-99A8AA028856}"/>
              </a:ext>
            </a:extLst>
          </p:cNvPr>
          <p:cNvSpPr>
            <a:spLocks noGrp="1"/>
          </p:cNvSpPr>
          <p:nvPr/>
        </p:nvSpPr>
        <p:spPr>
          <a:xfrm>
            <a:off x="8839200" y="5429250"/>
            <a:ext cx="2514600" cy="628650"/>
          </a:xfrm>
          <a:prstGeom prst="roundRect">
            <a:avLst>
              <a:gd name="adj" fmla="val 24242"/>
            </a:avLst>
          </a:prstGeom>
          <a:solidFill>
            <a:srgbClr val="FFFFFF">
              <a:alpha val="7000"/>
            </a:srgbClr>
          </a:solidFill>
          <a:ln w="0">
            <a:noFill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C9B5B0C-77C7-4A9F-8E55-38209C940D10}"/>
              </a:ext>
            </a:extLst>
          </p:cNvPr>
          <p:cNvSpPr>
            <a:spLocks noGrp="1"/>
          </p:cNvSpPr>
          <p:nvPr/>
        </p:nvSpPr>
        <p:spPr>
          <a:xfrm>
            <a:off x="8991600" y="5610225"/>
            <a:ext cx="2209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Okko копирует модель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4E25BD00-6854-4BE5-9DA4-66A7E036951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762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Стратегия продукта на основе данных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B826A1B-DC25-449C-A45B-0B3AF0E69C6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4427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84A939E-7E97-4DE0-AA25-7F6097B8796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4238794-9B28-4C98-8125-F0CA44823F84}"/>
              </a:ext>
            </a:extLst>
          </p:cNvPr>
          <p:cNvSpPr>
            <a:spLocks noGrp="1"/>
          </p:cNvSpPr>
          <p:nvPr/>
        </p:nvSpPr>
        <p:spPr>
          <a:xfrm>
            <a:off x="1162050" y="3429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Стратегические ставки на 3–5 лет</a:t>
            </a: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6327CA7-B655-4540-861C-99D94D9F6BC1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</a:ln>
        </p:spPr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E5E39A9B-3806-4D91-A0D2-50A782CDF1F8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1390650"/>
          </a:xfrm>
          <a:prstGeom prst="roundRect">
            <a:avLst>
              <a:gd name="adj" fmla="val 16438"/>
            </a:avLst>
          </a:prstGeom>
          <a:solidFill>
            <a:srgbClr val="FF6B00">
              <a:alpha val="16000"/>
            </a:srgbClr>
          </a:solidFill>
          <a:ln w="9525">
            <a:solidFill>
              <a:srgbClr val="FF6B00">
                <a:alpha val="52000"/>
              </a:srgbClr>
            </a:solidFill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95BC5A5-9CAA-40B4-81C4-88D618464DC3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Основная ставка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4AAE9AA-5533-429E-8659-4631E0220F65}"/>
              </a:ext>
            </a:extLst>
          </p:cNvPr>
          <p:cNvSpPr>
            <a:spLocks noGrp="1"/>
          </p:cNvSpPr>
          <p:nvPr/>
        </p:nvSpPr>
        <p:spPr>
          <a:xfrm>
            <a:off x="876300" y="1876426"/>
            <a:ext cx="69723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Единая</a:t>
            </a:r>
            <a:r>
              <a:rPr sz="21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платформа</a:t>
            </a:r>
            <a:r>
              <a:rPr sz="21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выбора</a:t>
            </a:r>
            <a:r>
              <a:rPr sz="21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видео</a:t>
            </a:r>
            <a:r>
              <a:rPr sz="21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поверх</a:t>
            </a:r>
            <a:r>
              <a:rPr sz="21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всех</a:t>
            </a:r>
            <a:r>
              <a:rPr sz="21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подписок</a:t>
            </a:r>
            <a:endParaRPr sz="210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551409-B78A-40AC-ABF4-79A10890ADC7}"/>
              </a:ext>
            </a:extLst>
          </p:cNvPr>
          <p:cNvSpPr>
            <a:spLocks noGrp="1"/>
          </p:cNvSpPr>
          <p:nvPr/>
        </p:nvSpPr>
        <p:spPr>
          <a:xfrm>
            <a:off x="8096250" y="1790700"/>
            <a:ext cx="31432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Метрика: доля выборов через Кинопоиск, удержание и партнерская экономика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87E09CD-A8C5-41B1-AEEC-CC90EBDC0ECB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5663066-FF76-49D1-8EB4-693D74BD35F9}"/>
              </a:ext>
            </a:extLst>
          </p:cNvPr>
          <p:cNvSpPr>
            <a:spLocks noGrp="1"/>
          </p:cNvSpPr>
          <p:nvPr/>
        </p:nvSpPr>
        <p:spPr>
          <a:xfrm>
            <a:off x="1295400" y="29908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Конверсия бесплатной воронки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4C69F1-5E30-4EDF-9846-47785F5A15F9}"/>
              </a:ext>
            </a:extLst>
          </p:cNvPr>
          <p:cNvSpPr>
            <a:spLocks noGrp="1"/>
          </p:cNvSpPr>
          <p:nvPr/>
        </p:nvSpPr>
        <p:spPr>
          <a:xfrm>
            <a:off x="4667250" y="2971800"/>
            <a:ext cx="6629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Перевести справочную аудиторию в просмотр через рекомендации и быстрый переход к контенту</a:t>
            </a:r>
          </a:p>
        </p:txBody>
      </p:sp>
      <p:sp>
        <p:nv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21251BF-CA0F-4B5F-AC6F-F4BD9847A412}"/>
              </a:ext>
            </a:extLst>
          </p:cNvPr>
          <p:cNvSpPr>
            <a:spLocks noGrp="1"/>
          </p:cNvSpPr>
          <p:nvPr/>
        </p:nvSpPr>
        <p:spPr>
          <a:xfrm>
            <a:off x="1295400" y="3619500"/>
            <a:ext cx="1000125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596F39-2AD1-4749-8373-015564E578D5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C5ED33B-4998-49C9-8C58-6AB5349D2BD7}"/>
              </a:ext>
            </a:extLst>
          </p:cNvPr>
          <p:cNvSpPr>
            <a:spLocks noGrp="1"/>
          </p:cNvSpPr>
          <p:nvPr/>
        </p:nvSpPr>
        <p:spPr>
          <a:xfrm>
            <a:off x="1295400" y="38671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Спорт и события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1C1FCB7-6FF8-451E-8184-553E82C68EEE}"/>
              </a:ext>
            </a:extLst>
          </p:cNvPr>
          <p:cNvSpPr>
            <a:spLocks noGrp="1"/>
          </p:cNvSpPr>
          <p:nvPr/>
        </p:nvSpPr>
        <p:spPr>
          <a:xfrm>
            <a:off x="4667250" y="3848100"/>
            <a:ext cx="6629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Повысить частоту возвращений и ARPU, если окупаются права и удержание после турниров</a:t>
            </a:r>
          </a:p>
        </p:txBody>
      </p:sp>
      <p:sp>
        <p:nv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5E1B622-9E84-4767-8CF3-F3B5ED6467C4}"/>
              </a:ext>
            </a:extLst>
          </p:cNvPr>
          <p:cNvSpPr>
            <a:spLocks noGrp="1"/>
          </p:cNvSpPr>
          <p:nvPr/>
        </p:nvSpPr>
        <p:spPr>
          <a:xfrm>
            <a:off x="1295400" y="4495800"/>
            <a:ext cx="1000125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2846F1D-5146-4808-A43E-3512F7005EC2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BAA20F7-3ED0-4172-9E86-BB96F999EF7D}"/>
              </a:ext>
            </a:extLst>
          </p:cNvPr>
          <p:cNvSpPr>
            <a:spLocks noGrp="1"/>
          </p:cNvSpPr>
          <p:nvPr/>
        </p:nvSpPr>
        <p:spPr>
          <a:xfrm>
            <a:off x="1295400" y="47434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Ответ бесплатному видео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DCCCA89-2C62-44D3-B1CD-0B7AB0619020}"/>
              </a:ext>
            </a:extLst>
          </p:cNvPr>
          <p:cNvSpPr>
            <a:spLocks noGrp="1"/>
          </p:cNvSpPr>
          <p:nvPr/>
        </p:nvSpPr>
        <p:spPr>
          <a:xfrm>
            <a:off x="4667250" y="4724400"/>
            <a:ext cx="6629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Сократить путь до просмотра и доказать преимущество платного опыта на Smart TV</a:t>
            </a:r>
          </a:p>
        </p:txBody>
      </p:sp>
      <p:sp>
        <p:nv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7C0E9CC-7E1F-43F9-B614-EEDB45B16ED1}"/>
              </a:ext>
            </a:extLst>
          </p:cNvPr>
          <p:cNvSpPr>
            <a:spLocks noGrp="1"/>
          </p:cNvSpPr>
          <p:nvPr/>
        </p:nvSpPr>
        <p:spPr>
          <a:xfrm>
            <a:off x="1295400" y="5372100"/>
            <a:ext cx="1000125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6757F7F-F7EA-471F-9E5E-279368B781DB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552450"/>
          </a:xfrm>
          <a:prstGeom prst="roundRect">
            <a:avLst>
              <a:gd name="adj" fmla="val 27586"/>
            </a:avLst>
          </a:prstGeom>
          <a:solidFill>
            <a:srgbClr val="A98BFF">
              <a:alpha val="10000"/>
            </a:srgbClr>
          </a:solidFill>
          <a:ln w="9525">
            <a:solidFill>
              <a:srgbClr val="A98BFF">
                <a:alpha val="35000"/>
              </a:srgbClr>
            </a:solidFill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C46D493-162A-4353-80D8-BD1464777716}"/>
              </a:ext>
            </a:extLst>
          </p:cNvPr>
          <p:cNvSpPr>
            <a:spLocks noGrp="1"/>
          </p:cNvSpPr>
          <p:nvPr/>
        </p:nvSpPr>
        <p:spPr>
          <a:xfrm>
            <a:off x="838200" y="5800725"/>
            <a:ext cx="10515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Контр-ставка: если выбор не монетизируется, усилить роль рейтингов и данных и оптимизировать вклад Кинопоиска в Яндекс Плюс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8B38AE5-CB3D-43DF-85CA-3EE798EA8C7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762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Стратегия продукта на основе данных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827442A-F9B7-497F-BD6C-8F16B9B9D80E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900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D839056-6E5A-4132-B5B0-CBD4F43DBFA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3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56D02B-10C3-46D9-9AE9-DFB6C4ABA7AF}"/>
              </a:ext>
            </a:extLst>
          </p:cNvPr>
          <p:cNvSpPr>
            <a:spLocks noGrp="1"/>
          </p:cNvSpPr>
          <p:nvPr/>
        </p:nvSpPr>
        <p:spPr>
          <a:xfrm>
            <a:off x="1162050" y="342900"/>
            <a:ext cx="981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255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Рекомендация</a:t>
            </a:r>
            <a:endParaRPr sz="255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F076A12D-2C83-4967-9434-E7F906E1EF1B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0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25CE662-CC1F-467A-9443-BB6FD903AB91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47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A6A6B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6A6B0"/>
                </a:solidFill>
                <a:latin typeface="DejaVu Sans"/>
                <a:ea typeface="DejaVu Sans"/>
                <a:cs typeface="DejaVu Sans"/>
              </a:rPr>
              <a:t>Итог диагностики за одну минуту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6C73D4A-E275-4707-8491-868B85E62B41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276600" cy="3067050"/>
          </a:xfrm>
          <a:prstGeom prst="roundRect">
            <a:avLst>
              <a:gd name="adj" fmla="val 7453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B3D24B2-D4AA-498E-A6EA-A8EC14894EE4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63D1CCA-7A77-4A1A-AC53-407826330C99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Преимущество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A396F1-1B73-4970-B1A8-C7D03FD650C2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27432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Данные о вкусах, рейтинги и рекомендации превращают Кинопоиск в сильную точку выбора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204DB9C-EDCA-4A97-95F3-A2E820C07469}"/>
              </a:ext>
            </a:extLst>
          </p:cNvPr>
          <p:cNvSpPr>
            <a:spLocks noGrp="1"/>
          </p:cNvSpPr>
          <p:nvPr/>
        </p:nvSpPr>
        <p:spPr>
          <a:xfrm>
            <a:off x="4267200" y="1866900"/>
            <a:ext cx="3276600" cy="3067050"/>
          </a:xfrm>
          <a:prstGeom prst="roundRect">
            <a:avLst>
              <a:gd name="adj" fmla="val 7453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3B8F1B8-3B69-4579-A61A-C3F5BD145E71}"/>
              </a:ext>
            </a:extLst>
          </p:cNvPr>
          <p:cNvSpPr>
            <a:spLocks noGrp="1"/>
          </p:cNvSpPr>
          <p:nvPr/>
        </p:nvSpPr>
        <p:spPr>
          <a:xfrm>
            <a:off x="4533900" y="2133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3B3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3B3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B9DB844-DBCE-4156-B56B-B71D3E5B1C51}"/>
              </a:ext>
            </a:extLst>
          </p:cNvPr>
          <p:cNvSpPr>
            <a:spLocks noGrp="1"/>
          </p:cNvSpPr>
          <p:nvPr/>
        </p:nvSpPr>
        <p:spPr>
          <a:xfrm>
            <a:off x="4533900" y="257175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Главный риск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AF669F4-5D7E-433A-B05B-48F5FE38D1A7}"/>
              </a:ext>
            </a:extLst>
          </p:cNvPr>
          <p:cNvSpPr>
            <a:spLocks noGrp="1"/>
          </p:cNvSpPr>
          <p:nvPr/>
        </p:nvSpPr>
        <p:spPr>
          <a:xfrm>
            <a:off x="4533900" y="3143250"/>
            <a:ext cx="27432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Бесплатные видеоплатформы забирают вечернее внимание, пока часть подписчиков Плюса не смотрит Кинопоиск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F179251-6D10-4C49-827C-E40E8FF6E121}"/>
              </a:ext>
            </a:extLst>
          </p:cNvPr>
          <p:cNvSpPr>
            <a:spLocks noGrp="1"/>
          </p:cNvSpPr>
          <p:nvPr/>
        </p:nvSpPr>
        <p:spPr>
          <a:xfrm>
            <a:off x="7924800" y="1866900"/>
            <a:ext cx="3276600" cy="3067050"/>
          </a:xfrm>
          <a:prstGeom prst="roundRect">
            <a:avLst>
              <a:gd name="adj" fmla="val 7453"/>
            </a:avLst>
          </a:prstGeom>
          <a:solidFill>
            <a:srgbClr val="17171D"/>
          </a:solidFill>
          <a:ln w="0">
            <a:noFill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D970029-AFDB-40F7-BA24-0D536AC71769}"/>
              </a:ext>
            </a:extLst>
          </p:cNvPr>
          <p:cNvSpPr>
            <a:spLocks noGrp="1"/>
          </p:cNvSpPr>
          <p:nvPr/>
        </p:nvSpPr>
        <p:spPr>
          <a:xfrm>
            <a:off x="8191500" y="2133600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4178027-D106-4C62-A056-79F66148DDA3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Ставка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284D7A7-2516-4CD0-AC5D-E99FDB2C62D4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27432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Развивать единую платформу выбора и партнерскую витрину, а не соревноваться только размером каталога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3FA4979E-0928-4793-90E0-1493ECF527D8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1066800"/>
          </a:xfrm>
          <a:prstGeom prst="roundRect">
            <a:avLst>
              <a:gd name="adj" fmla="val 19643"/>
            </a:avLst>
          </a:prstGeom>
          <a:solidFill>
            <a:srgbClr val="FF6B00">
              <a:alpha val="15000"/>
            </a:srgbClr>
          </a:solidFill>
          <a:ln w="9525">
            <a:solidFill>
              <a:srgbClr val="FF6B00">
                <a:alpha val="48000"/>
              </a:srgbClr>
            </a:solidFill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9404B87-EDB0-4896-97A7-756F589F147D}"/>
              </a:ext>
            </a:extLst>
          </p:cNvPr>
          <p:cNvSpPr>
            <a:spLocks noGrp="1"/>
          </p:cNvSpPr>
          <p:nvPr/>
        </p:nvSpPr>
        <p:spPr>
          <a:xfrm>
            <a:off x="876300" y="5391150"/>
            <a:ext cx="4191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6B0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6B00"/>
                </a:solidFill>
                <a:latin typeface="DejaVu Sans"/>
                <a:ea typeface="DejaVu Sans"/>
                <a:cs typeface="DejaVu Sans"/>
              </a:rPr>
              <a:t>Перед масштабированием подтвердить две вещи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2C86C88-AF8A-425E-BDC1-E1C1A5338809}"/>
              </a:ext>
            </a:extLst>
          </p:cNvPr>
          <p:cNvSpPr>
            <a:spLocks noGrp="1"/>
          </p:cNvSpPr>
          <p:nvPr/>
        </p:nvSpPr>
        <p:spPr>
          <a:xfrm>
            <a:off x="876300" y="5610225"/>
            <a:ext cx="104394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F7F7F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Рекомендации</a:t>
            </a:r>
            <a:r>
              <a:rPr sz="15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повышают</a:t>
            </a:r>
            <a:r>
              <a:rPr sz="15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удержание</a:t>
            </a:r>
            <a:r>
              <a:rPr sz="15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15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монетизацию</a:t>
            </a:r>
            <a:r>
              <a:rPr sz="15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, а </a:t>
            </a:r>
            <a:r>
              <a:rPr sz="15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партнерства</a:t>
            </a:r>
            <a:r>
              <a:rPr sz="15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не</a:t>
            </a:r>
            <a:r>
              <a:rPr sz="15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уводят</a:t>
            </a:r>
            <a:r>
              <a:rPr sz="15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лояльность</a:t>
            </a:r>
            <a:r>
              <a:rPr sz="1500" b="1" dirty="0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 к </a:t>
            </a:r>
            <a:r>
              <a:rPr sz="1500" b="1" dirty="0" err="1">
                <a:solidFill>
                  <a:srgbClr val="F7F7F8"/>
                </a:solidFill>
                <a:latin typeface="DejaVu Sans"/>
                <a:ea typeface="DejaVu Sans"/>
                <a:cs typeface="DejaVu Sans"/>
              </a:rPr>
              <a:t>конкурентам</a:t>
            </a:r>
            <a:endParaRPr sz="1500" b="1" dirty="0">
              <a:solidFill>
                <a:srgbClr val="F7F7F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CD26579-CD3E-4C86-8B03-A6EE803040C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762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Стратегия продукта на основе данных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7B0F016-1D37-42B8-97D4-C01C2E84DBEC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38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6F6F7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42422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1780</Words>
  <Application>Microsoft Office PowerPoint</Application>
  <DocSecurity>0</DocSecurity>
  <PresentationFormat>Широкоэкранный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Calibri</vt:lpstr>
      <vt:lpstr>DejaVu Sans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Софья Зименкова</cp:lastModifiedBy>
  <cp:revision>3</cp:revision>
  <dcterms:created xsi:type="dcterms:W3CDTF">2026-09-20T19:46:51Z</dcterms:created>
  <dcterms:modified xsi:type="dcterms:W3CDTF">2026-09-21T07:13:45Z</dcterms:modified>
</cp:coreProperties>
</file>