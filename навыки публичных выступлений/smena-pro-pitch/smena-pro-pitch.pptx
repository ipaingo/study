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Переработки</c:v>
                </c:pt>
              </c:strCache>
            </c:strRef>
          </c:tx>
          <c:spPr>
            <a:ln w="38100">
              <a:solidFill>
                <a:srgbClr val="E8590C"/>
              </a:solidFill>
            </a:ln>
          </c:spPr>
          <c:marker>
            <c:symbol val="circle"/>
            <c:size val="8"/>
            <c:spPr>
              <a:solidFill>
                <a:srgbClr val="E8590C"/>
              </a:solidFill>
              <a:ln w="38100">
                <a:solidFill>
                  <a:srgbClr val="E8590C"/>
                </a:solidFill>
              </a:ln>
            </c:spPr>
          </c:marker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 noProof="1">
                    <a:solidFill>
                      <a:srgbClr val="1E2A2E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1-й мес</c:v>
                </c:pt>
                <c:pt idx="1">
                  <c:v>2-й мес</c:v>
                </c:pt>
                <c:pt idx="2">
                  <c:v>3-й мес</c:v>
                </c:pt>
                <c:pt idx="3">
                  <c:v>4-й мес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11</c:v>
                </c:pt>
                <c:pt idx="2">
                  <c:v>8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BF-446B-943B-C980929549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6"/>
          <c:min val="0"/>
        </c:scaling>
        <c:delete val="0"/>
        <c:axPos val="l"/>
        <c:majorGridlines>
          <c:spPr>
            <a:ln w="12700">
              <a:solidFill>
                <a:srgbClr val="E3DCCB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Arial"/>
              </a:defRPr>
            </a:pPr>
            <a:endParaRPr lang="ru-RU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 смен</c:v>
                </c:pt>
              </c:strCache>
            </c:strRef>
          </c:tx>
          <c:spPr>
            <a:solidFill>
              <a:srgbClr val="0F4C5C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 noProof="1">
                    <a:solidFill>
                      <a:srgbClr val="F7F5F0"/>
                    </a:solidFill>
                    <a:latin typeface="Arial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1-й мес</c:v>
                </c:pt>
                <c:pt idx="1">
                  <c:v>2-й мес</c:v>
                </c:pt>
                <c:pt idx="2">
                  <c:v>3-й мес</c:v>
                </c:pt>
                <c:pt idx="3">
                  <c:v>4-й мес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390</c:v>
                </c:pt>
                <c:pt idx="2">
                  <c:v>360</c:v>
                </c:pt>
                <c:pt idx="3">
                  <c:v>340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053-4E37-BF5E-BA5009D25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2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450"/>
          <c:min val="0"/>
        </c:scaling>
        <c:delete val="0"/>
        <c:axPos val="l"/>
        <c:majorGridlines>
          <c:spPr>
            <a:ln w="12700">
              <a:solidFill>
                <a:srgbClr val="E3DCCB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</a:ln>
        </c:spPr>
        <c:txPr>
          <a:bodyPr/>
          <a:lstStyle/>
          <a:p>
            <a:pPr>
              <a:defRPr sz="1100" b="0" i="0" u="none" strike="noStrike" noProof="1">
                <a:latin typeface="Arial"/>
              </a:defRPr>
            </a:pPr>
            <a:endParaRPr lang="ru-RU"/>
          </a:p>
        </c:txPr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812800" y="1905000"/>
            <a:ext cx="711200" cy="76200"/>
          </a:xfrm>
          <a:prstGeom prst="rect">
            <a:avLst/>
          </a:prstGeom>
          <a:solidFill>
            <a:srgbClr val="E8590C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320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300" noProof="1">
                <a:solidFill>
                  <a:srgbClr val="F0A268"/>
                </a:solidFill>
                <a:latin typeface="MiSans"/>
                <a:ea typeface="MiSans"/>
              </a:rPr>
              <a:t>СМЕНАPRO · АВТОПЛАНИРОВАНИЕ СМЕН</a:t>
            </a:r>
            <a:endParaRPr lang="en-US" sz="12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2260600"/>
            <a:ext cx="102870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300" b="1" noProof="1">
                <a:solidFill>
                  <a:srgbClr val="F7F5F0"/>
                </a:solidFill>
                <a:latin typeface="MiSans"/>
                <a:ea typeface="MiSans"/>
              </a:rPr>
              <a:t>Пилот снизил переработки с 14% до 6% ФОТ. Предлагаю готовить расширение автопланирования на все 40 точек</a:t>
            </a:r>
            <a:endParaRPr lang="en-US" sz="3300" noProof="1"/>
          </a:p>
        </p:txBody>
      </p:sp>
      <p:sp>
        <p:nvSpPr>
          <p:cNvPr id="5" name="sub"/>
          <p:cNvSpPr txBox="1"/>
          <p:nvPr/>
        </p:nvSpPr>
        <p:spPr>
          <a:xfrm>
            <a:off x="812800" y="47752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A8C0C5"/>
                </a:solidFill>
                <a:latin typeface="MiSans"/>
                <a:ea typeface="MiSans"/>
              </a:rPr>
              <a:t>Софья, продакт «СменаPRO» — выступаю перед операционными директорами сети ресторанов, с которой уже работаем по контракту</a:t>
            </a:r>
            <a:endParaRPr lang="en-US" sz="1500" noProof="1"/>
          </a:p>
        </p:txBody>
      </p:sp>
      <p:sp>
        <p:nvSpPr>
          <p:cNvPr id="6" name="bottom"/>
          <p:cNvSpPr txBox="1"/>
          <p:nvPr/>
        </p:nvSpPr>
        <p:spPr>
          <a:xfrm>
            <a:off x="812800" y="62484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A8C0C5"/>
                </a:solidFill>
                <a:latin typeface="MiSans"/>
                <a:ea typeface="MiSans"/>
              </a:rPr>
              <a:t>СменаPRO — SaaS для планирования смен и учёта переработок · 5 минут + вопросы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MiSans"/>
                <a:ea typeface="MiSans"/>
              </a:rPr>
              <a:t>КОНТЕКСТ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MiSans"/>
                <a:ea typeface="MiSans"/>
              </a:rPr>
              <a:t>Переработки съедают 14% фонда оплаты труда, текучесть достигла 38% в год</a:t>
            </a:r>
            <a:endParaRPr lang="en-US" sz="2700" noProof="1"/>
          </a:p>
        </p:txBody>
      </p:sp>
      <p:sp>
        <p:nvSpPr>
          <p:cNvPr id="4" name="num1"/>
          <p:cNvSpPr txBox="1"/>
          <p:nvPr/>
        </p:nvSpPr>
        <p:spPr>
          <a:xfrm>
            <a:off x="812800" y="21336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>
                <a:solidFill>
                  <a:srgbClr val="0F4C5C"/>
                </a:solidFill>
                <a:latin typeface="MiSans"/>
                <a:ea typeface="MiSans"/>
              </a:rPr>
              <a:t>14%</a:t>
            </a:r>
            <a:endParaRPr lang="en-US" sz="4200" noProof="1"/>
          </a:p>
        </p:txBody>
      </p:sp>
      <p:sp>
        <p:nvSpPr>
          <p:cNvPr id="5" name="num1-label"/>
          <p:cNvSpPr txBox="1"/>
          <p:nvPr/>
        </p:nvSpPr>
        <p:spPr>
          <a:xfrm>
            <a:off x="812800" y="28702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переработок в фонде оплаты труда — средняя по сети из 40 точек</a:t>
            </a:r>
            <a:endParaRPr lang="en-US" sz="1300" noProof="1"/>
          </a:p>
        </p:txBody>
      </p:sp>
      <p:sp>
        <p:nvSpPr>
          <p:cNvPr id="6" name="sep1"/>
          <p:cNvSpPr/>
          <p:nvPr/>
        </p:nvSpPr>
        <p:spPr>
          <a:xfrm>
            <a:off x="812800" y="3581400"/>
            <a:ext cx="4318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7" name="num2"/>
          <p:cNvSpPr txBox="1"/>
          <p:nvPr/>
        </p:nvSpPr>
        <p:spPr>
          <a:xfrm>
            <a:off x="812800" y="37846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>
                <a:solidFill>
                  <a:srgbClr val="0F4C5C"/>
                </a:solidFill>
                <a:latin typeface="MiSans"/>
                <a:ea typeface="MiSans"/>
              </a:rPr>
              <a:t>38%</a:t>
            </a:r>
            <a:endParaRPr lang="en-US" sz="4200" noProof="1"/>
          </a:p>
        </p:txBody>
      </p:sp>
      <p:sp>
        <p:nvSpPr>
          <p:cNvPr id="8" name="num2-label"/>
          <p:cNvSpPr txBox="1"/>
          <p:nvPr/>
        </p:nvSpPr>
        <p:spPr>
          <a:xfrm>
            <a:off x="812800" y="45212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годовая текучесть линейного персонала</a:t>
            </a:r>
            <a:endParaRPr lang="en-US" sz="1300" noProof="1"/>
          </a:p>
        </p:txBody>
      </p:sp>
      <p:sp>
        <p:nvSpPr>
          <p:cNvPr id="9" name="sep2"/>
          <p:cNvSpPr/>
          <p:nvPr/>
        </p:nvSpPr>
        <p:spPr>
          <a:xfrm>
            <a:off x="812800" y="5105400"/>
            <a:ext cx="4318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0" name="num3"/>
          <p:cNvSpPr txBox="1"/>
          <p:nvPr/>
        </p:nvSpPr>
        <p:spPr>
          <a:xfrm>
            <a:off x="812800" y="5283200"/>
            <a:ext cx="4318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200" b="1" noProof="1">
                <a:solidFill>
                  <a:srgbClr val="0F4C5C"/>
                </a:solidFill>
                <a:latin typeface="MiSans"/>
                <a:ea typeface="MiSans"/>
              </a:rPr>
              <a:t>1 день</a:t>
            </a:r>
            <a:endParaRPr lang="en-US" sz="4200" noProof="1"/>
          </a:p>
        </p:txBody>
      </p:sp>
      <p:sp>
        <p:nvSpPr>
          <p:cNvPr id="11" name="num3-label"/>
          <p:cNvSpPr txBox="1"/>
          <p:nvPr/>
        </p:nvSpPr>
        <p:spPr>
          <a:xfrm>
            <a:off x="812800" y="6019800"/>
            <a:ext cx="431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уходит на ручную сборку графика смен на одной точке</a:t>
            </a:r>
            <a:endParaRPr lang="en-US" sz="1300" noProof="1"/>
          </a:p>
        </p:txBody>
      </p:sp>
      <p:sp>
        <p:nvSpPr>
          <p:cNvPr id="12" name="divider"/>
          <p:cNvSpPr/>
          <p:nvPr/>
        </p:nvSpPr>
        <p:spPr>
          <a:xfrm>
            <a:off x="5689600" y="2133600"/>
            <a:ext cx="12700" cy="41910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3" name="right-text"/>
          <p:cNvSpPr txBox="1"/>
          <p:nvPr/>
        </p:nvSpPr>
        <p:spPr>
          <a:xfrm>
            <a:off x="6248400" y="2133600"/>
            <a:ext cx="5130800" cy="330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500" noProof="1">
                <a:solidFill>
                  <a:srgbClr val="1E2A2E"/>
                </a:solidFill>
                <a:latin typeface="MiSans"/>
                <a:ea typeface="MiSans"/>
              </a:rPr>
              <a:t>Сеть годами платит за переработки и теряет людей: жалобы на переработки и текучесть — одна из главных претензий клиента к текущему процессу планирования.</a:t>
            </a:r>
            <a:endParaRPr lang="en-US" sz="1500" noProof="1"/>
          </a:p>
          <a:p>
            <a:pPr>
              <a:lnSpc>
                <a:spcPct val="145000"/>
              </a:lnSpc>
              <a:spcBef>
                <a:spcPts val="1400"/>
              </a:spcBef>
            </a:pPr>
            <a:r>
              <a:rPr lang="en-US" sz="1500" noProof="1">
                <a:solidFill>
                  <a:srgbClr val="1E2A2E"/>
                </a:solidFill>
                <a:latin typeface="MiSans"/>
                <a:ea typeface="MiSans"/>
              </a:rPr>
              <a:t>Квартал назад мы запустили модуль автопланирования смен на трёх точках. Пилот завершён — и сегодня решаем, расширять ли модуль на всю сеть.</a:t>
            </a:r>
            <a:endParaRPr lang="en-US" sz="1500" noProof="1"/>
          </a:p>
        </p:txBody>
      </p:sp>
      <p:sp>
        <p:nvSpPr>
          <p:cNvPr id="14" name="right-note"/>
          <p:cNvSpPr txBox="1"/>
          <p:nvPr/>
        </p:nvSpPr>
        <p:spPr>
          <a:xfrm>
            <a:off x="6248400" y="5740400"/>
            <a:ext cx="513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Источник: данные клиента, средние показатели по сети</a:t>
            </a:r>
            <a:endParaRPr lang="en-US" sz="1100" noProof="1"/>
          </a:p>
        </p:txBody>
      </p:sp>
      <p:sp>
        <p:nvSpPr>
          <p:cNvPr id="15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СменаPRO · питч для операционных директоров сети ресторанов</a:t>
            </a:r>
            <a:endParaRPr lang="en-US" sz="1000" noProof="1"/>
          </a:p>
        </p:txBody>
      </p:sp>
      <p:sp>
        <p:nvSpPr>
          <p:cNvPr id="16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2 / 10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MiSans"/>
                <a:ea typeface="MiSans"/>
              </a:rPr>
              <a:t>ГЕРОЙ И СТАВКА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MiSans"/>
                <a:ea typeface="MiSans"/>
              </a:rPr>
              <a:t>Бригадир точки: ставка — день в неделю, конфликты из-за переработок и потеря людей</a:t>
            </a:r>
            <a:endParaRPr lang="en-US" sz="2700" noProof="1"/>
          </a:p>
        </p:txBody>
      </p:sp>
      <p:sp>
        <p:nvSpPr>
          <p:cNvPr id="4" name="quote-mark"/>
          <p:cNvSpPr txBox="1"/>
          <p:nvPr/>
        </p:nvSpPr>
        <p:spPr>
          <a:xfrm>
            <a:off x="812800" y="1905000"/>
            <a:ext cx="1016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6400" b="1" noProof="1">
                <a:solidFill>
                  <a:srgbClr val="E8590C"/>
                </a:solidFill>
                <a:latin typeface="MiSans"/>
                <a:ea typeface="MiSans"/>
              </a:rPr>
              <a:t>«</a:t>
            </a:r>
            <a:endParaRPr lang="en-US" sz="6400" noProof="1"/>
          </a:p>
        </p:txBody>
      </p:sp>
      <p:sp>
        <p:nvSpPr>
          <p:cNvPr id="5" name="quote"/>
          <p:cNvSpPr txBox="1"/>
          <p:nvPr/>
        </p:nvSpPr>
        <p:spPr>
          <a:xfrm>
            <a:off x="812800" y="2768600"/>
            <a:ext cx="55880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2400" i="1" noProof="1">
                <a:solidFill>
                  <a:srgbClr val="0F4C5C"/>
                </a:solidFill>
                <a:latin typeface="MiSans"/>
                <a:ea typeface="MiSans"/>
              </a:rPr>
              <a:t>Впервые график смен собирается за час, а не за день</a:t>
            </a:r>
            <a:endParaRPr lang="en-US" sz="2400" noProof="1"/>
          </a:p>
        </p:txBody>
      </p:sp>
      <p:sp>
        <p:nvSpPr>
          <p:cNvPr id="6" name="quote-author"/>
          <p:cNvSpPr txBox="1"/>
          <p:nvPr/>
        </p:nvSpPr>
        <p:spPr>
          <a:xfrm>
            <a:off x="812800" y="44704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— операционный директор сети о пилотных точках</a:t>
            </a:r>
            <a:endParaRPr lang="en-US" sz="1100" noProof="1"/>
          </a:p>
        </p:txBody>
      </p:sp>
      <p:sp>
        <p:nvSpPr>
          <p:cNvPr id="7" name="divider"/>
          <p:cNvSpPr/>
          <p:nvPr/>
        </p:nvSpPr>
        <p:spPr>
          <a:xfrm>
            <a:off x="6858000" y="2133600"/>
            <a:ext cx="12700" cy="38100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8" name="stake-title"/>
          <p:cNvSpPr txBox="1"/>
          <p:nvPr/>
        </p:nvSpPr>
        <p:spPr>
          <a:xfrm>
            <a:off x="7416800" y="2133600"/>
            <a:ext cx="39624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600" b="1" noProof="1">
                <a:solidFill>
                  <a:srgbClr val="1E2A2E"/>
                </a:solidFill>
                <a:latin typeface="MiSans"/>
                <a:ea typeface="MiSans"/>
              </a:rPr>
              <a:t>Что бригадир теряет, если ничего не менять</a:t>
            </a:r>
            <a:endParaRPr lang="en-US" sz="1600" noProof="1"/>
          </a:p>
        </p:txBody>
      </p:sp>
      <p:sp>
        <p:nvSpPr>
          <p:cNvPr id="9" name="stake-list"/>
          <p:cNvSpPr txBox="1"/>
          <p:nvPr/>
        </p:nvSpPr>
        <p:spPr>
          <a:xfrm>
            <a:off x="7416800" y="2997200"/>
            <a:ext cx="3962400" cy="317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  <a:spcBef>
                <a:spcPts val="800"/>
              </a:spcBef>
              <a:buChar char="•"/>
            </a:pPr>
            <a:r>
              <a:rPr lang="en-US" sz="1400" noProof="1">
                <a:solidFill>
                  <a:srgbClr val="1E2A2E"/>
                </a:solidFill>
                <a:latin typeface="MiSans"/>
                <a:ea typeface="MiSans"/>
              </a:rPr>
              <a:t>День в неделю на ручную сборку графика — вместо работы с гостями и командой</a:t>
            </a:r>
            <a:endParaRPr lang="en-US" sz="1400" noProof="1"/>
          </a:p>
          <a:p>
            <a:pPr>
              <a:lnSpc>
                <a:spcPct val="140000"/>
              </a:lnSpc>
              <a:spcBef>
                <a:spcPts val="800"/>
              </a:spcBef>
              <a:buChar char="•"/>
            </a:pPr>
            <a:r>
              <a:rPr lang="en-US" sz="1400" noProof="1">
                <a:solidFill>
                  <a:srgbClr val="1E2A2E"/>
                </a:solidFill>
                <a:latin typeface="MiSans"/>
                <a:ea typeface="MiSans"/>
              </a:rPr>
              <a:t>Конфликты с персоналом из-за переработок по выходным</a:t>
            </a:r>
            <a:endParaRPr lang="en-US" sz="1400" noProof="1"/>
          </a:p>
          <a:p>
            <a:pPr>
              <a:lnSpc>
                <a:spcPct val="140000"/>
              </a:lnSpc>
              <a:spcBef>
                <a:spcPts val="800"/>
              </a:spcBef>
              <a:buChar char="•"/>
            </a:pPr>
            <a:r>
              <a:rPr lang="en-US" sz="1400" noProof="1">
                <a:solidFill>
                  <a:srgbClr val="1E2A2E"/>
                </a:solidFill>
                <a:latin typeface="MiSans"/>
                <a:ea typeface="MiSans"/>
              </a:rPr>
              <a:t>Опытных сотрудников: при текучести 38% в год сеть постоянно нанимает и обучает новичков</a:t>
            </a:r>
            <a:endParaRPr lang="en-US" sz="1400" noProof="1"/>
          </a:p>
        </p:txBody>
      </p:sp>
      <p:sp>
        <p:nvSpPr>
          <p:cNvPr id="10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СменаPRO · питч для операционных директоров сети ресторанов</a:t>
            </a:r>
            <a:endParaRPr lang="en-US" sz="1000" noProof="1"/>
          </a:p>
        </p:txBody>
      </p:sp>
      <p:sp>
        <p:nvSpPr>
          <p:cNvPr id="11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3 / 10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MiSans"/>
                <a:ea typeface="MiSans"/>
              </a:rPr>
              <a:t>ДОКАЗАТЕЛЬСТВА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MiSans"/>
                <a:ea typeface="MiSans"/>
              </a:rPr>
              <a:t>За квартал пилота переработки упали вдвое, стоимость смен — на 19%</a:t>
            </a:r>
            <a:endParaRPr lang="en-US" sz="2700" noProof="1"/>
          </a:p>
        </p:txBody>
      </p:sp>
      <p:sp>
        <p:nvSpPr>
          <p:cNvPr id="4" name="chart1-label"/>
          <p:cNvSpPr txBox="1"/>
          <p:nvPr/>
        </p:nvSpPr>
        <p:spPr>
          <a:xfrm>
            <a:off x="812800" y="1879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E2A2E"/>
                </a:solidFill>
                <a:latin typeface="MiSans"/>
                <a:ea typeface="MiSans"/>
              </a:rPr>
              <a:t>Переработки, % от ФОТ</a:t>
            </a:r>
            <a:endParaRPr lang="en-US" sz="1400" noProof="1"/>
          </a:p>
        </p:txBody>
      </p:sp>
      <p:graphicFrame>
        <p:nvGraphicFramePr>
          <p:cNvPr id="5" name="chart1"/>
          <p:cNvGraphicFramePr/>
          <p:nvPr/>
        </p:nvGraphicFramePr>
        <p:xfrm>
          <a:off x="812800" y="2184400"/>
          <a:ext cx="5080000" cy="314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hart2-label"/>
          <p:cNvSpPr txBox="1"/>
          <p:nvPr/>
        </p:nvSpPr>
        <p:spPr>
          <a:xfrm>
            <a:off x="6299200" y="1879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E2A2E"/>
                </a:solidFill>
                <a:latin typeface="MiSans"/>
                <a:ea typeface="MiSans"/>
              </a:rPr>
              <a:t>Стоимость смен на пилотных точках, тыс. ₽</a:t>
            </a:r>
            <a:endParaRPr lang="en-US" sz="1400" noProof="1"/>
          </a:p>
        </p:txBody>
      </p:sp>
      <p:graphicFrame>
        <p:nvGraphicFramePr>
          <p:cNvPr id="7" name="chart2"/>
          <p:cNvGraphicFramePr/>
          <p:nvPr/>
        </p:nvGraphicFramePr>
        <p:xfrm>
          <a:off x="6299200" y="2184400"/>
          <a:ext cx="5080000" cy="314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tat-sep"/>
          <p:cNvSpPr/>
          <p:nvPr/>
        </p:nvSpPr>
        <p:spPr>
          <a:xfrm>
            <a:off x="812800" y="5562600"/>
            <a:ext cx="105664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9" name="stat"/>
          <p:cNvSpPr txBox="1"/>
          <p:nvPr/>
        </p:nvSpPr>
        <p:spPr>
          <a:xfrm>
            <a:off x="812800" y="57150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1E2A2E"/>
                </a:solidFill>
                <a:latin typeface="MiSans"/>
                <a:ea typeface="MiSans"/>
              </a:rPr>
              <a:t>Текучесть на пилотных точках: </a:t>
            </a:r>
            <a:r>
              <a:rPr lang="en-US" sz="1500" b="1" noProof="1">
                <a:solidFill>
                  <a:srgbClr val="1E2A2E"/>
                </a:solidFill>
                <a:latin typeface="MiSans"/>
                <a:ea typeface="MiSans"/>
              </a:rPr>
              <a:t>38% → 27%</a:t>
            </a:r>
            <a:r>
              <a:rPr lang="en-US" sz="1500" noProof="1">
                <a:solidFill>
                  <a:srgbClr val="1E2A2E"/>
                </a:solidFill>
                <a:latin typeface="MiSans"/>
                <a:ea typeface="MiSans"/>
              </a:rPr>
              <a:t> за тот же период</a:t>
            </a:r>
            <a:endParaRPr lang="en-US" sz="1500" noProof="1"/>
          </a:p>
        </p:txBody>
      </p:sp>
      <p:sp>
        <p:nvSpPr>
          <p:cNvPr id="10" name="source"/>
          <p:cNvSpPr txBox="1"/>
          <p:nvPr/>
        </p:nvSpPr>
        <p:spPr>
          <a:xfrm>
            <a:off x="812800" y="61214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Источник: данные пилота — 3 точки сети, обычный сезон, помесячно</a:t>
            </a:r>
            <a:endParaRPr lang="en-US" sz="1100" noProof="1"/>
          </a:p>
        </p:txBody>
      </p:sp>
      <p:sp>
        <p:nvSpPr>
          <p:cNvPr id="11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СменаPRO · питч для операционных директоров сети ресторанов</a:t>
            </a:r>
            <a:endParaRPr lang="en-US" sz="100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4 / 10</a:t>
            </a:r>
            <a:endParaRPr lang="en-US" sz="10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MiSans"/>
                <a:ea typeface="MiSans"/>
              </a:rPr>
              <a:t>РЕШЕНИЕ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MiSans"/>
                <a:ea typeface="MiSans"/>
              </a:rPr>
              <a:t>Расширяем модуль автопланирования на все 40 точек — поэтапно, с проверкой в высокий сезон</a:t>
            </a:r>
            <a:endParaRPr lang="en-US" sz="2700" noProof="1"/>
          </a:p>
        </p:txBody>
      </p:sp>
      <p:sp>
        <p:nvSpPr>
          <p:cNvPr id="4" name="icon1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eyJpY29uTmFtZSI6ImZhczpjYWxlbmRhci1jaGVjayJ9</pptd:icon>
              </p:ext>
            </p:extLst>
          </p:nvPr>
        </p:nvSpPr>
        <p:spPr>
          <a:xfrm>
            <a:off x="812800" y="231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320" y="0"/>
                </a:move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lose/>
                <a:moveTo>
                  <a:pt x="342" y="162"/>
                </a:moveTo>
                <a:cubicBezTo>
                  <a:pt x="331" y="154"/>
                  <a:pt x="316" y="156"/>
                  <a:pt x="309" y="167"/>
                </a:cubicBezTo>
                <a:lnTo>
                  <a:pt x="189" y="331"/>
                </a:lnTo>
                <a:lnTo>
                  <a:pt x="137" y="279"/>
                </a:lnTo>
                <a:cubicBezTo>
                  <a:pt x="128" y="270"/>
                  <a:pt x="112" y="270"/>
                  <a:pt x="103" y="279"/>
                </a:cubicBezTo>
                <a:cubicBezTo>
                  <a:pt x="94" y="289"/>
                  <a:pt x="94" y="304"/>
                  <a:pt x="103" y="313"/>
                </a:cubicBezTo>
                <a:lnTo>
                  <a:pt x="175" y="385"/>
                </a:lnTo>
                <a:cubicBezTo>
                  <a:pt x="180" y="390"/>
                  <a:pt x="187" y="393"/>
                  <a:pt x="194" y="392"/>
                </a:cubicBezTo>
                <a:cubicBezTo>
                  <a:pt x="201" y="392"/>
                  <a:pt x="207" y="388"/>
                  <a:pt x="211" y="382"/>
                </a:cubicBezTo>
                <a:lnTo>
                  <a:pt x="347" y="195"/>
                </a:lnTo>
                <a:cubicBezTo>
                  <a:pt x="355" y="185"/>
                  <a:pt x="353" y="170"/>
                  <a:pt x="342" y="162"/>
                </a:cubicBezTo>
                <a:close/>
              </a:path>
            </a:pathLst>
          </a:custGeom>
          <a:solidFill>
            <a:srgbClr val="0F4C5C"/>
          </a:solidFill>
          <a:ln>
            <a:noFill/>
          </a:ln>
        </p:spPr>
      </p:sp>
      <p:sp>
        <p:nvSpPr>
          <p:cNvPr id="5" name="row1"/>
          <p:cNvSpPr txBox="1"/>
          <p:nvPr/>
        </p:nvSpPr>
        <p:spPr>
          <a:xfrm>
            <a:off x="1473200" y="2235200"/>
            <a:ext cx="939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1E2A2E"/>
                </a:solidFill>
                <a:latin typeface="MiSans"/>
                <a:ea typeface="MiSans"/>
              </a:rPr>
              <a:t>Автоматически собирает график смен</a:t>
            </a:r>
            <a:endParaRPr lang="en-US" sz="14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noProof="1">
                <a:solidFill>
                  <a:srgbClr val="1E2A2E"/>
                </a:solidFill>
                <a:latin typeface="MiSans"/>
                <a:ea typeface="MiSans"/>
              </a:rPr>
              <a:t>учитывает загрузку точки, норму часов, ограничения и пожелания сотрудников</a:t>
            </a:r>
            <a:endParaRPr lang="en-US" sz="1400" noProof="1"/>
          </a:p>
        </p:txBody>
      </p:sp>
      <p:sp>
        <p:nvSpPr>
          <p:cNvPr id="6" name="sep1"/>
          <p:cNvSpPr/>
          <p:nvPr/>
        </p:nvSpPr>
        <p:spPr>
          <a:xfrm>
            <a:off x="1473200" y="3327400"/>
            <a:ext cx="9398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7" name="icon2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eyJpY29uTmFtZSI6ImZhczp1c2VyLWNoZWNrIn0</pptd:icon>
              </p:ext>
            </p:extLst>
          </p:nvPr>
        </p:nvSpPr>
        <p:spPr>
          <a:xfrm>
            <a:off x="812800" y="3708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0F4C5C"/>
          </a:solidFill>
          <a:ln>
            <a:noFill/>
          </a:ln>
        </p:spPr>
      </p:sp>
      <p:sp>
        <p:nvSpPr>
          <p:cNvPr id="8" name="row2"/>
          <p:cNvSpPr txBox="1"/>
          <p:nvPr/>
        </p:nvSpPr>
        <p:spPr>
          <a:xfrm>
            <a:off x="1473200" y="3632200"/>
            <a:ext cx="939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1E2A2E"/>
                </a:solidFill>
                <a:latin typeface="MiSans"/>
                <a:ea typeface="MiSans"/>
              </a:rPr>
              <a:t>Бригадир проверяет и утверждает</a:t>
            </a:r>
            <a:endParaRPr lang="en-US" sz="14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noProof="1">
                <a:solidFill>
                  <a:srgbClr val="1E2A2E"/>
                </a:solidFill>
                <a:latin typeface="MiSans"/>
                <a:ea typeface="MiSans"/>
              </a:rPr>
              <a:t>контроль над расписанием остаётся на точке — модуль убирает рутину, а не ответственность</a:t>
            </a:r>
            <a:endParaRPr lang="en-US" sz="1400" noProof="1"/>
          </a:p>
        </p:txBody>
      </p:sp>
      <p:sp>
        <p:nvSpPr>
          <p:cNvPr id="9" name="sep2"/>
          <p:cNvSpPr/>
          <p:nvPr/>
        </p:nvSpPr>
        <p:spPr>
          <a:xfrm>
            <a:off x="1473200" y="4724400"/>
            <a:ext cx="9398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0" name="icon3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eyJpY29uTmFtZSI6ImZhczpjaGFydC1saW5lIn0</pptd:icon>
              </p:ext>
            </p:extLst>
          </p:nvPr>
        </p:nvSpPr>
        <p:spPr>
          <a:xfrm>
            <a:off x="812800" y="5105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64" y="64"/>
                </a:moveTo>
                <a:cubicBezTo>
                  <a:pt x="64" y="46"/>
                  <a:pt x="50" y="32"/>
                  <a:pt x="32" y="32"/>
                </a:cubicBezTo>
                <a:cubicBezTo>
                  <a:pt x="14" y="32"/>
                  <a:pt x="0" y="46"/>
                  <a:pt x="0" y="64"/>
                </a:cubicBezTo>
                <a:lnTo>
                  <a:pt x="0" y="400"/>
                </a:lnTo>
                <a:cubicBezTo>
                  <a:pt x="0" y="444"/>
                  <a:pt x="36" y="480"/>
                  <a:pt x="80" y="480"/>
                </a:cubicBezTo>
                <a:lnTo>
                  <a:pt x="480" y="480"/>
                </a:lnTo>
                <a:cubicBezTo>
                  <a:pt x="498" y="480"/>
                  <a:pt x="512" y="466"/>
                  <a:pt x="512" y="448"/>
                </a:cubicBezTo>
                <a:cubicBezTo>
                  <a:pt x="512" y="430"/>
                  <a:pt x="498" y="416"/>
                  <a:pt x="480" y="416"/>
                </a:cubicBezTo>
                <a:lnTo>
                  <a:pt x="80" y="416"/>
                </a:lnTo>
                <a:cubicBezTo>
                  <a:pt x="71" y="416"/>
                  <a:pt x="64" y="409"/>
                  <a:pt x="64" y="400"/>
                </a:cubicBezTo>
                <a:lnTo>
                  <a:pt x="64" y="64"/>
                </a:lnTo>
                <a:close/>
                <a:moveTo>
                  <a:pt x="471" y="151"/>
                </a:moveTo>
                <a:cubicBezTo>
                  <a:pt x="483" y="138"/>
                  <a:pt x="483" y="118"/>
                  <a:pt x="471" y="105"/>
                </a:cubicBezTo>
                <a:cubicBezTo>
                  <a:pt x="458" y="93"/>
                  <a:pt x="438" y="93"/>
                  <a:pt x="425" y="105"/>
                </a:cubicBezTo>
                <a:lnTo>
                  <a:pt x="320" y="211"/>
                </a:lnTo>
                <a:lnTo>
                  <a:pt x="263" y="153"/>
                </a:lnTo>
                <a:cubicBezTo>
                  <a:pt x="250" y="141"/>
                  <a:pt x="230" y="141"/>
                  <a:pt x="217" y="153"/>
                </a:cubicBezTo>
                <a:lnTo>
                  <a:pt x="121" y="249"/>
                </a:lnTo>
                <a:cubicBezTo>
                  <a:pt x="109" y="262"/>
                  <a:pt x="109" y="282"/>
                  <a:pt x="121" y="295"/>
                </a:cubicBezTo>
                <a:cubicBezTo>
                  <a:pt x="134" y="307"/>
                  <a:pt x="154" y="307"/>
                  <a:pt x="167" y="295"/>
                </a:cubicBezTo>
                <a:lnTo>
                  <a:pt x="240" y="221"/>
                </a:lnTo>
                <a:lnTo>
                  <a:pt x="297" y="279"/>
                </a:lnTo>
                <a:cubicBezTo>
                  <a:pt x="310" y="291"/>
                  <a:pt x="330" y="291"/>
                  <a:pt x="343" y="279"/>
                </a:cubicBezTo>
                <a:lnTo>
                  <a:pt x="471" y="151"/>
                </a:lnTo>
                <a:close/>
              </a:path>
            </a:pathLst>
          </a:custGeom>
          <a:solidFill>
            <a:srgbClr val="0F4C5C"/>
          </a:solidFill>
          <a:ln>
            <a:noFill/>
          </a:ln>
        </p:spPr>
      </p:sp>
      <p:sp>
        <p:nvSpPr>
          <p:cNvPr id="11" name="row3"/>
          <p:cNvSpPr txBox="1"/>
          <p:nvPr/>
        </p:nvSpPr>
        <p:spPr>
          <a:xfrm>
            <a:off x="1473200" y="5029200"/>
            <a:ext cx="9398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600" b="1" noProof="1">
                <a:solidFill>
                  <a:srgbClr val="1E2A2E"/>
                </a:solidFill>
                <a:latin typeface="MiSans"/>
                <a:ea typeface="MiSans"/>
              </a:rPr>
              <a:t>Метрики под контролем</a:t>
            </a:r>
            <a:endParaRPr lang="en-US" sz="140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noProof="1">
                <a:solidFill>
                  <a:srgbClr val="1E2A2E"/>
                </a:solidFill>
                <a:latin typeface="MiSans"/>
                <a:ea typeface="MiSans"/>
              </a:rPr>
              <a:t>переработки, стоимость смен и текучесть — по каждой точке, ежемесячно</a:t>
            </a:r>
            <a:endParaRPr lang="en-US" sz="1400" noProof="1"/>
          </a:p>
        </p:txBody>
      </p:sp>
      <p:sp>
        <p:nvSpPr>
          <p:cNvPr id="12" name="note"/>
          <p:cNvSpPr txBox="1"/>
          <p:nvPr/>
        </p:nvSpPr>
        <p:spPr>
          <a:xfrm>
            <a:off x="812800" y="60706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На пилоте внедрение заняло две недели на каждой точке — эти сроки уже заложены в план</a:t>
            </a:r>
            <a:endParaRPr lang="en-US" sz="1100" noProof="1"/>
          </a:p>
        </p:txBody>
      </p:sp>
      <p:sp>
        <p:nvSpPr>
          <p:cNvPr id="13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СменаPRO · питч для операционных директоров сети ресторанов</a:t>
            </a:r>
            <a:endParaRPr lang="en-US" sz="100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5 / 10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MiSans"/>
                <a:ea typeface="MiSans"/>
              </a:rPr>
              <a:t>КАК ЭТО БУДЕТ РАБОТАТЬ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MiSans"/>
                <a:ea typeface="MiSans"/>
              </a:rPr>
              <a:t>Три этапа: пилот пройден, дальше — проверка в высокий сезон и раскатка на сеть</a:t>
            </a:r>
            <a:endParaRPr lang="en-US" sz="2700" noProof="1"/>
          </a:p>
        </p:txBody>
      </p:sp>
      <p:sp>
        <p:nvSpPr>
          <p:cNvPr id="4" name="track"/>
          <p:cNvSpPr/>
          <p:nvPr/>
        </p:nvSpPr>
        <p:spPr>
          <a:xfrm>
            <a:off x="1397000" y="2641600"/>
            <a:ext cx="9398000" cy="254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5" name="dot1"/>
          <p:cNvSpPr/>
          <p:nvPr/>
        </p:nvSpPr>
        <p:spPr>
          <a:xfrm>
            <a:off x="1397000" y="2362200"/>
            <a:ext cx="558800" cy="558800"/>
          </a:xfrm>
          <a:prstGeom prst="ellipse">
            <a:avLst/>
          </a:prstGeom>
          <a:solidFill>
            <a:srgbClr val="0F4C5C"/>
          </a:solidFill>
          <a:ln>
            <a:noFill/>
          </a:ln>
        </p:spPr>
      </p:sp>
      <p:sp>
        <p:nvSpPr>
          <p:cNvPr id="6" name="dot1-num"/>
          <p:cNvSpPr txBox="1"/>
          <p:nvPr/>
        </p:nvSpPr>
        <p:spPr>
          <a:xfrm>
            <a:off x="1397000" y="2362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7F5F0"/>
                </a:solidFill>
                <a:latin typeface="MiSans"/>
                <a:ea typeface="MiSans"/>
              </a:rPr>
              <a:t>1</a:t>
            </a:r>
            <a:endParaRPr lang="en-US" sz="1800" noProof="1"/>
          </a:p>
        </p:txBody>
      </p:sp>
      <p:sp>
        <p:nvSpPr>
          <p:cNvPr id="7" name="dot2"/>
          <p:cNvSpPr/>
          <p:nvPr/>
        </p:nvSpPr>
        <p:spPr>
          <a:xfrm>
            <a:off x="5816600" y="2362200"/>
            <a:ext cx="558800" cy="558800"/>
          </a:xfrm>
          <a:prstGeom prst="ellipse">
            <a:avLst/>
          </a:prstGeom>
          <a:solidFill>
            <a:srgbClr val="E8590C"/>
          </a:solidFill>
          <a:ln>
            <a:noFill/>
          </a:ln>
        </p:spPr>
      </p:sp>
      <p:sp>
        <p:nvSpPr>
          <p:cNvPr id="8" name="dot2-num"/>
          <p:cNvSpPr txBox="1"/>
          <p:nvPr/>
        </p:nvSpPr>
        <p:spPr>
          <a:xfrm>
            <a:off x="5816600" y="2362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F7F5F0"/>
                </a:solidFill>
                <a:latin typeface="MiSans"/>
                <a:ea typeface="MiSans"/>
              </a:rPr>
              <a:t>2</a:t>
            </a:r>
            <a:endParaRPr lang="en-US" sz="1800" noProof="1"/>
          </a:p>
        </p:txBody>
      </p:sp>
      <p:sp>
        <p:nvSpPr>
          <p:cNvPr id="9" name="dot3"/>
          <p:cNvSpPr/>
          <p:nvPr/>
        </p:nvSpPr>
        <p:spPr>
          <a:xfrm>
            <a:off x="10236200" y="2362200"/>
            <a:ext cx="558800" cy="558800"/>
          </a:xfrm>
          <a:prstGeom prst="ellipse">
            <a:avLst/>
          </a:prstGeom>
          <a:solidFill>
            <a:srgbClr val="ECE6D9"/>
          </a:solidFill>
          <a:ln w="25400">
            <a:solidFill>
              <a:srgbClr val="0F4C5C"/>
            </a:solidFill>
          </a:ln>
        </p:spPr>
      </p:sp>
      <p:sp>
        <p:nvSpPr>
          <p:cNvPr id="10" name="dot3-num"/>
          <p:cNvSpPr txBox="1"/>
          <p:nvPr/>
        </p:nvSpPr>
        <p:spPr>
          <a:xfrm>
            <a:off x="10236200" y="2362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noProof="1">
                <a:solidFill>
                  <a:srgbClr val="0F4C5C"/>
                </a:solidFill>
                <a:latin typeface="MiSans"/>
                <a:ea typeface="MiSans"/>
              </a:rPr>
              <a:t>3</a:t>
            </a:r>
            <a:endParaRPr lang="en-US" sz="1800" noProof="1"/>
          </a:p>
        </p:txBody>
      </p:sp>
      <p:sp>
        <p:nvSpPr>
          <p:cNvPr id="11" name="step1"/>
          <p:cNvSpPr txBox="1"/>
          <p:nvPr/>
        </p:nvSpPr>
        <p:spPr>
          <a:xfrm>
            <a:off x="812800" y="3225800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ПРОЙДЕН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600" b="1" noProof="1">
                <a:solidFill>
                  <a:srgbClr val="1E2A2E"/>
                </a:solidFill>
                <a:latin typeface="MiSans"/>
                <a:ea typeface="MiSans"/>
              </a:rPr>
              <a:t>Пилот на 3 точках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6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переработки 14% → 6% ФОТ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стоимость смен −19%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текучесть 38% → 27%</a:t>
            </a:r>
            <a:endParaRPr lang="en-US" sz="1300" noProof="1"/>
          </a:p>
        </p:txBody>
      </p:sp>
      <p:sp>
        <p:nvSpPr>
          <p:cNvPr id="12" name="step2"/>
          <p:cNvSpPr txBox="1"/>
          <p:nvPr/>
        </p:nvSpPr>
        <p:spPr>
          <a:xfrm>
            <a:off x="4546600" y="3225800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E8590C"/>
                </a:solidFill>
                <a:latin typeface="MiSans"/>
                <a:ea typeface="MiSans"/>
              </a:rPr>
              <a:t>СЛЕДУЮЩИЙ ШАГ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600" b="1" noProof="1">
                <a:solidFill>
                  <a:srgbClr val="1E2A2E"/>
                </a:solidFill>
                <a:latin typeface="MiSans"/>
                <a:ea typeface="MiSans"/>
              </a:rPr>
              <a:t>Сезонный пилот на 5–7 точках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6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проверка в высокий сезон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замер качества обслуживания гостей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решение о раскатке — по итогам</a:t>
            </a:r>
            <a:endParaRPr lang="en-US" sz="1300" noProof="1"/>
          </a:p>
        </p:txBody>
      </p:sp>
      <p:sp>
        <p:nvSpPr>
          <p:cNvPr id="13" name="step3"/>
          <p:cNvSpPr txBox="1"/>
          <p:nvPr/>
        </p:nvSpPr>
        <p:spPr>
          <a:xfrm>
            <a:off x="8280400" y="3225800"/>
            <a:ext cx="3302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РАСКАТКА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600" b="1" noProof="1">
                <a:solidFill>
                  <a:srgbClr val="1E2A2E"/>
                </a:solidFill>
                <a:latin typeface="MiSans"/>
                <a:ea typeface="MiSans"/>
              </a:rPr>
              <a:t>Все 40 точек сети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6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переобучение бригадиров — 2 недели на точку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ежемесячный контроль метрик</a:t>
            </a:r>
            <a:endParaRPr lang="en-US" sz="1300" noProof="1"/>
          </a:p>
          <a:p>
            <a:pPr>
              <a:lnSpc>
                <a:spcPct val="140000"/>
              </a:lnSpc>
              <a:spcBef>
                <a:spcPts val="400"/>
              </a:spcBef>
              <a:buChar char="•"/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поддержка, как на пилоте</a:t>
            </a:r>
            <a:endParaRPr lang="en-US" sz="1300" noProof="1"/>
          </a:p>
        </p:txBody>
      </p:sp>
      <p:sp>
        <p:nvSpPr>
          <p:cNvPr id="14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СменаPRO · питч для операционных директоров сети ресторанов</a:t>
            </a:r>
            <a:endParaRPr lang="en-US" sz="1000" noProof="1"/>
          </a:p>
        </p:txBody>
      </p:sp>
      <p:sp>
        <p:nvSpPr>
          <p:cNvPr id="15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6 / 10</a:t>
            </a:r>
            <a:endParaRPr lang="en-US" sz="10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1" animBg="1"/>
      <p:bldP spid="10" grpId="1" animBg="1"/>
      <p:bldP spid="12" grpId="0" animBg="1"/>
      <p:bldP spid="1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MiSans"/>
                <a:ea typeface="MiSans"/>
              </a:rPr>
              <a:t>ЭФФЕКТ И РИСКИ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MiSans"/>
                <a:ea typeface="MiSans"/>
              </a:rPr>
              <a:t>Эффект — до 2,1 млн ₽ в квартал. Три риска и что мы делаем по каждому</a:t>
            </a:r>
            <a:endParaRPr lang="en-US" sz="2700" noProof="1"/>
          </a:p>
        </p:txBody>
      </p:sp>
      <p:sp>
        <p:nvSpPr>
          <p:cNvPr id="4" name="effect-num"/>
          <p:cNvSpPr txBox="1"/>
          <p:nvPr/>
        </p:nvSpPr>
        <p:spPr>
          <a:xfrm>
            <a:off x="812800" y="2235200"/>
            <a:ext cx="3683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600" b="1" noProof="1">
                <a:solidFill>
                  <a:srgbClr val="E8590C"/>
                </a:solidFill>
                <a:latin typeface="MiSans"/>
                <a:ea typeface="MiSans"/>
              </a:rPr>
              <a:t>2,1 млн ₽</a:t>
            </a:r>
            <a:endParaRPr lang="en-US" sz="4600" noProof="1"/>
          </a:p>
        </p:txBody>
      </p:sp>
      <p:sp>
        <p:nvSpPr>
          <p:cNvPr id="5" name="effect-label"/>
          <p:cNvSpPr txBox="1"/>
          <p:nvPr/>
        </p:nvSpPr>
        <p:spPr>
          <a:xfrm>
            <a:off x="812800" y="3098800"/>
            <a:ext cx="3683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1E2A2E"/>
                </a:solidFill>
                <a:latin typeface="MiSans"/>
                <a:ea typeface="MiSans"/>
              </a:rPr>
              <a:t>экономии на переработках в квартал при расширении на 40 точек — оценка по данным пилота</a:t>
            </a:r>
            <a:endParaRPr lang="en-US" sz="1300" noProof="1"/>
          </a:p>
        </p:txBody>
      </p:sp>
      <p:sp>
        <p:nvSpPr>
          <p:cNvPr id="6" name="divider"/>
          <p:cNvSpPr/>
          <p:nvPr/>
        </p:nvSpPr>
        <p:spPr>
          <a:xfrm>
            <a:off x="5029200" y="2133600"/>
            <a:ext cx="12700" cy="40640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7" name="risk1"/>
          <p:cNvSpPr txBox="1"/>
          <p:nvPr/>
        </p:nvSpPr>
        <p:spPr>
          <a:xfrm>
            <a:off x="5537200" y="2006600"/>
            <a:ext cx="5842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1E2A2E"/>
                </a:solidFill>
                <a:latin typeface="MiSans"/>
                <a:ea typeface="MiSans"/>
              </a:rPr>
              <a:t>Эффект на других точках ниже пилотного</a:t>
            </a:r>
            <a:endParaRPr lang="en-US" sz="125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6B767B"/>
                </a:solidFill>
                <a:latin typeface="MiSans"/>
                <a:ea typeface="MiSans"/>
              </a:rPr>
              <a:t>Признак:</a:t>
            </a:r>
            <a:r>
              <a:rPr lang="en-US" sz="1250" noProof="1">
                <a:solidFill>
                  <a:srgbClr val="1E2A2E"/>
                </a:solidFill>
                <a:latin typeface="MiSans"/>
                <a:ea typeface="MiSans"/>
              </a:rPr>
              <a:t> переработки выше 8% ФОТ в первый месяц</a:t>
            </a:r>
            <a:endParaRPr lang="en-US" sz="1250" noProof="1"/>
          </a:p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B767B"/>
                </a:solidFill>
                <a:latin typeface="MiSans"/>
                <a:ea typeface="MiSans"/>
              </a:rPr>
              <a:t>Ответ:</a:t>
            </a:r>
            <a:r>
              <a:rPr lang="en-US" sz="1250" noProof="1">
                <a:solidFill>
                  <a:srgbClr val="1E2A2E"/>
                </a:solidFill>
                <a:latin typeface="MiSans"/>
                <a:ea typeface="MiSans"/>
              </a:rPr>
              <a:t> не раскатываем дальше, корректируем настройки под тип точки</a:t>
            </a:r>
            <a:endParaRPr lang="en-US" sz="1250" noProof="1"/>
          </a:p>
        </p:txBody>
      </p:sp>
      <p:sp>
        <p:nvSpPr>
          <p:cNvPr id="8" name="risk-sep1"/>
          <p:cNvSpPr/>
          <p:nvPr/>
        </p:nvSpPr>
        <p:spPr>
          <a:xfrm>
            <a:off x="5537200" y="3479800"/>
            <a:ext cx="5842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9" name="risk2"/>
          <p:cNvSpPr txBox="1"/>
          <p:nvPr/>
        </p:nvSpPr>
        <p:spPr>
          <a:xfrm>
            <a:off x="5537200" y="3632200"/>
            <a:ext cx="58420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1E2A2E"/>
                </a:solidFill>
                <a:latin typeface="MiSans"/>
                <a:ea typeface="MiSans"/>
              </a:rPr>
              <a:t>Пиковая нагрузка в высокий сезон ломает расписание</a:t>
            </a:r>
            <a:endParaRPr lang="en-US" sz="125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6B767B"/>
                </a:solidFill>
                <a:latin typeface="MiSans"/>
                <a:ea typeface="MiSans"/>
              </a:rPr>
              <a:t>Признак:</a:t>
            </a:r>
            <a:r>
              <a:rPr lang="en-US" sz="1250" noProof="1">
                <a:solidFill>
                  <a:srgbClr val="1E2A2E"/>
                </a:solidFill>
                <a:latin typeface="MiSans"/>
                <a:ea typeface="MiSans"/>
              </a:rPr>
              <a:t> бригадиры правят график вручную чаще двух раз в неделю</a:t>
            </a:r>
            <a:endParaRPr lang="en-US" sz="1250" noProof="1"/>
          </a:p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B767B"/>
                </a:solidFill>
                <a:latin typeface="MiSans"/>
                <a:ea typeface="MiSans"/>
              </a:rPr>
              <a:t>Ответ:</a:t>
            </a:r>
            <a:r>
              <a:rPr lang="en-US" sz="1250" noProof="1">
                <a:solidFill>
                  <a:srgbClr val="1E2A2E"/>
                </a:solidFill>
                <a:latin typeface="MiSans"/>
                <a:ea typeface="MiSans"/>
              </a:rPr>
              <a:t> сначала сезонный пилот на 5–7 точках, раскатка — только после него</a:t>
            </a:r>
            <a:endParaRPr lang="en-US" sz="1250" noProof="1"/>
          </a:p>
        </p:txBody>
      </p:sp>
      <p:sp>
        <p:nvSpPr>
          <p:cNvPr id="10" name="risk-sep2"/>
          <p:cNvSpPr/>
          <p:nvPr/>
        </p:nvSpPr>
        <p:spPr>
          <a:xfrm>
            <a:off x="5537200" y="5105400"/>
            <a:ext cx="58420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1" name="risk3"/>
          <p:cNvSpPr txBox="1"/>
          <p:nvPr/>
        </p:nvSpPr>
        <p:spPr>
          <a:xfrm>
            <a:off x="5537200" y="5257800"/>
            <a:ext cx="5842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1E2A2E"/>
                </a:solidFill>
                <a:latin typeface="MiSans"/>
                <a:ea typeface="MiSans"/>
              </a:rPr>
              <a:t>Бригадиры не освоят модуль</a:t>
            </a:r>
            <a:endParaRPr lang="en-US" sz="1250" noProof="1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50" noProof="1">
                <a:solidFill>
                  <a:srgbClr val="6B767B"/>
                </a:solidFill>
                <a:latin typeface="MiSans"/>
                <a:ea typeface="MiSans"/>
              </a:rPr>
              <a:t>Признак:</a:t>
            </a:r>
            <a:r>
              <a:rPr lang="en-US" sz="1250" noProof="1">
                <a:solidFill>
                  <a:srgbClr val="1E2A2E"/>
                </a:solidFill>
                <a:latin typeface="MiSans"/>
                <a:ea typeface="MiSans"/>
              </a:rPr>
              <a:t> график собирается дольше часа, жалобы на точке</a:t>
            </a:r>
            <a:endParaRPr lang="en-US" sz="1250" noProof="1"/>
          </a:p>
          <a:p>
            <a:pPr>
              <a:lnSpc>
                <a:spcPct val="140000"/>
              </a:lnSpc>
            </a:pPr>
            <a:r>
              <a:rPr lang="en-US" sz="1250" noProof="1">
                <a:solidFill>
                  <a:srgbClr val="6B767B"/>
                </a:solidFill>
                <a:latin typeface="MiSans"/>
                <a:ea typeface="MiSans"/>
              </a:rPr>
              <a:t>Ответ:</a:t>
            </a:r>
            <a:r>
              <a:rPr lang="en-US" sz="1250" noProof="1">
                <a:solidFill>
                  <a:srgbClr val="1E2A2E"/>
                </a:solidFill>
                <a:latin typeface="MiSans"/>
                <a:ea typeface="MiSans"/>
              </a:rPr>
              <a:t> переобучение две недели на точку и поддержка — как на пилоте</a:t>
            </a:r>
            <a:endParaRPr lang="en-US" sz="1250" noProof="1"/>
          </a:p>
        </p:txBody>
      </p:sp>
      <p:sp>
        <p:nvSpPr>
          <p:cNvPr id="12" name="source"/>
          <p:cNvSpPr txBox="1"/>
          <p:nvPr/>
        </p:nvSpPr>
        <p:spPr>
          <a:xfrm>
            <a:off x="812800" y="62230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Экономия — оценка по результатам пилота. Допущения расчёта — на слайде 10</a:t>
            </a:r>
            <a:endParaRPr lang="en-US" sz="1100" noProof="1"/>
          </a:p>
        </p:txBody>
      </p:sp>
      <p:sp>
        <p:nvSpPr>
          <p:cNvPr id="13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СменаPRO · питч для операционных директоров сети ресторанов</a:t>
            </a:r>
            <a:endParaRPr lang="en-US" sz="100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7 / 10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MiSans"/>
                <a:ea typeface="MiSans"/>
              </a:rPr>
              <a:t>ЗАПРОС И СЛЕДУЮЩИЙ ШАГ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MiSans"/>
                <a:ea typeface="MiSans"/>
              </a:rPr>
              <a:t>Просим: согласовать сезонный пилот на 5–7 точек — решение нужно до конца квартала</a:t>
            </a:r>
            <a:endParaRPr lang="en-US" sz="2700" noProof="1"/>
          </a:p>
        </p:txBody>
      </p:sp>
      <p:sp>
        <p:nvSpPr>
          <p:cNvPr id="4" name="ask1-num"/>
          <p:cNvSpPr txBox="1"/>
          <p:nvPr/>
        </p:nvSpPr>
        <p:spPr>
          <a:xfrm>
            <a:off x="812800" y="2184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E8590C"/>
                </a:solidFill>
                <a:latin typeface="MiSans"/>
                <a:ea typeface="MiSans"/>
              </a:rPr>
              <a:t>1</a:t>
            </a:r>
            <a:endParaRPr lang="en-US" sz="2600" noProof="1"/>
          </a:p>
        </p:txBody>
      </p:sp>
      <p:sp>
        <p:nvSpPr>
          <p:cNvPr id="5" name="ask1"/>
          <p:cNvSpPr txBox="1"/>
          <p:nvPr/>
        </p:nvSpPr>
        <p:spPr>
          <a:xfrm>
            <a:off x="1422400" y="22352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E2A2E"/>
                </a:solidFill>
                <a:latin typeface="MiSans"/>
                <a:ea typeface="MiSans"/>
              </a:rPr>
              <a:t>Согласовать запуск модуля автопланирования на 5–7 точках в высокий сезон</a:t>
            </a:r>
            <a:endParaRPr lang="en-US" sz="1600" noProof="1"/>
          </a:p>
        </p:txBody>
      </p:sp>
      <p:sp>
        <p:nvSpPr>
          <p:cNvPr id="6" name="ask2-num"/>
          <p:cNvSpPr txBox="1"/>
          <p:nvPr/>
        </p:nvSpPr>
        <p:spPr>
          <a:xfrm>
            <a:off x="812800" y="28448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600" b="1" noProof="1">
                <a:solidFill>
                  <a:srgbClr val="E8590C"/>
                </a:solidFill>
                <a:latin typeface="MiSans"/>
                <a:ea typeface="MiSans"/>
              </a:rPr>
              <a:t>2</a:t>
            </a:r>
            <a:endParaRPr lang="en-US" sz="2600" noProof="1"/>
          </a:p>
        </p:txBody>
      </p:sp>
      <p:sp>
        <p:nvSpPr>
          <p:cNvPr id="7" name="ask2"/>
          <p:cNvSpPr txBox="1"/>
          <p:nvPr/>
        </p:nvSpPr>
        <p:spPr>
          <a:xfrm>
            <a:off x="1422400" y="2895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1E2A2E"/>
                </a:solidFill>
                <a:latin typeface="MiSans"/>
                <a:ea typeface="MiSans"/>
              </a:rPr>
              <a:t>Выделить бригадиров этих точек на переобучение — две недели на точку</a:t>
            </a:r>
            <a:endParaRPr lang="en-US" sz="1600" noProof="1"/>
          </a:p>
        </p:txBody>
      </p:sp>
      <p:sp>
        <p:nvSpPr>
          <p:cNvPr id="8" name="sep"/>
          <p:cNvSpPr/>
          <p:nvPr/>
        </p:nvSpPr>
        <p:spPr>
          <a:xfrm>
            <a:off x="812800" y="3810000"/>
            <a:ext cx="10566400" cy="127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9" name="next-title"/>
          <p:cNvSpPr txBox="1"/>
          <p:nvPr/>
        </p:nvSpPr>
        <p:spPr>
          <a:xfrm>
            <a:off x="812800" y="4089400"/>
            <a:ext cx="10566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0F4C5C"/>
                </a:solidFill>
                <a:latin typeface="MiSans"/>
                <a:ea typeface="MiSans"/>
              </a:rPr>
              <a:t>Что начнётся сразу после «да»</a:t>
            </a:r>
            <a:endParaRPr lang="en-US" sz="1600" noProof="1"/>
          </a:p>
        </p:txBody>
      </p:sp>
      <p:sp>
        <p:nvSpPr>
          <p:cNvPr id="10" name="next-text"/>
          <p:cNvSpPr txBox="1"/>
          <p:nvPr/>
        </p:nvSpPr>
        <p:spPr>
          <a:xfrm>
            <a:off x="812800" y="4470400"/>
            <a:ext cx="10566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400" noProof="1">
                <a:solidFill>
                  <a:srgbClr val="1E2A2E"/>
                </a:solidFill>
                <a:latin typeface="MiSans"/>
                <a:ea typeface="MiSans"/>
              </a:rPr>
              <a:t>В течение недели настраиваем модуль на выбранных точках и запускаем замер. Вернёмся с результатами через квартал — с метриками переработок, стоимости смен, текучести и, впервые, качества обслуживания гостей.</a:t>
            </a:r>
            <a:endParaRPr lang="en-US" sz="1400" noProof="1"/>
          </a:p>
        </p:txBody>
      </p:sp>
      <p:sp>
        <p:nvSpPr>
          <p:cNvPr id="11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СменаPRO · питч для операционных директоров сети ресторанов</a:t>
            </a:r>
            <a:endParaRPr lang="en-US" sz="100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8 / 10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E8590C"/>
                </a:solidFill>
                <a:latin typeface="MiSans"/>
                <a:ea typeface="MiSans"/>
              </a:rPr>
              <a:t>ПРИЛОЖЕНИЕ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1E2A2E"/>
                </a:solidFill>
                <a:latin typeface="MiSans"/>
                <a:ea typeface="MiSans"/>
              </a:rPr>
              <a:t>Что говорят на точках и как мы считали</a:t>
            </a:r>
            <a:endParaRPr lang="en-US" sz="2700" noProof="1"/>
          </a:p>
        </p:txBody>
      </p:sp>
      <p:sp>
        <p:nvSpPr>
          <p:cNvPr id="4" name="quote2-mark"/>
          <p:cNvSpPr txBox="1"/>
          <p:nvPr/>
        </p:nvSpPr>
        <p:spPr>
          <a:xfrm>
            <a:off x="812800" y="1854200"/>
            <a:ext cx="762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800" b="1" noProof="1">
                <a:solidFill>
                  <a:srgbClr val="E8590C"/>
                </a:solidFill>
                <a:latin typeface="MiSans"/>
                <a:ea typeface="MiSans"/>
              </a:rPr>
              <a:t>«</a:t>
            </a:r>
            <a:endParaRPr lang="en-US" sz="4800" noProof="1"/>
          </a:p>
        </p:txBody>
      </p:sp>
      <p:sp>
        <p:nvSpPr>
          <p:cNvPr id="5" name="quote2"/>
          <p:cNvSpPr txBox="1"/>
          <p:nvPr/>
        </p:nvSpPr>
        <p:spPr>
          <a:xfrm>
            <a:off x="812800" y="25146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900" i="1" noProof="1">
                <a:solidFill>
                  <a:srgbClr val="0F4C5C"/>
                </a:solidFill>
                <a:latin typeface="MiSans"/>
                <a:ea typeface="MiSans"/>
              </a:rPr>
              <a:t>Бригадиры перестали жаловаться на переработки по выходным</a:t>
            </a:r>
            <a:endParaRPr lang="en-US" sz="1900" noProof="1"/>
          </a:p>
        </p:txBody>
      </p:sp>
      <p:sp>
        <p:nvSpPr>
          <p:cNvPr id="6" name="quote2-author"/>
          <p:cNvSpPr txBox="1"/>
          <p:nvPr/>
        </p:nvSpPr>
        <p:spPr>
          <a:xfrm>
            <a:off x="812800" y="3403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— операционный директор сети</a:t>
            </a:r>
            <a:endParaRPr lang="en-US" sz="1100" noProof="1"/>
          </a:p>
        </p:txBody>
      </p:sp>
      <p:sp>
        <p:nvSpPr>
          <p:cNvPr id="7" name="quote3-mark"/>
          <p:cNvSpPr txBox="1"/>
          <p:nvPr/>
        </p:nvSpPr>
        <p:spPr>
          <a:xfrm>
            <a:off x="812800" y="3962400"/>
            <a:ext cx="762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800" b="1" noProof="1">
                <a:solidFill>
                  <a:srgbClr val="6B767B"/>
                </a:solidFill>
                <a:latin typeface="MiSans"/>
                <a:ea typeface="MiSans"/>
              </a:rPr>
              <a:t>«</a:t>
            </a:r>
            <a:endParaRPr lang="en-US" sz="4800" noProof="1"/>
          </a:p>
        </p:txBody>
      </p:sp>
      <p:sp>
        <p:nvSpPr>
          <p:cNvPr id="8" name="quote3"/>
          <p:cNvSpPr txBox="1"/>
          <p:nvPr/>
        </p:nvSpPr>
        <p:spPr>
          <a:xfrm>
            <a:off x="812800" y="4622800"/>
            <a:ext cx="533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900" i="1" noProof="1">
                <a:solidFill>
                  <a:srgbClr val="6B767B"/>
                </a:solidFill>
                <a:latin typeface="MiSans"/>
                <a:ea typeface="MiSans"/>
              </a:rPr>
              <a:t>Хотим посмотреть, как это сработает в высокий сезон, прежде чем ставить везде</a:t>
            </a:r>
            <a:endParaRPr lang="en-US" sz="1900" noProof="1"/>
          </a:p>
        </p:txBody>
      </p:sp>
      <p:sp>
        <p:nvSpPr>
          <p:cNvPr id="9" name="quote3-note"/>
          <p:cNvSpPr txBox="1"/>
          <p:nvPr/>
        </p:nvSpPr>
        <p:spPr>
          <a:xfrm>
            <a:off x="812800" y="55118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100" noProof="1">
                <a:solidFill>
                  <a:srgbClr val="6B767B"/>
                </a:solidFill>
                <a:latin typeface="MiSans"/>
                <a:ea typeface="MiSans"/>
              </a:rPr>
              <a:t>Эту осторожность мы учли: следующий шаг — сезонный пилот, а не раскатка на все точки</a:t>
            </a:r>
            <a:endParaRPr lang="en-US" sz="1100" noProof="1"/>
          </a:p>
        </p:txBody>
      </p:sp>
      <p:sp>
        <p:nvSpPr>
          <p:cNvPr id="10" name="divider"/>
          <p:cNvSpPr/>
          <p:nvPr/>
        </p:nvSpPr>
        <p:spPr>
          <a:xfrm>
            <a:off x="6654800" y="1905000"/>
            <a:ext cx="12700" cy="4191000"/>
          </a:xfrm>
          <a:prstGeom prst="rect">
            <a:avLst/>
          </a:prstGeom>
          <a:solidFill>
            <a:srgbClr val="D8D2C6"/>
          </a:solidFill>
          <a:ln>
            <a:noFill/>
          </a:ln>
        </p:spPr>
      </p:sp>
      <p:sp>
        <p:nvSpPr>
          <p:cNvPr id="11" name="method-title"/>
          <p:cNvSpPr txBox="1"/>
          <p:nvPr/>
        </p:nvSpPr>
        <p:spPr>
          <a:xfrm>
            <a:off x="7162800" y="1905000"/>
            <a:ext cx="4216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1E2A2E"/>
                </a:solidFill>
                <a:latin typeface="MiSans"/>
                <a:ea typeface="MiSans"/>
              </a:rPr>
              <a:t>Методология пилота</a:t>
            </a:r>
            <a:endParaRPr lang="en-US" sz="1600" noProof="1"/>
          </a:p>
        </p:txBody>
      </p:sp>
      <p:sp>
        <p:nvSpPr>
          <p:cNvPr id="12" name="method-list"/>
          <p:cNvSpPr txBox="1"/>
          <p:nvPr/>
        </p:nvSpPr>
        <p:spPr>
          <a:xfrm>
            <a:off x="7162800" y="2336800"/>
            <a:ext cx="4216400" cy="368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50" b="1" noProof="1">
                <a:solidFill>
                  <a:srgbClr val="1E2A2E"/>
                </a:solidFill>
                <a:latin typeface="MiSans"/>
                <a:ea typeface="MiSans"/>
              </a:rPr>
              <a:t>Период:</a:t>
            </a:r>
            <a:r>
              <a:rPr lang="en-US" sz="1350" noProof="1">
                <a:solidFill>
                  <a:srgbClr val="1E2A2E"/>
                </a:solidFill>
                <a:latin typeface="MiSans"/>
                <a:ea typeface="MiSans"/>
              </a:rPr>
              <a:t> квартал, обычный сезон</a:t>
            </a:r>
            <a:endParaRPr lang="en-US" sz="135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50" b="1" noProof="1">
                <a:solidFill>
                  <a:srgbClr val="1E2A2E"/>
                </a:solidFill>
                <a:latin typeface="MiSans"/>
                <a:ea typeface="MiSans"/>
              </a:rPr>
              <a:t>Выборка:</a:t>
            </a:r>
            <a:r>
              <a:rPr lang="en-US" sz="1350" noProof="1">
                <a:solidFill>
                  <a:srgbClr val="1E2A2E"/>
                </a:solidFill>
                <a:latin typeface="MiSans"/>
                <a:ea typeface="MiSans"/>
              </a:rPr>
              <a:t> 3 точки из 40</a:t>
            </a:r>
            <a:endParaRPr lang="en-US" sz="135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50" b="1" noProof="1">
                <a:solidFill>
                  <a:srgbClr val="1E2A2E"/>
                </a:solidFill>
                <a:latin typeface="MiSans"/>
                <a:ea typeface="MiSans"/>
              </a:rPr>
              <a:t>Измеряли:</a:t>
            </a:r>
            <a:r>
              <a:rPr lang="en-US" sz="1350" noProof="1">
                <a:solidFill>
                  <a:srgbClr val="1E2A2E"/>
                </a:solidFill>
                <a:latin typeface="MiSans"/>
                <a:ea typeface="MiSans"/>
              </a:rPr>
              <a:t> переработки, стоимость смен, текучесть</a:t>
            </a:r>
            <a:endParaRPr lang="en-US" sz="135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350" b="1" noProof="1">
                <a:solidFill>
                  <a:srgbClr val="1E2A2E"/>
                </a:solidFill>
                <a:latin typeface="MiSans"/>
                <a:ea typeface="MiSans"/>
              </a:rPr>
              <a:t>Не измеряли:</a:t>
            </a:r>
            <a:r>
              <a:rPr lang="en-US" sz="1350" noProof="1">
                <a:solidFill>
                  <a:srgbClr val="1E2A2E"/>
                </a:solidFill>
                <a:latin typeface="MiSans"/>
                <a:ea typeface="MiSans"/>
              </a:rPr>
              <a:t> качество обслуживания гостей — измерим в сезонном пилоте</a:t>
            </a:r>
            <a:endParaRPr lang="en-US" sz="1350" noProof="1"/>
          </a:p>
        </p:txBody>
      </p:sp>
      <p:sp>
        <p:nvSpPr>
          <p:cNvPr id="13" name="footer-left"/>
          <p:cNvSpPr txBox="1"/>
          <p:nvPr/>
        </p:nvSpPr>
        <p:spPr>
          <a:xfrm>
            <a:off x="812800" y="65024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СменаPRO · питч для операционных директоров сети ресторанов</a:t>
            </a:r>
            <a:endParaRPr lang="en-US" sz="1000" noProof="1"/>
          </a:p>
        </p:txBody>
      </p:sp>
      <p:sp>
        <p:nvSpPr>
          <p:cNvPr id="14" name="footer-right"/>
          <p:cNvSpPr txBox="1"/>
          <p:nvPr/>
        </p:nvSpPr>
        <p:spPr>
          <a:xfrm>
            <a:off x="10820400" y="6502400"/>
            <a:ext cx="558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B767B"/>
                </a:solidFill>
                <a:latin typeface="MiSans"/>
                <a:ea typeface="MiSans"/>
              </a:rPr>
              <a:t>9 / 10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33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kern="0" spc="200" noProof="1">
                <a:solidFill>
                  <a:srgbClr val="F0A268"/>
                </a:solidFill>
                <a:latin typeface="MiSans"/>
                <a:ea typeface="MiSans"/>
              </a:rPr>
              <a:t>ПОД ВОПРОСЫ</a:t>
            </a:r>
            <a:endParaRPr lang="en-US" sz="12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812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2700" b="1" noProof="1">
                <a:solidFill>
                  <a:srgbClr val="F7F5F0"/>
                </a:solidFill>
                <a:latin typeface="MiSans"/>
                <a:ea typeface="MiSans"/>
              </a:rPr>
              <a:t>Допущения расчёта экономии — честно о границах данных</a:t>
            </a:r>
            <a:endParaRPr lang="en-US" sz="2700" noProof="1"/>
          </a:p>
        </p:txBody>
      </p:sp>
      <p:sp>
        <p:nvSpPr>
          <p:cNvPr id="4" name="a1"/>
          <p:cNvSpPr txBox="1"/>
          <p:nvPr/>
        </p:nvSpPr>
        <p:spPr>
          <a:xfrm>
            <a:off x="812800" y="20320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F7F5F0"/>
                </a:solidFill>
                <a:latin typeface="MiSans"/>
                <a:ea typeface="MiSans"/>
              </a:rPr>
              <a:t>Экстраполяция с трёх точек.</a:t>
            </a:r>
            <a:r>
              <a:rPr lang="en-US" sz="1400" noProof="1">
                <a:solidFill>
                  <a:srgbClr val="F7F5F0"/>
                </a:solidFill>
                <a:latin typeface="MiSans"/>
                <a:ea typeface="MiSans"/>
              </a:rPr>
              <a:t> Остальные 37 могут отличаться по загрузке — поэтому раскатка только после сезонного пилота.</a:t>
            </a:r>
            <a:endParaRPr lang="en-US" sz="1400" noProof="1"/>
          </a:p>
        </p:txBody>
      </p:sp>
      <p:sp>
        <p:nvSpPr>
          <p:cNvPr id="5" name="sep1"/>
          <p:cNvSpPr/>
          <p:nvPr/>
        </p:nvSpPr>
        <p:spPr>
          <a:xfrm>
            <a:off x="812800" y="2946400"/>
            <a:ext cx="10566400" cy="12700"/>
          </a:xfrm>
          <a:prstGeom prst="rect">
            <a:avLst/>
          </a:prstGeom>
          <a:solidFill>
            <a:srgbClr val="2A6577"/>
          </a:solidFill>
          <a:ln>
            <a:noFill/>
          </a:ln>
        </p:spPr>
      </p:sp>
      <p:sp>
        <p:nvSpPr>
          <p:cNvPr id="6" name="a2"/>
          <p:cNvSpPr txBox="1"/>
          <p:nvPr/>
        </p:nvSpPr>
        <p:spPr>
          <a:xfrm>
            <a:off x="812800" y="30988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F7F5F0"/>
                </a:solidFill>
                <a:latin typeface="MiSans"/>
                <a:ea typeface="MiSans"/>
              </a:rPr>
              <a:t>Обычный сезон.</a:t>
            </a:r>
            <a:r>
              <a:rPr lang="en-US" sz="1400" noProof="1">
                <a:solidFill>
                  <a:srgbClr val="F7F5F0"/>
                </a:solidFill>
                <a:latin typeface="MiSans"/>
                <a:ea typeface="MiSans"/>
              </a:rPr>
              <a:t> Пилот не проверял пиковую нагрузку — именно её проверяет следующий этап.</a:t>
            </a:r>
            <a:endParaRPr lang="en-US" sz="1400" noProof="1"/>
          </a:p>
        </p:txBody>
      </p:sp>
      <p:sp>
        <p:nvSpPr>
          <p:cNvPr id="7" name="sep2"/>
          <p:cNvSpPr/>
          <p:nvPr/>
        </p:nvSpPr>
        <p:spPr>
          <a:xfrm>
            <a:off x="812800" y="4013200"/>
            <a:ext cx="10566400" cy="12700"/>
          </a:xfrm>
          <a:prstGeom prst="rect">
            <a:avLst/>
          </a:prstGeom>
          <a:solidFill>
            <a:srgbClr val="2A6577"/>
          </a:solidFill>
          <a:ln>
            <a:noFill/>
          </a:ln>
        </p:spPr>
      </p:sp>
      <p:sp>
        <p:nvSpPr>
          <p:cNvPr id="8" name="a3"/>
          <p:cNvSpPr txBox="1"/>
          <p:nvPr/>
        </p:nvSpPr>
        <p:spPr>
          <a:xfrm>
            <a:off x="812800" y="41656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F7F5F0"/>
                </a:solidFill>
                <a:latin typeface="MiSans"/>
                <a:ea typeface="MiSans"/>
              </a:rPr>
              <a:t>Только переработки.</a:t>
            </a:r>
            <a:r>
              <a:rPr lang="en-US" sz="1400" noProof="1">
                <a:solidFill>
                  <a:srgbClr val="F7F5F0"/>
                </a:solidFill>
                <a:latin typeface="MiSans"/>
                <a:ea typeface="MiSans"/>
              </a:rPr>
              <a:t> Экономия 2,1 млн ₽ в квартал считается по переработкам, без учёта эффекта от снижения текучести.</a:t>
            </a:r>
            <a:endParaRPr lang="en-US" sz="1400" noProof="1"/>
          </a:p>
        </p:txBody>
      </p:sp>
      <p:sp>
        <p:nvSpPr>
          <p:cNvPr id="9" name="sep3"/>
          <p:cNvSpPr/>
          <p:nvPr/>
        </p:nvSpPr>
        <p:spPr>
          <a:xfrm>
            <a:off x="812800" y="5080000"/>
            <a:ext cx="10566400" cy="12700"/>
          </a:xfrm>
          <a:prstGeom prst="rect">
            <a:avLst/>
          </a:prstGeom>
          <a:solidFill>
            <a:srgbClr val="2A6577"/>
          </a:solidFill>
          <a:ln>
            <a:noFill/>
          </a:ln>
        </p:spPr>
      </p:sp>
      <p:sp>
        <p:nvSpPr>
          <p:cNvPr id="10" name="a4"/>
          <p:cNvSpPr txBox="1"/>
          <p:nvPr/>
        </p:nvSpPr>
        <p:spPr>
          <a:xfrm>
            <a:off x="812800" y="5232400"/>
            <a:ext cx="105664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400" b="1" noProof="1">
                <a:solidFill>
                  <a:srgbClr val="F7F5F0"/>
                </a:solidFill>
                <a:latin typeface="MiSans"/>
                <a:ea typeface="MiSans"/>
              </a:rPr>
              <a:t>Качество обслуживания не измерялось.</a:t>
            </a:r>
            <a:r>
              <a:rPr lang="en-US" sz="1400" noProof="1">
                <a:solidFill>
                  <a:srgbClr val="F7F5F0"/>
                </a:solidFill>
                <a:latin typeface="MiSans"/>
                <a:ea typeface="MiSans"/>
              </a:rPr>
              <a:t> Добавим эти метрики в сезонный пилот — до любой раскатки на сеть.</a:t>
            </a:r>
            <a:endParaRPr lang="en-US" sz="1400" noProof="1"/>
          </a:p>
        </p:txBody>
      </p:sp>
      <p:sp>
        <p:nvSpPr>
          <p:cNvPr id="11" name="contacts"/>
          <p:cNvSpPr txBox="1"/>
          <p:nvPr/>
        </p:nvSpPr>
        <p:spPr>
          <a:xfrm>
            <a:off x="812800" y="62992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A8C0C5"/>
                </a:solidFill>
                <a:latin typeface="MiSans"/>
                <a:ea typeface="MiSans"/>
              </a:rPr>
              <a:t>Софья · продакт «СменаPRO» · отвечу на вопросы по данным пилота</a:t>
            </a:r>
            <a:endParaRPr lang="en-US" sz="11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953</Words>
  <Application>Microsoft Office PowerPoint</Application>
  <PresentationFormat>Широкоэкранный</PresentationFormat>
  <Paragraphs>117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smena-pro-pitch</dc:title>
  <cp:lastModifiedBy>Софья Зименкова</cp:lastModifiedBy>
  <cp:revision>1</cp:revision>
  <dcterms:modified xsi:type="dcterms:W3CDTF">2026-09-28T00:29:43Z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