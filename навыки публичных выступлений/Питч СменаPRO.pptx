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C0C5"/>
    <a:srgbClr val="0F4C5C"/>
    <a:srgbClr val="2A6577"/>
    <a:srgbClr val="4F3427"/>
    <a:srgbClr val="2F1F17"/>
    <a:srgbClr val="431A03"/>
    <a:srgbClr val="E859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96" y="3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Переработки</c:v>
                </c:pt>
              </c:strCache>
            </c:strRef>
          </c:tx>
          <c:spPr>
            <a:ln w="38100">
              <a:solidFill>
                <a:srgbClr val="E8590C"/>
              </a:solidFill>
            </a:ln>
          </c:spPr>
          <c:marker>
            <c:symbol val="circle"/>
            <c:size val="8"/>
            <c:spPr>
              <a:solidFill>
                <a:srgbClr val="E8590C"/>
              </a:solidFill>
              <a:ln w="38100">
                <a:solidFill>
                  <a:srgbClr val="E8590C"/>
                </a:solidFill>
              </a:ln>
            </c:spPr>
          </c:marker>
          <c:dLbls>
            <c:dLbl>
              <c:idx val="0"/>
              <c:layout>
                <c:manualLayout>
                  <c:x val="-5.0000000000000461E-3"/>
                  <c:y val="-4.83870967741935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FF0-41F1-BA0B-E10E3C1B7269}"/>
                </c:ext>
              </c:extLst>
            </c:dLbl>
            <c:dLbl>
              <c:idx val="1"/>
              <c:layout>
                <c:manualLayout>
                  <c:x val="-2.5000000000000001E-3"/>
                  <c:y val="-4.83870967741935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FF0-41F1-BA0B-E10E3C1B7269}"/>
                </c:ext>
              </c:extLst>
            </c:dLbl>
            <c:dLbl>
              <c:idx val="2"/>
              <c:layout>
                <c:manualLayout>
                  <c:x val="-9.1665607737743949E-17"/>
                  <c:y val="-4.03225806451613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FF0-41F1-BA0B-E10E3C1B7269}"/>
                </c:ext>
              </c:extLst>
            </c:dLbl>
            <c:dLbl>
              <c:idx val="3"/>
              <c:layout>
                <c:manualLayout>
                  <c:x val="0"/>
                  <c:y val="-4.83870967741935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FF0-41F1-BA0B-E10E3C1B7269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 noProof="1">
                    <a:solidFill>
                      <a:srgbClr val="1E2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1-й мес</c:v>
                </c:pt>
                <c:pt idx="1">
                  <c:v>2-й мес</c:v>
                </c:pt>
                <c:pt idx="2">
                  <c:v>3-й мес</c:v>
                </c:pt>
                <c:pt idx="3">
                  <c:v>4-й мес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11</c:v>
                </c:pt>
                <c:pt idx="2">
                  <c:v>8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BF-446B-943B-C980929549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b="0" i="0" u="none" strike="noStrike" noProof="1"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6"/>
          <c:min val="0"/>
        </c:scaling>
        <c:delete val="0"/>
        <c:axPos val="l"/>
        <c:majorGridlines>
          <c:spPr>
            <a:ln w="12700">
              <a:solidFill>
                <a:srgbClr val="E3DCCB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b="0" i="0" u="none" strike="noStrike" noProof="1">
                <a:latin typeface="Arial"/>
              </a:defRPr>
            </a:pPr>
            <a:endParaRPr lang="ru-RU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Стоимость смен</c:v>
                </c:pt>
              </c:strCache>
            </c:strRef>
          </c:tx>
          <c:spPr>
            <a:solidFill>
              <a:srgbClr val="0F4C5C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 noProof="1">
                    <a:solidFill>
                      <a:srgbClr val="F7F5F0"/>
                    </a:solidFill>
                    <a:latin typeface="Arial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1-й мес</c:v>
                </c:pt>
                <c:pt idx="1">
                  <c:v>2-й мес</c:v>
                </c:pt>
                <c:pt idx="2">
                  <c:v>3-й мес</c:v>
                </c:pt>
                <c:pt idx="3">
                  <c:v>4-й мес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390</c:v>
                </c:pt>
                <c:pt idx="2">
                  <c:v>360</c:v>
                </c:pt>
                <c:pt idx="3">
                  <c:v>340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053-4E37-BF5E-BA5009D25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2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b="0" i="0" u="none" strike="noStrike" noProof="1"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450"/>
          <c:min val="0"/>
        </c:scaling>
        <c:delete val="0"/>
        <c:axPos val="l"/>
        <c:majorGridlines>
          <c:spPr>
            <a:ln w="12700">
              <a:solidFill>
                <a:srgbClr val="E3DCCB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b="0" i="0" u="none" strike="noStrike" noProof="1">
                <a:latin typeface="Arial"/>
              </a:defRPr>
            </a:pPr>
            <a:endParaRPr lang="ru-RU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B72A2C1-EF8F-414B-88DD-74CC909B23C0}"/>
              </a:ext>
            </a:extLst>
          </p:cNvPr>
          <p:cNvSpPr/>
          <p:nvPr/>
        </p:nvSpPr>
        <p:spPr>
          <a:xfrm>
            <a:off x="8763000" y="1"/>
            <a:ext cx="3467100" cy="6858000"/>
          </a:xfrm>
          <a:custGeom>
            <a:avLst/>
            <a:gdLst>
              <a:gd name="connsiteX0" fmla="*/ 3429000 w 3467100"/>
              <a:gd name="connsiteY0" fmla="*/ 0 h 6858000"/>
              <a:gd name="connsiteX1" fmla="*/ 3467100 w 3467100"/>
              <a:gd name="connsiteY1" fmla="*/ 964 h 6858000"/>
              <a:gd name="connsiteX2" fmla="*/ 3467100 w 3467100"/>
              <a:gd name="connsiteY2" fmla="*/ 6857037 h 6858000"/>
              <a:gd name="connsiteX3" fmla="*/ 3429000 w 3467100"/>
              <a:gd name="connsiteY3" fmla="*/ 6858000 h 6858000"/>
              <a:gd name="connsiteX4" fmla="*/ 0 w 3467100"/>
              <a:gd name="connsiteY4" fmla="*/ 3429000 h 6858000"/>
              <a:gd name="connsiteX5" fmla="*/ 3429000 w 34671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67100" h="6858000">
                <a:moveTo>
                  <a:pt x="3429000" y="0"/>
                </a:moveTo>
                <a:lnTo>
                  <a:pt x="3467100" y="964"/>
                </a:lnTo>
                <a:lnTo>
                  <a:pt x="3467100" y="6857037"/>
                </a:ln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6"/>
                  <a:pt x="1535216" y="0"/>
                  <a:pt x="3429000" y="0"/>
                </a:cubicBezTo>
                <a:close/>
              </a:path>
            </a:pathLst>
          </a:custGeom>
          <a:solidFill>
            <a:srgbClr val="2A65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accent-bar"/>
          <p:cNvSpPr/>
          <p:nvPr/>
        </p:nvSpPr>
        <p:spPr>
          <a:xfrm>
            <a:off x="812800" y="1905000"/>
            <a:ext cx="711200" cy="76200"/>
          </a:xfrm>
          <a:prstGeom prst="rect">
            <a:avLst/>
          </a:prstGeom>
          <a:solidFill>
            <a:srgbClr val="E8590C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320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F0A2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СМЕНАPRO · АВТОПЛАНИРОВАНИЕ СМЕН</a:t>
            </a:r>
            <a:endParaRPr lang="en-US" sz="1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812799" y="2260600"/>
            <a:ext cx="10150475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300" b="1" noProof="1">
                <a:solidFill>
                  <a:srgbClr val="F7F5F0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Пилот снизил переработки с 14% до 6% ФОТ. </a:t>
            </a:r>
            <a:r>
              <a:rPr lang="ru-RU" sz="3300" b="1" noProof="1">
                <a:solidFill>
                  <a:srgbClr val="F7F5F0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Можно масштабировать </a:t>
            </a:r>
            <a:r>
              <a:rPr lang="en-US" sz="3300" b="1" noProof="1">
                <a:solidFill>
                  <a:srgbClr val="F7F5F0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 все 40 точек</a:t>
            </a:r>
            <a:endParaRPr lang="en-US" sz="33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sub"/>
          <p:cNvSpPr txBox="1"/>
          <p:nvPr/>
        </p:nvSpPr>
        <p:spPr>
          <a:xfrm>
            <a:off x="812800" y="43688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A8C0C5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Софья</a:t>
            </a:r>
            <a:r>
              <a:rPr lang="ru-RU" sz="1500" noProof="1">
                <a:solidFill>
                  <a:srgbClr val="A8C0C5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Зименкова</a:t>
            </a:r>
            <a:r>
              <a:rPr lang="en-US" sz="1500" noProof="1">
                <a:solidFill>
                  <a:srgbClr val="A8C0C5"/>
                </a:solidFill>
                <a:latin typeface="Inter" panose="02000503000000020004" pitchFamily="2" charset="0"/>
                <a:ea typeface="Inter" panose="02000503000000020004" pitchFamily="2" charset="0"/>
              </a:rPr>
              <a:t>, продакт «СменаPRO»</a:t>
            </a:r>
            <a:endParaRPr lang="en-US" sz="15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bottom"/>
          <p:cNvSpPr txBox="1"/>
          <p:nvPr/>
        </p:nvSpPr>
        <p:spPr>
          <a:xfrm>
            <a:off x="812800" y="6248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A8C0C5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СменаPRO – SaaS для планирования смен и уч</a:t>
            </a:r>
            <a:r>
              <a:rPr lang="ru-RU" sz="1100" noProof="1">
                <a:solidFill>
                  <a:srgbClr val="A8C0C5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</a:t>
            </a:r>
            <a:r>
              <a:rPr lang="en-US" sz="1100" noProof="1">
                <a:solidFill>
                  <a:srgbClr val="A8C0C5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та переработок · 5 минут + вопросы</a:t>
            </a:r>
            <a:endParaRPr lang="en-US" sz="11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КОНТЕКСТ</a:t>
            </a:r>
            <a:endParaRPr lang="en-US" sz="1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Переработки съедают 14% фонда оплаты труда, текучесть достигла 38% в год</a:t>
            </a:r>
            <a:endParaRPr lang="en-US" sz="27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num1"/>
          <p:cNvSpPr txBox="1"/>
          <p:nvPr/>
        </p:nvSpPr>
        <p:spPr>
          <a:xfrm>
            <a:off x="812800" y="21336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200" b="1" noProof="1">
                <a:solidFill>
                  <a:srgbClr val="0F4C5C"/>
                </a:solidFill>
                <a:latin typeface="Inter" panose="02000503000000020004" pitchFamily="2" charset="0"/>
                <a:ea typeface="Inter" panose="02000503000000020004" pitchFamily="2" charset="0"/>
              </a:rPr>
              <a:t>14%</a:t>
            </a:r>
            <a:endParaRPr lang="en-US" sz="4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num1-label"/>
          <p:cNvSpPr txBox="1"/>
          <p:nvPr/>
        </p:nvSpPr>
        <p:spPr>
          <a:xfrm>
            <a:off x="812800" y="28702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переработок в фонде оплаты труда – средняя по сети из 40 точек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sep1"/>
          <p:cNvSpPr/>
          <p:nvPr/>
        </p:nvSpPr>
        <p:spPr>
          <a:xfrm>
            <a:off x="812800" y="3581400"/>
            <a:ext cx="4318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7" name="num2"/>
          <p:cNvSpPr txBox="1"/>
          <p:nvPr/>
        </p:nvSpPr>
        <p:spPr>
          <a:xfrm>
            <a:off x="812800" y="3638008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200" b="1" noProof="1">
                <a:solidFill>
                  <a:srgbClr val="0F4C5C"/>
                </a:solidFill>
                <a:latin typeface="Inter" panose="02000503000000020004" pitchFamily="2" charset="0"/>
                <a:ea typeface="Inter" panose="02000503000000020004" pitchFamily="2" charset="0"/>
              </a:rPr>
              <a:t>38%</a:t>
            </a:r>
            <a:endParaRPr lang="en-US" sz="4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num2-label"/>
          <p:cNvSpPr txBox="1"/>
          <p:nvPr/>
        </p:nvSpPr>
        <p:spPr>
          <a:xfrm>
            <a:off x="812800" y="4351023"/>
            <a:ext cx="4318000" cy="2663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годовая текучесть линейного персонала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ep2"/>
          <p:cNvSpPr/>
          <p:nvPr/>
        </p:nvSpPr>
        <p:spPr>
          <a:xfrm>
            <a:off x="812800" y="4782460"/>
            <a:ext cx="4318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10" name="num3"/>
          <p:cNvSpPr txBox="1"/>
          <p:nvPr/>
        </p:nvSpPr>
        <p:spPr>
          <a:xfrm>
            <a:off x="812800" y="482909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200" b="1" noProof="1">
                <a:solidFill>
                  <a:srgbClr val="0F4C5C"/>
                </a:solidFill>
                <a:latin typeface="Inter" panose="02000503000000020004" pitchFamily="2" charset="0"/>
                <a:ea typeface="Inter" panose="02000503000000020004" pitchFamily="2" charset="0"/>
              </a:rPr>
              <a:t>1 день</a:t>
            </a:r>
            <a:endParaRPr lang="en-US" sz="4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num3-label"/>
          <p:cNvSpPr txBox="1"/>
          <p:nvPr/>
        </p:nvSpPr>
        <p:spPr>
          <a:xfrm>
            <a:off x="812800" y="5548449"/>
            <a:ext cx="431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уходит на ручную сборку графика смен на одной точке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divider"/>
          <p:cNvSpPr/>
          <p:nvPr/>
        </p:nvSpPr>
        <p:spPr>
          <a:xfrm>
            <a:off x="5689600" y="2133600"/>
            <a:ext cx="12700" cy="41910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13" name="right-text"/>
          <p:cNvSpPr txBox="1"/>
          <p:nvPr/>
        </p:nvSpPr>
        <p:spPr>
          <a:xfrm>
            <a:off x="6248400" y="2133600"/>
            <a:ext cx="51308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Сеть годами платит за переработки и теряет людей</a:t>
            </a:r>
            <a:r>
              <a:rPr lang="ru-RU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r>
              <a:rPr lang="en-US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Ж</a:t>
            </a:r>
            <a:r>
              <a:rPr lang="en-US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алобы на переработки и текучесть – одна из главных претензий клиента к текущему процессу планирования.</a:t>
            </a:r>
            <a:endParaRPr lang="en-US" sz="15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5000"/>
              </a:lnSpc>
              <a:spcBef>
                <a:spcPts val="1400"/>
              </a:spcBef>
            </a:pPr>
            <a:r>
              <a:rPr lang="en-US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Квартал назад мы запустили модуль автопланирования смен на тр</a:t>
            </a:r>
            <a:r>
              <a:rPr lang="ru-RU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</a:t>
            </a:r>
            <a:r>
              <a:rPr lang="en-US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х точках. Пилот заверш</a:t>
            </a:r>
            <a:r>
              <a:rPr lang="ru-RU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</a:t>
            </a:r>
            <a:r>
              <a:rPr lang="en-US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</a:t>
            </a:r>
            <a:r>
              <a:rPr lang="ru-RU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, </a:t>
            </a:r>
            <a:r>
              <a:rPr lang="en-US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и сегодня </a:t>
            </a:r>
            <a:r>
              <a:rPr lang="ru-RU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мы </a:t>
            </a:r>
            <a:r>
              <a:rPr lang="en-US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решаем, </a:t>
            </a:r>
            <a:r>
              <a:rPr lang="ru-RU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масштабировать</a:t>
            </a:r>
            <a:r>
              <a:rPr lang="en-US" sz="15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ли модуль на всю сеть.</a:t>
            </a:r>
            <a:endParaRPr lang="en-US" sz="15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СменаPRO · питч для операционных директоров сети ресторанов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6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2 / 10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ГЕРОЙ И СТАВКА</a:t>
            </a:r>
            <a:endParaRPr lang="en-US" sz="1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Бригадир точки: </a:t>
            </a:r>
            <a:r>
              <a:rPr lang="ru-RU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потерянный день каждую неделю</a:t>
            </a: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, конфликты из-за переработок и потеря людей</a:t>
            </a:r>
            <a:endParaRPr lang="en-US" sz="27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quote-mark"/>
          <p:cNvSpPr txBox="1"/>
          <p:nvPr/>
        </p:nvSpPr>
        <p:spPr>
          <a:xfrm>
            <a:off x="812800" y="1905000"/>
            <a:ext cx="10160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6400" b="1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«</a:t>
            </a:r>
            <a:endParaRPr lang="en-US" sz="6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quote"/>
          <p:cNvSpPr txBox="1"/>
          <p:nvPr/>
        </p:nvSpPr>
        <p:spPr>
          <a:xfrm>
            <a:off x="812800" y="2768600"/>
            <a:ext cx="49911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400" i="1" noProof="1">
                <a:solidFill>
                  <a:srgbClr val="0F4C5C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Впервые график смен собирается за час, а не за день</a:t>
            </a:r>
            <a:endParaRPr lang="en-US" sz="2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quote-author"/>
          <p:cNvSpPr txBox="1"/>
          <p:nvPr/>
        </p:nvSpPr>
        <p:spPr>
          <a:xfrm>
            <a:off x="812800" y="41402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– операционный директор сети о пилотных точках</a:t>
            </a:r>
            <a:endParaRPr lang="en-US" sz="11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divider"/>
          <p:cNvSpPr/>
          <p:nvPr/>
        </p:nvSpPr>
        <p:spPr>
          <a:xfrm>
            <a:off x="6100354" y="2235200"/>
            <a:ext cx="12700" cy="38100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8" name="stake-title"/>
          <p:cNvSpPr txBox="1"/>
          <p:nvPr/>
        </p:nvSpPr>
        <p:spPr>
          <a:xfrm>
            <a:off x="6629763" y="2133600"/>
            <a:ext cx="4749437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6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Что </a:t>
            </a:r>
            <a:r>
              <a:rPr lang="ru-RU" sz="16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компания</a:t>
            </a:r>
            <a:r>
              <a:rPr lang="en-US" sz="16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теряет, если ничего не менять</a:t>
            </a:r>
            <a:endParaRPr lang="en-US" sz="16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take-list"/>
          <p:cNvSpPr txBox="1"/>
          <p:nvPr/>
        </p:nvSpPr>
        <p:spPr>
          <a:xfrm>
            <a:off x="6629763" y="2794000"/>
            <a:ext cx="4749437" cy="337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 marL="285750" indent="-285750">
              <a:lnSpc>
                <a:spcPct val="14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Один д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ень 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бригадира 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 неделю 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уходит 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на руч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ное планирование 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графика вместо работы с гостями и командой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Частые конфликты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с персоналом из-за переработок по выходным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285750" indent="-285750">
              <a:lnSpc>
                <a:spcPct val="14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Уходят опытные сотрудники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: при текучести 38% в год сеть постоянно нанимает и обучает новичков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СменаPRO · питч для операционных директоров сети ресторанов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3 / 10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ДОКАЗАТЕЛЬСТВА</a:t>
            </a:r>
            <a:endParaRPr lang="en-US" sz="1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За квартал пилота переработки упали вдвое, стоимость смен – на 19%</a:t>
            </a:r>
            <a:endParaRPr lang="en-US" sz="27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chart1-label"/>
          <p:cNvSpPr txBox="1"/>
          <p:nvPr/>
        </p:nvSpPr>
        <p:spPr>
          <a:xfrm>
            <a:off x="812800" y="1879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Переработки, % от ФОТ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aphicFrame>
        <p:nvGraphicFramePr>
          <p:cNvPr id="5" name="chart1"/>
          <p:cNvGraphicFramePr/>
          <p:nvPr>
            <p:extLst>
              <p:ext uri="{D42A27DB-BD31-4B8C-83A1-F6EECF244321}">
                <p14:modId xmlns:p14="http://schemas.microsoft.com/office/powerpoint/2010/main" val="898359874"/>
              </p:ext>
            </p:extLst>
          </p:nvPr>
        </p:nvGraphicFramePr>
        <p:xfrm>
          <a:off x="812800" y="2184400"/>
          <a:ext cx="5080000" cy="314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hart2-label"/>
          <p:cNvSpPr txBox="1"/>
          <p:nvPr/>
        </p:nvSpPr>
        <p:spPr>
          <a:xfrm>
            <a:off x="6299200" y="1879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Стоимость смен на пилотных точках, тыс. ₽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graphicFrame>
        <p:nvGraphicFramePr>
          <p:cNvPr id="7" name="chart2"/>
          <p:cNvGraphicFramePr/>
          <p:nvPr>
            <p:extLst>
              <p:ext uri="{D42A27DB-BD31-4B8C-83A1-F6EECF244321}">
                <p14:modId xmlns:p14="http://schemas.microsoft.com/office/powerpoint/2010/main" val="1149530544"/>
              </p:ext>
            </p:extLst>
          </p:nvPr>
        </p:nvGraphicFramePr>
        <p:xfrm>
          <a:off x="6299200" y="2184400"/>
          <a:ext cx="5080000" cy="314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tat-sep"/>
          <p:cNvSpPr/>
          <p:nvPr/>
        </p:nvSpPr>
        <p:spPr>
          <a:xfrm>
            <a:off x="812800" y="5518355"/>
            <a:ext cx="105664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9" name="stat"/>
          <p:cNvSpPr txBox="1"/>
          <p:nvPr/>
        </p:nvSpPr>
        <p:spPr>
          <a:xfrm>
            <a:off x="812800" y="5753920"/>
            <a:ext cx="10566400" cy="405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Текучесть на пилотных точках: </a:t>
            </a:r>
            <a:r>
              <a:rPr lang="en-US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38% → 27%</a:t>
            </a:r>
            <a:r>
              <a:rPr lang="en-US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за тот же период</a:t>
            </a:r>
            <a:endParaRPr lang="en-US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СменаPRO · питч для операционных директоров сети ресторанов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4 / 10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РЕШЕНИЕ</a:t>
            </a:r>
            <a:endParaRPr lang="en-US" sz="1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Расширяем модуль автопланирования на все 40 точек</a:t>
            </a:r>
            <a:r>
              <a:rPr lang="ru-RU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</a:t>
            </a: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оэтапно, с проверкой в высокий сезон</a:t>
            </a:r>
            <a:endParaRPr lang="en-US" sz="27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icon1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eyJpY29uTmFtZSI6ImZhczpjYWxlbmRhci1jaGVjayJ9</pptd:icon>
              </p:ext>
            </p:extLst>
          </p:nvPr>
        </p:nvSpPr>
        <p:spPr>
          <a:xfrm>
            <a:off x="812800" y="231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20" y="0"/>
                </a:moveTo>
                <a:cubicBezTo>
                  <a:pt x="338" y="0"/>
                  <a:pt x="352" y="14"/>
                  <a:pt x="352" y="32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32"/>
                </a:lnTo>
                <a:cubicBezTo>
                  <a:pt x="96" y="14"/>
                  <a:pt x="110" y="0"/>
                  <a:pt x="128" y="0"/>
                </a:cubicBezTo>
                <a:cubicBezTo>
                  <a:pt x="146" y="0"/>
                  <a:pt x="160" y="14"/>
                  <a:pt x="160" y="32"/>
                </a:cubicBezTo>
                <a:lnTo>
                  <a:pt x="160" y="64"/>
                </a:lnTo>
                <a:lnTo>
                  <a:pt x="288" y="64"/>
                </a:lnTo>
                <a:lnTo>
                  <a:pt x="288" y="32"/>
                </a:lnTo>
                <a:cubicBezTo>
                  <a:pt x="288" y="14"/>
                  <a:pt x="302" y="0"/>
                  <a:pt x="320" y="0"/>
                </a:cubicBezTo>
                <a:close/>
                <a:moveTo>
                  <a:pt x="342" y="162"/>
                </a:moveTo>
                <a:cubicBezTo>
                  <a:pt x="331" y="154"/>
                  <a:pt x="316" y="156"/>
                  <a:pt x="309" y="167"/>
                </a:cubicBezTo>
                <a:lnTo>
                  <a:pt x="189" y="331"/>
                </a:lnTo>
                <a:lnTo>
                  <a:pt x="137" y="279"/>
                </a:lnTo>
                <a:cubicBezTo>
                  <a:pt x="128" y="270"/>
                  <a:pt x="112" y="270"/>
                  <a:pt x="103" y="279"/>
                </a:cubicBezTo>
                <a:cubicBezTo>
                  <a:pt x="94" y="289"/>
                  <a:pt x="94" y="304"/>
                  <a:pt x="103" y="313"/>
                </a:cubicBezTo>
                <a:lnTo>
                  <a:pt x="175" y="385"/>
                </a:lnTo>
                <a:cubicBezTo>
                  <a:pt x="180" y="390"/>
                  <a:pt x="187" y="393"/>
                  <a:pt x="194" y="392"/>
                </a:cubicBezTo>
                <a:cubicBezTo>
                  <a:pt x="201" y="392"/>
                  <a:pt x="207" y="388"/>
                  <a:pt x="211" y="382"/>
                </a:cubicBezTo>
                <a:lnTo>
                  <a:pt x="347" y="195"/>
                </a:lnTo>
                <a:cubicBezTo>
                  <a:pt x="355" y="185"/>
                  <a:pt x="353" y="170"/>
                  <a:pt x="342" y="162"/>
                </a:cubicBezTo>
                <a:close/>
              </a:path>
            </a:pathLst>
          </a:custGeom>
          <a:solidFill>
            <a:srgbClr val="0F4C5C"/>
          </a:solidFill>
          <a:ln>
            <a:noFill/>
          </a:ln>
        </p:spPr>
      </p:sp>
      <p:sp>
        <p:nvSpPr>
          <p:cNvPr id="5" name="row1"/>
          <p:cNvSpPr txBox="1"/>
          <p:nvPr/>
        </p:nvSpPr>
        <p:spPr>
          <a:xfrm>
            <a:off x="1473200" y="2235200"/>
            <a:ext cx="939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Автоматически собирает график смен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У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читывает загрузку точки, норму часов, ограничения и пожелания сотрудников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sep1"/>
          <p:cNvSpPr/>
          <p:nvPr/>
        </p:nvSpPr>
        <p:spPr>
          <a:xfrm>
            <a:off x="1473200" y="3240310"/>
            <a:ext cx="9398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7" name="icon2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eyJpY29uTmFtZSI6ImZhczp1c2VyLWNoZWNrIn0</pptd:icon>
              </p:ext>
            </p:extLst>
          </p:nvPr>
        </p:nvSpPr>
        <p:spPr>
          <a:xfrm>
            <a:off x="749300" y="3534220"/>
            <a:ext cx="508000" cy="381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0F4C5C"/>
          </a:solidFill>
          <a:ln>
            <a:noFill/>
          </a:ln>
        </p:spPr>
      </p:sp>
      <p:sp>
        <p:nvSpPr>
          <p:cNvPr id="8" name="row2"/>
          <p:cNvSpPr txBox="1"/>
          <p:nvPr/>
        </p:nvSpPr>
        <p:spPr>
          <a:xfrm>
            <a:off x="1473200" y="3458020"/>
            <a:ext cx="939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Бригадир проверяет и утверждает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одуль убирает 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ручной труд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,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но к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онтроль над расписанием оста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тся на точке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sep2"/>
          <p:cNvSpPr/>
          <p:nvPr/>
        </p:nvSpPr>
        <p:spPr>
          <a:xfrm>
            <a:off x="1473200" y="4463130"/>
            <a:ext cx="9398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10" name="icon3"/>
          <p:cNvSpPr/>
          <p:nvPr>
            <p:extLst>
              <p:ext uri="{F5677B7D-0D2A-4D9B-9A5C-6D8D7D0E5A5D}">
                <pptd:icon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eyJpY29uTmFtZSI6ImZhczpjaGFydC1saW5lIn0</pptd:icon>
              </p:ext>
            </p:extLst>
          </p:nvPr>
        </p:nvSpPr>
        <p:spPr>
          <a:xfrm>
            <a:off x="812800" y="47570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0F4C5C"/>
          </a:solidFill>
          <a:ln>
            <a:noFill/>
          </a:ln>
        </p:spPr>
      </p:sp>
      <p:sp>
        <p:nvSpPr>
          <p:cNvPr id="11" name="row3"/>
          <p:cNvSpPr txBox="1"/>
          <p:nvPr/>
        </p:nvSpPr>
        <p:spPr>
          <a:xfrm>
            <a:off x="1473200" y="4680840"/>
            <a:ext cx="939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Метрики под контролем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ереработки, стоимость смен и текучесть 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отслеживаются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по каждой точке 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каждый месяц.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note"/>
          <p:cNvSpPr txBox="1"/>
          <p:nvPr/>
        </p:nvSpPr>
        <p:spPr>
          <a:xfrm>
            <a:off x="812800" y="5769420"/>
            <a:ext cx="10566400" cy="3011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400" noProof="1">
                <a:latin typeface="Inter" panose="02000503000000020004" pitchFamily="2" charset="0"/>
                <a:ea typeface="Inter" panose="02000503000000020004" pitchFamily="2" charset="0"/>
              </a:rPr>
              <a:t>На пилоте внедрение заняло две недели на каждой точке</a:t>
            </a:r>
            <a:r>
              <a:rPr lang="ru-RU" sz="1400" noProof="1">
                <a:latin typeface="Inter" panose="02000503000000020004" pitchFamily="2" charset="0"/>
                <a:ea typeface="Inter" panose="02000503000000020004" pitchFamily="2" charset="0"/>
              </a:rPr>
              <a:t>. Э</a:t>
            </a:r>
            <a:r>
              <a:rPr lang="en-US" sz="1400" noProof="1">
                <a:latin typeface="Inter" panose="02000503000000020004" pitchFamily="2" charset="0"/>
                <a:ea typeface="Inter" panose="02000503000000020004" pitchFamily="2" charset="0"/>
              </a:rPr>
              <a:t>ти сроки уже заложены в план</a:t>
            </a:r>
            <a:r>
              <a:rPr lang="ru-RU" sz="1400" noProof="1"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СменаPRO · питч для операционных директоров сети ресторанов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5 / 10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КАК ЭТО БУДЕТ РАБОТАТЬ</a:t>
            </a:r>
            <a:endParaRPr lang="en-US" sz="1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Три этапа: пилот пройден, дальше – проверка в высокий сезон и раскатка на сеть</a:t>
            </a:r>
            <a:endParaRPr lang="en-US" sz="27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rack"/>
          <p:cNvSpPr/>
          <p:nvPr/>
        </p:nvSpPr>
        <p:spPr>
          <a:xfrm>
            <a:off x="1623875" y="2641600"/>
            <a:ext cx="8543636" cy="254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5" name="dot1"/>
          <p:cNvSpPr/>
          <p:nvPr/>
        </p:nvSpPr>
        <p:spPr>
          <a:xfrm>
            <a:off x="1397000" y="2362200"/>
            <a:ext cx="558800" cy="558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</p:sp>
      <p:sp>
        <p:nvSpPr>
          <p:cNvPr id="6" name="dot1-num"/>
          <p:cNvSpPr txBox="1"/>
          <p:nvPr/>
        </p:nvSpPr>
        <p:spPr>
          <a:xfrm>
            <a:off x="1397000" y="2362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7F5F0"/>
                </a:solidFill>
                <a:latin typeface="Inter" panose="02000503000000020004" pitchFamily="2" charset="0"/>
                <a:ea typeface="Inter" panose="02000503000000020004" pitchFamily="2" charset="0"/>
              </a:rPr>
              <a:t>1</a:t>
            </a:r>
            <a:endParaRPr lang="en-US" sz="18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dot2"/>
          <p:cNvSpPr/>
          <p:nvPr/>
        </p:nvSpPr>
        <p:spPr>
          <a:xfrm>
            <a:off x="5580745" y="2362200"/>
            <a:ext cx="558800" cy="55880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</p:sp>
      <p:sp>
        <p:nvSpPr>
          <p:cNvPr id="8" name="dot2-num"/>
          <p:cNvSpPr txBox="1"/>
          <p:nvPr/>
        </p:nvSpPr>
        <p:spPr>
          <a:xfrm>
            <a:off x="5580745" y="2362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7F5F0"/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endParaRPr lang="en-US" sz="18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9" name="dot3"/>
          <p:cNvSpPr/>
          <p:nvPr/>
        </p:nvSpPr>
        <p:spPr>
          <a:xfrm>
            <a:off x="9869710" y="2362200"/>
            <a:ext cx="558800" cy="558800"/>
          </a:xfrm>
          <a:prstGeom prst="ellipse">
            <a:avLst/>
          </a:prstGeom>
          <a:solidFill>
            <a:srgbClr val="ECE6D9"/>
          </a:solidFill>
          <a:ln w="25400">
            <a:solidFill>
              <a:srgbClr val="0F4C5C"/>
            </a:solidFill>
          </a:ln>
        </p:spPr>
      </p:sp>
      <p:sp>
        <p:nvSpPr>
          <p:cNvPr id="10" name="dot3-num"/>
          <p:cNvSpPr txBox="1"/>
          <p:nvPr/>
        </p:nvSpPr>
        <p:spPr>
          <a:xfrm>
            <a:off x="9869710" y="2362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0F4C5C"/>
                </a:solidFill>
                <a:latin typeface="Inter" panose="02000503000000020004" pitchFamily="2" charset="0"/>
                <a:ea typeface="Inter" panose="02000503000000020004" pitchFamily="2" charset="0"/>
              </a:rPr>
              <a:t>3</a:t>
            </a:r>
            <a:endParaRPr lang="en-US" sz="18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step1"/>
          <p:cNvSpPr txBox="1"/>
          <p:nvPr/>
        </p:nvSpPr>
        <p:spPr>
          <a:xfrm>
            <a:off x="812800" y="3225800"/>
            <a:ext cx="2870926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ПРОЙДЕН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6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Пилот на 3 точках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176213" indent="-176213">
              <a:lnSpc>
                <a:spcPct val="14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переработки 14% → 6% ФОТ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176213" indent="-176213">
              <a:lnSpc>
                <a:spcPct val="14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стоимость смен −19%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176213" indent="-176213">
              <a:lnSpc>
                <a:spcPct val="14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текучесть 38% → 27%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step2"/>
          <p:cNvSpPr txBox="1"/>
          <p:nvPr/>
        </p:nvSpPr>
        <p:spPr>
          <a:xfrm>
            <a:off x="4165600" y="3217454"/>
            <a:ext cx="3302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СЛЕДУЮЩИЙ ШАГ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6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Сезонный пилот на 5–7 точках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176213" indent="-176213">
              <a:lnSpc>
                <a:spcPct val="14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проверка в высокий сезон</a:t>
            </a:r>
          </a:p>
          <a:p>
            <a:pPr marL="176213" indent="-176213">
              <a:lnSpc>
                <a:spcPct val="14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замер качества обслуживания гостей</a:t>
            </a:r>
          </a:p>
          <a:p>
            <a:pPr marL="176213" indent="-176213">
              <a:lnSpc>
                <a:spcPct val="14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решение о раскатке – по итогам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step3"/>
          <p:cNvSpPr txBox="1"/>
          <p:nvPr/>
        </p:nvSpPr>
        <p:spPr>
          <a:xfrm>
            <a:off x="8280400" y="3225800"/>
            <a:ext cx="3302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РАСКАТКА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6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Все 40 точек сети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176213" indent="-176213">
              <a:lnSpc>
                <a:spcPct val="14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переобучение бригадиров – 2 недели на точку</a:t>
            </a:r>
          </a:p>
          <a:p>
            <a:pPr marL="176213" indent="-176213">
              <a:lnSpc>
                <a:spcPct val="14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ежемесячный контроль метрик</a:t>
            </a:r>
          </a:p>
          <a:p>
            <a:pPr marL="176213" indent="-176213">
              <a:lnSpc>
                <a:spcPct val="14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поддержка, как на пилоте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СменаPRO · питч для операционных директоров сети ресторанов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5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6 / 10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1" animBg="1"/>
      <p:bldP spid="10" grpId="1" animBg="1"/>
      <p:bldP spid="12" grpId="0" animBg="1"/>
      <p:bldP spid="1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ЭФФЕКТ И РИСКИ</a:t>
            </a:r>
            <a:endParaRPr lang="en-US" sz="1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Эффект – до 2,1 млн ₽ в квартал. Три риска и что мы делаем по каждому</a:t>
            </a:r>
            <a:endParaRPr lang="en-US" sz="27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effect-num"/>
          <p:cNvSpPr txBox="1"/>
          <p:nvPr/>
        </p:nvSpPr>
        <p:spPr>
          <a:xfrm>
            <a:off x="812800" y="2235200"/>
            <a:ext cx="3683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600" b="1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2,1 млн ₽</a:t>
            </a:r>
            <a:endParaRPr lang="en-US" sz="46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effect-label"/>
          <p:cNvSpPr txBox="1"/>
          <p:nvPr/>
        </p:nvSpPr>
        <p:spPr>
          <a:xfrm>
            <a:off x="812800" y="3098800"/>
            <a:ext cx="3683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экономии на переработках в квартал при расширении на 40 точек – оценка по данным пилота</a:t>
            </a:r>
            <a:endParaRPr lang="en-US" sz="13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divider"/>
          <p:cNvSpPr/>
          <p:nvPr/>
        </p:nvSpPr>
        <p:spPr>
          <a:xfrm>
            <a:off x="5000625" y="1905000"/>
            <a:ext cx="12700" cy="40640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7" name="risk1"/>
          <p:cNvSpPr txBox="1"/>
          <p:nvPr/>
        </p:nvSpPr>
        <p:spPr>
          <a:xfrm>
            <a:off x="5537200" y="2006600"/>
            <a:ext cx="5842000" cy="9429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Эффект на других точках ниже пилотного</a:t>
            </a:r>
            <a:endParaRPr lang="en-US" sz="125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Признак:</a:t>
            </a:r>
            <a:r>
              <a:rPr lang="en-US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переработки выше 8% ФОТ в первый месяц</a:t>
            </a:r>
            <a:endParaRPr lang="en-US" sz="125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Ответ:</a:t>
            </a:r>
            <a:r>
              <a:rPr lang="en-US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не раскатываем дальше, корректируем настройки под тип точки</a:t>
            </a:r>
            <a:endParaRPr lang="en-US" sz="125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risk-sep1"/>
          <p:cNvSpPr/>
          <p:nvPr/>
        </p:nvSpPr>
        <p:spPr>
          <a:xfrm>
            <a:off x="5537200" y="3089275"/>
            <a:ext cx="5842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9" name="risk2"/>
          <p:cNvSpPr txBox="1"/>
          <p:nvPr/>
        </p:nvSpPr>
        <p:spPr>
          <a:xfrm>
            <a:off x="5527675" y="3241675"/>
            <a:ext cx="5842000" cy="1181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Пиковая нагрузка в высокий сезон ломает расписание</a:t>
            </a:r>
            <a:endParaRPr lang="en-US" sz="125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Признак:</a:t>
            </a:r>
            <a:r>
              <a:rPr lang="en-US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бригадиры правят график вручную чаще двух раз в неделю</a:t>
            </a:r>
            <a:endParaRPr lang="en-US" sz="125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Ответ:</a:t>
            </a:r>
            <a:r>
              <a:rPr lang="en-US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сначала сезонный пилот на 5</a:t>
            </a:r>
            <a:r>
              <a:rPr lang="ru-RU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-</a:t>
            </a:r>
            <a:r>
              <a:rPr lang="en-US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7 точках</a:t>
            </a:r>
            <a:r>
              <a:rPr lang="ru-RU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и донастройка модуля под высокую нагрузку,</a:t>
            </a:r>
            <a:r>
              <a:rPr lang="en-US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и только затем масштабирование на все точки</a:t>
            </a:r>
            <a:endParaRPr lang="en-US" sz="125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risk-sep2"/>
          <p:cNvSpPr/>
          <p:nvPr/>
        </p:nvSpPr>
        <p:spPr>
          <a:xfrm>
            <a:off x="5527675" y="4562475"/>
            <a:ext cx="5842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11" name="risk3"/>
          <p:cNvSpPr txBox="1"/>
          <p:nvPr/>
        </p:nvSpPr>
        <p:spPr>
          <a:xfrm>
            <a:off x="5527675" y="4714875"/>
            <a:ext cx="584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Бригадиры не освоят модуль</a:t>
            </a:r>
            <a:endParaRPr lang="en-US" sz="125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Признак:</a:t>
            </a:r>
            <a:r>
              <a:rPr lang="en-US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график собирается дольше часа, жалобы на точке</a:t>
            </a:r>
            <a:endParaRPr lang="en-US" sz="1250" noProof="1"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Ответ:</a:t>
            </a:r>
            <a:r>
              <a:rPr lang="en-US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переобучение две недели на точку и поддержка</a:t>
            </a:r>
            <a:r>
              <a:rPr lang="ru-RU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, </a:t>
            </a:r>
            <a:r>
              <a:rPr lang="en-US" sz="125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как на пилоте</a:t>
            </a:r>
            <a:endParaRPr lang="en-US" sz="125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source"/>
          <p:cNvSpPr txBox="1"/>
          <p:nvPr/>
        </p:nvSpPr>
        <p:spPr>
          <a:xfrm>
            <a:off x="812800" y="5156200"/>
            <a:ext cx="3933825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Экономия – оценка по результатам пилота.</a:t>
            </a:r>
            <a:endParaRPr lang="ru-RU" sz="1100" noProof="1">
              <a:solidFill>
                <a:srgbClr val="6B767B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Допущения расч</a:t>
            </a:r>
            <a:r>
              <a:rPr lang="ru-RU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</a:t>
            </a:r>
            <a:r>
              <a:rPr lang="en-US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та </a:t>
            </a:r>
            <a:r>
              <a:rPr lang="ru-RU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представлены</a:t>
            </a:r>
            <a:r>
              <a:rPr lang="en-US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на</a:t>
            </a:r>
            <a:r>
              <a:rPr lang="ru-RU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10</a:t>
            </a:r>
            <a:r>
              <a:rPr lang="ru-RU" sz="11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 слайде</a:t>
            </a:r>
            <a:endParaRPr lang="en-US" sz="11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3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СменаPRO · питч для операционных директоров сети ресторанов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4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7 / 10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ЗАПРОС И СЛЕДУЮЩИЙ ШАГ</a:t>
            </a:r>
            <a:endParaRPr lang="en-US" sz="1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Просим согласовать сезонный пилот на 5</a:t>
            </a:r>
            <a:r>
              <a:rPr lang="ru-RU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-</a:t>
            </a: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7 точек</a:t>
            </a:r>
            <a:r>
              <a:rPr lang="ru-RU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ru-RU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</a:t>
            </a:r>
            <a:r>
              <a:rPr lang="en-US" sz="27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ешение нужно до конца квартала</a:t>
            </a:r>
            <a:endParaRPr lang="en-US" sz="27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ask1-num"/>
          <p:cNvSpPr txBox="1"/>
          <p:nvPr/>
        </p:nvSpPr>
        <p:spPr>
          <a:xfrm>
            <a:off x="812800" y="2184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1</a:t>
            </a:r>
            <a:endParaRPr lang="en-US" sz="26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5" name="ask1"/>
          <p:cNvSpPr txBox="1"/>
          <p:nvPr/>
        </p:nvSpPr>
        <p:spPr>
          <a:xfrm>
            <a:off x="1422400" y="2274888"/>
            <a:ext cx="9144000" cy="298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Согласовать запуск модуля автопланирования на 5</a:t>
            </a:r>
            <a:r>
              <a:rPr lang="ru-RU" sz="16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-</a:t>
            </a:r>
            <a:r>
              <a:rPr lang="en-US" sz="16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7 точках в высокий сезон</a:t>
            </a:r>
            <a:endParaRPr lang="en-US" sz="16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ask2-num"/>
          <p:cNvSpPr txBox="1"/>
          <p:nvPr/>
        </p:nvSpPr>
        <p:spPr>
          <a:xfrm>
            <a:off x="812800" y="28448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E8590C"/>
                </a:solidFill>
                <a:latin typeface="Inter" panose="02000503000000020004" pitchFamily="2" charset="0"/>
                <a:ea typeface="Inter" panose="02000503000000020004" pitchFamily="2" charset="0"/>
              </a:rPr>
              <a:t>2</a:t>
            </a:r>
            <a:endParaRPr lang="en-US" sz="26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7" name="ask2"/>
          <p:cNvSpPr txBox="1"/>
          <p:nvPr/>
        </p:nvSpPr>
        <p:spPr>
          <a:xfrm>
            <a:off x="1422400" y="2949575"/>
            <a:ext cx="9144000" cy="298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Выделить бригадиров этих точек на переобучение</a:t>
            </a:r>
            <a:r>
              <a:rPr lang="ru-RU" sz="16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r>
              <a:rPr lang="en-US" sz="16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ru-RU" sz="16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Д</a:t>
            </a:r>
            <a:r>
              <a:rPr lang="en-US" sz="16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ве недели на точку</a:t>
            </a:r>
            <a:endParaRPr lang="en-US" sz="16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sep"/>
          <p:cNvSpPr/>
          <p:nvPr/>
        </p:nvSpPr>
        <p:spPr>
          <a:xfrm>
            <a:off x="812800" y="3656012"/>
            <a:ext cx="105664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9" name="next-title"/>
          <p:cNvSpPr txBox="1"/>
          <p:nvPr/>
        </p:nvSpPr>
        <p:spPr>
          <a:xfrm>
            <a:off x="812800" y="3971924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4C5C"/>
                </a:solidFill>
                <a:latin typeface="Inter" panose="02000503000000020004" pitchFamily="2" charset="0"/>
                <a:ea typeface="Inter" panose="02000503000000020004" pitchFamily="2" charset="0"/>
              </a:rPr>
              <a:t>Что </a:t>
            </a:r>
            <a:r>
              <a:rPr lang="ru-RU" sz="1600" b="1" noProof="1">
                <a:solidFill>
                  <a:srgbClr val="0F4C5C"/>
                </a:solidFill>
                <a:latin typeface="Inter" panose="02000503000000020004" pitchFamily="2" charset="0"/>
                <a:ea typeface="Inter" panose="02000503000000020004" pitchFamily="2" charset="0"/>
              </a:rPr>
              <a:t>произойдет </a:t>
            </a:r>
            <a:r>
              <a:rPr lang="en-US" sz="1600" b="1" noProof="1">
                <a:solidFill>
                  <a:srgbClr val="0F4C5C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сразу после </a:t>
            </a:r>
            <a:r>
              <a:rPr lang="ru-RU" sz="1600" b="1" noProof="1">
                <a:solidFill>
                  <a:srgbClr val="0F4C5C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согласования</a:t>
            </a:r>
            <a:endParaRPr lang="en-US" sz="16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0" name="next-text"/>
          <p:cNvSpPr txBox="1"/>
          <p:nvPr/>
        </p:nvSpPr>
        <p:spPr>
          <a:xfrm>
            <a:off x="812800" y="44704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 течение недели 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мы настроим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модуль на выбранных точках и запус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тим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замер. 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 следующем квартале в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ерн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е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мся с результатами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: 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метриками переработок, стоимости смен, текучести и</a:t>
            </a:r>
            <a:r>
              <a:rPr lang="ru-RU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US" sz="1400" b="1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качества обслуживания гостей</a:t>
            </a:r>
            <a:r>
              <a:rPr lang="en-US" sz="1400" noProof="1">
                <a:solidFill>
                  <a:srgbClr val="1E2A2E"/>
                </a:solidFill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endParaRPr lang="en-US" sz="14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1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СменаPRO · питч для операционных директоров сети ресторанов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Inter" panose="02000503000000020004" pitchFamily="2" charset="0"/>
                <a:ea typeface="Inter" panose="02000503000000020004" pitchFamily="2" charset="0"/>
              </a:rPr>
              <a:t>8 / 10</a:t>
            </a:r>
            <a:endParaRPr lang="en-US" sz="10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905000"/>
            <a:ext cx="711200" cy="76200"/>
          </a:xfrm>
          <a:prstGeom prst="rect">
            <a:avLst/>
          </a:prstGeom>
          <a:solidFill>
            <a:srgbClr val="E8590C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12799" y="2260600"/>
            <a:ext cx="10150475" cy="6300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ru-RU" sz="3300" b="1" noProof="1">
                <a:solidFill>
                  <a:srgbClr val="F7F5F0"/>
                </a:solidFill>
                <a:latin typeface="Inter" panose="02000503000000020004" pitchFamily="2" charset="0"/>
                <a:ea typeface="Inter" panose="02000503000000020004" pitchFamily="2" charset="0"/>
              </a:rPr>
              <a:t>Готова ответить на все Ваши вопросы</a:t>
            </a:r>
            <a:endParaRPr lang="en-US" sz="33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8" name="kicker">
            <a:extLst>
              <a:ext uri="{FF2B5EF4-FFF2-40B4-BE49-F238E27FC236}">
                <a16:creationId xmlns:a16="http://schemas.microsoft.com/office/drawing/2014/main" id="{6495477E-19E2-44C6-8CBE-BEE4B70E0A81}"/>
              </a:ext>
            </a:extLst>
          </p:cNvPr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ru-RU" sz="1200" b="1" kern="0" spc="200" noProof="1">
                <a:solidFill>
                  <a:srgbClr val="F0A268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ВОПРОСЫ</a:t>
            </a:r>
            <a:endParaRPr lang="en-US" sz="12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12" name="bottom">
            <a:extLst>
              <a:ext uri="{FF2B5EF4-FFF2-40B4-BE49-F238E27FC236}">
                <a16:creationId xmlns:a16="http://schemas.microsoft.com/office/drawing/2014/main" id="{C4ACDC8A-07E6-4DE6-A275-175D709CEE3D}"/>
              </a:ext>
            </a:extLst>
          </p:cNvPr>
          <p:cNvSpPr txBox="1"/>
          <p:nvPr/>
        </p:nvSpPr>
        <p:spPr>
          <a:xfrm>
            <a:off x="812800" y="6248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A8C0C5"/>
                </a:solidFill>
                <a:latin typeface="Inter" panose="02000503000000020004" pitchFamily="2" charset="0"/>
                <a:ea typeface="Inter" panose="02000503000000020004" pitchFamily="2" charset="0"/>
              </a:rPr>
              <a:t>Софья · продакт «СменаPRO» · отвечу на вопросы по данным пилота</a:t>
            </a:r>
            <a:endParaRPr lang="en-US" sz="1100" noProof="1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640162"/>
      </p:ext>
    </p:extLst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788</Words>
  <Application>Microsoft Office PowerPoint</Application>
  <PresentationFormat>Широкоэкранный</PresentationFormat>
  <Paragraphs>102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Inter</vt:lpstr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smena-pro-pitch</dc:title>
  <cp:lastModifiedBy>Софья Зименкова</cp:lastModifiedBy>
  <cp:revision>9</cp:revision>
  <dcterms:modified xsi:type="dcterms:W3CDTF">2026-09-28T04:52:45Z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