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7" r:id="rId10"/>
  </p:sldIdLst>
  <p:sldSz cx="12192000" cy="6858000"/>
  <p:notesSz cx="12192000" cy="6858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8C0C5"/>
    <a:srgbClr val="0F4C5C"/>
    <a:srgbClr val="2A6577"/>
    <a:srgbClr val="4F3427"/>
    <a:srgbClr val="2F1F17"/>
    <a:srgbClr val="431A03"/>
    <a:srgbClr val="E8590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213"/>
    <p:restoredTop sz="79597"/>
  </p:normalViewPr>
  <p:slideViewPr>
    <p:cSldViewPr snapToGrid="0" snapToObjects="1">
      <p:cViewPr varScale="1">
        <p:scale>
          <a:sx n="102" d="100"/>
          <a:sy n="102" d="100"/>
        </p:scale>
        <p:origin x="304" y="176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Переработки</c:v>
                </c:pt>
              </c:strCache>
            </c:strRef>
          </c:tx>
          <c:spPr>
            <a:ln w="38100">
              <a:solidFill>
                <a:srgbClr val="E8590C"/>
              </a:solidFill>
            </a:ln>
          </c:spPr>
          <c:marker>
            <c:symbol val="circle"/>
            <c:size val="8"/>
            <c:spPr>
              <a:solidFill>
                <a:srgbClr val="E8590C"/>
              </a:solidFill>
              <a:ln w="38100">
                <a:solidFill>
                  <a:srgbClr val="E8590C"/>
                </a:solidFill>
              </a:ln>
            </c:spPr>
          </c:marker>
          <c:dLbls>
            <c:dLbl>
              <c:idx val="0"/>
              <c:layout>
                <c:manualLayout>
                  <c:x val="-5.0000000000000461E-3"/>
                  <c:y val="-4.8387096774193547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DFF0-41F1-BA0B-E10E3C1B7269}"/>
                </c:ext>
              </c:extLst>
            </c:dLbl>
            <c:dLbl>
              <c:idx val="1"/>
              <c:layout>
                <c:manualLayout>
                  <c:x val="-2.5000000000000001E-3"/>
                  <c:y val="-4.8387096774193547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DFF0-41F1-BA0B-E10E3C1B7269}"/>
                </c:ext>
              </c:extLst>
            </c:dLbl>
            <c:dLbl>
              <c:idx val="2"/>
              <c:layout>
                <c:manualLayout>
                  <c:x val="-9.1665607737743949E-17"/>
                  <c:y val="-4.0322580645161366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DFF0-41F1-BA0B-E10E3C1B7269}"/>
                </c:ext>
              </c:extLst>
            </c:dLbl>
            <c:dLbl>
              <c:idx val="3"/>
              <c:layout>
                <c:manualLayout>
                  <c:x val="0"/>
                  <c:y val="-4.8387096774193547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DFF0-41F1-BA0B-E10E3C1B7269}"/>
                </c:ext>
              </c:extLst>
            </c:dLbl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 noProof="1">
                    <a:solidFill>
                      <a:srgbClr val="1E2A2E"/>
                    </a:solidFill>
                    <a:latin typeface="Arial"/>
                  </a:defRPr>
                </a:pPr>
                <a:endParaRPr lang="en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1-й мес</c:v>
                </c:pt>
                <c:pt idx="1">
                  <c:v>2-й мес</c:v>
                </c:pt>
                <c:pt idx="2">
                  <c:v>3-й мес</c:v>
                </c:pt>
                <c:pt idx="3">
                  <c:v>4-й мес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</c:v>
                </c:pt>
                <c:pt idx="1">
                  <c:v>11</c:v>
                </c:pt>
                <c:pt idx="2">
                  <c:v>8</c:v>
                </c:pt>
                <c:pt idx="3">
                  <c:v>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2BF-446B-943B-C9809295498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"/>
        <c:axId val="2"/>
      </c:lineChart>
      <c:catAx>
        <c:axId val="1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>
            <a:solidFill>
              <a:srgbClr val="888888"/>
            </a:solidFill>
          </a:ln>
        </c:spPr>
        <c:txPr>
          <a:bodyPr/>
          <a:lstStyle/>
          <a:p>
            <a:pPr>
              <a:defRPr sz="1100" b="0" i="0" u="none" strike="noStrike" noProof="1">
                <a:latin typeface="Arial"/>
              </a:defRPr>
            </a:pPr>
            <a:endParaRPr lang="en-RU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  <c:max val="16"/>
          <c:min val="0"/>
        </c:scaling>
        <c:delete val="0"/>
        <c:axPos val="l"/>
        <c:majorGridlines>
          <c:spPr>
            <a:ln w="12700">
              <a:solidFill>
                <a:srgbClr val="E3DCCB"/>
              </a:solidFill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>
            <a:solidFill>
              <a:srgbClr val="888888"/>
            </a:solidFill>
          </a:ln>
        </c:spPr>
        <c:txPr>
          <a:bodyPr/>
          <a:lstStyle/>
          <a:p>
            <a:pPr>
              <a:defRPr sz="1100" b="0" i="0" u="none" strike="noStrike" noProof="1">
                <a:latin typeface="Arial"/>
              </a:defRPr>
            </a:pPr>
            <a:endParaRPr lang="en-RU"/>
          </a:p>
        </c:txPr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Стоимость смен</c:v>
                </c:pt>
              </c:strCache>
            </c:strRef>
          </c:tx>
          <c:spPr>
            <a:solidFill>
              <a:srgbClr val="0F4C5C"/>
            </a:solidFill>
          </c:spPr>
          <c:invertIfNegative val="1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 noProof="1">
                    <a:solidFill>
                      <a:srgbClr val="F7F5F0"/>
                    </a:solidFill>
                    <a:latin typeface="Arial"/>
                  </a:defRPr>
                </a:pPr>
                <a:endParaRPr lang="en-RU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1-й мес</c:v>
                </c:pt>
                <c:pt idx="1">
                  <c:v>2-й мес</c:v>
                </c:pt>
                <c:pt idx="2">
                  <c:v>3-й мес</c:v>
                </c:pt>
                <c:pt idx="3">
                  <c:v>4-й мес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420</c:v>
                </c:pt>
                <c:pt idx="1">
                  <c:v>390</c:v>
                </c:pt>
                <c:pt idx="2">
                  <c:v>360</c:v>
                </c:pt>
                <c:pt idx="3">
                  <c:v>340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C053-4E37-BF5E-BA5009D257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2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>
            <a:solidFill>
              <a:srgbClr val="888888"/>
            </a:solidFill>
          </a:ln>
        </c:spPr>
        <c:txPr>
          <a:bodyPr/>
          <a:lstStyle/>
          <a:p>
            <a:pPr>
              <a:defRPr sz="1100" b="0" i="0" u="none" strike="noStrike" noProof="1">
                <a:latin typeface="Arial"/>
              </a:defRPr>
            </a:pPr>
            <a:endParaRPr lang="en-RU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  <c:max val="450"/>
          <c:min val="0"/>
        </c:scaling>
        <c:delete val="0"/>
        <c:axPos val="l"/>
        <c:majorGridlines>
          <c:spPr>
            <a:ln w="12700">
              <a:solidFill>
                <a:srgbClr val="E3DCCB"/>
              </a:solidFill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>
            <a:solidFill>
              <a:srgbClr val="888888"/>
            </a:solidFill>
          </a:ln>
        </c:spPr>
        <c:txPr>
          <a:bodyPr/>
          <a:lstStyle/>
          <a:p>
            <a:pPr>
              <a:defRPr sz="1100" b="0" i="0" u="none" strike="noStrike" noProof="1">
                <a:latin typeface="Arial"/>
              </a:defRPr>
            </a:pPr>
            <a:endParaRPr lang="en-RU"/>
          </a:p>
        </c:txPr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R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EDD583-CC43-1B41-B514-24581CEA9DE2}" type="datetimeFigureOut">
              <a:rPr lang="en-RU" smtClean="0"/>
              <a:t>04.10.2026</a:t>
            </a:fld>
            <a:endParaRPr lang="en-R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R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64C357-1E42-9544-917F-BF79F3E6876F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5341234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Здравствуйте, коллеги. Меня зовут Софья, я </a:t>
            </a:r>
            <a:r>
              <a:rPr lang="ru-RU" dirty="0" err="1"/>
              <a:t>продакт</a:t>
            </a:r>
            <a:r>
              <a:rPr lang="ru-RU" dirty="0"/>
              <a:t>-менеджер компании "Смена</a:t>
            </a:r>
            <a:r>
              <a:rPr lang="en-GB" dirty="0"/>
              <a:t>PRO". </a:t>
            </a:r>
            <a:r>
              <a:rPr lang="ru-RU" dirty="0"/>
              <a:t>Пять минут – и я покажу, как бригадиры теперь тратят один час на составление графиков вместо одного дня, как три точки начали экономить 80 тысяч рублей в месяц, и как превратить это в 2 миллиона в квартал.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64C357-1E42-9544-917F-BF79F3E6876F}" type="slidenum">
              <a:rPr lang="en-RU" smtClean="0"/>
              <a:t>1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36142435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С каких данных начался наш пилотный проект? Переработки в среднем по 14% ФОТ, недовольные сотрудники уходят. (пауза 2 сек.) На каждой точке, каждую неделю бригадир тратил целый рабочий день на то, чтобы собрать график смен вручную, а не руководить командой. Обученные люди увольняются, а компания платит больше денег из-за переработок.</a:t>
            </a:r>
          </a:p>
          <a:p>
            <a:endParaRPr lang="en-RU" dirty="0"/>
          </a:p>
          <a:p>
            <a:endParaRPr lang="en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64C357-1E42-9544-917F-BF79F3E6876F}" type="slidenum">
              <a:rPr lang="en-RU" smtClean="0"/>
              <a:t>2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3472021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Герой этой истории – не модуль, а ваши бригадиры. Бригадир пришел в профессию руководить людьми: ставить задачи, держать сервис, развивать команду. А вместо этого каждую неделю вручную пытался запланировать график как можно точнее и все равно становился главным источником конфликтов с командой: смены неудобные, пожелания не учтены, уступки и разборки.</a:t>
            </a:r>
          </a:p>
          <a:p>
            <a:r>
              <a:rPr lang="ru-RU" dirty="0"/>
              <a:t>Ставка была простая: если </a:t>
            </a:r>
            <a:r>
              <a:rPr lang="ru-RU" dirty="0" err="1"/>
              <a:t>автопланирование</a:t>
            </a:r>
            <a:r>
              <a:rPr lang="ru-RU" dirty="0"/>
              <a:t> не снимет с бригадиров эту нагрузку и не покажет деньги за квартал, то затраты на внедрение модуля не окупятся. Для этого мы провели пилотное внедрение, измеряя главные метрики.</a:t>
            </a:r>
          </a:p>
          <a:p>
            <a:endParaRPr lang="en-RU" dirty="0"/>
          </a:p>
          <a:p>
            <a:r>
              <a:rPr lang="en-RU" dirty="0"/>
              <a:t>---</a:t>
            </a:r>
          </a:p>
          <a:p>
            <a:endParaRPr lang="en-RU" dirty="0"/>
          </a:p>
          <a:p>
            <a:r>
              <a:rPr lang="ru-RU" dirty="0"/>
              <a:t>По словам работников, "Впервые график смен стал собираться за час, а не за день". Вместо рутинного планирования и конфликтов с подчиненными бригадир теперь может потратить почти целый рабочий день на другие задачи.</a:t>
            </a:r>
            <a:endParaRPr lang="en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64C357-1E42-9544-917F-BF79F3E6876F}" type="slidenum">
              <a:rPr lang="en-RU" smtClean="0"/>
              <a:t>3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4541642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Пилот показал положительные результаты: доля переработок снижается на 2-3 процента каждый месяц. На графике справа показана стоимость смен на тех же точках: уже сейчас компания тратит на 80 тысяч рублей в месяц меньше, чем до пилотного внедрения. И даже текучесть снизилась с 38 до 27 процентов - сотрудники теперь более довольны своей работой. </a:t>
            </a:r>
          </a:p>
          <a:p>
            <a:r>
              <a:rPr lang="ru-RU" dirty="0"/>
              <a:t>А теперь вернемся к нашему бригадиру и его дню. По словам работников, "Впервые график смен стал собираться за час, а не за день". Вместо рутинного планирования и конфликтов с подчиненными бригадир теперь может потратить почти целый рабочий день на другие задачи.</a:t>
            </a:r>
          </a:p>
          <a:p>
            <a:endParaRPr lang="en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64C357-1E42-9544-917F-BF79F3E6876F}" type="slidenum">
              <a:rPr lang="en-RU" smtClean="0"/>
              <a:t>4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4547428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Рассмотрим, как устроено решение, которое это дает.</a:t>
            </a:r>
          </a:p>
          <a:p>
            <a:r>
              <a:rPr lang="ru-RU" dirty="0"/>
              <a:t>Модуль делает три вещи. Первое: собирает график автоматически под загрузку, нормы часов и пожелания сотрудников. Второе: контролирует переработки. Они не появляются "по факту месяца", а видны в моменте. Третье: оставляет бригадиру возможность править готовый график. Автоматика не убирает человека из процесса, а снимает с него рутину, оставляя возможность принимать решение.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64C357-1E42-9544-917F-BF79F3E6876F}" type="slidenum">
              <a:rPr lang="en-RU" smtClean="0"/>
              <a:t>5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7578379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Чтобы внедрить модуль на всех 40 точках сети, нужно пройти три шага, один из которых уже завершен. На следующем шаге мы масштабируем пилот в сезон на еще 5-7 точках, чтобы проверить, как система справится с высокой нагрузкой в компании. После успешного сезонного пилота мы раскатываем модуль на все 40 точек сети.</a:t>
            </a:r>
          </a:p>
          <a:p>
            <a:r>
              <a:rPr lang="ru-RU" dirty="0"/>
              <a:t>Развертывание модуля на каждом этапе занимает три недели. Первая неделя - настройка: подключаем модуль к данным точки, переносим правила. Вторая и третья – переобучение бригадиров. А дальше можно работать: график собирается, мы следим за метриками. Останавливать работу ресторана не придется.</a:t>
            </a:r>
          </a:p>
          <a:p>
            <a:endParaRPr lang="en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64C357-1E42-9544-917F-BF79F3E6876F}" type="slidenum">
              <a:rPr lang="en-RU" smtClean="0"/>
              <a:t>6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42000727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расскажу, какой эффект сразу будет виден в деньгах, и какие есть риски.</a:t>
            </a:r>
          </a:p>
          <a:p>
            <a:r>
              <a:rPr lang="ru-RU" dirty="0"/>
              <a:t>Эффект при масштабировании на все 40 точек – порядка 2,1 млн руб. экономии на переработках в квартал. Это оценка по данным пилота - в зависимости от сложности графика на других точках и сезона итоговое число может меняться, но одно ясно точно – экономия будет существенная, и может даже увеличиться, когда все сотрудники привыкнут к новой системе.</a:t>
            </a:r>
          </a:p>
          <a:p>
            <a:r>
              <a:rPr lang="ru-RU" dirty="0"/>
              <a:t>Сразу обозначим риски и как мы будем с ними бороться.</a:t>
            </a:r>
            <a:br>
              <a:rPr lang="ru-RU" dirty="0"/>
            </a:br>
            <a:r>
              <a:rPr lang="ru-RU" dirty="0"/>
              <a:t>Первый: на других точках эффект может быть ниже. Если на других точках переработки все равно будут выше 8% в первый месяц, то мы не будем раскатываем дальше, а определим причину и откорректируем настройки.</a:t>
            </a:r>
            <a:br>
              <a:rPr lang="ru-RU" dirty="0"/>
            </a:br>
            <a:r>
              <a:rPr lang="ru-RU" dirty="0"/>
              <a:t>Второй: высокий сезон может сломать расписание. Если бригадиры правят график вручную чаще двух раз в неделю, значит, нужно </a:t>
            </a:r>
            <a:r>
              <a:rPr lang="ru-RU" dirty="0" err="1"/>
              <a:t>донастраивать</a:t>
            </a:r>
            <a:r>
              <a:rPr lang="ru-RU" dirty="0"/>
              <a:t> модуль под новый уровень нагрузки. Именно поэтому мы сначала проведем сезонный пилот и </a:t>
            </a:r>
            <a:r>
              <a:rPr lang="ru-RU" dirty="0" err="1"/>
              <a:t>донастроим</a:t>
            </a:r>
            <a:r>
              <a:rPr lang="ru-RU" dirty="0"/>
              <a:t> систему, и только потом будем масштабировать ее на все точки.</a:t>
            </a:r>
            <a:br>
              <a:rPr lang="ru-RU" dirty="0"/>
            </a:br>
            <a:r>
              <a:rPr lang="ru-RU" dirty="0"/>
              <a:t>Риск третий: бригадиры не освоят модуль. Если бригадиры все равно будут тратить больше часа на сборку графика, а сотрудники точки будут жаловаться, мы выделим еще две недели на обучение. Техническая поддержка будет доступна пользователям в любом случае.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64C357-1E42-9544-917F-BF79F3E6876F}" type="slidenum">
              <a:rPr lang="en-RU" smtClean="0"/>
              <a:t>7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05046295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Прошу Вас принять два решения до конца квартала. Первое: согласовать сезонный пилот на 5-7 точках в высокий сезон. Второе: выделить бригадиров этих точек на переобучение. Обучение занимает две недели.</a:t>
            </a:r>
          </a:p>
          <a:p>
            <a:r>
              <a:rPr lang="ru-RU" dirty="0"/>
              <a:t>Это не необратимое решение: если сезонный пилот не подтвердит цифры, мы остановим масштабирование. Сразу после согласования в течение недели мы настроим модуль на выбранных точках и запустим замер. Через квартал вернемся с результатами, теперь включая качество обслуживания гостей, которое в первом пилоте мы не измеряли.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64C357-1E42-9544-917F-BF79F3E6876F}" type="slidenum">
              <a:rPr lang="en-RU" smtClean="0"/>
              <a:t>8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411536025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Готова ответить на все Ваши вопросы. Если мне будет не хватать под рукой каких-то данных, подготовлю письменный ответ и отправлю на почту в течение дня.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64C357-1E42-9544-917F-BF79F3E6876F}" type="slidenum">
              <a:rPr lang="en-RU" smtClean="0"/>
              <a:t>9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9098653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4C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олилиния: фигура 8">
            <a:extLst>
              <a:ext uri="{FF2B5EF4-FFF2-40B4-BE49-F238E27FC236}">
                <a16:creationId xmlns:a16="http://schemas.microsoft.com/office/drawing/2014/main" id="{AB72A2C1-EF8F-414B-88DD-74CC909B23C0}"/>
              </a:ext>
            </a:extLst>
          </p:cNvPr>
          <p:cNvSpPr/>
          <p:nvPr/>
        </p:nvSpPr>
        <p:spPr>
          <a:xfrm>
            <a:off x="8763000" y="1"/>
            <a:ext cx="3467100" cy="6858000"/>
          </a:xfrm>
          <a:custGeom>
            <a:avLst/>
            <a:gdLst>
              <a:gd name="connsiteX0" fmla="*/ 3429000 w 3467100"/>
              <a:gd name="connsiteY0" fmla="*/ 0 h 6858000"/>
              <a:gd name="connsiteX1" fmla="*/ 3467100 w 3467100"/>
              <a:gd name="connsiteY1" fmla="*/ 964 h 6858000"/>
              <a:gd name="connsiteX2" fmla="*/ 3467100 w 3467100"/>
              <a:gd name="connsiteY2" fmla="*/ 6857037 h 6858000"/>
              <a:gd name="connsiteX3" fmla="*/ 3429000 w 3467100"/>
              <a:gd name="connsiteY3" fmla="*/ 6858000 h 6858000"/>
              <a:gd name="connsiteX4" fmla="*/ 0 w 3467100"/>
              <a:gd name="connsiteY4" fmla="*/ 3429000 h 6858000"/>
              <a:gd name="connsiteX5" fmla="*/ 3429000 w 34671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467100" h="6858000">
                <a:moveTo>
                  <a:pt x="3429000" y="0"/>
                </a:moveTo>
                <a:lnTo>
                  <a:pt x="3467100" y="964"/>
                </a:lnTo>
                <a:lnTo>
                  <a:pt x="3467100" y="6857037"/>
                </a:lnTo>
                <a:lnTo>
                  <a:pt x="3429000" y="6858000"/>
                </a:lnTo>
                <a:cubicBezTo>
                  <a:pt x="1535216" y="6858000"/>
                  <a:pt x="0" y="5322784"/>
                  <a:pt x="0" y="3429000"/>
                </a:cubicBezTo>
                <a:cubicBezTo>
                  <a:pt x="0" y="1535216"/>
                  <a:pt x="1535216" y="0"/>
                  <a:pt x="3429000" y="0"/>
                </a:cubicBezTo>
                <a:close/>
              </a:path>
            </a:pathLst>
          </a:custGeom>
          <a:solidFill>
            <a:srgbClr val="2A65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/>
          </a:p>
        </p:txBody>
      </p:sp>
      <p:sp>
        <p:nvSpPr>
          <p:cNvPr id="2" name="accent-bar"/>
          <p:cNvSpPr/>
          <p:nvPr/>
        </p:nvSpPr>
        <p:spPr>
          <a:xfrm>
            <a:off x="812800" y="1905000"/>
            <a:ext cx="711200" cy="76200"/>
          </a:xfrm>
          <a:prstGeom prst="rect">
            <a:avLst/>
          </a:prstGeom>
          <a:solidFill>
            <a:srgbClr val="E8590C"/>
          </a:solidFill>
          <a:ln>
            <a:noFill/>
          </a:ln>
        </p:spPr>
      </p:sp>
      <p:sp>
        <p:nvSpPr>
          <p:cNvPr id="3" name="kicker"/>
          <p:cNvSpPr txBox="1"/>
          <p:nvPr/>
        </p:nvSpPr>
        <p:spPr>
          <a:xfrm>
            <a:off x="812800" y="1320800"/>
            <a:ext cx="9144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300" noProof="1">
                <a:solidFill>
                  <a:srgbClr val="F0A268"/>
                </a:solidFill>
                <a:latin typeface="Inter" panose="02000503000000020004" pitchFamily="2" charset="0"/>
                <a:ea typeface="Inter" panose="02000503000000020004" pitchFamily="2" charset="0"/>
              </a:rPr>
              <a:t>СМЕНАPRO · АВТОПЛАНИРОВАНИЕ СМЕН</a:t>
            </a:r>
            <a:endParaRPr lang="en-US" sz="12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4" name="title"/>
          <p:cNvSpPr txBox="1"/>
          <p:nvPr/>
        </p:nvSpPr>
        <p:spPr>
          <a:xfrm>
            <a:off x="812799" y="2260600"/>
            <a:ext cx="10150475" cy="215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0000"/>
              </a:lnSpc>
            </a:pPr>
            <a:r>
              <a:rPr lang="ru-RU" sz="3300" b="1" noProof="1">
                <a:solidFill>
                  <a:srgbClr val="F7F5F0"/>
                </a:solidFill>
                <a:latin typeface="Inter" panose="02000503000000020004" pitchFamily="2" charset="0"/>
                <a:ea typeface="Inter" panose="02000503000000020004" pitchFamily="2" charset="0"/>
              </a:rPr>
              <a:t>Один час вместо одного дня. Как три точки начали экономить 80 тысяч рублей в месяц, и как превратить это в 2,1 миллиона в квартал</a:t>
            </a:r>
            <a:endParaRPr lang="en-US" sz="33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5" name="sub"/>
          <p:cNvSpPr txBox="1"/>
          <p:nvPr/>
        </p:nvSpPr>
        <p:spPr>
          <a:xfrm>
            <a:off x="812800" y="4368800"/>
            <a:ext cx="96520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500" noProof="1">
                <a:solidFill>
                  <a:srgbClr val="A8C0C5"/>
                </a:solidFill>
                <a:latin typeface="Inter" panose="02000503000000020004" pitchFamily="2" charset="0"/>
                <a:ea typeface="Inter" panose="02000503000000020004" pitchFamily="2" charset="0"/>
              </a:rPr>
              <a:t>Софья</a:t>
            </a:r>
            <a:r>
              <a:rPr lang="ru-RU" sz="1500" noProof="1">
                <a:solidFill>
                  <a:srgbClr val="A8C0C5"/>
                </a:solidFill>
                <a:latin typeface="Inter" panose="02000503000000020004" pitchFamily="2" charset="0"/>
                <a:ea typeface="Inter" panose="02000503000000020004" pitchFamily="2" charset="0"/>
              </a:rPr>
              <a:t> Зименкова</a:t>
            </a:r>
            <a:r>
              <a:rPr lang="en-US" sz="1500" noProof="1">
                <a:solidFill>
                  <a:srgbClr val="A8C0C5"/>
                </a:solidFill>
                <a:latin typeface="Inter" panose="02000503000000020004" pitchFamily="2" charset="0"/>
                <a:ea typeface="Inter" panose="02000503000000020004" pitchFamily="2" charset="0"/>
              </a:rPr>
              <a:t>, продакт «СменаPRO»</a:t>
            </a:r>
            <a:endParaRPr lang="en-US" sz="15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6" name="bottom"/>
          <p:cNvSpPr txBox="1"/>
          <p:nvPr/>
        </p:nvSpPr>
        <p:spPr>
          <a:xfrm>
            <a:off x="812800" y="6248400"/>
            <a:ext cx="889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noProof="1">
                <a:solidFill>
                  <a:srgbClr val="A8C0C5"/>
                </a:solidFill>
                <a:latin typeface="Inter" panose="02000503000000020004" pitchFamily="2" charset="0"/>
                <a:ea typeface="Inter" panose="02000503000000020004" pitchFamily="2" charset="0"/>
              </a:rPr>
              <a:t>СменаPRO – SaaS для планирования смен и уч</a:t>
            </a:r>
            <a:r>
              <a:rPr lang="ru-RU" sz="1100" noProof="1">
                <a:solidFill>
                  <a:srgbClr val="A8C0C5"/>
                </a:solidFill>
                <a:latin typeface="Inter" panose="02000503000000020004" pitchFamily="2" charset="0"/>
                <a:ea typeface="Inter" panose="02000503000000020004" pitchFamily="2" charset="0"/>
              </a:rPr>
              <a:t>е</a:t>
            </a:r>
            <a:r>
              <a:rPr lang="en-US" sz="1100" noProof="1">
                <a:solidFill>
                  <a:srgbClr val="A8C0C5"/>
                </a:solidFill>
                <a:latin typeface="Inter" panose="02000503000000020004" pitchFamily="2" charset="0"/>
                <a:ea typeface="Inter" panose="02000503000000020004" pitchFamily="2" charset="0"/>
              </a:rPr>
              <a:t>та переработок · 5 минут + вопросы</a:t>
            </a:r>
            <a:endParaRPr lang="en-US" sz="11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812800" y="533400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200" noProof="1">
                <a:solidFill>
                  <a:srgbClr val="E8590C"/>
                </a:solidFill>
                <a:latin typeface="Inter" panose="02000503000000020004" pitchFamily="2" charset="0"/>
                <a:ea typeface="Inter" panose="02000503000000020004" pitchFamily="2" charset="0"/>
              </a:rPr>
              <a:t>КОНТЕКСТ</a:t>
            </a:r>
            <a:endParaRPr lang="en-US" sz="12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812800" y="812800"/>
            <a:ext cx="105664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15000"/>
              </a:lnSpc>
            </a:pPr>
            <a:r>
              <a:rPr lang="en-US" sz="27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Переработки съедают 14% фонда оплаты труда, текучесть достигла 38% в год</a:t>
            </a:r>
            <a:endParaRPr lang="en-US" sz="27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4" name="num1"/>
          <p:cNvSpPr txBox="1"/>
          <p:nvPr/>
        </p:nvSpPr>
        <p:spPr>
          <a:xfrm>
            <a:off x="812800" y="2133600"/>
            <a:ext cx="4318000" cy="711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4200" b="1" noProof="1">
                <a:solidFill>
                  <a:srgbClr val="0F4C5C"/>
                </a:solidFill>
                <a:latin typeface="Inter" panose="02000503000000020004" pitchFamily="2" charset="0"/>
                <a:ea typeface="Inter" panose="02000503000000020004" pitchFamily="2" charset="0"/>
              </a:rPr>
              <a:t>14%</a:t>
            </a:r>
            <a:endParaRPr lang="en-US" sz="42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5" name="num1-label"/>
          <p:cNvSpPr txBox="1"/>
          <p:nvPr/>
        </p:nvSpPr>
        <p:spPr>
          <a:xfrm>
            <a:off x="812800" y="2870200"/>
            <a:ext cx="4318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3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переработок в фонде оплаты труда – средняя по сети из 40 точек</a:t>
            </a:r>
            <a:endParaRPr lang="en-US" sz="13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6" name="sep1"/>
          <p:cNvSpPr/>
          <p:nvPr/>
        </p:nvSpPr>
        <p:spPr>
          <a:xfrm>
            <a:off x="812800" y="3581400"/>
            <a:ext cx="4318000" cy="12700"/>
          </a:xfrm>
          <a:prstGeom prst="rect">
            <a:avLst/>
          </a:prstGeom>
          <a:solidFill>
            <a:srgbClr val="D8D2C6"/>
          </a:solidFill>
          <a:ln>
            <a:noFill/>
          </a:ln>
        </p:spPr>
      </p:sp>
      <p:sp>
        <p:nvSpPr>
          <p:cNvPr id="7" name="num2"/>
          <p:cNvSpPr txBox="1"/>
          <p:nvPr/>
        </p:nvSpPr>
        <p:spPr>
          <a:xfrm>
            <a:off x="812800" y="3638008"/>
            <a:ext cx="4318000" cy="711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4200" b="1" noProof="1">
                <a:solidFill>
                  <a:srgbClr val="0F4C5C"/>
                </a:solidFill>
                <a:latin typeface="Inter" panose="02000503000000020004" pitchFamily="2" charset="0"/>
                <a:ea typeface="Inter" panose="02000503000000020004" pitchFamily="2" charset="0"/>
              </a:rPr>
              <a:t>38%</a:t>
            </a:r>
            <a:endParaRPr lang="en-US" sz="42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8" name="num2-label"/>
          <p:cNvSpPr txBox="1"/>
          <p:nvPr/>
        </p:nvSpPr>
        <p:spPr>
          <a:xfrm>
            <a:off x="812800" y="4351023"/>
            <a:ext cx="4318000" cy="2663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3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годовая текучесть линейного персонала</a:t>
            </a:r>
            <a:endParaRPr lang="en-US" sz="13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9" name="sep2"/>
          <p:cNvSpPr/>
          <p:nvPr/>
        </p:nvSpPr>
        <p:spPr>
          <a:xfrm>
            <a:off x="812800" y="4782460"/>
            <a:ext cx="4318000" cy="12700"/>
          </a:xfrm>
          <a:prstGeom prst="rect">
            <a:avLst/>
          </a:prstGeom>
          <a:solidFill>
            <a:srgbClr val="D8D2C6"/>
          </a:solidFill>
          <a:ln>
            <a:noFill/>
          </a:ln>
        </p:spPr>
      </p:sp>
      <p:sp>
        <p:nvSpPr>
          <p:cNvPr id="10" name="num3"/>
          <p:cNvSpPr txBox="1"/>
          <p:nvPr/>
        </p:nvSpPr>
        <p:spPr>
          <a:xfrm>
            <a:off x="812800" y="4829090"/>
            <a:ext cx="4318000" cy="711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4200" b="1" noProof="1">
                <a:solidFill>
                  <a:srgbClr val="0F4C5C"/>
                </a:solidFill>
                <a:latin typeface="Inter" panose="02000503000000020004" pitchFamily="2" charset="0"/>
                <a:ea typeface="Inter" panose="02000503000000020004" pitchFamily="2" charset="0"/>
              </a:rPr>
              <a:t>1 день</a:t>
            </a:r>
            <a:endParaRPr lang="en-US" sz="42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1" name="num3-label"/>
          <p:cNvSpPr txBox="1"/>
          <p:nvPr/>
        </p:nvSpPr>
        <p:spPr>
          <a:xfrm>
            <a:off x="812800" y="5548449"/>
            <a:ext cx="43180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3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уходит на ручную сборку графика смен на одной точке</a:t>
            </a:r>
            <a:endParaRPr lang="en-US" sz="13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2" name="divider"/>
          <p:cNvSpPr/>
          <p:nvPr/>
        </p:nvSpPr>
        <p:spPr>
          <a:xfrm>
            <a:off x="5689600" y="2133600"/>
            <a:ext cx="12700" cy="4191000"/>
          </a:xfrm>
          <a:prstGeom prst="rect">
            <a:avLst/>
          </a:prstGeom>
          <a:solidFill>
            <a:srgbClr val="D8D2C6"/>
          </a:solidFill>
          <a:ln>
            <a:noFill/>
          </a:ln>
        </p:spPr>
      </p:sp>
      <p:sp>
        <p:nvSpPr>
          <p:cNvPr id="13" name="right-text"/>
          <p:cNvSpPr txBox="1"/>
          <p:nvPr/>
        </p:nvSpPr>
        <p:spPr>
          <a:xfrm>
            <a:off x="6248400" y="2133600"/>
            <a:ext cx="5130800" cy="330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5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Сеть годами платит за переработки и теряет </a:t>
            </a:r>
            <a:r>
              <a:rPr lang="ru-RU" sz="15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обученных </a:t>
            </a:r>
            <a:r>
              <a:rPr lang="en-US" sz="15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людей</a:t>
            </a:r>
            <a:r>
              <a:rPr lang="ru-RU" sz="15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.</a:t>
            </a:r>
          </a:p>
          <a:p>
            <a:pPr>
              <a:lnSpc>
                <a:spcPct val="145000"/>
              </a:lnSpc>
            </a:pPr>
            <a:endParaRPr lang="ru-RU" sz="1500" noProof="1">
              <a:solidFill>
                <a:srgbClr val="1E2A2E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  <a:p>
            <a:pPr>
              <a:lnSpc>
                <a:spcPct val="145000"/>
              </a:lnSpc>
            </a:pPr>
            <a:r>
              <a:rPr lang="ru-RU" sz="15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В прошлом квартале </a:t>
            </a:r>
            <a:r>
              <a:rPr lang="en-US" sz="15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мы запустили модуль автопланирования смен на тр</a:t>
            </a:r>
            <a:r>
              <a:rPr lang="ru-RU" sz="15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е</a:t>
            </a:r>
            <a:r>
              <a:rPr lang="en-US" sz="15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х точках. Пилот заверш</a:t>
            </a:r>
            <a:r>
              <a:rPr lang="ru-RU" sz="15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е</a:t>
            </a:r>
            <a:r>
              <a:rPr lang="en-US" sz="15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н</a:t>
            </a:r>
            <a:r>
              <a:rPr lang="ru-RU" sz="15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, </a:t>
            </a:r>
            <a:r>
              <a:rPr lang="en-US" sz="15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и сегодня </a:t>
            </a:r>
            <a:r>
              <a:rPr lang="ru-RU" sz="15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мы должны решить, масштабировать</a:t>
            </a:r>
            <a:r>
              <a:rPr lang="en-US" sz="15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 ли </a:t>
            </a:r>
            <a:r>
              <a:rPr lang="ru-RU" sz="15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модуль дальше</a:t>
            </a:r>
            <a:r>
              <a:rPr lang="en-US" sz="15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.</a:t>
            </a:r>
            <a:endParaRPr lang="en-US" sz="15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5" name="footer-left"/>
          <p:cNvSpPr txBox="1"/>
          <p:nvPr/>
        </p:nvSpPr>
        <p:spPr>
          <a:xfrm>
            <a:off x="812800" y="6502400"/>
            <a:ext cx="635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СменаPRO · питч для операционных директоров сети ресторанов</a:t>
            </a:r>
            <a:endParaRPr lang="en-US" sz="10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6" name="footer-right"/>
          <p:cNvSpPr txBox="1"/>
          <p:nvPr/>
        </p:nvSpPr>
        <p:spPr>
          <a:xfrm>
            <a:off x="11372241" y="228600"/>
            <a:ext cx="5588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00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2 / </a:t>
            </a:r>
            <a:r>
              <a:rPr lang="ru-RU" sz="100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9</a:t>
            </a:r>
            <a:endParaRPr lang="en-US" sz="10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812800" y="533400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200" noProof="1">
                <a:solidFill>
                  <a:srgbClr val="E8590C"/>
                </a:solidFill>
                <a:latin typeface="Inter" panose="02000503000000020004" pitchFamily="2" charset="0"/>
                <a:ea typeface="Inter" panose="02000503000000020004" pitchFamily="2" charset="0"/>
              </a:rPr>
              <a:t>ГЕРОЙ И СТАВКА</a:t>
            </a:r>
            <a:endParaRPr lang="en-US" sz="12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812800" y="812800"/>
            <a:ext cx="10566400" cy="965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15000"/>
              </a:lnSpc>
            </a:pPr>
            <a:r>
              <a:rPr lang="en-US" sz="27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Бригадир точки: </a:t>
            </a:r>
            <a:r>
              <a:rPr lang="ru-RU" sz="27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потерянный день каждую неделю</a:t>
            </a:r>
            <a:r>
              <a:rPr lang="en-US" sz="27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, конфликты из-за переработок и потеря людей</a:t>
            </a:r>
            <a:endParaRPr lang="en-US" sz="27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4" name="quote-mark"/>
          <p:cNvSpPr txBox="1"/>
          <p:nvPr/>
        </p:nvSpPr>
        <p:spPr>
          <a:xfrm>
            <a:off x="812800" y="1905000"/>
            <a:ext cx="1016000" cy="889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6400" b="1" noProof="1">
                <a:solidFill>
                  <a:srgbClr val="E8590C"/>
                </a:solidFill>
                <a:latin typeface="Inter" panose="02000503000000020004" pitchFamily="2" charset="0"/>
                <a:ea typeface="Inter" panose="02000503000000020004" pitchFamily="2" charset="0"/>
              </a:rPr>
              <a:t>«</a:t>
            </a:r>
            <a:endParaRPr lang="en-US" sz="64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5" name="quote"/>
          <p:cNvSpPr txBox="1"/>
          <p:nvPr/>
        </p:nvSpPr>
        <p:spPr>
          <a:xfrm>
            <a:off x="812800" y="2768600"/>
            <a:ext cx="49911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2400" i="1" noProof="1">
                <a:solidFill>
                  <a:srgbClr val="0F4C5C"/>
                </a:solidFill>
                <a:latin typeface="Inter" panose="02000503000000020004" pitchFamily="2" charset="0"/>
                <a:ea typeface="Inter" panose="02000503000000020004" pitchFamily="2" charset="0"/>
              </a:rPr>
              <a:t>Впервые график смен собирается за час, а не за день</a:t>
            </a:r>
            <a:endParaRPr lang="en-US" sz="24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6" name="quote-author"/>
          <p:cNvSpPr txBox="1"/>
          <p:nvPr/>
        </p:nvSpPr>
        <p:spPr>
          <a:xfrm>
            <a:off x="812800" y="4140200"/>
            <a:ext cx="5588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0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– операционный директор сети о пилотных точках</a:t>
            </a:r>
            <a:endParaRPr lang="en-US" sz="11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7" name="divider"/>
          <p:cNvSpPr/>
          <p:nvPr/>
        </p:nvSpPr>
        <p:spPr>
          <a:xfrm>
            <a:off x="6100354" y="2235200"/>
            <a:ext cx="12700" cy="3810000"/>
          </a:xfrm>
          <a:prstGeom prst="rect">
            <a:avLst/>
          </a:prstGeom>
          <a:solidFill>
            <a:srgbClr val="D8D2C6"/>
          </a:solidFill>
          <a:ln>
            <a:noFill/>
          </a:ln>
        </p:spPr>
      </p:sp>
      <p:sp>
        <p:nvSpPr>
          <p:cNvPr id="8" name="stake-title"/>
          <p:cNvSpPr txBox="1"/>
          <p:nvPr/>
        </p:nvSpPr>
        <p:spPr>
          <a:xfrm>
            <a:off x="6629763" y="2133600"/>
            <a:ext cx="4749437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0000"/>
              </a:lnSpc>
            </a:pPr>
            <a:r>
              <a:rPr lang="en-US" sz="16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Что </a:t>
            </a:r>
            <a:r>
              <a:rPr lang="ru-RU" sz="16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компания</a:t>
            </a:r>
            <a:r>
              <a:rPr lang="en-US" sz="16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 теряет, если ничего не менять</a:t>
            </a:r>
            <a:endParaRPr lang="en-US" sz="16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9" name="stake-list"/>
          <p:cNvSpPr txBox="1"/>
          <p:nvPr/>
        </p:nvSpPr>
        <p:spPr>
          <a:xfrm>
            <a:off x="6629763" y="2794000"/>
            <a:ext cx="4749437" cy="337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 marL="285750" indent="-285750">
              <a:lnSpc>
                <a:spcPct val="140000"/>
              </a:lnSpc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lang="ru-RU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Один д</a:t>
            </a:r>
            <a:r>
              <a:rPr lang="en-US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ень </a:t>
            </a:r>
            <a:r>
              <a:rPr lang="ru-RU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бригадира </a:t>
            </a:r>
            <a:r>
              <a:rPr lang="en-US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в неделю </a:t>
            </a:r>
            <a:r>
              <a:rPr lang="ru-RU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уходит </a:t>
            </a:r>
            <a:r>
              <a:rPr lang="en-US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на руч</a:t>
            </a:r>
            <a:r>
              <a:rPr lang="ru-RU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ное планирование </a:t>
            </a:r>
            <a:r>
              <a:rPr lang="en-US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графика вместо работы с гостями и командой</a:t>
            </a:r>
            <a:endParaRPr lang="en-US" sz="1400" noProof="1">
              <a:latin typeface="Inter" panose="02000503000000020004" pitchFamily="2" charset="0"/>
              <a:ea typeface="Inter" panose="02000503000000020004" pitchFamily="2" charset="0"/>
            </a:endParaRPr>
          </a:p>
          <a:p>
            <a:pPr marL="285750" indent="-285750">
              <a:lnSpc>
                <a:spcPct val="140000"/>
              </a:lnSpc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lang="ru-RU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Частые конфликты</a:t>
            </a:r>
            <a:r>
              <a:rPr lang="en-US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 с персоналом из-за переработок по выходным</a:t>
            </a:r>
            <a:endParaRPr lang="en-US" sz="1400" noProof="1">
              <a:latin typeface="Inter" panose="02000503000000020004" pitchFamily="2" charset="0"/>
              <a:ea typeface="Inter" panose="02000503000000020004" pitchFamily="2" charset="0"/>
            </a:endParaRPr>
          </a:p>
          <a:p>
            <a:pPr marL="285750" indent="-285750">
              <a:lnSpc>
                <a:spcPct val="140000"/>
              </a:lnSpc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lang="ru-RU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Уходят опытные сотрудники</a:t>
            </a:r>
            <a:r>
              <a:rPr lang="en-US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: при текучести 38% в год сеть постоянно нанимает и обучает новичков</a:t>
            </a:r>
            <a:endParaRPr lang="en-US" sz="14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0" name="footer-left"/>
          <p:cNvSpPr txBox="1"/>
          <p:nvPr/>
        </p:nvSpPr>
        <p:spPr>
          <a:xfrm>
            <a:off x="812800" y="6502400"/>
            <a:ext cx="635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СменаPRO · питч для операционных директоров сети ресторанов</a:t>
            </a:r>
            <a:endParaRPr lang="en-US" sz="10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2" name="footer-right">
            <a:extLst>
              <a:ext uri="{FF2B5EF4-FFF2-40B4-BE49-F238E27FC236}">
                <a16:creationId xmlns:a16="http://schemas.microsoft.com/office/drawing/2014/main" id="{BB7A3AFC-EDEA-E6EA-6DE1-1EE7A7D20D3F}"/>
              </a:ext>
            </a:extLst>
          </p:cNvPr>
          <p:cNvSpPr txBox="1"/>
          <p:nvPr/>
        </p:nvSpPr>
        <p:spPr>
          <a:xfrm>
            <a:off x="11372241" y="228600"/>
            <a:ext cx="5588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00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3 / </a:t>
            </a:r>
            <a:r>
              <a:rPr lang="ru-RU" sz="100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9</a:t>
            </a:r>
            <a:endParaRPr lang="en-US" sz="10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812800" y="533400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200" noProof="1">
                <a:solidFill>
                  <a:srgbClr val="E8590C"/>
                </a:solidFill>
                <a:latin typeface="Inter" panose="02000503000000020004" pitchFamily="2" charset="0"/>
                <a:ea typeface="Inter" panose="02000503000000020004" pitchFamily="2" charset="0"/>
              </a:rPr>
              <a:t>ДОКАЗАТЕЛЬСТВА</a:t>
            </a:r>
            <a:endParaRPr lang="en-US" sz="12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812800" y="812800"/>
            <a:ext cx="105664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15000"/>
              </a:lnSpc>
            </a:pPr>
            <a:r>
              <a:rPr lang="en-US" sz="27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За квартал пилота переработки упали вдвое, стоимость смен – на 19%</a:t>
            </a:r>
            <a:endParaRPr lang="en-US" sz="27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4" name="chart1-label"/>
          <p:cNvSpPr txBox="1"/>
          <p:nvPr/>
        </p:nvSpPr>
        <p:spPr>
          <a:xfrm>
            <a:off x="812800" y="1879600"/>
            <a:ext cx="508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Переработки, % от ФОТ</a:t>
            </a:r>
            <a:endParaRPr lang="en-US" sz="14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graphicFrame>
        <p:nvGraphicFramePr>
          <p:cNvPr id="5" name="chart1"/>
          <p:cNvGraphicFramePr/>
          <p:nvPr>
            <p:extLst>
              <p:ext uri="{D42A27DB-BD31-4B8C-83A1-F6EECF244321}">
                <p14:modId xmlns:p14="http://schemas.microsoft.com/office/powerpoint/2010/main" val="898359874"/>
              </p:ext>
            </p:extLst>
          </p:nvPr>
        </p:nvGraphicFramePr>
        <p:xfrm>
          <a:off x="812800" y="2184400"/>
          <a:ext cx="5080000" cy="3149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chart2-label"/>
          <p:cNvSpPr txBox="1"/>
          <p:nvPr/>
        </p:nvSpPr>
        <p:spPr>
          <a:xfrm>
            <a:off x="6299200" y="1879600"/>
            <a:ext cx="508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Стоимость смен на пилотных точках, тыс. ₽</a:t>
            </a:r>
            <a:endParaRPr lang="en-US" sz="14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graphicFrame>
        <p:nvGraphicFramePr>
          <p:cNvPr id="7" name="chart2"/>
          <p:cNvGraphicFramePr/>
          <p:nvPr>
            <p:extLst>
              <p:ext uri="{D42A27DB-BD31-4B8C-83A1-F6EECF244321}">
                <p14:modId xmlns:p14="http://schemas.microsoft.com/office/powerpoint/2010/main" val="1149530544"/>
              </p:ext>
            </p:extLst>
          </p:nvPr>
        </p:nvGraphicFramePr>
        <p:xfrm>
          <a:off x="6299200" y="2184400"/>
          <a:ext cx="5080000" cy="3149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stat-sep"/>
          <p:cNvSpPr/>
          <p:nvPr/>
        </p:nvSpPr>
        <p:spPr>
          <a:xfrm>
            <a:off x="812800" y="5518355"/>
            <a:ext cx="10566400" cy="12700"/>
          </a:xfrm>
          <a:prstGeom prst="rect">
            <a:avLst/>
          </a:prstGeom>
          <a:solidFill>
            <a:srgbClr val="D8D2C6"/>
          </a:solidFill>
          <a:ln>
            <a:noFill/>
          </a:ln>
        </p:spPr>
      </p:sp>
      <p:sp>
        <p:nvSpPr>
          <p:cNvPr id="9" name="stat"/>
          <p:cNvSpPr txBox="1"/>
          <p:nvPr/>
        </p:nvSpPr>
        <p:spPr>
          <a:xfrm>
            <a:off x="812800" y="5753920"/>
            <a:ext cx="10566400" cy="405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Текучесть на пилотных точках: </a:t>
            </a:r>
            <a:r>
              <a:rPr lang="en-US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38% → 27%</a:t>
            </a:r>
            <a:r>
              <a:rPr lang="en-US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 за тот же период</a:t>
            </a:r>
            <a:endParaRPr lang="en-US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1" name="footer-left"/>
          <p:cNvSpPr txBox="1"/>
          <p:nvPr/>
        </p:nvSpPr>
        <p:spPr>
          <a:xfrm>
            <a:off x="812800" y="6502400"/>
            <a:ext cx="635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СменаPRO · питч для операционных директоров сети ресторанов</a:t>
            </a:r>
            <a:endParaRPr lang="en-US" sz="10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2" name="footer-right"/>
          <p:cNvSpPr txBox="1"/>
          <p:nvPr/>
        </p:nvSpPr>
        <p:spPr>
          <a:xfrm>
            <a:off x="10820400" y="6502400"/>
            <a:ext cx="5588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endParaRPr lang="en-US" sz="10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0" name="footer-right">
            <a:extLst>
              <a:ext uri="{FF2B5EF4-FFF2-40B4-BE49-F238E27FC236}">
                <a16:creationId xmlns:a16="http://schemas.microsoft.com/office/drawing/2014/main" id="{5E2F8130-57CF-180C-1E87-1107E77DA741}"/>
              </a:ext>
            </a:extLst>
          </p:cNvPr>
          <p:cNvSpPr txBox="1"/>
          <p:nvPr/>
        </p:nvSpPr>
        <p:spPr>
          <a:xfrm>
            <a:off x="11372241" y="228600"/>
            <a:ext cx="5588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00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4 / </a:t>
            </a:r>
            <a:r>
              <a:rPr lang="ru-RU" sz="100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9</a:t>
            </a:r>
            <a:endParaRPr lang="en-US" sz="10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1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812800" y="533400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200" noProof="1">
                <a:solidFill>
                  <a:srgbClr val="E8590C"/>
                </a:solidFill>
                <a:latin typeface="Inter" panose="02000503000000020004" pitchFamily="2" charset="0"/>
                <a:ea typeface="Inter" panose="02000503000000020004" pitchFamily="2" charset="0"/>
              </a:rPr>
              <a:t>РЕШЕНИЕ</a:t>
            </a:r>
            <a:endParaRPr lang="en-US" sz="12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812800" y="812800"/>
            <a:ext cx="105664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15000"/>
              </a:lnSpc>
            </a:pPr>
            <a:r>
              <a:rPr lang="en-US" sz="27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Расширяем модуль автопланирования на все 40 точек</a:t>
            </a:r>
            <a:r>
              <a:rPr lang="ru-RU" sz="27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.</a:t>
            </a:r>
            <a:r>
              <a:rPr lang="en-US" sz="27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 </a:t>
            </a:r>
            <a:r>
              <a:rPr lang="ru-RU" sz="27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П</a:t>
            </a:r>
            <a:r>
              <a:rPr lang="en-US" sz="27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оэтапно, с проверкой в высокий сезон</a:t>
            </a:r>
            <a:endParaRPr lang="en-US" sz="27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4" name="icon1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eyJpY29uTmFtZSI6ImZhczpjYWxlbmRhci1jaGVjayJ9</pptd:icon>
              </p:ext>
            </p:extLst>
          </p:nvPr>
        </p:nvSpPr>
        <p:spPr>
          <a:xfrm>
            <a:off x="812800" y="231140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320" y="0"/>
                </a:moveTo>
                <a:cubicBezTo>
                  <a:pt x="338" y="0"/>
                  <a:pt x="352" y="14"/>
                  <a:pt x="352" y="32"/>
                </a:cubicBezTo>
                <a:lnTo>
                  <a:pt x="352" y="64"/>
                </a:lnTo>
                <a:lnTo>
                  <a:pt x="384" y="64"/>
                </a:lnTo>
                <a:cubicBezTo>
                  <a:pt x="419" y="64"/>
                  <a:pt x="448" y="93"/>
                  <a:pt x="448" y="128"/>
                </a:cubicBezTo>
                <a:lnTo>
                  <a:pt x="448" y="416"/>
                </a:lnTo>
                <a:cubicBezTo>
                  <a:pt x="448" y="451"/>
                  <a:pt x="419" y="480"/>
                  <a:pt x="384" y="480"/>
                </a:cubicBezTo>
                <a:lnTo>
                  <a:pt x="64" y="480"/>
                </a:lnTo>
                <a:cubicBezTo>
                  <a:pt x="29" y="480"/>
                  <a:pt x="0" y="451"/>
                  <a:pt x="0" y="416"/>
                </a:cubicBezTo>
                <a:lnTo>
                  <a:pt x="0" y="128"/>
                </a:lnTo>
                <a:cubicBezTo>
                  <a:pt x="0" y="93"/>
                  <a:pt x="29" y="64"/>
                  <a:pt x="64" y="64"/>
                </a:cubicBezTo>
                <a:lnTo>
                  <a:pt x="96" y="64"/>
                </a:lnTo>
                <a:lnTo>
                  <a:pt x="96" y="32"/>
                </a:lnTo>
                <a:cubicBezTo>
                  <a:pt x="96" y="14"/>
                  <a:pt x="110" y="0"/>
                  <a:pt x="128" y="0"/>
                </a:cubicBezTo>
                <a:cubicBezTo>
                  <a:pt x="146" y="0"/>
                  <a:pt x="160" y="14"/>
                  <a:pt x="160" y="32"/>
                </a:cubicBezTo>
                <a:lnTo>
                  <a:pt x="160" y="64"/>
                </a:lnTo>
                <a:lnTo>
                  <a:pt x="288" y="64"/>
                </a:lnTo>
                <a:lnTo>
                  <a:pt x="288" y="32"/>
                </a:lnTo>
                <a:cubicBezTo>
                  <a:pt x="288" y="14"/>
                  <a:pt x="302" y="0"/>
                  <a:pt x="320" y="0"/>
                </a:cubicBezTo>
                <a:close/>
                <a:moveTo>
                  <a:pt x="342" y="162"/>
                </a:moveTo>
                <a:cubicBezTo>
                  <a:pt x="331" y="154"/>
                  <a:pt x="316" y="156"/>
                  <a:pt x="309" y="167"/>
                </a:cubicBezTo>
                <a:lnTo>
                  <a:pt x="189" y="331"/>
                </a:lnTo>
                <a:lnTo>
                  <a:pt x="137" y="279"/>
                </a:lnTo>
                <a:cubicBezTo>
                  <a:pt x="128" y="270"/>
                  <a:pt x="112" y="270"/>
                  <a:pt x="103" y="279"/>
                </a:cubicBezTo>
                <a:cubicBezTo>
                  <a:pt x="94" y="289"/>
                  <a:pt x="94" y="304"/>
                  <a:pt x="103" y="313"/>
                </a:cubicBezTo>
                <a:lnTo>
                  <a:pt x="175" y="385"/>
                </a:lnTo>
                <a:cubicBezTo>
                  <a:pt x="180" y="390"/>
                  <a:pt x="187" y="393"/>
                  <a:pt x="194" y="392"/>
                </a:cubicBezTo>
                <a:cubicBezTo>
                  <a:pt x="201" y="392"/>
                  <a:pt x="207" y="388"/>
                  <a:pt x="211" y="382"/>
                </a:cubicBezTo>
                <a:lnTo>
                  <a:pt x="347" y="195"/>
                </a:lnTo>
                <a:cubicBezTo>
                  <a:pt x="355" y="185"/>
                  <a:pt x="353" y="170"/>
                  <a:pt x="342" y="162"/>
                </a:cubicBezTo>
                <a:close/>
              </a:path>
            </a:pathLst>
          </a:custGeom>
          <a:solidFill>
            <a:srgbClr val="0F4C5C"/>
          </a:solidFill>
          <a:ln>
            <a:noFill/>
          </a:ln>
        </p:spPr>
      </p:sp>
      <p:sp>
        <p:nvSpPr>
          <p:cNvPr id="5" name="row1"/>
          <p:cNvSpPr txBox="1"/>
          <p:nvPr/>
        </p:nvSpPr>
        <p:spPr>
          <a:xfrm>
            <a:off x="1473200" y="2235200"/>
            <a:ext cx="93980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6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Автоматически собирает график смен</a:t>
            </a:r>
            <a:endParaRPr lang="en-US" sz="1400" noProof="1">
              <a:latin typeface="Inter" panose="02000503000000020004" pitchFamily="2" charset="0"/>
              <a:ea typeface="Inter" panose="02000503000000020004" pitchFamily="2" charset="0"/>
            </a:endParaRPr>
          </a:p>
          <a:p>
            <a:pPr>
              <a:lnSpc>
                <a:spcPct val="140000"/>
              </a:lnSpc>
              <a:spcBef>
                <a:spcPts val="400"/>
              </a:spcBef>
            </a:pPr>
            <a:r>
              <a:rPr lang="ru-RU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У</a:t>
            </a:r>
            <a:r>
              <a:rPr lang="en-US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читывает загрузку точки, норму часов, ограничения и пожелания сотрудников</a:t>
            </a:r>
            <a:r>
              <a:rPr lang="ru-RU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.</a:t>
            </a:r>
            <a:endParaRPr lang="en-US" sz="14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6" name="sep1"/>
          <p:cNvSpPr/>
          <p:nvPr/>
        </p:nvSpPr>
        <p:spPr>
          <a:xfrm>
            <a:off x="1473200" y="3240310"/>
            <a:ext cx="9398000" cy="12700"/>
          </a:xfrm>
          <a:prstGeom prst="rect">
            <a:avLst/>
          </a:prstGeom>
          <a:solidFill>
            <a:srgbClr val="D8D2C6"/>
          </a:solidFill>
          <a:ln>
            <a:noFill/>
          </a:ln>
        </p:spPr>
      </p:sp>
      <p:sp>
        <p:nvSpPr>
          <p:cNvPr id="7" name="icon2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eyJpY29uTmFtZSI6ImZhczp1c2VyLWNoZWNrIn0</pptd:icon>
              </p:ext>
            </p:extLst>
          </p:nvPr>
        </p:nvSpPr>
        <p:spPr>
          <a:xfrm>
            <a:off x="749300" y="3534220"/>
            <a:ext cx="508000" cy="381000"/>
          </a:xfrm>
          <a:custGeom>
            <a:avLst/>
            <a:gdLst/>
            <a:ahLst/>
            <a:cxnLst/>
            <a:rect l="l" t="t" r="r" b="b"/>
            <a:pathLst>
              <a:path w="640" h="512">
                <a:moveTo>
                  <a:pt x="286" y="304"/>
                </a:moveTo>
                <a:cubicBezTo>
                  <a:pt x="385" y="304"/>
                  <a:pt x="464" y="384"/>
                  <a:pt x="464" y="482"/>
                </a:cubicBezTo>
                <a:cubicBezTo>
                  <a:pt x="464" y="499"/>
                  <a:pt x="451" y="512"/>
                  <a:pt x="435" y="512"/>
                </a:cubicBezTo>
                <a:lnTo>
                  <a:pt x="78" y="512"/>
                </a:lnTo>
                <a:cubicBezTo>
                  <a:pt x="62" y="512"/>
                  <a:pt x="48" y="499"/>
                  <a:pt x="48" y="482"/>
                </a:cubicBezTo>
                <a:cubicBezTo>
                  <a:pt x="48" y="384"/>
                  <a:pt x="128" y="304"/>
                  <a:pt x="227" y="304"/>
                </a:cubicBezTo>
                <a:lnTo>
                  <a:pt x="286" y="304"/>
                </a:lnTo>
                <a:close/>
              </a:path>
              <a:path w="640" h="512">
                <a:moveTo>
                  <a:pt x="586" y="106"/>
                </a:moveTo>
                <a:cubicBezTo>
                  <a:pt x="594" y="95"/>
                  <a:pt x="609" y="93"/>
                  <a:pt x="619" y="101"/>
                </a:cubicBezTo>
                <a:cubicBezTo>
                  <a:pt x="630" y="108"/>
                  <a:pt x="632" y="123"/>
                  <a:pt x="625" y="134"/>
                </a:cubicBezTo>
                <a:lnTo>
                  <a:pt x="522" y="275"/>
                </a:lnTo>
                <a:cubicBezTo>
                  <a:pt x="518" y="281"/>
                  <a:pt x="511" y="284"/>
                  <a:pt x="504" y="285"/>
                </a:cubicBezTo>
                <a:cubicBezTo>
                  <a:pt x="497" y="285"/>
                  <a:pt x="490" y="283"/>
                  <a:pt x="486" y="277"/>
                </a:cubicBezTo>
                <a:lnTo>
                  <a:pt x="439" y="229"/>
                </a:lnTo>
                <a:cubicBezTo>
                  <a:pt x="430" y="220"/>
                  <a:pt x="430" y="205"/>
                  <a:pt x="440" y="195"/>
                </a:cubicBezTo>
                <a:cubicBezTo>
                  <a:pt x="449" y="186"/>
                  <a:pt x="464" y="187"/>
                  <a:pt x="474" y="196"/>
                </a:cubicBezTo>
                <a:lnTo>
                  <a:pt x="500" y="223"/>
                </a:lnTo>
                <a:lnTo>
                  <a:pt x="586" y="106"/>
                </a:lnTo>
                <a:close/>
              </a:path>
              <a:path w="640" h="512">
                <a:moveTo>
                  <a:pt x="256" y="248"/>
                </a:moveTo>
                <a:cubicBezTo>
                  <a:pt x="190" y="248"/>
                  <a:pt x="136" y="194"/>
                  <a:pt x="136" y="128"/>
                </a:cubicBezTo>
                <a:cubicBezTo>
                  <a:pt x="136" y="62"/>
                  <a:pt x="190" y="8"/>
                  <a:pt x="256" y="8"/>
                </a:cubicBezTo>
                <a:cubicBezTo>
                  <a:pt x="323" y="8"/>
                  <a:pt x="376" y="62"/>
                  <a:pt x="376" y="128"/>
                </a:cubicBezTo>
                <a:cubicBezTo>
                  <a:pt x="376" y="194"/>
                  <a:pt x="323" y="248"/>
                  <a:pt x="256" y="248"/>
                </a:cubicBezTo>
                <a:close/>
              </a:path>
            </a:pathLst>
          </a:custGeom>
          <a:solidFill>
            <a:srgbClr val="0F4C5C"/>
          </a:solidFill>
          <a:ln>
            <a:noFill/>
          </a:ln>
        </p:spPr>
      </p:sp>
      <p:sp>
        <p:nvSpPr>
          <p:cNvPr id="8" name="row2"/>
          <p:cNvSpPr txBox="1"/>
          <p:nvPr/>
        </p:nvSpPr>
        <p:spPr>
          <a:xfrm>
            <a:off x="1473200" y="3458020"/>
            <a:ext cx="93980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6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Бригадир проверяет и утверждает</a:t>
            </a:r>
            <a:endParaRPr lang="en-US" sz="1400" noProof="1">
              <a:latin typeface="Inter" panose="02000503000000020004" pitchFamily="2" charset="0"/>
              <a:ea typeface="Inter" panose="02000503000000020004" pitchFamily="2" charset="0"/>
            </a:endParaRPr>
          </a:p>
          <a:p>
            <a:pPr>
              <a:lnSpc>
                <a:spcPct val="140000"/>
              </a:lnSpc>
              <a:spcBef>
                <a:spcPts val="400"/>
              </a:spcBef>
            </a:pPr>
            <a:r>
              <a:rPr lang="ru-RU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М</a:t>
            </a:r>
            <a:r>
              <a:rPr lang="en-US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одуль убирает </a:t>
            </a:r>
            <a:r>
              <a:rPr lang="ru-RU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ручной труд</a:t>
            </a:r>
            <a:r>
              <a:rPr lang="en-US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,</a:t>
            </a:r>
            <a:r>
              <a:rPr lang="ru-RU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 но к</a:t>
            </a:r>
            <a:r>
              <a:rPr lang="en-US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онтроль над расписанием оста</a:t>
            </a:r>
            <a:r>
              <a:rPr lang="ru-RU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е</a:t>
            </a:r>
            <a:r>
              <a:rPr lang="en-US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тся на точке</a:t>
            </a:r>
            <a:r>
              <a:rPr lang="ru-RU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.</a:t>
            </a:r>
            <a:endParaRPr lang="en-US" sz="14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9" name="sep2"/>
          <p:cNvSpPr/>
          <p:nvPr/>
        </p:nvSpPr>
        <p:spPr>
          <a:xfrm>
            <a:off x="1473200" y="4463130"/>
            <a:ext cx="9398000" cy="12700"/>
          </a:xfrm>
          <a:prstGeom prst="rect">
            <a:avLst/>
          </a:prstGeom>
          <a:solidFill>
            <a:srgbClr val="D8D2C6"/>
          </a:solidFill>
          <a:ln>
            <a:noFill/>
          </a:ln>
        </p:spPr>
      </p:sp>
      <p:sp>
        <p:nvSpPr>
          <p:cNvPr id="10" name="icon3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eyJpY29uTmFtZSI6ImZhczpjaGFydC1saW5lIn0</pptd:icon>
              </p:ext>
            </p:extLst>
          </p:nvPr>
        </p:nvSpPr>
        <p:spPr>
          <a:xfrm>
            <a:off x="812800" y="475704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4" y="64"/>
                </a:moveTo>
                <a:cubicBezTo>
                  <a:pt x="64" y="46"/>
                  <a:pt x="50" y="32"/>
                  <a:pt x="32" y="32"/>
                </a:cubicBezTo>
                <a:cubicBezTo>
                  <a:pt x="14" y="32"/>
                  <a:pt x="0" y="46"/>
                  <a:pt x="0" y="64"/>
                </a:cubicBezTo>
                <a:lnTo>
                  <a:pt x="0" y="400"/>
                </a:lnTo>
                <a:cubicBezTo>
                  <a:pt x="0" y="444"/>
                  <a:pt x="36" y="480"/>
                  <a:pt x="80" y="480"/>
                </a:cubicBezTo>
                <a:lnTo>
                  <a:pt x="480" y="480"/>
                </a:lnTo>
                <a:cubicBezTo>
                  <a:pt x="498" y="480"/>
                  <a:pt x="512" y="466"/>
                  <a:pt x="512" y="448"/>
                </a:cubicBezTo>
                <a:cubicBezTo>
                  <a:pt x="512" y="430"/>
                  <a:pt x="498" y="416"/>
                  <a:pt x="480" y="416"/>
                </a:cubicBezTo>
                <a:lnTo>
                  <a:pt x="80" y="416"/>
                </a:lnTo>
                <a:cubicBezTo>
                  <a:pt x="71" y="416"/>
                  <a:pt x="64" y="409"/>
                  <a:pt x="64" y="400"/>
                </a:cubicBezTo>
                <a:lnTo>
                  <a:pt x="64" y="64"/>
                </a:lnTo>
                <a:close/>
                <a:moveTo>
                  <a:pt x="471" y="151"/>
                </a:moveTo>
                <a:cubicBezTo>
                  <a:pt x="483" y="138"/>
                  <a:pt x="483" y="118"/>
                  <a:pt x="471" y="105"/>
                </a:cubicBezTo>
                <a:cubicBezTo>
                  <a:pt x="458" y="93"/>
                  <a:pt x="438" y="93"/>
                  <a:pt x="425" y="105"/>
                </a:cubicBezTo>
                <a:lnTo>
                  <a:pt x="320" y="211"/>
                </a:lnTo>
                <a:lnTo>
                  <a:pt x="263" y="153"/>
                </a:lnTo>
                <a:cubicBezTo>
                  <a:pt x="250" y="141"/>
                  <a:pt x="230" y="141"/>
                  <a:pt x="217" y="153"/>
                </a:cubicBezTo>
                <a:lnTo>
                  <a:pt x="121" y="249"/>
                </a:lnTo>
                <a:cubicBezTo>
                  <a:pt x="109" y="262"/>
                  <a:pt x="109" y="282"/>
                  <a:pt x="121" y="295"/>
                </a:cubicBezTo>
                <a:cubicBezTo>
                  <a:pt x="134" y="307"/>
                  <a:pt x="154" y="307"/>
                  <a:pt x="167" y="295"/>
                </a:cubicBezTo>
                <a:lnTo>
                  <a:pt x="240" y="221"/>
                </a:lnTo>
                <a:lnTo>
                  <a:pt x="297" y="279"/>
                </a:lnTo>
                <a:cubicBezTo>
                  <a:pt x="310" y="291"/>
                  <a:pt x="330" y="291"/>
                  <a:pt x="343" y="279"/>
                </a:cubicBezTo>
                <a:lnTo>
                  <a:pt x="471" y="151"/>
                </a:lnTo>
                <a:close/>
              </a:path>
            </a:pathLst>
          </a:custGeom>
          <a:solidFill>
            <a:srgbClr val="0F4C5C"/>
          </a:solidFill>
          <a:ln>
            <a:noFill/>
          </a:ln>
        </p:spPr>
      </p:sp>
      <p:sp>
        <p:nvSpPr>
          <p:cNvPr id="11" name="row3"/>
          <p:cNvSpPr txBox="1"/>
          <p:nvPr/>
        </p:nvSpPr>
        <p:spPr>
          <a:xfrm>
            <a:off x="1473200" y="4680840"/>
            <a:ext cx="93980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6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Метрики под контролем</a:t>
            </a:r>
            <a:endParaRPr lang="en-US" sz="1400" noProof="1">
              <a:latin typeface="Inter" panose="02000503000000020004" pitchFamily="2" charset="0"/>
              <a:ea typeface="Inter" panose="02000503000000020004" pitchFamily="2" charset="0"/>
            </a:endParaRPr>
          </a:p>
          <a:p>
            <a:pPr>
              <a:lnSpc>
                <a:spcPct val="140000"/>
              </a:lnSpc>
              <a:spcBef>
                <a:spcPts val="400"/>
              </a:spcBef>
            </a:pPr>
            <a:r>
              <a:rPr lang="ru-RU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П</a:t>
            </a:r>
            <a:r>
              <a:rPr lang="en-US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ереработки, стоимость смен и текучесть </a:t>
            </a:r>
            <a:r>
              <a:rPr lang="ru-RU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отслеживаются</a:t>
            </a:r>
            <a:r>
              <a:rPr lang="en-US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 по каждой точке </a:t>
            </a:r>
            <a:r>
              <a:rPr lang="ru-RU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каждый месяц.</a:t>
            </a:r>
            <a:endParaRPr lang="en-US" sz="14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2" name="note"/>
          <p:cNvSpPr txBox="1"/>
          <p:nvPr/>
        </p:nvSpPr>
        <p:spPr>
          <a:xfrm>
            <a:off x="812800" y="5769420"/>
            <a:ext cx="10566400" cy="3011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400" noProof="1">
                <a:latin typeface="Inter" panose="02000503000000020004" pitchFamily="2" charset="0"/>
                <a:ea typeface="Inter" panose="02000503000000020004" pitchFamily="2" charset="0"/>
              </a:rPr>
              <a:t>На пилоте внедрение заняло </a:t>
            </a:r>
            <a:r>
              <a:rPr lang="ru-RU" sz="1400" noProof="1">
                <a:latin typeface="Inter" panose="02000503000000020004" pitchFamily="2" charset="0"/>
                <a:ea typeface="Inter" panose="02000503000000020004" pitchFamily="2" charset="0"/>
              </a:rPr>
              <a:t>три</a:t>
            </a:r>
            <a:r>
              <a:rPr lang="en-US" sz="1400" noProof="1">
                <a:latin typeface="Inter" panose="02000503000000020004" pitchFamily="2" charset="0"/>
                <a:ea typeface="Inter" panose="02000503000000020004" pitchFamily="2" charset="0"/>
              </a:rPr>
              <a:t> недели на каждой точке</a:t>
            </a:r>
            <a:r>
              <a:rPr lang="ru-RU" sz="1400" noProof="1">
                <a:latin typeface="Inter" panose="02000503000000020004" pitchFamily="2" charset="0"/>
                <a:ea typeface="Inter" panose="02000503000000020004" pitchFamily="2" charset="0"/>
              </a:rPr>
              <a:t>. Э</a:t>
            </a:r>
            <a:r>
              <a:rPr lang="en-US" sz="1400" noProof="1">
                <a:latin typeface="Inter" panose="02000503000000020004" pitchFamily="2" charset="0"/>
                <a:ea typeface="Inter" panose="02000503000000020004" pitchFamily="2" charset="0"/>
              </a:rPr>
              <a:t>ти сроки уже заложены в план</a:t>
            </a:r>
            <a:r>
              <a:rPr lang="ru-RU" sz="1400" noProof="1">
                <a:latin typeface="Inter" panose="02000503000000020004" pitchFamily="2" charset="0"/>
                <a:ea typeface="Inter" panose="02000503000000020004" pitchFamily="2" charset="0"/>
              </a:rPr>
              <a:t>.</a:t>
            </a:r>
            <a:endParaRPr lang="en-US" sz="14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3" name="footer-left"/>
          <p:cNvSpPr txBox="1"/>
          <p:nvPr/>
        </p:nvSpPr>
        <p:spPr>
          <a:xfrm>
            <a:off x="812800" y="6502400"/>
            <a:ext cx="635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СменаPRO · питч для операционных директоров сети ресторанов</a:t>
            </a:r>
            <a:endParaRPr lang="en-US" sz="10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5" name="footer-right">
            <a:extLst>
              <a:ext uri="{FF2B5EF4-FFF2-40B4-BE49-F238E27FC236}">
                <a16:creationId xmlns:a16="http://schemas.microsoft.com/office/drawing/2014/main" id="{C58E9668-5380-AD51-4C3D-C26CCA808564}"/>
              </a:ext>
            </a:extLst>
          </p:cNvPr>
          <p:cNvSpPr txBox="1"/>
          <p:nvPr/>
        </p:nvSpPr>
        <p:spPr>
          <a:xfrm>
            <a:off x="11372241" y="228600"/>
            <a:ext cx="5588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00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5 / </a:t>
            </a:r>
            <a:r>
              <a:rPr lang="ru-RU" sz="100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9</a:t>
            </a:r>
            <a:endParaRPr lang="en-US" sz="10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812800" y="533400"/>
            <a:ext cx="5842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200" noProof="1">
                <a:solidFill>
                  <a:srgbClr val="E8590C"/>
                </a:solidFill>
                <a:latin typeface="Inter" panose="02000503000000020004" pitchFamily="2" charset="0"/>
                <a:ea typeface="Inter" panose="02000503000000020004" pitchFamily="2" charset="0"/>
              </a:rPr>
              <a:t>КАК ЭТО БУДЕТ РАБОТАТЬ</a:t>
            </a:r>
            <a:endParaRPr lang="en-US" sz="12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812800" y="812800"/>
            <a:ext cx="105664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15000"/>
              </a:lnSpc>
            </a:pPr>
            <a:r>
              <a:rPr lang="en-US" sz="27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Три этапа: пилот пройден, дальше – проверка в высокий сезон и раскатка на сеть</a:t>
            </a:r>
            <a:endParaRPr lang="en-US" sz="27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4" name="track"/>
          <p:cNvSpPr/>
          <p:nvPr/>
        </p:nvSpPr>
        <p:spPr>
          <a:xfrm>
            <a:off x="1623875" y="2641600"/>
            <a:ext cx="8543636" cy="25400"/>
          </a:xfrm>
          <a:prstGeom prst="rect">
            <a:avLst/>
          </a:prstGeom>
          <a:solidFill>
            <a:srgbClr val="D8D2C6"/>
          </a:solidFill>
          <a:ln>
            <a:noFill/>
          </a:ln>
        </p:spPr>
      </p:sp>
      <p:sp>
        <p:nvSpPr>
          <p:cNvPr id="5" name="dot1"/>
          <p:cNvSpPr/>
          <p:nvPr/>
        </p:nvSpPr>
        <p:spPr>
          <a:xfrm>
            <a:off x="1397000" y="2362200"/>
            <a:ext cx="558800" cy="558800"/>
          </a:xfrm>
          <a:prstGeom prst="ellipse">
            <a:avLst/>
          </a:prstGeom>
          <a:solidFill>
            <a:srgbClr val="0F4C5C"/>
          </a:solidFill>
          <a:ln>
            <a:noFill/>
          </a:ln>
        </p:spPr>
      </p:sp>
      <p:sp>
        <p:nvSpPr>
          <p:cNvPr id="6" name="dot1-num"/>
          <p:cNvSpPr txBox="1"/>
          <p:nvPr/>
        </p:nvSpPr>
        <p:spPr>
          <a:xfrm>
            <a:off x="1397000" y="2362200"/>
            <a:ext cx="558800" cy="558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00" b="1" noProof="1">
                <a:solidFill>
                  <a:srgbClr val="F7F5F0"/>
                </a:solidFill>
                <a:latin typeface="Inter" panose="02000503000000020004" pitchFamily="2" charset="0"/>
                <a:ea typeface="Inter" panose="02000503000000020004" pitchFamily="2" charset="0"/>
              </a:rPr>
              <a:t>1</a:t>
            </a:r>
            <a:endParaRPr lang="en-US" sz="18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7" name="dot2"/>
          <p:cNvSpPr/>
          <p:nvPr/>
        </p:nvSpPr>
        <p:spPr>
          <a:xfrm>
            <a:off x="5580745" y="2362200"/>
            <a:ext cx="558800" cy="558800"/>
          </a:xfrm>
          <a:prstGeom prst="ellipse">
            <a:avLst/>
          </a:prstGeom>
          <a:solidFill>
            <a:srgbClr val="E8590C"/>
          </a:solidFill>
          <a:ln>
            <a:noFill/>
          </a:ln>
        </p:spPr>
      </p:sp>
      <p:sp>
        <p:nvSpPr>
          <p:cNvPr id="8" name="dot2-num"/>
          <p:cNvSpPr txBox="1"/>
          <p:nvPr/>
        </p:nvSpPr>
        <p:spPr>
          <a:xfrm>
            <a:off x="5580745" y="2362200"/>
            <a:ext cx="558800" cy="558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00" b="1" noProof="1">
                <a:solidFill>
                  <a:srgbClr val="F7F5F0"/>
                </a:solidFill>
                <a:latin typeface="Inter" panose="02000503000000020004" pitchFamily="2" charset="0"/>
                <a:ea typeface="Inter" panose="02000503000000020004" pitchFamily="2" charset="0"/>
              </a:rPr>
              <a:t>2</a:t>
            </a:r>
            <a:endParaRPr lang="en-US" sz="18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9" name="dot3"/>
          <p:cNvSpPr/>
          <p:nvPr/>
        </p:nvSpPr>
        <p:spPr>
          <a:xfrm>
            <a:off x="9869710" y="2362200"/>
            <a:ext cx="558800" cy="558800"/>
          </a:xfrm>
          <a:prstGeom prst="ellipse">
            <a:avLst/>
          </a:prstGeom>
          <a:solidFill>
            <a:srgbClr val="ECE6D9"/>
          </a:solidFill>
          <a:ln w="25400">
            <a:solidFill>
              <a:srgbClr val="0F4C5C"/>
            </a:solidFill>
          </a:ln>
        </p:spPr>
      </p:sp>
      <p:sp>
        <p:nvSpPr>
          <p:cNvPr id="10" name="dot3-num"/>
          <p:cNvSpPr txBox="1"/>
          <p:nvPr/>
        </p:nvSpPr>
        <p:spPr>
          <a:xfrm>
            <a:off x="9869710" y="2362200"/>
            <a:ext cx="558800" cy="558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00" b="1" noProof="1">
                <a:solidFill>
                  <a:srgbClr val="0F4C5C"/>
                </a:solidFill>
                <a:latin typeface="Inter" panose="02000503000000020004" pitchFamily="2" charset="0"/>
                <a:ea typeface="Inter" panose="02000503000000020004" pitchFamily="2" charset="0"/>
              </a:rPr>
              <a:t>3</a:t>
            </a:r>
            <a:endParaRPr lang="en-US" sz="18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1" name="step1"/>
          <p:cNvSpPr txBox="1"/>
          <p:nvPr/>
        </p:nvSpPr>
        <p:spPr>
          <a:xfrm>
            <a:off x="812800" y="3225800"/>
            <a:ext cx="2870926" cy="279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ПРОЙДЕН</a:t>
            </a:r>
            <a:endParaRPr lang="en-US" sz="1300" noProof="1">
              <a:latin typeface="Inter" panose="02000503000000020004" pitchFamily="2" charset="0"/>
              <a:ea typeface="Inter" panose="02000503000000020004" pitchFamily="2" charset="0"/>
            </a:endParaRPr>
          </a:p>
          <a:p>
            <a:pPr>
              <a:lnSpc>
                <a:spcPct val="140000"/>
              </a:lnSpc>
              <a:spcBef>
                <a:spcPts val="600"/>
              </a:spcBef>
            </a:pPr>
            <a:r>
              <a:rPr lang="en-US" sz="16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Пилот на 3 точках</a:t>
            </a:r>
            <a:endParaRPr lang="en-US" sz="1300" noProof="1">
              <a:latin typeface="Inter" panose="02000503000000020004" pitchFamily="2" charset="0"/>
              <a:ea typeface="Inter" panose="02000503000000020004" pitchFamily="2" charset="0"/>
            </a:endParaRPr>
          </a:p>
          <a:p>
            <a:pPr marL="176213" indent="-176213">
              <a:lnSpc>
                <a:spcPct val="14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3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переработки 14% → 6% ФОТ</a:t>
            </a:r>
            <a:endParaRPr lang="en-US" sz="1300" noProof="1">
              <a:latin typeface="Inter" panose="02000503000000020004" pitchFamily="2" charset="0"/>
              <a:ea typeface="Inter" panose="02000503000000020004" pitchFamily="2" charset="0"/>
            </a:endParaRPr>
          </a:p>
          <a:p>
            <a:pPr marL="176213" indent="-176213">
              <a:lnSpc>
                <a:spcPct val="140000"/>
              </a:lnSpc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3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стоимость смен </a:t>
            </a:r>
            <a:r>
              <a:rPr lang="ru-RU" sz="13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-</a:t>
            </a:r>
            <a:r>
              <a:rPr lang="en-US" sz="13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19%</a:t>
            </a:r>
            <a:endParaRPr lang="en-US" sz="1300" noProof="1">
              <a:latin typeface="Inter" panose="02000503000000020004" pitchFamily="2" charset="0"/>
              <a:ea typeface="Inter" panose="02000503000000020004" pitchFamily="2" charset="0"/>
            </a:endParaRPr>
          </a:p>
          <a:p>
            <a:pPr marL="176213" indent="-176213">
              <a:lnSpc>
                <a:spcPct val="140000"/>
              </a:lnSpc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3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текучесть 38% → 27%</a:t>
            </a:r>
            <a:endParaRPr lang="en-US" sz="13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2" name="step2"/>
          <p:cNvSpPr txBox="1"/>
          <p:nvPr/>
        </p:nvSpPr>
        <p:spPr>
          <a:xfrm>
            <a:off x="4165600" y="3217454"/>
            <a:ext cx="3302000" cy="279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 noProof="1">
                <a:solidFill>
                  <a:srgbClr val="E8590C"/>
                </a:solidFill>
                <a:latin typeface="Inter" panose="02000503000000020004" pitchFamily="2" charset="0"/>
                <a:ea typeface="Inter" panose="02000503000000020004" pitchFamily="2" charset="0"/>
              </a:rPr>
              <a:t>СЛЕДУЮЩИЙ ШАГ</a:t>
            </a:r>
            <a:endParaRPr lang="en-US" sz="1300" noProof="1">
              <a:latin typeface="Inter" panose="02000503000000020004" pitchFamily="2" charset="0"/>
              <a:ea typeface="Inter" panose="02000503000000020004" pitchFamily="2" charset="0"/>
            </a:endParaRPr>
          </a:p>
          <a:p>
            <a:pPr>
              <a:lnSpc>
                <a:spcPct val="140000"/>
              </a:lnSpc>
              <a:spcBef>
                <a:spcPts val="600"/>
              </a:spcBef>
            </a:pPr>
            <a:r>
              <a:rPr lang="en-US" sz="16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Сезонный пилот на 5</a:t>
            </a:r>
            <a:r>
              <a:rPr lang="ru-RU" sz="16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-</a:t>
            </a:r>
            <a:r>
              <a:rPr lang="en-US" sz="16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7 точках</a:t>
            </a:r>
            <a:endParaRPr lang="en-US" sz="1300" noProof="1">
              <a:latin typeface="Inter" panose="02000503000000020004" pitchFamily="2" charset="0"/>
              <a:ea typeface="Inter" panose="02000503000000020004" pitchFamily="2" charset="0"/>
            </a:endParaRPr>
          </a:p>
          <a:p>
            <a:pPr marL="176213" indent="-176213">
              <a:lnSpc>
                <a:spcPct val="14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3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проверка в высокий сезон</a:t>
            </a:r>
          </a:p>
          <a:p>
            <a:pPr marL="176213" indent="-176213">
              <a:lnSpc>
                <a:spcPct val="140000"/>
              </a:lnSpc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3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замер качества обслуживания гостей</a:t>
            </a:r>
          </a:p>
          <a:p>
            <a:pPr marL="176213" indent="-176213">
              <a:lnSpc>
                <a:spcPct val="140000"/>
              </a:lnSpc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3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решение о раскатке – по итогам</a:t>
            </a:r>
            <a:endParaRPr lang="en-US" sz="13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3" name="step3"/>
          <p:cNvSpPr txBox="1"/>
          <p:nvPr/>
        </p:nvSpPr>
        <p:spPr>
          <a:xfrm>
            <a:off x="8280400" y="3225800"/>
            <a:ext cx="3302000" cy="279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РАСКАТКА</a:t>
            </a:r>
            <a:endParaRPr lang="en-US" sz="1300" noProof="1">
              <a:latin typeface="Inter" panose="02000503000000020004" pitchFamily="2" charset="0"/>
              <a:ea typeface="Inter" panose="02000503000000020004" pitchFamily="2" charset="0"/>
            </a:endParaRPr>
          </a:p>
          <a:p>
            <a:pPr>
              <a:lnSpc>
                <a:spcPct val="140000"/>
              </a:lnSpc>
              <a:spcBef>
                <a:spcPts val="600"/>
              </a:spcBef>
            </a:pPr>
            <a:r>
              <a:rPr lang="en-US" sz="16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Все 40 точек сети</a:t>
            </a:r>
            <a:endParaRPr lang="en-US" sz="1300" noProof="1">
              <a:latin typeface="Inter" panose="02000503000000020004" pitchFamily="2" charset="0"/>
              <a:ea typeface="Inter" panose="02000503000000020004" pitchFamily="2" charset="0"/>
            </a:endParaRPr>
          </a:p>
          <a:p>
            <a:pPr marL="176213" indent="-176213">
              <a:lnSpc>
                <a:spcPct val="14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3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переобучение бригадиров – 2 недели на точку</a:t>
            </a:r>
          </a:p>
          <a:p>
            <a:pPr marL="176213" indent="-176213">
              <a:lnSpc>
                <a:spcPct val="140000"/>
              </a:lnSpc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3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ежемесячный контроль метрик</a:t>
            </a:r>
          </a:p>
          <a:p>
            <a:pPr marL="176213" indent="-176213">
              <a:lnSpc>
                <a:spcPct val="140000"/>
              </a:lnSpc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3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поддержка, как на пилоте</a:t>
            </a:r>
            <a:endParaRPr lang="en-US" sz="13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4" name="footer-left"/>
          <p:cNvSpPr txBox="1"/>
          <p:nvPr/>
        </p:nvSpPr>
        <p:spPr>
          <a:xfrm>
            <a:off x="812800" y="6502400"/>
            <a:ext cx="635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СменаPRO · питч для операционных директоров сети ресторанов</a:t>
            </a:r>
            <a:endParaRPr lang="en-US" sz="10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6" name="footer-right">
            <a:extLst>
              <a:ext uri="{FF2B5EF4-FFF2-40B4-BE49-F238E27FC236}">
                <a16:creationId xmlns:a16="http://schemas.microsoft.com/office/drawing/2014/main" id="{79FE515F-CD8C-BE3B-0713-F9D2EC3C42C1}"/>
              </a:ext>
            </a:extLst>
          </p:cNvPr>
          <p:cNvSpPr txBox="1"/>
          <p:nvPr/>
        </p:nvSpPr>
        <p:spPr>
          <a:xfrm>
            <a:off x="11372241" y="228600"/>
            <a:ext cx="5588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00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6 / </a:t>
            </a:r>
            <a:r>
              <a:rPr lang="ru-RU" sz="100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9</a:t>
            </a:r>
            <a:endParaRPr lang="en-US" sz="10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1" animBg="1"/>
      <p:bldP spid="10" grpId="1" animBg="1"/>
      <p:bldP spid="12" grpId="0" animBg="1"/>
      <p:bldP spid="13" grpId="1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812800" y="533400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200" noProof="1">
                <a:solidFill>
                  <a:srgbClr val="E8590C"/>
                </a:solidFill>
                <a:latin typeface="Inter" panose="02000503000000020004" pitchFamily="2" charset="0"/>
                <a:ea typeface="Inter" panose="02000503000000020004" pitchFamily="2" charset="0"/>
              </a:rPr>
              <a:t>ЭФФЕКТ И РИСКИ</a:t>
            </a:r>
            <a:endParaRPr lang="en-US" sz="12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812800" y="812800"/>
            <a:ext cx="105664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15000"/>
              </a:lnSpc>
            </a:pPr>
            <a:r>
              <a:rPr lang="en-US" sz="27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Эффект – до 2,1 млн ₽ в квартал. Три риска и что мы делаем по каждому</a:t>
            </a:r>
            <a:endParaRPr lang="en-US" sz="27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4" name="effect-num"/>
          <p:cNvSpPr txBox="1"/>
          <p:nvPr/>
        </p:nvSpPr>
        <p:spPr>
          <a:xfrm>
            <a:off x="812800" y="2235200"/>
            <a:ext cx="3683000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4600" b="1" noProof="1">
                <a:solidFill>
                  <a:srgbClr val="E8590C"/>
                </a:solidFill>
                <a:latin typeface="Inter" panose="02000503000000020004" pitchFamily="2" charset="0"/>
                <a:ea typeface="Inter" panose="02000503000000020004" pitchFamily="2" charset="0"/>
              </a:rPr>
              <a:t>2,1 млн ₽</a:t>
            </a:r>
            <a:endParaRPr lang="en-US" sz="46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5" name="effect-label"/>
          <p:cNvSpPr txBox="1"/>
          <p:nvPr/>
        </p:nvSpPr>
        <p:spPr>
          <a:xfrm>
            <a:off x="812800" y="3098800"/>
            <a:ext cx="3683000" cy="1143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3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экономии на переработках в квартал при расширении на 40 точек – оценка по данным пилота</a:t>
            </a:r>
            <a:endParaRPr lang="en-US" sz="13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6" name="divider"/>
          <p:cNvSpPr/>
          <p:nvPr/>
        </p:nvSpPr>
        <p:spPr>
          <a:xfrm>
            <a:off x="5000625" y="1905000"/>
            <a:ext cx="12700" cy="4064000"/>
          </a:xfrm>
          <a:prstGeom prst="rect">
            <a:avLst/>
          </a:prstGeom>
          <a:solidFill>
            <a:srgbClr val="D8D2C6"/>
          </a:solidFill>
          <a:ln>
            <a:noFill/>
          </a:ln>
        </p:spPr>
      </p:sp>
      <p:sp>
        <p:nvSpPr>
          <p:cNvPr id="7" name="risk1"/>
          <p:cNvSpPr txBox="1"/>
          <p:nvPr/>
        </p:nvSpPr>
        <p:spPr>
          <a:xfrm>
            <a:off x="5537200" y="2006600"/>
            <a:ext cx="5842000" cy="9429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4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Эффект на других точках ниже пилотного</a:t>
            </a:r>
            <a:endParaRPr lang="en-US" sz="1250" noProof="1">
              <a:latin typeface="Inter" panose="02000503000000020004" pitchFamily="2" charset="0"/>
              <a:ea typeface="Inter" panose="02000503000000020004" pitchFamily="2" charset="0"/>
            </a:endParaRPr>
          </a:p>
          <a:p>
            <a:pPr>
              <a:lnSpc>
                <a:spcPct val="140000"/>
              </a:lnSpc>
              <a:spcBef>
                <a:spcPts val="400"/>
              </a:spcBef>
            </a:pPr>
            <a:r>
              <a:rPr lang="en-US" sz="125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Признак:</a:t>
            </a:r>
            <a:r>
              <a:rPr lang="en-US" sz="125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 переработки выше 8% ФОТ в первый месяц</a:t>
            </a:r>
            <a:endParaRPr lang="en-US" sz="1250" noProof="1">
              <a:latin typeface="Inter" panose="02000503000000020004" pitchFamily="2" charset="0"/>
              <a:ea typeface="Inter" panose="02000503000000020004" pitchFamily="2" charset="0"/>
            </a:endParaRPr>
          </a:p>
          <a:p>
            <a:pPr>
              <a:lnSpc>
                <a:spcPct val="140000"/>
              </a:lnSpc>
            </a:pPr>
            <a:r>
              <a:rPr lang="en-US" sz="125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Ответ:</a:t>
            </a:r>
            <a:r>
              <a:rPr lang="en-US" sz="125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 не раскатываем дальше, корректируем настройки под тип точки</a:t>
            </a:r>
            <a:endParaRPr lang="en-US" sz="125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8" name="risk-sep1"/>
          <p:cNvSpPr/>
          <p:nvPr/>
        </p:nvSpPr>
        <p:spPr>
          <a:xfrm>
            <a:off x="5537200" y="3089275"/>
            <a:ext cx="5842000" cy="12700"/>
          </a:xfrm>
          <a:prstGeom prst="rect">
            <a:avLst/>
          </a:prstGeom>
          <a:solidFill>
            <a:srgbClr val="D8D2C6"/>
          </a:solidFill>
          <a:ln>
            <a:noFill/>
          </a:ln>
        </p:spPr>
      </p:sp>
      <p:sp>
        <p:nvSpPr>
          <p:cNvPr id="9" name="risk2"/>
          <p:cNvSpPr txBox="1"/>
          <p:nvPr/>
        </p:nvSpPr>
        <p:spPr>
          <a:xfrm>
            <a:off x="5527675" y="3241675"/>
            <a:ext cx="5842000" cy="1181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4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Пиковая нагрузка в высокий сезон ломает расписание</a:t>
            </a:r>
            <a:endParaRPr lang="en-US" sz="1250" noProof="1">
              <a:latin typeface="Inter" panose="02000503000000020004" pitchFamily="2" charset="0"/>
              <a:ea typeface="Inter" panose="02000503000000020004" pitchFamily="2" charset="0"/>
            </a:endParaRPr>
          </a:p>
          <a:p>
            <a:pPr>
              <a:lnSpc>
                <a:spcPct val="140000"/>
              </a:lnSpc>
              <a:spcBef>
                <a:spcPts val="400"/>
              </a:spcBef>
            </a:pPr>
            <a:r>
              <a:rPr lang="en-US" sz="125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Признак:</a:t>
            </a:r>
            <a:r>
              <a:rPr lang="en-US" sz="125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 бригадиры правят график вручную чаще двух раз в неделю</a:t>
            </a:r>
            <a:endParaRPr lang="en-US" sz="1250" noProof="1">
              <a:latin typeface="Inter" panose="02000503000000020004" pitchFamily="2" charset="0"/>
              <a:ea typeface="Inter" panose="02000503000000020004" pitchFamily="2" charset="0"/>
            </a:endParaRPr>
          </a:p>
          <a:p>
            <a:pPr>
              <a:lnSpc>
                <a:spcPct val="140000"/>
              </a:lnSpc>
            </a:pPr>
            <a:r>
              <a:rPr lang="en-US" sz="125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Ответ:</a:t>
            </a:r>
            <a:r>
              <a:rPr lang="en-US" sz="125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 сначала сезонный пилот на 5</a:t>
            </a:r>
            <a:r>
              <a:rPr lang="ru-RU" sz="125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-</a:t>
            </a:r>
            <a:r>
              <a:rPr lang="en-US" sz="125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7 точках</a:t>
            </a:r>
            <a:r>
              <a:rPr lang="ru-RU" sz="125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 и донастройка модуля под высокую нагрузку,</a:t>
            </a:r>
            <a:r>
              <a:rPr lang="en-US" sz="125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 </a:t>
            </a:r>
            <a:r>
              <a:rPr lang="ru-RU" sz="125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и только затем масштабирование на все точки</a:t>
            </a:r>
            <a:endParaRPr lang="en-US" sz="125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0" name="risk-sep2"/>
          <p:cNvSpPr/>
          <p:nvPr/>
        </p:nvSpPr>
        <p:spPr>
          <a:xfrm>
            <a:off x="5527675" y="4562475"/>
            <a:ext cx="5842000" cy="12700"/>
          </a:xfrm>
          <a:prstGeom prst="rect">
            <a:avLst/>
          </a:prstGeom>
          <a:solidFill>
            <a:srgbClr val="D8D2C6"/>
          </a:solidFill>
          <a:ln>
            <a:noFill/>
          </a:ln>
        </p:spPr>
      </p:sp>
      <p:sp>
        <p:nvSpPr>
          <p:cNvPr id="11" name="risk3"/>
          <p:cNvSpPr txBox="1"/>
          <p:nvPr/>
        </p:nvSpPr>
        <p:spPr>
          <a:xfrm>
            <a:off x="5527675" y="4714875"/>
            <a:ext cx="5842000" cy="1143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4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Бригадиры не освоят модуль</a:t>
            </a:r>
            <a:endParaRPr lang="en-US" sz="1250" noProof="1">
              <a:latin typeface="Inter" panose="02000503000000020004" pitchFamily="2" charset="0"/>
              <a:ea typeface="Inter" panose="02000503000000020004" pitchFamily="2" charset="0"/>
            </a:endParaRPr>
          </a:p>
          <a:p>
            <a:pPr>
              <a:lnSpc>
                <a:spcPct val="140000"/>
              </a:lnSpc>
              <a:spcBef>
                <a:spcPts val="400"/>
              </a:spcBef>
            </a:pPr>
            <a:r>
              <a:rPr lang="en-US" sz="125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Признак:</a:t>
            </a:r>
            <a:r>
              <a:rPr lang="en-US" sz="125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 график собирается дольше часа, жалобы на точке</a:t>
            </a:r>
            <a:endParaRPr lang="en-US" sz="1250" noProof="1">
              <a:latin typeface="Inter" panose="02000503000000020004" pitchFamily="2" charset="0"/>
              <a:ea typeface="Inter" panose="02000503000000020004" pitchFamily="2" charset="0"/>
            </a:endParaRPr>
          </a:p>
          <a:p>
            <a:pPr>
              <a:lnSpc>
                <a:spcPct val="140000"/>
              </a:lnSpc>
            </a:pPr>
            <a:r>
              <a:rPr lang="en-US" sz="125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Ответ:</a:t>
            </a:r>
            <a:r>
              <a:rPr lang="en-US" sz="125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 переобучение две недели на точку и поддержка</a:t>
            </a:r>
            <a:r>
              <a:rPr lang="ru-RU" sz="125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, </a:t>
            </a:r>
            <a:r>
              <a:rPr lang="en-US" sz="125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как на пилоте</a:t>
            </a:r>
            <a:endParaRPr lang="en-US" sz="125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2" name="source"/>
          <p:cNvSpPr txBox="1"/>
          <p:nvPr/>
        </p:nvSpPr>
        <p:spPr>
          <a:xfrm>
            <a:off x="812800" y="5156200"/>
            <a:ext cx="3933825" cy="2692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0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Экономия – оценка по результатам пилота</a:t>
            </a:r>
            <a:endParaRPr lang="ru-RU" sz="1100" noProof="1">
              <a:solidFill>
                <a:srgbClr val="6B767B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3" name="footer-left"/>
          <p:cNvSpPr txBox="1"/>
          <p:nvPr/>
        </p:nvSpPr>
        <p:spPr>
          <a:xfrm>
            <a:off x="812800" y="6502400"/>
            <a:ext cx="635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СменаPRO · питч для операционных директоров сети ресторанов</a:t>
            </a:r>
            <a:endParaRPr lang="en-US" sz="10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5" name="footer-right">
            <a:extLst>
              <a:ext uri="{FF2B5EF4-FFF2-40B4-BE49-F238E27FC236}">
                <a16:creationId xmlns:a16="http://schemas.microsoft.com/office/drawing/2014/main" id="{108094CA-7B2A-524A-1E31-2987D19C5C10}"/>
              </a:ext>
            </a:extLst>
          </p:cNvPr>
          <p:cNvSpPr txBox="1"/>
          <p:nvPr/>
        </p:nvSpPr>
        <p:spPr>
          <a:xfrm>
            <a:off x="11372241" y="228600"/>
            <a:ext cx="5588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00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7 / </a:t>
            </a:r>
            <a:r>
              <a:rPr lang="ru-RU" sz="100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9</a:t>
            </a:r>
            <a:endParaRPr lang="en-US" sz="10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812800" y="533400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200" noProof="1">
                <a:solidFill>
                  <a:srgbClr val="E8590C"/>
                </a:solidFill>
                <a:latin typeface="Inter" panose="02000503000000020004" pitchFamily="2" charset="0"/>
                <a:ea typeface="Inter" panose="02000503000000020004" pitchFamily="2" charset="0"/>
              </a:rPr>
              <a:t>ЗАПРОС И СЛЕДУЮЩИЙ ШАГ</a:t>
            </a:r>
            <a:endParaRPr lang="en-US" sz="12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812800" y="812800"/>
            <a:ext cx="10566400" cy="939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15000"/>
              </a:lnSpc>
            </a:pPr>
            <a:r>
              <a:rPr lang="en-US" sz="27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Просим согласовать сезонный пилот на 5</a:t>
            </a:r>
            <a:r>
              <a:rPr lang="ru-RU" sz="27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-</a:t>
            </a:r>
            <a:r>
              <a:rPr lang="en-US" sz="27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7 точек</a:t>
            </a:r>
            <a:r>
              <a:rPr lang="ru-RU" sz="27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.</a:t>
            </a:r>
          </a:p>
          <a:p>
            <a:pPr>
              <a:lnSpc>
                <a:spcPct val="115000"/>
              </a:lnSpc>
            </a:pPr>
            <a:r>
              <a:rPr lang="ru-RU" sz="27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Р</a:t>
            </a:r>
            <a:r>
              <a:rPr lang="en-US" sz="27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ешение нужно до конца квартала</a:t>
            </a:r>
            <a:endParaRPr lang="en-US" sz="27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4" name="ask1-num"/>
          <p:cNvSpPr txBox="1"/>
          <p:nvPr/>
        </p:nvSpPr>
        <p:spPr>
          <a:xfrm>
            <a:off x="812800" y="2184400"/>
            <a:ext cx="508000" cy="508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600" b="1" noProof="1">
                <a:solidFill>
                  <a:srgbClr val="E8590C"/>
                </a:solidFill>
                <a:latin typeface="Inter" panose="02000503000000020004" pitchFamily="2" charset="0"/>
                <a:ea typeface="Inter" panose="02000503000000020004" pitchFamily="2" charset="0"/>
              </a:rPr>
              <a:t>1</a:t>
            </a:r>
            <a:endParaRPr lang="en-US" sz="26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5" name="ask1"/>
          <p:cNvSpPr txBox="1"/>
          <p:nvPr/>
        </p:nvSpPr>
        <p:spPr>
          <a:xfrm>
            <a:off x="1422400" y="2274888"/>
            <a:ext cx="9144000" cy="2984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6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Согласовать запуск модуля автопланирования на 5</a:t>
            </a:r>
            <a:r>
              <a:rPr lang="ru-RU" sz="16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-</a:t>
            </a:r>
            <a:r>
              <a:rPr lang="en-US" sz="16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7 точках в высокий сезон</a:t>
            </a:r>
            <a:endParaRPr lang="en-US" sz="16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6" name="ask2-num"/>
          <p:cNvSpPr txBox="1"/>
          <p:nvPr/>
        </p:nvSpPr>
        <p:spPr>
          <a:xfrm>
            <a:off x="812800" y="2844800"/>
            <a:ext cx="508000" cy="508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600" b="1" noProof="1">
                <a:solidFill>
                  <a:srgbClr val="E8590C"/>
                </a:solidFill>
                <a:latin typeface="Inter" panose="02000503000000020004" pitchFamily="2" charset="0"/>
                <a:ea typeface="Inter" panose="02000503000000020004" pitchFamily="2" charset="0"/>
              </a:rPr>
              <a:t>2</a:t>
            </a:r>
            <a:endParaRPr lang="en-US" sz="26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7" name="ask2"/>
          <p:cNvSpPr txBox="1"/>
          <p:nvPr/>
        </p:nvSpPr>
        <p:spPr>
          <a:xfrm>
            <a:off x="1422400" y="2949575"/>
            <a:ext cx="9144000" cy="2984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6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Выделить бригадиров этих точек на переобучение</a:t>
            </a:r>
            <a:r>
              <a:rPr lang="ru-RU" sz="16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.</a:t>
            </a:r>
            <a:r>
              <a:rPr lang="en-US" sz="16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 </a:t>
            </a:r>
            <a:r>
              <a:rPr lang="ru-RU" sz="16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Д</a:t>
            </a:r>
            <a:r>
              <a:rPr lang="en-US" sz="16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ве недели на точку</a:t>
            </a:r>
            <a:endParaRPr lang="en-US" sz="16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8" name="sep"/>
          <p:cNvSpPr/>
          <p:nvPr/>
        </p:nvSpPr>
        <p:spPr>
          <a:xfrm>
            <a:off x="812800" y="3656012"/>
            <a:ext cx="10566400" cy="12700"/>
          </a:xfrm>
          <a:prstGeom prst="rect">
            <a:avLst/>
          </a:prstGeom>
          <a:solidFill>
            <a:srgbClr val="D8D2C6"/>
          </a:solidFill>
          <a:ln>
            <a:noFill/>
          </a:ln>
        </p:spPr>
      </p:sp>
      <p:sp>
        <p:nvSpPr>
          <p:cNvPr id="9" name="next-title"/>
          <p:cNvSpPr txBox="1"/>
          <p:nvPr/>
        </p:nvSpPr>
        <p:spPr>
          <a:xfrm>
            <a:off x="812800" y="3971924"/>
            <a:ext cx="105664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600" b="1" noProof="1">
                <a:solidFill>
                  <a:srgbClr val="0F4C5C"/>
                </a:solidFill>
                <a:latin typeface="Inter" panose="02000503000000020004" pitchFamily="2" charset="0"/>
                <a:ea typeface="Inter" panose="02000503000000020004" pitchFamily="2" charset="0"/>
              </a:rPr>
              <a:t>Что </a:t>
            </a:r>
            <a:r>
              <a:rPr lang="ru-RU" sz="1600" b="1" noProof="1">
                <a:solidFill>
                  <a:srgbClr val="0F4C5C"/>
                </a:solidFill>
                <a:latin typeface="Inter" panose="02000503000000020004" pitchFamily="2" charset="0"/>
                <a:ea typeface="Inter" panose="02000503000000020004" pitchFamily="2" charset="0"/>
              </a:rPr>
              <a:t>произойдет </a:t>
            </a:r>
            <a:r>
              <a:rPr lang="en-US" sz="1600" b="1" noProof="1">
                <a:solidFill>
                  <a:srgbClr val="0F4C5C"/>
                </a:solidFill>
                <a:latin typeface="Inter" panose="02000503000000020004" pitchFamily="2" charset="0"/>
                <a:ea typeface="Inter" panose="02000503000000020004" pitchFamily="2" charset="0"/>
              </a:rPr>
              <a:t>сразу после </a:t>
            </a:r>
            <a:r>
              <a:rPr lang="ru-RU" sz="1600" b="1" noProof="1">
                <a:solidFill>
                  <a:srgbClr val="0F4C5C"/>
                </a:solidFill>
                <a:latin typeface="Inter" panose="02000503000000020004" pitchFamily="2" charset="0"/>
                <a:ea typeface="Inter" panose="02000503000000020004" pitchFamily="2" charset="0"/>
              </a:rPr>
              <a:t>согласования</a:t>
            </a:r>
            <a:endParaRPr lang="en-US" sz="16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0" name="next-text"/>
          <p:cNvSpPr txBox="1"/>
          <p:nvPr/>
        </p:nvSpPr>
        <p:spPr>
          <a:xfrm>
            <a:off x="812800" y="4470400"/>
            <a:ext cx="10566400" cy="1397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В течение недели </a:t>
            </a:r>
            <a:r>
              <a:rPr lang="ru-RU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мы настроим</a:t>
            </a:r>
            <a:r>
              <a:rPr lang="en-US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 модуль на выбранных точках и запус</a:t>
            </a:r>
            <a:r>
              <a:rPr lang="ru-RU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тим</a:t>
            </a:r>
            <a:r>
              <a:rPr lang="en-US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 замер. </a:t>
            </a:r>
            <a:r>
              <a:rPr lang="ru-RU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В следующем квартале в</a:t>
            </a:r>
            <a:r>
              <a:rPr lang="en-US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ерн</a:t>
            </a:r>
            <a:r>
              <a:rPr lang="ru-RU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е</a:t>
            </a:r>
            <a:r>
              <a:rPr lang="en-US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мся с результатами</a:t>
            </a:r>
            <a:r>
              <a:rPr lang="ru-RU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: </a:t>
            </a:r>
            <a:r>
              <a:rPr lang="en-US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метриками переработок, стоимости смен, текучести и</a:t>
            </a:r>
            <a:r>
              <a:rPr lang="ru-RU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 </a:t>
            </a:r>
            <a:r>
              <a:rPr lang="en-US" sz="1400" b="1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качества обслуживания гостей</a:t>
            </a:r>
            <a:r>
              <a:rPr lang="en-US" sz="1400" noProof="1">
                <a:solidFill>
                  <a:srgbClr val="1E2A2E"/>
                </a:solidFill>
                <a:latin typeface="Inter" panose="02000503000000020004" pitchFamily="2" charset="0"/>
                <a:ea typeface="Inter" panose="02000503000000020004" pitchFamily="2" charset="0"/>
              </a:rPr>
              <a:t>.</a:t>
            </a:r>
            <a:endParaRPr lang="en-US" sz="14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1" name="footer-left"/>
          <p:cNvSpPr txBox="1"/>
          <p:nvPr/>
        </p:nvSpPr>
        <p:spPr>
          <a:xfrm>
            <a:off x="812800" y="6502400"/>
            <a:ext cx="635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СменаPRO · питч для операционных директоров сети ресторанов</a:t>
            </a:r>
            <a:endParaRPr lang="en-US" sz="10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3" name="footer-right">
            <a:extLst>
              <a:ext uri="{FF2B5EF4-FFF2-40B4-BE49-F238E27FC236}">
                <a16:creationId xmlns:a16="http://schemas.microsoft.com/office/drawing/2014/main" id="{44788539-491D-E8EB-77F2-C83C2E062866}"/>
              </a:ext>
            </a:extLst>
          </p:cNvPr>
          <p:cNvSpPr txBox="1"/>
          <p:nvPr/>
        </p:nvSpPr>
        <p:spPr>
          <a:xfrm>
            <a:off x="11372241" y="228600"/>
            <a:ext cx="5588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00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8 / </a:t>
            </a:r>
            <a:r>
              <a:rPr lang="ru-RU" sz="1000" noProof="1">
                <a:solidFill>
                  <a:srgbClr val="6B767B"/>
                </a:solidFill>
                <a:latin typeface="Inter" panose="02000503000000020004" pitchFamily="2" charset="0"/>
                <a:ea typeface="Inter" panose="02000503000000020004" pitchFamily="2" charset="0"/>
              </a:rPr>
              <a:t>9</a:t>
            </a:r>
            <a:endParaRPr lang="en-US" sz="10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4C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-bar"/>
          <p:cNvSpPr/>
          <p:nvPr/>
        </p:nvSpPr>
        <p:spPr>
          <a:xfrm>
            <a:off x="812800" y="1905000"/>
            <a:ext cx="711200" cy="76200"/>
          </a:xfrm>
          <a:prstGeom prst="rect">
            <a:avLst/>
          </a:prstGeom>
          <a:solidFill>
            <a:srgbClr val="E8590C"/>
          </a:solidFill>
          <a:ln>
            <a:noFill/>
          </a:ln>
        </p:spPr>
      </p:sp>
      <p:sp>
        <p:nvSpPr>
          <p:cNvPr id="4" name="title"/>
          <p:cNvSpPr txBox="1"/>
          <p:nvPr/>
        </p:nvSpPr>
        <p:spPr>
          <a:xfrm>
            <a:off x="812799" y="2260600"/>
            <a:ext cx="10150475" cy="6300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0000"/>
              </a:lnSpc>
            </a:pPr>
            <a:r>
              <a:rPr lang="ru-RU" sz="3300" b="1" noProof="1">
                <a:solidFill>
                  <a:srgbClr val="F7F5F0"/>
                </a:solidFill>
                <a:latin typeface="Inter" panose="02000503000000020004" pitchFamily="2" charset="0"/>
                <a:ea typeface="Inter" panose="02000503000000020004" pitchFamily="2" charset="0"/>
              </a:rPr>
              <a:t>Готова ответить на все Ваши вопросы</a:t>
            </a:r>
            <a:endParaRPr lang="en-US" sz="33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8" name="kicker">
            <a:extLst>
              <a:ext uri="{FF2B5EF4-FFF2-40B4-BE49-F238E27FC236}">
                <a16:creationId xmlns:a16="http://schemas.microsoft.com/office/drawing/2014/main" id="{6495477E-19E2-44C6-8CBE-BEE4B70E0A81}"/>
              </a:ext>
            </a:extLst>
          </p:cNvPr>
          <p:cNvSpPr txBox="1"/>
          <p:nvPr/>
        </p:nvSpPr>
        <p:spPr>
          <a:xfrm>
            <a:off x="812800" y="533400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ru-RU" sz="1200" b="1" kern="0" spc="200" noProof="1">
                <a:solidFill>
                  <a:srgbClr val="F0A268"/>
                </a:solidFill>
                <a:latin typeface="Inter" panose="02000503000000020004" pitchFamily="2" charset="0"/>
                <a:ea typeface="Inter" panose="02000503000000020004" pitchFamily="2" charset="0"/>
              </a:rPr>
              <a:t>ВОПРОСЫ</a:t>
            </a:r>
            <a:endParaRPr lang="en-US" sz="12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2" name="bottom">
            <a:extLst>
              <a:ext uri="{FF2B5EF4-FFF2-40B4-BE49-F238E27FC236}">
                <a16:creationId xmlns:a16="http://schemas.microsoft.com/office/drawing/2014/main" id="{C4ACDC8A-07E6-4DE6-A275-175D709CEE3D}"/>
              </a:ext>
            </a:extLst>
          </p:cNvPr>
          <p:cNvSpPr txBox="1"/>
          <p:nvPr/>
        </p:nvSpPr>
        <p:spPr>
          <a:xfrm>
            <a:off x="812800" y="6248400"/>
            <a:ext cx="889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noProof="1">
                <a:solidFill>
                  <a:srgbClr val="A8C0C5"/>
                </a:solidFill>
                <a:latin typeface="Inter" panose="02000503000000020004" pitchFamily="2" charset="0"/>
                <a:ea typeface="Inter" panose="02000503000000020004" pitchFamily="2" charset="0"/>
              </a:rPr>
              <a:t>Софья · продакт «СменаPRO» · отвечу на вопросы по данным пилота</a:t>
            </a:r>
            <a:endParaRPr lang="en-US" sz="1100" noProof="1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8640162"/>
      </p:ext>
    </p:extLst>
  </p:cSld>
  <p:clrMapOvr>
    <a:masterClrMapping/>
  </p:clrMapOvr>
</p:sld>
</file>

<file path=ppt/theme/theme1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solidFill>
            <a:schemeClr val="accent1"/>
          </a:solidFill>
          <a:prstDash val="solid"/>
        </a:ln>
        <a:ln w="12700" cap="flat" cmpd="sng" algn="ctr">
          <a:solidFill>
            <a:schemeClr val="accent1"/>
          </a:solidFill>
          <a:prstDash val="solid"/>
        </a:ln>
        <a:ln w="19050" cap="flat" cmpd="sng" algn="ctr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</TotalTime>
  <Words>1663</Words>
  <Application>Microsoft Macintosh PowerPoint</Application>
  <PresentationFormat>Widescreen</PresentationFormat>
  <Paragraphs>131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Inter</vt:lpstr>
      <vt:lpstr>MiSans</vt:lpstr>
      <vt:lpstr>PPTD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smena-pro-pitch</dc:title>
  <cp:lastModifiedBy>Софья Зименкова</cp:lastModifiedBy>
  <cp:revision>13</cp:revision>
  <dcterms:modified xsi:type="dcterms:W3CDTF">2026-10-04T15:34:01Z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/>
  </property>
</Properties>
</file>