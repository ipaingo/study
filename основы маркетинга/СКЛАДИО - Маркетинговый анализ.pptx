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embeddedFontLst>
    <p:embeddedFont>
      <p:font typeface="Inter" panose="02000503000000020004" pitchFamily="2" charset="0"/>
      <p:regular r:id="rId10"/>
    </p:embeddedFont>
    <p:embeddedFont>
      <p:font typeface="Montserrat" panose="00000500000000000000" pitchFamily="2" charset="-52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r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3" name="cover-accent"/>
          <p:cNvSpPr/>
          <p:nvPr/>
        </p:nvSpPr>
        <p:spPr>
          <a:xfrm>
            <a:off x="0" y="0"/>
            <a:ext cx="3048000" cy="101600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4" name="cover-kicker"/>
          <p:cNvSpPr txBox="1"/>
          <p:nvPr/>
        </p:nvSpPr>
        <p:spPr>
          <a:xfrm>
            <a:off x="1016000" y="1625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СКЛАДИО</a:t>
            </a:r>
            <a:r>
              <a:rPr lang="ru-RU" sz="140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 - </a:t>
            </a:r>
            <a:r>
              <a:rPr lang="en-US" sz="140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ОБЛАЧНАЯ WMS ДЛЯ СРЕДНЕГО БИЗНЕСА</a:t>
            </a:r>
            <a:endParaRPr lang="en-US" sz="1400" noProof="1"/>
          </a:p>
        </p:txBody>
      </p:sp>
      <p:sp>
        <p:nvSpPr>
          <p:cNvPr id="5" name="cover-title"/>
          <p:cNvSpPr txBox="1"/>
          <p:nvPr/>
        </p:nvSpPr>
        <p:spPr>
          <a:xfrm>
            <a:off x="1016000" y="2006600"/>
            <a:ext cx="9906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noProof="1">
                <a:solidFill>
                  <a:srgbClr val="1F2937"/>
                </a:solidFill>
                <a:latin typeface="Montserrat"/>
                <a:ea typeface="Montserrat"/>
              </a:rPr>
              <a:t>Маркетинговый анализ</a:t>
            </a:r>
            <a:endParaRPr lang="en-US" sz="4400" noProof="1"/>
          </a:p>
        </p:txBody>
      </p:sp>
      <p:sp>
        <p:nvSpPr>
          <p:cNvPr id="7" name="cover-rule"/>
          <p:cNvSpPr/>
          <p:nvPr/>
        </p:nvSpPr>
        <p:spPr>
          <a:xfrm>
            <a:off x="1016000" y="3105150"/>
            <a:ext cx="1524000" cy="38100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10" name="m1-num"/>
          <p:cNvSpPr txBox="1"/>
          <p:nvPr/>
        </p:nvSpPr>
        <p:spPr>
          <a:xfrm>
            <a:off x="1016000" y="3683001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B3A6B"/>
                </a:solidFill>
                <a:latin typeface="Montserrat"/>
                <a:ea typeface="Montserrat"/>
              </a:rPr>
              <a:t>600 млн ₽</a:t>
            </a:r>
            <a:endParaRPr lang="en-US" sz="2000" noProof="1"/>
          </a:p>
        </p:txBody>
      </p:sp>
      <p:sp>
        <p:nvSpPr>
          <p:cNvPr id="11" name="m1-label"/>
          <p:cNvSpPr txBox="1"/>
          <p:nvPr/>
        </p:nvSpPr>
        <p:spPr>
          <a:xfrm>
            <a:off x="1016000" y="4089401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900" noProof="1">
                <a:solidFill>
                  <a:srgbClr val="8C98A8"/>
                </a:solidFill>
                <a:latin typeface="Inter"/>
                <a:ea typeface="Inter"/>
              </a:rPr>
              <a:t>г</a:t>
            </a:r>
            <a:r>
              <a:rPr lang="en-US" sz="900" noProof="1">
                <a:solidFill>
                  <a:srgbClr val="8C98A8"/>
                </a:solidFill>
                <a:latin typeface="Inter"/>
                <a:ea typeface="Inter"/>
              </a:rPr>
              <a:t>одовая регулярная выручка</a:t>
            </a:r>
            <a:endParaRPr lang="en-US" sz="900" noProof="1"/>
          </a:p>
        </p:txBody>
      </p:sp>
      <p:sp>
        <p:nvSpPr>
          <p:cNvPr id="12" name="m-div1"/>
          <p:cNvSpPr/>
          <p:nvPr/>
        </p:nvSpPr>
        <p:spPr>
          <a:xfrm>
            <a:off x="3124200" y="3708401"/>
            <a:ext cx="12700" cy="5842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13" name="m2-num"/>
          <p:cNvSpPr txBox="1"/>
          <p:nvPr/>
        </p:nvSpPr>
        <p:spPr>
          <a:xfrm>
            <a:off x="3327400" y="3683001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B3A6B"/>
                </a:solidFill>
                <a:latin typeface="Montserrat"/>
                <a:ea typeface="Montserrat"/>
              </a:rPr>
              <a:t>≈ 400</a:t>
            </a:r>
            <a:endParaRPr lang="en-US" sz="2000" noProof="1"/>
          </a:p>
        </p:txBody>
      </p:sp>
      <p:sp>
        <p:nvSpPr>
          <p:cNvPr id="14" name="m2-label"/>
          <p:cNvSpPr txBox="1"/>
          <p:nvPr/>
        </p:nvSpPr>
        <p:spPr>
          <a:xfrm>
            <a:off x="3327400" y="4089401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00" noProof="1">
                <a:solidFill>
                  <a:srgbClr val="8C98A8"/>
                </a:solidFill>
                <a:latin typeface="Inter"/>
                <a:ea typeface="Inter"/>
              </a:rPr>
              <a:t>активных клиентов</a:t>
            </a:r>
            <a:endParaRPr lang="en-US" sz="900" noProof="1"/>
          </a:p>
        </p:txBody>
      </p:sp>
      <p:sp>
        <p:nvSpPr>
          <p:cNvPr id="15" name="m-div2"/>
          <p:cNvSpPr/>
          <p:nvPr/>
        </p:nvSpPr>
        <p:spPr>
          <a:xfrm>
            <a:off x="5181600" y="3708401"/>
            <a:ext cx="12700" cy="5842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16" name="m3-num"/>
          <p:cNvSpPr txBox="1"/>
          <p:nvPr/>
        </p:nvSpPr>
        <p:spPr>
          <a:xfrm>
            <a:off x="5384800" y="3683001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B3A6B"/>
                </a:solidFill>
                <a:latin typeface="Montserrat"/>
                <a:ea typeface="Montserrat"/>
              </a:rPr>
              <a:t>1,5 млн ₽</a:t>
            </a:r>
            <a:endParaRPr lang="en-US" sz="2000" noProof="1"/>
          </a:p>
        </p:txBody>
      </p:sp>
      <p:sp>
        <p:nvSpPr>
          <p:cNvPr id="17" name="m3-label"/>
          <p:cNvSpPr txBox="1"/>
          <p:nvPr/>
        </p:nvSpPr>
        <p:spPr>
          <a:xfrm>
            <a:off x="5384800" y="4089401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00" noProof="1">
                <a:solidFill>
                  <a:srgbClr val="8C98A8"/>
                </a:solidFill>
                <a:latin typeface="Inter"/>
                <a:ea typeface="Inter"/>
              </a:rPr>
              <a:t>средний контракт (ACV) в год</a:t>
            </a:r>
            <a:endParaRPr lang="en-US" sz="900" noProof="1"/>
          </a:p>
        </p:txBody>
      </p:sp>
      <p:sp>
        <p:nvSpPr>
          <p:cNvPr id="18" name="m-div3"/>
          <p:cNvSpPr/>
          <p:nvPr/>
        </p:nvSpPr>
        <p:spPr>
          <a:xfrm>
            <a:off x="7239000" y="3708401"/>
            <a:ext cx="12700" cy="5842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19" name="m4-num"/>
          <p:cNvSpPr txBox="1"/>
          <p:nvPr/>
        </p:nvSpPr>
        <p:spPr>
          <a:xfrm>
            <a:off x="7442200" y="3683001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B3A6B"/>
                </a:solidFill>
                <a:latin typeface="Montserrat"/>
                <a:ea typeface="Montserrat"/>
              </a:rPr>
              <a:t>3,5 мес</a:t>
            </a:r>
            <a:endParaRPr lang="en-US" sz="2000" noProof="1"/>
          </a:p>
        </p:txBody>
      </p:sp>
      <p:sp>
        <p:nvSpPr>
          <p:cNvPr id="20" name="m4-label"/>
          <p:cNvSpPr txBox="1"/>
          <p:nvPr/>
        </p:nvSpPr>
        <p:spPr>
          <a:xfrm>
            <a:off x="7442200" y="4089401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00" noProof="1">
                <a:solidFill>
                  <a:srgbClr val="8C98A8"/>
                </a:solidFill>
                <a:latin typeface="Inter"/>
                <a:ea typeface="Inter"/>
              </a:rPr>
              <a:t>средний цикл сделки</a:t>
            </a:r>
            <a:endParaRPr lang="en-US" sz="900" noProof="1"/>
          </a:p>
        </p:txBody>
      </p:sp>
      <p:sp>
        <p:nvSpPr>
          <p:cNvPr id="21" name="m-div4"/>
          <p:cNvSpPr/>
          <p:nvPr/>
        </p:nvSpPr>
        <p:spPr>
          <a:xfrm>
            <a:off x="9296400" y="3708401"/>
            <a:ext cx="12700" cy="5842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22" name="m5-num"/>
          <p:cNvSpPr txBox="1"/>
          <p:nvPr/>
        </p:nvSpPr>
        <p:spPr>
          <a:xfrm>
            <a:off x="9499600" y="3683001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C97B2D"/>
                </a:solidFill>
                <a:latin typeface="Montserrat"/>
                <a:ea typeface="Montserrat"/>
              </a:rPr>
              <a:t>+30%</a:t>
            </a:r>
            <a:endParaRPr lang="en-US" sz="2000" noProof="1"/>
          </a:p>
        </p:txBody>
      </p:sp>
      <p:sp>
        <p:nvSpPr>
          <p:cNvPr id="23" name="m5-label"/>
          <p:cNvSpPr txBox="1"/>
          <p:nvPr/>
        </p:nvSpPr>
        <p:spPr>
          <a:xfrm>
            <a:off x="9499600" y="4089401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900" noProof="1">
                <a:solidFill>
                  <a:srgbClr val="8C98A8"/>
                </a:solidFill>
                <a:latin typeface="Inter"/>
                <a:ea typeface="Inter"/>
              </a:rPr>
              <a:t>цель по ARR на год</a:t>
            </a:r>
            <a:endParaRPr lang="en-US" sz="900" noProof="1"/>
          </a:p>
        </p:txBody>
      </p:sp>
      <p:sp>
        <p:nvSpPr>
          <p:cNvPr id="25" name="m1-label">
            <a:extLst>
              <a:ext uri="{FF2B5EF4-FFF2-40B4-BE49-F238E27FC236}">
                <a16:creationId xmlns:a16="http://schemas.microsoft.com/office/drawing/2014/main" id="{94B78C98-4461-8C13-6237-D76AE8377A87}"/>
              </a:ext>
            </a:extLst>
          </p:cNvPr>
          <p:cNvSpPr txBox="1"/>
          <p:nvPr/>
        </p:nvSpPr>
        <p:spPr>
          <a:xfrm>
            <a:off x="994508" y="5864470"/>
            <a:ext cx="3372338" cy="518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1200" b="1" noProof="1">
                <a:solidFill>
                  <a:srgbClr val="8C98A8"/>
                </a:solidFill>
                <a:latin typeface="Inter"/>
                <a:ea typeface="Inter"/>
              </a:rPr>
              <a:t>Алёна Лепилина</a:t>
            </a:r>
            <a:br>
              <a:rPr lang="ru-RU" sz="1200" noProof="1">
                <a:solidFill>
                  <a:srgbClr val="8C98A8"/>
                </a:solidFill>
                <a:latin typeface="Inter"/>
                <a:ea typeface="Inter"/>
              </a:rPr>
            </a:br>
            <a:r>
              <a:rPr lang="ru-RU" sz="1200" noProof="1">
                <a:solidFill>
                  <a:srgbClr val="8C98A8"/>
                </a:solidFill>
                <a:latin typeface="Inter"/>
                <a:ea typeface="Inter"/>
              </a:rPr>
              <a:t>Магистратура «Управление </a:t>
            </a:r>
            <a:r>
              <a:rPr lang="en-US" sz="1200" noProof="1">
                <a:solidFill>
                  <a:srgbClr val="8C98A8"/>
                </a:solidFill>
                <a:latin typeface="Inter"/>
                <a:ea typeface="Inter"/>
              </a:rPr>
              <a:t>IT-</a:t>
            </a:r>
            <a:r>
              <a:rPr lang="ru-RU" sz="1200" noProof="1">
                <a:solidFill>
                  <a:srgbClr val="8C98A8"/>
                </a:solidFill>
                <a:latin typeface="Inter"/>
                <a:ea typeface="Inter"/>
              </a:rPr>
              <a:t>продуктом», 2 курс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АНАЛИЗ РЫНКА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F2937"/>
                </a:solidFill>
                <a:latin typeface="Montserrat"/>
                <a:ea typeface="Montserrat"/>
              </a:rPr>
              <a:t>Спрос растёт под действием </a:t>
            </a:r>
            <a:r>
              <a:rPr lang="ru-RU" sz="2100" b="1" noProof="1">
                <a:solidFill>
                  <a:srgbClr val="1F2937"/>
                </a:solidFill>
                <a:latin typeface="Montserrat"/>
                <a:ea typeface="Montserrat"/>
              </a:rPr>
              <a:t>4 </a:t>
            </a:r>
            <a:r>
              <a:rPr lang="en-US" sz="2100" b="1" noProof="1">
                <a:solidFill>
                  <a:srgbClr val="1F2937"/>
                </a:solidFill>
                <a:latin typeface="Montserrat"/>
                <a:ea typeface="Montserrat"/>
              </a:rPr>
              <a:t>факторов</a:t>
            </a:r>
            <a:r>
              <a:rPr lang="ru-RU" sz="2100" b="1" noProof="1">
                <a:solidFill>
                  <a:srgbClr val="1F2937"/>
                </a:solidFill>
                <a:latin typeface="Montserrat"/>
                <a:ea typeface="Montserrat"/>
              </a:rPr>
              <a:t>, и </a:t>
            </a:r>
            <a:r>
              <a:rPr lang="en-US" sz="2100" b="1" noProof="1">
                <a:solidFill>
                  <a:srgbClr val="1F2937"/>
                </a:solidFill>
                <a:latin typeface="Montserrat"/>
                <a:ea typeface="Montserrat"/>
              </a:rPr>
              <a:t>он отложенный</a:t>
            </a:r>
            <a:endParaRPr lang="en-US" sz="2100" noProof="1"/>
          </a:p>
        </p:txBody>
      </p:sp>
      <p:sp>
        <p:nvSpPr>
          <p:cNvPr id="5" name="left-h"/>
          <p:cNvSpPr txBox="1"/>
          <p:nvPr/>
        </p:nvSpPr>
        <p:spPr>
          <a:xfrm>
            <a:off x="609600" y="13462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Факторы, формирующие спрос на WMS</a:t>
            </a:r>
            <a:endParaRPr lang="en-US" sz="1400" noProof="1"/>
          </a:p>
        </p:txBody>
      </p:sp>
      <p:sp>
        <p:nvSpPr>
          <p:cNvPr id="6" name="f1-num"/>
          <p:cNvSpPr txBox="1"/>
          <p:nvPr/>
        </p:nvSpPr>
        <p:spPr>
          <a:xfrm>
            <a:off x="609600" y="17272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C97B2D"/>
                </a:solidFill>
                <a:latin typeface="Montserrat"/>
                <a:ea typeface="Montserrat"/>
              </a:rPr>
              <a:t>1</a:t>
            </a:r>
            <a:endParaRPr lang="en-US" sz="1700" noProof="1"/>
          </a:p>
        </p:txBody>
      </p:sp>
      <p:sp>
        <p:nvSpPr>
          <p:cNvPr id="7" name="f1-text"/>
          <p:cNvSpPr txBox="1"/>
          <p:nvPr/>
        </p:nvSpPr>
        <p:spPr>
          <a:xfrm>
            <a:off x="1092200" y="1727200"/>
            <a:ext cx="4978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Бум e-commerce.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Растут объёмы заказов и требования к скорости сборки - ручной учёт и Excel перестают справляться, компании «дорастают» до автоматизации склада.</a:t>
            </a:r>
            <a:endParaRPr lang="en-US" sz="1100" noProof="1"/>
          </a:p>
        </p:txBody>
      </p:sp>
      <p:sp>
        <p:nvSpPr>
          <p:cNvPr id="8" name="f2-num"/>
          <p:cNvSpPr txBox="1"/>
          <p:nvPr/>
        </p:nvSpPr>
        <p:spPr>
          <a:xfrm>
            <a:off x="609600" y="25908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C97B2D"/>
                </a:solidFill>
                <a:latin typeface="Montserrat"/>
                <a:ea typeface="Montserrat"/>
              </a:rPr>
              <a:t>2</a:t>
            </a:r>
            <a:endParaRPr lang="en-US" sz="1700" noProof="1"/>
          </a:p>
        </p:txBody>
      </p:sp>
      <p:sp>
        <p:nvSpPr>
          <p:cNvPr id="9" name="f2-text"/>
          <p:cNvSpPr txBox="1"/>
          <p:nvPr/>
        </p:nvSpPr>
        <p:spPr>
          <a:xfrm>
            <a:off x="1092200" y="2590800"/>
            <a:ext cx="4978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Уход зарубежных вендоров.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SAP EWM и Manhattan освободили часть спроса: компании, строившие на них процессы, ищут замену.</a:t>
            </a:r>
            <a:endParaRPr lang="en-US" sz="1100" noProof="1"/>
          </a:p>
        </p:txBody>
      </p:sp>
      <p:sp>
        <p:nvSpPr>
          <p:cNvPr id="10" name="f3-num"/>
          <p:cNvSpPr txBox="1"/>
          <p:nvPr/>
        </p:nvSpPr>
        <p:spPr>
          <a:xfrm>
            <a:off x="609600" y="34544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C97B2D"/>
                </a:solidFill>
                <a:latin typeface="Montserrat"/>
                <a:ea typeface="Montserrat"/>
              </a:rPr>
              <a:t>3</a:t>
            </a:r>
            <a:endParaRPr lang="en-US" sz="1700" noProof="1"/>
          </a:p>
        </p:txBody>
      </p:sp>
      <p:sp>
        <p:nvSpPr>
          <p:cNvPr id="11" name="f3-text"/>
          <p:cNvSpPr txBox="1"/>
          <p:nvPr/>
        </p:nvSpPr>
        <p:spPr>
          <a:xfrm>
            <a:off x="1092200" y="3454400"/>
            <a:ext cx="4978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Курс на импортозамещение ПО.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Российское решение становится доступным и предпочтительным выбором одновременно.</a:t>
            </a:r>
            <a:endParaRPr lang="en-US" sz="1100" noProof="1"/>
          </a:p>
        </p:txBody>
      </p:sp>
      <p:sp>
        <p:nvSpPr>
          <p:cNvPr id="12" name="f4-num"/>
          <p:cNvSpPr txBox="1"/>
          <p:nvPr/>
        </p:nvSpPr>
        <p:spPr>
          <a:xfrm>
            <a:off x="609600" y="4318000"/>
            <a:ext cx="431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C97B2D"/>
                </a:solidFill>
                <a:latin typeface="Montserrat"/>
                <a:ea typeface="Montserrat"/>
              </a:rPr>
              <a:t>4</a:t>
            </a:r>
            <a:endParaRPr lang="en-US" sz="1700" noProof="1"/>
          </a:p>
        </p:txBody>
      </p:sp>
      <p:sp>
        <p:nvSpPr>
          <p:cNvPr id="13" name="f4-text"/>
          <p:cNvSpPr txBox="1"/>
          <p:nvPr/>
        </p:nvSpPr>
        <p:spPr>
          <a:xfrm>
            <a:off x="1092200" y="4318000"/>
            <a:ext cx="4978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Зрелость среднего бизнеса.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Потери от пересортицы и ошибок комплектации уже ощутимы, а 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спроса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на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долги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е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и дороги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е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</a:t>
            </a:r>
            <a:endParaRPr lang="ru-RU" sz="1100" noProof="1">
              <a:solidFill>
                <a:srgbClr val="1F2937"/>
              </a:solidFill>
              <a:latin typeface="Inter"/>
              <a:ea typeface="Inter"/>
            </a:endParaRPr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enterprise-внедрения нет.</a:t>
            </a:r>
            <a:endParaRPr lang="en-US" sz="1100" noProof="1"/>
          </a:p>
        </p:txBody>
      </p:sp>
      <p:sp>
        <p:nvSpPr>
          <p:cNvPr id="14" name="right-divider"/>
          <p:cNvSpPr/>
          <p:nvPr/>
        </p:nvSpPr>
        <p:spPr>
          <a:xfrm>
            <a:off x="6375400" y="1346200"/>
            <a:ext cx="12700" cy="38100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15" name="right-h1"/>
          <p:cNvSpPr txBox="1"/>
          <p:nvPr/>
        </p:nvSpPr>
        <p:spPr>
          <a:xfrm>
            <a:off x="6680200" y="13462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Характер спроса: отложенный и рациональный</a:t>
            </a:r>
            <a:endParaRPr lang="en-US" sz="1400" noProof="1"/>
          </a:p>
        </p:txBody>
      </p:sp>
      <p:sp>
        <p:nvSpPr>
          <p:cNvPr id="16" name="right-body1"/>
          <p:cNvSpPr txBox="1"/>
          <p:nvPr/>
        </p:nvSpPr>
        <p:spPr>
          <a:xfrm>
            <a:off x="6680200" y="1676400"/>
            <a:ext cx="49022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- компания созревает до покупки месяцами;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- решение принимает группа: склад, операционный или ИТ-директор, финдир;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- бюджет планируется заранее, часто на Q4 следующего года;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- средний цикл сделки - 3,5 месяца; горячих запросов в поиске мало.</a:t>
            </a:r>
            <a:endParaRPr lang="en-US" sz="1050" noProof="1"/>
          </a:p>
        </p:txBody>
      </p:sp>
      <p:sp>
        <p:nvSpPr>
          <p:cNvPr id="17" name="right-h2"/>
          <p:cNvSpPr txBox="1"/>
          <p:nvPr/>
        </p:nvSpPr>
        <p:spPr>
          <a:xfrm>
            <a:off x="6680200" y="32766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Почему сейчас окно для облачной WMS</a:t>
            </a:r>
            <a:endParaRPr lang="en-US" sz="1400" noProof="1"/>
          </a:p>
        </p:txBody>
      </p:sp>
      <p:sp>
        <p:nvSpPr>
          <p:cNvPr id="18" name="right-body2"/>
          <p:cNvSpPr txBox="1"/>
          <p:nvPr/>
        </p:nvSpPr>
        <p:spPr>
          <a:xfrm>
            <a:off x="6680200" y="3606800"/>
            <a:ext cx="49022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Средний бизнес готов автоматизироваться, но боится долгих enterprise-внедрений, а коробочные модули на «1С» негибки под сложную логистику.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Между полюсами - незакрытая потребность: система с быстрым запуском, несколькими складами в одном окне и без проекта на полгода. Подписка снимает два барьера: стартовый чек и длинное внедрение.</a:t>
            </a:r>
            <a:endParaRPr lang="en-US" sz="1050" noProof="1"/>
          </a:p>
        </p:txBody>
      </p:sp>
      <p:sp>
        <p:nvSpPr>
          <p:cNvPr id="20" name="concl-text"/>
          <p:cNvSpPr txBox="1"/>
          <p:nvPr/>
        </p:nvSpPr>
        <p:spPr>
          <a:xfrm>
            <a:off x="838200" y="5588000"/>
            <a:ext cx="10744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400" b="1" noProof="1">
                <a:solidFill>
                  <a:srgbClr val="1F2937"/>
                </a:solidFill>
                <a:latin typeface="Inter"/>
                <a:ea typeface="Inter"/>
              </a:rPr>
              <a:t>Вывод для маркетинга:</a:t>
            </a:r>
            <a:r>
              <a:rPr lang="en-US" sz="1400" noProof="1">
                <a:solidFill>
                  <a:srgbClr val="1F2937"/>
                </a:solidFill>
                <a:latin typeface="Inter"/>
                <a:ea typeface="Inter"/>
              </a:rPr>
              <a:t> спрос нельзя собрать в моменте - стратегия строится вокруг накопления и квалификации пайплайна (SQL). Лаг «касание → контракт» - 2-3 квартала</a:t>
            </a:r>
            <a:r>
              <a:rPr lang="ru-RU" sz="1400" noProof="1">
                <a:solidFill>
                  <a:srgbClr val="1F2937"/>
                </a:solidFill>
                <a:latin typeface="Inter"/>
                <a:ea typeface="Inter"/>
              </a:rPr>
              <a:t>. Запущенный сейчас маркетинг </a:t>
            </a:r>
            <a:r>
              <a:rPr lang="en-US" sz="1400" noProof="1">
                <a:solidFill>
                  <a:srgbClr val="1F2937"/>
                </a:solidFill>
                <a:latin typeface="Inter"/>
                <a:ea typeface="Inter"/>
              </a:rPr>
              <a:t>конвертируется в контракты </a:t>
            </a:r>
            <a:r>
              <a:rPr lang="en-US" sz="1400" b="1" noProof="1">
                <a:solidFill>
                  <a:srgbClr val="1F2937"/>
                </a:solidFill>
                <a:latin typeface="Inter"/>
                <a:ea typeface="Inter"/>
              </a:rPr>
              <a:t>следующего</a:t>
            </a:r>
            <a:r>
              <a:rPr lang="en-US" sz="1400" noProof="1">
                <a:solidFill>
                  <a:srgbClr val="1F2937"/>
                </a:solidFill>
                <a:latin typeface="Inter"/>
                <a:ea typeface="Inter"/>
              </a:rPr>
              <a:t> бюджетного года.</a:t>
            </a:r>
            <a:endParaRPr lang="en-US" sz="1400" noProof="1"/>
          </a:p>
        </p:txBody>
      </p:sp>
      <p:sp>
        <p:nvSpPr>
          <p:cNvPr id="21" name="footer-page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2</a:t>
            </a:r>
            <a:endParaRPr lang="en-US" sz="8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АНАЛИЗ РЫНКА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F2937"/>
                </a:solidFill>
                <a:latin typeface="Montserrat"/>
                <a:ea typeface="Montserrat"/>
              </a:rPr>
              <a:t>Стадия жизненного цикла - рост: иерархия игроков ещё не зафиксирована</a:t>
            </a:r>
            <a:endParaRPr lang="en-US" sz="21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68400"/>
            <a:ext cx="10972800" cy="127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5" name="center-divider"/>
          <p:cNvSpPr/>
          <p:nvPr/>
        </p:nvSpPr>
        <p:spPr>
          <a:xfrm>
            <a:off x="6096000" y="1371600"/>
            <a:ext cx="12700" cy="48768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6" name="left-h"/>
          <p:cNvSpPr txBox="1"/>
          <p:nvPr/>
        </p:nvSpPr>
        <p:spPr>
          <a:xfrm>
            <a:off x="609600" y="1371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Стадия жизненного цикла продукта</a:t>
            </a:r>
            <a:endParaRPr lang="en-US" sz="1400" noProof="1"/>
          </a:p>
        </p:txBody>
      </p:sp>
      <p:sp>
        <p:nvSpPr>
          <p:cNvPr id="7" name="stage-tag"/>
          <p:cNvSpPr txBox="1"/>
          <p:nvPr/>
        </p:nvSpPr>
        <p:spPr>
          <a:xfrm>
            <a:off x="609600" y="17018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B3A6B"/>
                </a:solidFill>
                <a:latin typeface="Montserrat"/>
                <a:ea typeface="Montserrat"/>
              </a:rPr>
              <a:t>Рост</a:t>
            </a:r>
            <a:endParaRPr lang="en-US" sz="2600" noProof="1"/>
          </a:p>
        </p:txBody>
      </p:sp>
      <p:sp>
        <p:nvSpPr>
          <p:cNvPr id="8" name="left-body"/>
          <p:cNvSpPr txBox="1"/>
          <p:nvPr/>
        </p:nvSpPr>
        <p:spPr>
          <a:xfrm>
            <a:off x="609600" y="2362200"/>
            <a:ext cx="5105400" cy="287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ru-RU" sz="1200" noProof="1">
                <a:solidFill>
                  <a:srgbClr val="1F2937"/>
                </a:solidFill>
                <a:latin typeface="Inter"/>
                <a:ea typeface="Inter"/>
              </a:rPr>
              <a:t>  </a:t>
            </a:r>
            <a:r>
              <a:rPr lang="en-US" sz="1200" noProof="1">
                <a:solidFill>
                  <a:srgbClr val="1F2937"/>
                </a:solidFill>
                <a:latin typeface="Inter"/>
                <a:ea typeface="Inter"/>
              </a:rPr>
              <a:t>Рынок растёт (бум e-commerce, импортозамещение), категория не насыщена: спрос только формируется, горячих запросов мало.</a:t>
            </a:r>
            <a:endParaRPr lang="ru-RU" sz="1200" noProof="1">
              <a:solidFill>
                <a:srgbClr val="1F2937"/>
              </a:solidFill>
              <a:latin typeface="Inter"/>
              <a:ea typeface="Inter"/>
            </a:endParaRPr>
          </a:p>
          <a:p>
            <a:pPr algn="l">
              <a:lnSpc>
                <a:spcPct val="145000"/>
              </a:lnSpc>
              <a:spcBef>
                <a:spcPts val="10"/>
              </a:spcBef>
            </a:pPr>
            <a:endParaRPr lang="en-US" sz="1200" noProof="1"/>
          </a:p>
          <a:p>
            <a:pPr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ru-RU" sz="1200" noProof="1">
                <a:solidFill>
                  <a:srgbClr val="1F2937"/>
                </a:solidFill>
                <a:latin typeface="Inter"/>
                <a:ea typeface="Inter"/>
              </a:rPr>
              <a:t>  </a:t>
            </a:r>
            <a:r>
              <a:rPr lang="en-US" sz="1200" noProof="1">
                <a:solidFill>
                  <a:srgbClr val="1F2937"/>
                </a:solidFill>
                <a:latin typeface="Inter"/>
                <a:ea typeface="Inter"/>
              </a:rPr>
              <a:t>Продукт прошёл стадию выхода на рынок: ARR 600 млн ₽, ≈ 400 клиентов, ACV 1,5 млн ₽/год - повторяемая модель продаж и готовые интеграции.</a:t>
            </a:r>
            <a:endParaRPr lang="ru-RU" sz="1200" noProof="1">
              <a:solidFill>
                <a:srgbClr val="1F2937"/>
              </a:solidFill>
              <a:latin typeface="Inter"/>
              <a:ea typeface="Inter"/>
            </a:endParaRPr>
          </a:p>
          <a:p>
            <a:pPr algn="l">
              <a:lnSpc>
                <a:spcPct val="145000"/>
              </a:lnSpc>
              <a:spcBef>
                <a:spcPts val="10"/>
              </a:spcBef>
            </a:pPr>
            <a:endParaRPr lang="en-US" sz="1200" noProof="1"/>
          </a:p>
          <a:p>
            <a:pPr algn="l"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ru-RU" sz="1200" noProof="1">
                <a:solidFill>
                  <a:srgbClr val="1F2937"/>
                </a:solidFill>
                <a:latin typeface="Inter"/>
                <a:ea typeface="Inter"/>
              </a:rPr>
              <a:t>  </a:t>
            </a:r>
            <a:r>
              <a:rPr lang="en-US" sz="1200" noProof="1">
                <a:solidFill>
                  <a:srgbClr val="1F2937"/>
                </a:solidFill>
                <a:latin typeface="Inter"/>
                <a:ea typeface="Inter"/>
              </a:rPr>
              <a:t>Конкурентное поле перестраивается после ухода зарубежных игроков; облачная ниша среднего сегмента обозначена, явного лидера в ней нет.</a:t>
            </a:r>
            <a:endParaRPr lang="en-US" sz="1200" noProof="1"/>
          </a:p>
        </p:txBody>
      </p:sp>
      <p:sp>
        <p:nvSpPr>
          <p:cNvPr id="9" name="left-concl-bar"/>
          <p:cNvSpPr/>
          <p:nvPr/>
        </p:nvSpPr>
        <p:spPr>
          <a:xfrm>
            <a:off x="609600" y="5384800"/>
            <a:ext cx="63500" cy="863600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10" name="left-concl"/>
          <p:cNvSpPr txBox="1"/>
          <p:nvPr/>
        </p:nvSpPr>
        <p:spPr>
          <a:xfrm>
            <a:off x="812800" y="5384800"/>
            <a:ext cx="4927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1F2937"/>
                </a:solidFill>
                <a:latin typeface="Inter"/>
                <a:ea typeface="Inter"/>
              </a:rPr>
              <a:t>Задача фазы роста - скорость захвата позиции в растущем сегменте. Цель +30% нового ARR согласуется с </a:t>
            </a:r>
            <a:r>
              <a:rPr lang="ru-RU" sz="1200" noProof="1">
                <a:solidFill>
                  <a:srgbClr val="1F2937"/>
                </a:solidFill>
                <a:latin typeface="Inter"/>
                <a:ea typeface="Inter"/>
              </a:rPr>
              <a:t>этой фазой.</a:t>
            </a:r>
            <a:endParaRPr lang="en-US" sz="1200" noProof="1"/>
          </a:p>
        </p:txBody>
      </p:sp>
      <p:sp>
        <p:nvSpPr>
          <p:cNvPr id="11" name="right-h"/>
          <p:cNvSpPr txBox="1"/>
          <p:nvPr/>
        </p:nvSpPr>
        <p:spPr>
          <a:xfrm>
            <a:off x="6502400" y="1371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Гипотезы о точках роста</a:t>
            </a:r>
            <a:endParaRPr lang="en-US" sz="1400" noProof="1"/>
          </a:p>
        </p:txBody>
      </p:sp>
      <p:sp>
        <p:nvSpPr>
          <p:cNvPr id="12" name="g1-num"/>
          <p:cNvSpPr txBox="1"/>
          <p:nvPr/>
        </p:nvSpPr>
        <p:spPr>
          <a:xfrm>
            <a:off x="6502400" y="17780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C97B2D"/>
                </a:solidFill>
                <a:latin typeface="Montserrat"/>
                <a:ea typeface="Montserrat"/>
              </a:rPr>
              <a:t>1</a:t>
            </a:r>
            <a:endParaRPr lang="en-US" sz="1500" noProof="1"/>
          </a:p>
        </p:txBody>
      </p:sp>
      <p:sp>
        <p:nvSpPr>
          <p:cNvPr id="13" name="g1-text"/>
          <p:cNvSpPr txBox="1"/>
          <p:nvPr/>
        </p:nvSpPr>
        <p:spPr>
          <a:xfrm>
            <a:off x="6934200" y="1778000"/>
            <a:ext cx="4771292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Работа в бюджетный цикл.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Пайплайн, созревший к Q3, попадает в окно бюджетирования клиентов (Q4) и конвертируется в контракты после утверждения бюджета. Лаг 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«контакт 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→ контракт» 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составляет 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2-3 квартала, он закладывается в годовой план.</a:t>
            </a:r>
            <a:endParaRPr lang="en-US" sz="1100" noProof="1"/>
          </a:p>
        </p:txBody>
      </p:sp>
      <p:sp>
        <p:nvSpPr>
          <p:cNvPr id="14" name="g2-num"/>
          <p:cNvSpPr txBox="1"/>
          <p:nvPr/>
        </p:nvSpPr>
        <p:spPr>
          <a:xfrm>
            <a:off x="6502400" y="31496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C97B2D"/>
                </a:solidFill>
                <a:latin typeface="Montserrat"/>
                <a:ea typeface="Montserrat"/>
              </a:rPr>
              <a:t>2</a:t>
            </a:r>
            <a:endParaRPr lang="en-US" sz="1500" noProof="1"/>
          </a:p>
        </p:txBody>
      </p:sp>
      <p:sp>
        <p:nvSpPr>
          <p:cNvPr id="15" name="g2-text"/>
          <p:cNvSpPr txBox="1"/>
          <p:nvPr/>
        </p:nvSpPr>
        <p:spPr>
          <a:xfrm>
            <a:off x="6934200" y="3149600"/>
            <a:ext cx="46482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Формирование спроса важнее сбора.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Горячих запросов мало - рост идёт за счёт каналов, которые создают спрос (контент/SEO, вебинары, конференции)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 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без масштабирования поиска.</a:t>
            </a:r>
            <a:endParaRPr lang="en-US" sz="1100" noProof="1"/>
          </a:p>
        </p:txBody>
      </p:sp>
      <p:sp>
        <p:nvSpPr>
          <p:cNvPr id="16" name="g3-num"/>
          <p:cNvSpPr txBox="1"/>
          <p:nvPr/>
        </p:nvSpPr>
        <p:spPr>
          <a:xfrm>
            <a:off x="6502400" y="4521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noProof="1">
                <a:solidFill>
                  <a:srgbClr val="C97B2D"/>
                </a:solidFill>
                <a:latin typeface="Montserrat"/>
                <a:ea typeface="Montserrat"/>
              </a:rPr>
              <a:t>3</a:t>
            </a:r>
            <a:endParaRPr lang="en-US" sz="1500" noProof="1"/>
          </a:p>
        </p:txBody>
      </p:sp>
      <p:sp>
        <p:nvSpPr>
          <p:cNvPr id="17" name="g3-text"/>
          <p:cNvSpPr txBox="1"/>
          <p:nvPr/>
        </p:nvSpPr>
        <p:spPr>
          <a:xfrm>
            <a:off x="6934200" y="4521200"/>
            <a:ext cx="4648200" cy="172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Персонализация по ролям - проверяемая гипотеза.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Разделение коммуникации (склад - скорость, ИТ - внедрение, финансы - ROI) должно поднять конверсию MQL→SQL без роста бюджета. Проверка: сравнение конверсии ролевых треков с базовой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 через квартал.</a:t>
            </a:r>
            <a:endParaRPr lang="en-US" sz="11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3</a:t>
            </a:r>
            <a:endParaRPr lang="en-US" sz="8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АНАЛИЗ КОНКУРЕНТОВ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F2937"/>
                </a:solidFill>
                <a:latin typeface="Montserrat"/>
                <a:ea typeface="Montserrat"/>
              </a:rPr>
              <a:t>Ниша облачной WMS занята, но слабо дифференцирована</a:t>
            </a:r>
            <a:endParaRPr lang="en-US" sz="21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68400"/>
            <a:ext cx="10972800" cy="127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pic>
        <p:nvPicPr>
          <p:cNvPr id="5" name="map"/>
          <p:cNvPicPr/>
          <p:nvPr/>
        </p:nvPicPr>
        <p:blipFill>
          <a:blip r:embed="rId2"/>
          <a:srcRect l="-2312" r="-2312"/>
          <a:stretch>
            <a:fillRect/>
          </a:stretch>
        </p:blipFill>
        <p:spPr>
          <a:xfrm>
            <a:off x="508000" y="1295400"/>
            <a:ext cx="6604000" cy="4927600"/>
          </a:xfrm>
          <a:prstGeom prst="rect">
            <a:avLst/>
          </a:prstGeom>
          <a:ln>
            <a:noFill/>
          </a:ln>
        </p:spPr>
      </p:pic>
      <p:sp>
        <p:nvSpPr>
          <p:cNvPr id="7" name="right-h1"/>
          <p:cNvSpPr txBox="1"/>
          <p:nvPr/>
        </p:nvSpPr>
        <p:spPr>
          <a:xfrm>
            <a:off x="7620000" y="1371600"/>
            <a:ext cx="396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Вывод с карты</a:t>
            </a:r>
            <a:endParaRPr lang="en-US" sz="1400" noProof="1"/>
          </a:p>
        </p:txBody>
      </p:sp>
      <p:sp>
        <p:nvSpPr>
          <p:cNvPr id="8" name="right-body1"/>
          <p:cNvSpPr txBox="1"/>
          <p:nvPr/>
        </p:nvSpPr>
        <p:spPr>
          <a:xfrm>
            <a:off x="7620000" y="1701800"/>
            <a:ext cx="3962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Облачный квадрант уже частично занят: Yolka.WMS, INTEKEY Облако, TopLog, Logareon. Все продают по сути одно и то же - быстрый старт, подписка, интеграции. Явного лидера и явного отличия ни у кого нет.</a:t>
            </a:r>
            <a:endParaRPr lang="en-US" sz="1050" noProof="1"/>
          </a:p>
        </p:txBody>
      </p:sp>
      <p:sp>
        <p:nvSpPr>
          <p:cNvPr id="9" name="right-h2"/>
          <p:cNvSpPr txBox="1"/>
          <p:nvPr/>
        </p:nvSpPr>
        <p:spPr>
          <a:xfrm>
            <a:off x="7620000" y="3048000"/>
            <a:ext cx="3962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Уточнения к полю игроков</a:t>
            </a:r>
            <a:endParaRPr lang="en-US" sz="1400" noProof="1"/>
          </a:p>
        </p:txBody>
      </p:sp>
      <p:sp>
        <p:nvSpPr>
          <p:cNvPr id="10" name="right-body2"/>
          <p:cNvSpPr txBox="1"/>
          <p:nvPr/>
        </p:nvSpPr>
        <p:spPr>
          <a:xfrm>
            <a:off x="7620000" y="3378200"/>
            <a:ext cx="3962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- Границы архетипов размыты: у «нишевого» TopLog есть облачное SaaS-направление</a:t>
            </a:r>
            <a:r>
              <a:rPr lang="ru-RU" sz="1050" noProof="1">
                <a:solidFill>
                  <a:srgbClr val="1F2937"/>
                </a:solidFill>
                <a:latin typeface="Inter"/>
                <a:ea typeface="Inter"/>
              </a:rPr>
              <a:t>, то есть 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он прямой конкурент в квадранте.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- Enterprise-вендоры уже движутся в облако: Logareon - продукт AXELOT.</a:t>
            </a:r>
            <a:endParaRPr lang="en-US" sz="105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- Коробки на «1С» забирают низ сегмента; </a:t>
            </a:r>
            <a:endParaRPr lang="en-US" sz="1050" noProof="1"/>
          </a:p>
        </p:txBody>
      </p:sp>
      <p:sp>
        <p:nvSpPr>
          <p:cNvPr id="11" name="right-concl-bar"/>
          <p:cNvSpPr/>
          <p:nvPr/>
        </p:nvSpPr>
        <p:spPr>
          <a:xfrm>
            <a:off x="7620000" y="5435600"/>
            <a:ext cx="63500" cy="8128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12" name="right-concl"/>
          <p:cNvSpPr txBox="1"/>
          <p:nvPr/>
        </p:nvSpPr>
        <p:spPr>
          <a:xfrm>
            <a:off x="7823200" y="5435600"/>
            <a:ext cx="3905738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Задача - </a:t>
            </a: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выиграть сравнение внутри облачного квадранта</a:t>
            </a:r>
            <a:r>
              <a:rPr lang="ru-RU" sz="1050" b="1" noProof="1">
                <a:solidFill>
                  <a:srgbClr val="1F2937"/>
                </a:solidFill>
                <a:latin typeface="Inter"/>
                <a:ea typeface="Inter"/>
              </a:rPr>
              <a:t>, 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отгородиться от enterprise сверху и </a:t>
            </a:r>
            <a:r>
              <a:rPr lang="ru-RU" sz="1050" noProof="1">
                <a:solidFill>
                  <a:srgbClr val="1F2937"/>
                </a:solidFill>
                <a:latin typeface="Inter"/>
                <a:ea typeface="Inter"/>
              </a:rPr>
              <a:t>1С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 снизу.</a:t>
            </a:r>
            <a:endParaRPr lang="en-US" sz="1050" noProof="1"/>
          </a:p>
        </p:txBody>
      </p:sp>
      <p:sp>
        <p:nvSpPr>
          <p:cNvPr id="13" name="map-note"/>
          <p:cNvSpPr txBox="1"/>
          <p:nvPr/>
        </p:nvSpPr>
        <p:spPr>
          <a:xfrm>
            <a:off x="508000" y="6273800"/>
            <a:ext cx="6604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ru-RU" sz="850" noProof="1">
                <a:solidFill>
                  <a:srgbClr val="8C98A8"/>
                </a:solidFill>
                <a:latin typeface="Inter"/>
                <a:ea typeface="Inter"/>
              </a:rPr>
              <a:t>Позиции на карте </a:t>
            </a: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расставлены </a:t>
            </a:r>
            <a:r>
              <a:rPr lang="ru-RU" sz="850" noProof="1">
                <a:solidFill>
                  <a:srgbClr val="8C98A8"/>
                </a:solidFill>
                <a:latin typeface="Inter"/>
                <a:ea typeface="Inter"/>
              </a:rPr>
              <a:t>по качественному анализу</a:t>
            </a: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, </a:t>
            </a:r>
            <a:r>
              <a:rPr lang="ru-RU" sz="850" noProof="1">
                <a:solidFill>
                  <a:srgbClr val="8C98A8"/>
                </a:solidFill>
                <a:latin typeface="Inter"/>
                <a:ea typeface="Inter"/>
              </a:rPr>
              <a:t>так как </a:t>
            </a: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цены и доли конкурентов закрыты</a:t>
            </a:r>
            <a:endParaRPr lang="en-US" sz="85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4</a:t>
            </a:r>
            <a:endParaRPr lang="en-US" sz="8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АНАЛИЗ КОНКУРЕНТОВ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F2937"/>
                </a:solidFill>
                <a:latin typeface="Montserrat"/>
                <a:ea typeface="Montserrat"/>
              </a:rPr>
              <a:t>Рост - через каналы, которые создают спрос, и доказуемое отличие</a:t>
            </a:r>
            <a:endParaRPr lang="en-US" sz="21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68400"/>
            <a:ext cx="10972800" cy="127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5" name="left-h"/>
          <p:cNvSpPr txBox="1"/>
          <p:nvPr/>
        </p:nvSpPr>
        <p:spPr>
          <a:xfrm>
            <a:off x="609600" y="1532790"/>
            <a:ext cx="609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Гипотезы о точках роста</a:t>
            </a:r>
            <a:endParaRPr lang="en-US" sz="1400" noProof="1"/>
          </a:p>
        </p:txBody>
      </p:sp>
      <p:sp>
        <p:nvSpPr>
          <p:cNvPr id="6" name="g1-num"/>
          <p:cNvSpPr txBox="1"/>
          <p:nvPr/>
        </p:nvSpPr>
        <p:spPr>
          <a:xfrm>
            <a:off x="609600" y="2020277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C97B2D"/>
                </a:solidFill>
                <a:latin typeface="Montserrat"/>
                <a:ea typeface="Montserrat"/>
              </a:rPr>
              <a:t>1</a:t>
            </a:r>
            <a:endParaRPr lang="en-US" sz="1400" noProof="1"/>
          </a:p>
        </p:txBody>
      </p:sp>
      <p:sp>
        <p:nvSpPr>
          <p:cNvPr id="7" name="g1-text"/>
          <p:cNvSpPr txBox="1"/>
          <p:nvPr/>
        </p:nvSpPr>
        <p:spPr>
          <a:xfrm>
            <a:off x="1016000" y="2020277"/>
            <a:ext cx="5740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Контент/SEO - главный канал накопления пайплайна</a:t>
            </a:r>
            <a:r>
              <a:rPr lang="ru-RU" sz="1050" b="1" noProof="1">
                <a:solidFill>
                  <a:srgbClr val="1F2937"/>
                </a:solidFill>
                <a:latin typeface="Inter"/>
                <a:ea typeface="Inter"/>
              </a:rPr>
              <a:t>, </a:t>
            </a:r>
            <a:r>
              <a:rPr lang="ru-RU" sz="1050" noProof="1">
                <a:solidFill>
                  <a:srgbClr val="1F2937"/>
                </a:solidFill>
                <a:latin typeface="Inter"/>
                <a:ea typeface="Inter"/>
              </a:rPr>
              <a:t>потому что это е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динственное сочетание «дёшево + качественные MQL»; эффект накапливается кварталами</a:t>
            </a:r>
            <a:r>
              <a:rPr lang="ru-RU" sz="1050" noProof="1">
                <a:solidFill>
                  <a:srgbClr val="1F2937"/>
                </a:solidFill>
                <a:latin typeface="Inter"/>
                <a:ea typeface="Inter"/>
              </a:rPr>
              <a:t>.</a:t>
            </a:r>
            <a:endParaRPr lang="en-US" sz="1050" noProof="1"/>
          </a:p>
        </p:txBody>
      </p:sp>
      <p:sp>
        <p:nvSpPr>
          <p:cNvPr id="8" name="g2-num"/>
          <p:cNvSpPr txBox="1"/>
          <p:nvPr/>
        </p:nvSpPr>
        <p:spPr>
          <a:xfrm>
            <a:off x="609600" y="2858477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C97B2D"/>
                </a:solidFill>
                <a:latin typeface="Montserrat"/>
                <a:ea typeface="Montserrat"/>
              </a:rPr>
              <a:t>2</a:t>
            </a:r>
            <a:endParaRPr lang="en-US" sz="1400" noProof="1"/>
          </a:p>
        </p:txBody>
      </p:sp>
      <p:sp>
        <p:nvSpPr>
          <p:cNvPr id="9" name="g2-text"/>
          <p:cNvSpPr txBox="1"/>
          <p:nvPr/>
        </p:nvSpPr>
        <p:spPr>
          <a:xfrm>
            <a:off x="1016000" y="2858477"/>
            <a:ext cx="5740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Вебинары → SQL через квали</a:t>
            </a:r>
            <a:r>
              <a:rPr lang="ru-RU" sz="1050" b="1" noProof="1">
                <a:solidFill>
                  <a:srgbClr val="1F2937"/>
                </a:solidFill>
                <a:latin typeface="Inter"/>
                <a:ea typeface="Inter"/>
              </a:rPr>
              <a:t>ф</a:t>
            </a: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икацию по ролям.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 Поток MQL уже есть; ролевые треки отсекают нецелевых и поднимают конверсию у тех, у кого бюджетное окно близко.</a:t>
            </a:r>
            <a:endParaRPr lang="en-US" sz="1050" noProof="1"/>
          </a:p>
        </p:txBody>
      </p:sp>
      <p:sp>
        <p:nvSpPr>
          <p:cNvPr id="10" name="g3-num"/>
          <p:cNvSpPr txBox="1"/>
          <p:nvPr/>
        </p:nvSpPr>
        <p:spPr>
          <a:xfrm>
            <a:off x="609600" y="3696677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C97B2D"/>
                </a:solidFill>
                <a:latin typeface="Montserrat"/>
                <a:ea typeface="Montserrat"/>
              </a:rPr>
              <a:t>3</a:t>
            </a:r>
            <a:endParaRPr lang="en-US" sz="1400" noProof="1"/>
          </a:p>
        </p:txBody>
      </p:sp>
      <p:sp>
        <p:nvSpPr>
          <p:cNvPr id="11" name="g3-text"/>
          <p:cNvSpPr txBox="1"/>
          <p:nvPr/>
        </p:nvSpPr>
        <p:spPr>
          <a:xfrm>
            <a:off x="1016000" y="3696677"/>
            <a:ext cx="5740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Конференции - канал крупных сделок.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 Точечное участие: доклад и заранее назначенные встречи с ЛПР вместо стенда ради присутствия - отдача при меньшей стоимости.</a:t>
            </a:r>
            <a:endParaRPr lang="en-US" sz="1050" noProof="1"/>
          </a:p>
        </p:txBody>
      </p:sp>
      <p:sp>
        <p:nvSpPr>
          <p:cNvPr id="12" name="g4-num"/>
          <p:cNvSpPr txBox="1"/>
          <p:nvPr/>
        </p:nvSpPr>
        <p:spPr>
          <a:xfrm>
            <a:off x="609600" y="4570049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C97B2D"/>
                </a:solidFill>
                <a:latin typeface="Montserrat"/>
                <a:ea typeface="Montserrat"/>
              </a:rPr>
              <a:t>4</a:t>
            </a:r>
            <a:endParaRPr lang="en-US" sz="1400" noProof="1"/>
          </a:p>
        </p:txBody>
      </p:sp>
      <p:sp>
        <p:nvSpPr>
          <p:cNvPr id="13" name="g4-text"/>
          <p:cNvSpPr txBox="1"/>
          <p:nvPr/>
        </p:nvSpPr>
        <p:spPr>
          <a:xfrm>
            <a:off x="1016000" y="4570049"/>
            <a:ext cx="5740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Импортозамещение в среднем сегменте.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 Складские подразделения крупных компаний и средний бизнес, ориентировавшийся на SAP EWM и Manhattan, ищут замену. До кейсов миграции - второстепенный трек.</a:t>
            </a:r>
            <a:endParaRPr lang="en-US" sz="1050" noProof="1"/>
          </a:p>
        </p:txBody>
      </p:sp>
      <p:sp>
        <p:nvSpPr>
          <p:cNvPr id="14" name="g5-num"/>
          <p:cNvSpPr txBox="1"/>
          <p:nvPr/>
        </p:nvSpPr>
        <p:spPr>
          <a:xfrm>
            <a:off x="609600" y="5560651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C97B2D"/>
                </a:solidFill>
                <a:latin typeface="Montserrat"/>
                <a:ea typeface="Montserrat"/>
              </a:rPr>
              <a:t>5</a:t>
            </a:r>
            <a:endParaRPr lang="en-US" sz="1400" noProof="1"/>
          </a:p>
        </p:txBody>
      </p:sp>
      <p:sp>
        <p:nvSpPr>
          <p:cNvPr id="15" name="g5-text"/>
          <p:cNvSpPr txBox="1"/>
          <p:nvPr/>
        </p:nvSpPr>
        <p:spPr>
          <a:xfrm>
            <a:off x="1016000" y="5560651"/>
            <a:ext cx="5740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Отказ от масштабирования холодного аутрича.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 Противоречит отложенному спросу и ограничению CAC payback ≤ 12 мес; бюджет переносится в контент и вебинары.</a:t>
            </a:r>
            <a:endParaRPr lang="en-US" sz="1050" noProof="1"/>
          </a:p>
        </p:txBody>
      </p:sp>
      <p:sp>
        <p:nvSpPr>
          <p:cNvPr id="16" name="right-divider"/>
          <p:cNvSpPr/>
          <p:nvPr/>
        </p:nvSpPr>
        <p:spPr>
          <a:xfrm>
            <a:off x="7061200" y="1320800"/>
            <a:ext cx="12700" cy="49276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17" name="right-h"/>
          <p:cNvSpPr txBox="1"/>
          <p:nvPr/>
        </p:nvSpPr>
        <p:spPr>
          <a:xfrm>
            <a:off x="7366000" y="1532790"/>
            <a:ext cx="421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1B3A6B"/>
                </a:solidFill>
                <a:latin typeface="Montserrat"/>
                <a:ea typeface="Montserrat"/>
              </a:rPr>
              <a:t>Точка дифференциации</a:t>
            </a:r>
            <a:endParaRPr lang="en-US" sz="1400" noProof="1"/>
          </a:p>
        </p:txBody>
      </p:sp>
      <p:sp>
        <p:nvSpPr>
          <p:cNvPr id="18" name="right-body"/>
          <p:cNvSpPr txBox="1"/>
          <p:nvPr/>
        </p:nvSpPr>
        <p:spPr>
          <a:xfrm>
            <a:off x="7366000" y="1994877"/>
            <a:ext cx="42164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Внутри облачного квадранта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- выигрывать фактами: реальные сроки старта по собственным проектам, число и глубина готовых интеграций с 1С и маркетплейсами, работа всех складов в одном окне как стандарт.</a:t>
            </a:r>
            <a:endParaRPr lang="en-US" sz="11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Против enterprise и коробок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- «enterprise-возможности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 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без их цены и сроков»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.</a:t>
            </a:r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ru-RU" sz="1100" b="1" noProof="1">
                <a:solidFill>
                  <a:srgbClr val="1F2937"/>
                </a:solidFill>
                <a:latin typeface="Inter"/>
                <a:ea typeface="Inter"/>
              </a:rPr>
              <a:t>Укгрозы: 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enterprise-вендоры уже </a:t>
            </a:r>
            <a:r>
              <a:rPr lang="ru-RU" sz="1100" noProof="1">
                <a:solidFill>
                  <a:srgbClr val="1F2937"/>
                </a:solidFill>
                <a:latin typeface="Inter"/>
                <a:ea typeface="Inter"/>
              </a:rPr>
              <a:t>идут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в облако (Logareon от AXELOT), коробки на 1С удерживают низ сегмента ценой.</a:t>
            </a:r>
            <a:endParaRPr lang="en-US" sz="1100" noProof="1"/>
          </a:p>
        </p:txBody>
      </p:sp>
      <p:sp>
        <p:nvSpPr>
          <p:cNvPr id="19" name="right-concl-bar"/>
          <p:cNvSpPr/>
          <p:nvPr/>
        </p:nvSpPr>
        <p:spPr>
          <a:xfrm>
            <a:off x="7383780" y="4761524"/>
            <a:ext cx="45719" cy="890951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20" name="right-concl"/>
          <p:cNvSpPr txBox="1"/>
          <p:nvPr/>
        </p:nvSpPr>
        <p:spPr>
          <a:xfrm>
            <a:off x="7569200" y="4089400"/>
            <a:ext cx="4013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100" b="1" noProof="1">
                <a:solidFill>
                  <a:srgbClr val="1F2937"/>
                </a:solidFill>
                <a:latin typeface="Inter"/>
                <a:ea typeface="Inter"/>
              </a:rPr>
              <a:t>Обязательная задача:</a:t>
            </a:r>
            <a:r>
              <a:rPr lang="en-US" sz="1100" noProof="1">
                <a:solidFill>
                  <a:srgbClr val="1F2937"/>
                </a:solidFill>
                <a:latin typeface="Inter"/>
                <a:ea typeface="Inter"/>
              </a:rPr>
              <a:t> собрать 2-3 собственных измеримых кейса из базы ≈ 400 клиентов (скорость сборки до/после, срок запуска, снижение ошибок) в первые два квартала контент-плана. </a:t>
            </a:r>
            <a:endParaRPr lang="en-US" sz="1100" noProof="1"/>
          </a:p>
        </p:txBody>
      </p:sp>
      <p:sp>
        <p:nvSpPr>
          <p:cNvPr id="21" name="footer-page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5</a:t>
            </a:r>
            <a:endParaRPr lang="en-US" sz="8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СЕГМЕНТ И УЧАСТНИКИ СДЕЛКИ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F2937"/>
                </a:solidFill>
                <a:latin typeface="Montserrat"/>
                <a:ea typeface="Montserrat"/>
              </a:rPr>
              <a:t>Приоритет - e-commerce 300 млн - 3 млрд ₽</a:t>
            </a:r>
            <a:endParaRPr lang="en-US" sz="2000" noProof="1"/>
          </a:p>
        </p:txBody>
      </p:sp>
      <p:graphicFrame>
        <p:nvGraphicFramePr>
          <p:cNvPr id="5" name="ro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75237"/>
              </p:ext>
            </p:extLst>
          </p:nvPr>
        </p:nvGraphicFramePr>
        <p:xfrm>
          <a:off x="609600" y="1295400"/>
          <a:ext cx="10972800" cy="4808030"/>
        </p:xfrm>
        <a:graphic>
          <a:graphicData uri="http://schemas.openxmlformats.org/drawingml/2006/table">
            <a:tbl>
              <a:tblPr/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6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endParaRPr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B3A6B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Руководитель склада / логистики · инициатор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B3A6B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Операционный или ИТ-директор · ЛПР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B3A6B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Финансовый директор · согласующий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B3A6B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6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Боли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Пересортица, ручной учёт в Excel, ошибки комплектации, зависимость от одного незаменимого сотрудника. </a:t>
                      </a:r>
                      <a:endParaRPr lang="ru-RU" sz="950" noProof="1">
                        <a:solidFill>
                          <a:srgbClr val="1F2937"/>
                        </a:solidFill>
                        <a:latin typeface="Inter"/>
                        <a:ea typeface="Inter"/>
                      </a:endParaRPr>
                    </a:p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Хочет:</a:t>
                      </a: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 порядок и скорость сборки.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Зоопарк систем, риск долгого и дорогого внедрения. </a:t>
                      </a:r>
                      <a:endParaRPr lang="ru-RU" sz="950" noProof="1">
                        <a:solidFill>
                          <a:srgbClr val="1F2937"/>
                        </a:solidFill>
                        <a:latin typeface="Inter"/>
                        <a:ea typeface="Inter"/>
                      </a:endParaRPr>
                    </a:p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Хочет:</a:t>
                      </a: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 быстрый старт, интеграция с «1С», надёжность.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Не видит отдачи от ИТ-затрат. </a:t>
                      </a:r>
                      <a:endParaRPr lang="ru-RU" sz="950" noProof="1">
                        <a:solidFill>
                          <a:srgbClr val="1F2937"/>
                        </a:solidFill>
                        <a:latin typeface="Inter"/>
                        <a:ea typeface="Inter"/>
                      </a:endParaRPr>
                    </a:p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Хочет:</a:t>
                      </a: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 понятную окупаемость - сколько сэкономит на потерях и трудозатратах.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007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Глубинный инсайт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«Если ключевой человек уйдёт или заболеет в разгар сезона, склад встанет». Каждая пересортица в пик - его имя в рассылке руководству. Устал </a:t>
                      </a:r>
                      <a:r>
                        <a:rPr lang="ru-RU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работать в режиме тушения пожаров </a:t>
                      </a: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и </a:t>
                      </a:r>
                      <a:r>
                        <a:rPr lang="ru-RU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быть </a:t>
                      </a: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базой данных.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Его оценивают за сроки, бюджет и отсутствие сбоев. За плечами - проект, который «внедряли полтора года». Боится собственной подписи под календарным планом, который сорвётся.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Каждый год защищает ИТ-бюджет перед собственником, не имея языка для доказательства отдачи. «Дайте цифру, с которой я не буду выглядеть человеком, </a:t>
                      </a:r>
                      <a:r>
                        <a:rPr lang="ru-RU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потратрившим бюджет без выхлопа».</a:t>
                      </a:r>
                      <a:endParaRPr lang="en-US" sz="950" noProof="1">
                        <a:solidFill>
                          <a:srgbClr val="1F2937"/>
                        </a:solidFill>
                        <a:latin typeface="Inter"/>
                        <a:ea typeface="Inter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661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Причина покупки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Переложить знание о складе из головы сотрудника в систему: она сама ведёт кладовщика к ячейке, зависимость от конкретного человека снижается.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Облако снимает проект «на полгода» и инфраструктурную часть; готовые интеграции превращают внедрение в подключение. Он покупает предсказуемость собственного результата.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Разговор на языке потерь: расчёт «стоимости бездействия» против подписки 1,5 млн ₽/год - предсказуемые OPEX вместо капитального проекта.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90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Триггер к действию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Срыв в пик распродажи, штраф маркетплейса, уход ключевого сотрудника.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Инициатива склада совпадает с его планом порядка в системном ландшафте; </a:t>
                      </a:r>
                      <a:endParaRPr lang="ru-RU" sz="950" noProof="1">
                        <a:solidFill>
                          <a:srgbClr val="1F2937"/>
                        </a:solidFill>
                        <a:latin typeface="Inter"/>
                        <a:ea typeface="Inter"/>
                      </a:endParaRPr>
                    </a:p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уход зарубежного вендора требует замены в сжатые сроки.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Расчёт ROI на цифрах клиента; совпадение с окном планирования бюджета (часто Q4).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wner-note-bar"/>
          <p:cNvSpPr/>
          <p:nvPr/>
        </p:nvSpPr>
        <p:spPr>
          <a:xfrm>
            <a:off x="609600" y="6146800"/>
            <a:ext cx="63500" cy="4318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7" name="owner-note"/>
          <p:cNvSpPr txBox="1"/>
          <p:nvPr/>
        </p:nvSpPr>
        <p:spPr>
          <a:xfrm>
            <a:off x="812800" y="6146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1F2937"/>
                </a:solidFill>
                <a:latin typeface="Inter"/>
                <a:ea typeface="Inter"/>
              </a:rPr>
              <a:t>Скрытая четвёртая роль - собственник:</a:t>
            </a:r>
            <a:r>
              <a:rPr lang="en-US" sz="950" noProof="1">
                <a:solidFill>
                  <a:srgbClr val="1F2937"/>
                </a:solidFill>
                <a:latin typeface="Inter"/>
                <a:ea typeface="Inter"/>
              </a:rPr>
              <a:t> финдир защищает бюджет перед ним, поэтому материалы для финдира (ROI-расчёт, одностраничный кейс) должны быть пригодны для пересылки собственнику как есть, без перевода с языка ИТ.</a:t>
            </a:r>
            <a:endParaRPr lang="en-US" sz="950" noProof="1"/>
          </a:p>
        </p:txBody>
      </p:sp>
      <p:sp>
        <p:nvSpPr>
          <p:cNvPr id="8" name="footer-page"/>
          <p:cNvSpPr txBox="1"/>
          <p:nvPr/>
        </p:nvSpPr>
        <p:spPr>
          <a:xfrm>
            <a:off x="11176000" y="6629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6</a:t>
            </a:r>
            <a:endParaRPr lang="en-US" sz="8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ЦЕННОСТНОЕ ПРЕДЛОЖЕНИЕ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000" b="1" noProof="1">
                <a:solidFill>
                  <a:srgbClr val="1F2937"/>
                </a:solidFill>
                <a:latin typeface="Montserrat"/>
                <a:ea typeface="Montserrat"/>
              </a:rPr>
              <a:t>Складу </a:t>
            </a:r>
            <a:r>
              <a:rPr lang="en-US" sz="2000" b="1" noProof="1">
                <a:solidFill>
                  <a:srgbClr val="1F2937"/>
                </a:solidFill>
                <a:latin typeface="Montserrat"/>
                <a:ea typeface="Montserrat"/>
              </a:rPr>
              <a:t>скорость, ИТ </a:t>
            </a:r>
            <a:r>
              <a:rPr lang="ru-RU" sz="2000" b="1" noProof="1">
                <a:solidFill>
                  <a:srgbClr val="1F2937"/>
                </a:solidFill>
                <a:latin typeface="Montserrat"/>
                <a:ea typeface="Montserrat"/>
              </a:rPr>
              <a:t>- </a:t>
            </a:r>
            <a:r>
              <a:rPr lang="en-US" sz="2000" b="1" noProof="1">
                <a:solidFill>
                  <a:srgbClr val="1F2937"/>
                </a:solidFill>
                <a:latin typeface="Montserrat"/>
                <a:ea typeface="Montserrat"/>
              </a:rPr>
              <a:t>внедрение, финансам </a:t>
            </a:r>
            <a:r>
              <a:rPr lang="ru-RU" sz="2000" b="1" noProof="1">
                <a:solidFill>
                  <a:srgbClr val="1F2937"/>
                </a:solidFill>
                <a:latin typeface="Montserrat"/>
                <a:ea typeface="Montserrat"/>
              </a:rPr>
              <a:t>- </a:t>
            </a:r>
            <a:r>
              <a:rPr lang="en-US" sz="2000" b="1" noProof="1">
                <a:solidFill>
                  <a:srgbClr val="1F2937"/>
                </a:solidFill>
                <a:latin typeface="Montserrat"/>
                <a:ea typeface="Montserrat"/>
              </a:rPr>
              <a:t>ROI</a:t>
            </a:r>
            <a:endParaRPr lang="en-US" sz="20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168400"/>
            <a:ext cx="10972800" cy="12700"/>
          </a:xfrm>
          <a:prstGeom prst="rect">
            <a:avLst/>
          </a:prstGeom>
          <a:solidFill>
            <a:srgbClr val="D9DFE8"/>
          </a:solidFill>
          <a:ln>
            <a:noFill/>
          </a:ln>
        </p:spPr>
      </p:sp>
      <p:sp>
        <p:nvSpPr>
          <p:cNvPr id="5" name="pos-label"/>
          <p:cNvSpPr txBox="1"/>
          <p:nvPr/>
        </p:nvSpPr>
        <p:spPr>
          <a:xfrm>
            <a:off x="609600" y="129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50" b="1" noProof="1">
                <a:solidFill>
                  <a:srgbClr val="1B3A6B"/>
                </a:solidFill>
                <a:latin typeface="Montserrat"/>
                <a:ea typeface="Montserrat"/>
              </a:rPr>
              <a:t>ОБЩЕЕ ПОЗИЦИОНИРОВАНИЕ</a:t>
            </a:r>
            <a:endParaRPr lang="en-US" sz="1150" noProof="1"/>
          </a:p>
        </p:txBody>
      </p:sp>
      <p:sp>
        <p:nvSpPr>
          <p:cNvPr id="6" name="pos-bar"/>
          <p:cNvSpPr/>
          <p:nvPr/>
        </p:nvSpPr>
        <p:spPr>
          <a:xfrm>
            <a:off x="609600" y="1600200"/>
            <a:ext cx="63500" cy="812800"/>
          </a:xfrm>
          <a:prstGeom prst="rect">
            <a:avLst/>
          </a:prstGeom>
          <a:solidFill>
            <a:srgbClr val="1B3A6B"/>
          </a:solidFill>
          <a:ln>
            <a:noFill/>
          </a:ln>
        </p:spPr>
      </p:sp>
      <p:sp>
        <p:nvSpPr>
          <p:cNvPr id="7" name="pos-text"/>
          <p:cNvSpPr txBox="1"/>
          <p:nvPr/>
        </p:nvSpPr>
        <p:spPr>
          <a:xfrm>
            <a:off x="812800" y="1574800"/>
            <a:ext cx="107696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Для среднего бизнеса - розничных сетей, e-commerce и дистрибьюторов со складами 1 000-20 000 м², которым enterprise-внедрение дорого и долго, а коробка на «1С» тесна, - </a:t>
            </a:r>
            <a:r>
              <a:rPr lang="en-US" sz="1050" b="1" noProof="1">
                <a:solidFill>
                  <a:srgbClr val="1F2937"/>
                </a:solidFill>
                <a:latin typeface="Inter"/>
                <a:ea typeface="Inter"/>
              </a:rPr>
              <a:t>«СКЛАДИО» является самым быстрым способом получить полноценную WMS среди облачных систем управления складом</a:t>
            </a:r>
            <a:r>
              <a:rPr lang="en-US" sz="1050" noProof="1">
                <a:solidFill>
                  <a:srgbClr val="1F2937"/>
                </a:solidFill>
                <a:latin typeface="Inter"/>
                <a:ea typeface="Inter"/>
              </a:rPr>
              <a:t>: старт занимает недели вместо месяцев, интеграции с «1С» и маркетплейсами готовы из коробки, все склады работают в одном окне, оплата - предсказуемая годовая подписка без капитального проекта.</a:t>
            </a:r>
            <a:endParaRPr lang="en-US" sz="1050" noProof="1"/>
          </a:p>
        </p:txBody>
      </p:sp>
      <p:sp>
        <p:nvSpPr>
          <p:cNvPr id="8" name="col1-rule"/>
          <p:cNvSpPr/>
          <p:nvPr/>
        </p:nvSpPr>
        <p:spPr>
          <a:xfrm>
            <a:off x="609600" y="2667000"/>
            <a:ext cx="3352800" cy="25400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9" name="col1-role"/>
          <p:cNvSpPr txBox="1"/>
          <p:nvPr/>
        </p:nvSpPr>
        <p:spPr>
          <a:xfrm>
            <a:off x="609600" y="27940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1F2937"/>
                </a:solidFill>
                <a:latin typeface="Montserrat"/>
                <a:ea typeface="Montserrat"/>
              </a:rPr>
              <a:t>Руководитель склада / логистики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b="1" noProof="1">
                <a:solidFill>
                  <a:srgbClr val="8C98A8"/>
                </a:solidFill>
                <a:latin typeface="Inter"/>
                <a:ea typeface="Inter"/>
              </a:rPr>
              <a:t>СКОРОСТЬ И ПОРЯДОК</a:t>
            </a:r>
            <a:endParaRPr lang="en-US" sz="1100" noProof="1"/>
          </a:p>
        </p:txBody>
      </p:sp>
      <p:sp>
        <p:nvSpPr>
          <p:cNvPr id="10" name="col1-stmt"/>
          <p:cNvSpPr txBox="1"/>
          <p:nvPr/>
        </p:nvSpPr>
        <p:spPr>
          <a:xfrm>
            <a:off x="609600" y="3327400"/>
            <a:ext cx="33528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1F2937"/>
                </a:solidFill>
                <a:latin typeface="Inter"/>
                <a:ea typeface="Inter"/>
              </a:rPr>
              <a:t>«Склад перестаёт держаться на одном человеке: система сама ведёт кладовщика к ячейке, сборка идёт быстро, пересортица резко сокращается - даже в пик сезона и с новичком в смене».</a:t>
            </a:r>
            <a:endParaRPr lang="en-US" sz="950" noProof="1"/>
          </a:p>
        </p:txBody>
      </p:sp>
      <p:sp>
        <p:nvSpPr>
          <p:cNvPr id="11" name="col1-insight-label"/>
          <p:cNvSpPr txBox="1"/>
          <p:nvPr/>
        </p:nvSpPr>
        <p:spPr>
          <a:xfrm>
            <a:off x="609600" y="45720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b="1" kern="0" spc="150" noProof="1">
                <a:solidFill>
                  <a:srgbClr val="8C98A8"/>
                </a:solidFill>
                <a:latin typeface="Montserrat"/>
                <a:ea typeface="Montserrat"/>
              </a:rPr>
              <a:t>ИНСАЙТ</a:t>
            </a:r>
            <a:endParaRPr lang="en-US" sz="800" noProof="1"/>
          </a:p>
        </p:txBody>
      </p:sp>
      <p:sp>
        <p:nvSpPr>
          <p:cNvPr id="12" name="col1-insight"/>
          <p:cNvSpPr txBox="1"/>
          <p:nvPr/>
        </p:nvSpPr>
        <p:spPr>
          <a:xfrm>
            <a:off x="609599" y="4775200"/>
            <a:ext cx="3546231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1F2937"/>
                </a:solidFill>
                <a:latin typeface="Inter"/>
                <a:ea typeface="Inter"/>
              </a:rPr>
              <a:t>Личный страх: склад встанет без незаменимого сотрудника, а каждая пересортица в пик </a:t>
            </a:r>
            <a:r>
              <a:rPr lang="ru-RU" sz="850" noProof="1">
                <a:solidFill>
                  <a:srgbClr val="1F2937"/>
                </a:solidFill>
                <a:latin typeface="Inter"/>
                <a:ea typeface="Inter"/>
              </a:rPr>
              <a:t>будет атрибутировать вину ему.</a:t>
            </a:r>
            <a:endParaRPr lang="en-US" sz="850" noProof="1"/>
          </a:p>
        </p:txBody>
      </p:sp>
      <p:sp>
        <p:nvSpPr>
          <p:cNvPr id="13" name="col1-formats-label"/>
          <p:cNvSpPr txBox="1"/>
          <p:nvPr/>
        </p:nvSpPr>
        <p:spPr>
          <a:xfrm>
            <a:off x="609600" y="55118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b="1" kern="0" spc="150" noProof="1">
                <a:solidFill>
                  <a:srgbClr val="8C98A8"/>
                </a:solidFill>
                <a:latin typeface="Montserrat"/>
                <a:ea typeface="Montserrat"/>
              </a:rPr>
              <a:t>ФОРМАТЫ</a:t>
            </a:r>
            <a:endParaRPr lang="en-US" sz="800" noProof="1"/>
          </a:p>
        </p:txBody>
      </p:sp>
      <p:sp>
        <p:nvSpPr>
          <p:cNvPr id="14" name="col1-formats"/>
          <p:cNvSpPr txBox="1"/>
          <p:nvPr/>
        </p:nvSpPr>
        <p:spPr>
          <a:xfrm>
            <a:off x="609600" y="5715000"/>
            <a:ext cx="335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Демо «день из жизни склада», разбор «как убрать пересортицу за месяц», калькулятор потерь от ошибок. Внешние эффекты только с пометкой «отраслевой бенчмарк».</a:t>
            </a:r>
            <a:endParaRPr lang="en-US" sz="850" noProof="1"/>
          </a:p>
        </p:txBody>
      </p:sp>
      <p:sp>
        <p:nvSpPr>
          <p:cNvPr id="15" name="col2-rule"/>
          <p:cNvSpPr/>
          <p:nvPr/>
        </p:nvSpPr>
        <p:spPr>
          <a:xfrm>
            <a:off x="4419600" y="2667000"/>
            <a:ext cx="3352800" cy="25400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16" name="col2-role"/>
          <p:cNvSpPr txBox="1"/>
          <p:nvPr/>
        </p:nvSpPr>
        <p:spPr>
          <a:xfrm>
            <a:off x="4419600" y="27940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1F2937"/>
                </a:solidFill>
                <a:latin typeface="Montserrat"/>
                <a:ea typeface="Montserrat"/>
              </a:rPr>
              <a:t>Операционный / ИТ-директор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b="1" noProof="1">
                <a:solidFill>
                  <a:srgbClr val="8C98A8"/>
                </a:solidFill>
                <a:latin typeface="Inter"/>
                <a:ea typeface="Inter"/>
              </a:rPr>
              <a:t>ПРЕДСКАЗУЕМОСТЬ ЗАПУСКА</a:t>
            </a:r>
            <a:endParaRPr lang="en-US" sz="1100" noProof="1"/>
          </a:p>
        </p:txBody>
      </p:sp>
      <p:sp>
        <p:nvSpPr>
          <p:cNvPr id="17" name="col2-stmt"/>
          <p:cNvSpPr txBox="1"/>
          <p:nvPr/>
        </p:nvSpPr>
        <p:spPr>
          <a:xfrm>
            <a:off x="4419600" y="3327400"/>
            <a:ext cx="33528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1F2937"/>
                </a:solidFill>
                <a:latin typeface="Inter"/>
                <a:ea typeface="Inter"/>
              </a:rPr>
              <a:t>«Запуск за недели вместо проекта на полгода: готовые интеграции с 1С и маркетплейсами, обновления и поддержка на стороне вендора - вы отвечаете за результат, инфраструктура остаётся у вендора».</a:t>
            </a:r>
            <a:endParaRPr lang="en-US" sz="950" noProof="1"/>
          </a:p>
        </p:txBody>
      </p:sp>
      <p:sp>
        <p:nvSpPr>
          <p:cNvPr id="18" name="col2-insight-label"/>
          <p:cNvSpPr txBox="1"/>
          <p:nvPr/>
        </p:nvSpPr>
        <p:spPr>
          <a:xfrm>
            <a:off x="4419600" y="45720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b="1" kern="0" spc="150" noProof="1">
                <a:solidFill>
                  <a:srgbClr val="8C98A8"/>
                </a:solidFill>
                <a:latin typeface="Montserrat"/>
                <a:ea typeface="Montserrat"/>
              </a:rPr>
              <a:t>ИНСАЙТ</a:t>
            </a:r>
            <a:endParaRPr lang="en-US" sz="800" noProof="1"/>
          </a:p>
        </p:txBody>
      </p:sp>
      <p:sp>
        <p:nvSpPr>
          <p:cNvPr id="19" name="col2-insight"/>
          <p:cNvSpPr txBox="1"/>
          <p:nvPr/>
        </p:nvSpPr>
        <p:spPr>
          <a:xfrm>
            <a:off x="4419600" y="4775200"/>
            <a:ext cx="3352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1F2937"/>
                </a:solidFill>
                <a:latin typeface="Inter"/>
                <a:ea typeface="Inter"/>
              </a:rPr>
              <a:t>Его оценивают за сроки, бюджет и отсутствие сбоев; боится собственной подписи под календарным планом, который сорвётся.</a:t>
            </a:r>
            <a:endParaRPr lang="en-US" sz="850" noProof="1"/>
          </a:p>
        </p:txBody>
      </p:sp>
      <p:sp>
        <p:nvSpPr>
          <p:cNvPr id="20" name="col2-formats-label"/>
          <p:cNvSpPr txBox="1"/>
          <p:nvPr/>
        </p:nvSpPr>
        <p:spPr>
          <a:xfrm>
            <a:off x="4419600" y="55118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b="1" kern="0" spc="150" noProof="1">
                <a:solidFill>
                  <a:srgbClr val="8C98A8"/>
                </a:solidFill>
                <a:latin typeface="Montserrat"/>
                <a:ea typeface="Montserrat"/>
              </a:rPr>
              <a:t>ФОРМАТЫ</a:t>
            </a:r>
            <a:endParaRPr lang="en-US" sz="800" noProof="1"/>
          </a:p>
        </p:txBody>
      </p:sp>
      <p:sp>
        <p:nvSpPr>
          <p:cNvPr id="21" name="col2-formats"/>
          <p:cNvSpPr txBox="1"/>
          <p:nvPr/>
        </p:nvSpPr>
        <p:spPr>
          <a:xfrm>
            <a:off x="4419600" y="5715000"/>
            <a:ext cx="335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Технический разбор интеграции с 1С (Habr), план пилота на одном складе, чек-лист «что нужно от площадки для старта за N недель». </a:t>
            </a:r>
            <a:endParaRPr lang="en-US" sz="850" noProof="1"/>
          </a:p>
        </p:txBody>
      </p:sp>
      <p:sp>
        <p:nvSpPr>
          <p:cNvPr id="22" name="col3-rule"/>
          <p:cNvSpPr/>
          <p:nvPr/>
        </p:nvSpPr>
        <p:spPr>
          <a:xfrm>
            <a:off x="8229600" y="2667000"/>
            <a:ext cx="3352800" cy="25400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23" name="col3-role"/>
          <p:cNvSpPr txBox="1"/>
          <p:nvPr/>
        </p:nvSpPr>
        <p:spPr>
          <a:xfrm>
            <a:off x="8229600" y="2794000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1F2937"/>
                </a:solidFill>
                <a:latin typeface="Montserrat"/>
                <a:ea typeface="Montserrat"/>
              </a:rPr>
              <a:t>Финансовый директор</a:t>
            </a:r>
            <a:endParaRPr lang="en-US" sz="11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850" b="1" noProof="1">
                <a:solidFill>
                  <a:srgbClr val="8C98A8"/>
                </a:solidFill>
                <a:latin typeface="Inter"/>
                <a:ea typeface="Inter"/>
              </a:rPr>
              <a:t>ПОНЯТНАЯ ОКУПАЕМОСТЬ</a:t>
            </a:r>
            <a:endParaRPr lang="en-US" sz="1100" noProof="1"/>
          </a:p>
        </p:txBody>
      </p:sp>
      <p:sp>
        <p:nvSpPr>
          <p:cNvPr id="24" name="col3-stmt"/>
          <p:cNvSpPr txBox="1"/>
          <p:nvPr/>
        </p:nvSpPr>
        <p:spPr>
          <a:xfrm>
            <a:off x="8229600" y="3327400"/>
            <a:ext cx="33528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1F2937"/>
                </a:solidFill>
                <a:latin typeface="Inter"/>
                <a:ea typeface="Inter"/>
              </a:rPr>
              <a:t>«Считайте стоимость хаоса: пересортица, штрафы маркетплейсов, возвраты и лишние руки в штате стоят дороже подписки - покажем расчёт на ваших цифрах».</a:t>
            </a:r>
            <a:endParaRPr lang="en-US" sz="950" noProof="1"/>
          </a:p>
        </p:txBody>
      </p:sp>
      <p:sp>
        <p:nvSpPr>
          <p:cNvPr id="25" name="col3-insight-label"/>
          <p:cNvSpPr txBox="1"/>
          <p:nvPr/>
        </p:nvSpPr>
        <p:spPr>
          <a:xfrm>
            <a:off x="8229600" y="45720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b="1" kern="0" spc="150" noProof="1">
                <a:solidFill>
                  <a:srgbClr val="8C98A8"/>
                </a:solidFill>
                <a:latin typeface="Montserrat"/>
                <a:ea typeface="Montserrat"/>
              </a:rPr>
              <a:t>ИНСАЙТ</a:t>
            </a:r>
            <a:endParaRPr lang="en-US" sz="800" noProof="1"/>
          </a:p>
        </p:txBody>
      </p:sp>
      <p:sp>
        <p:nvSpPr>
          <p:cNvPr id="26" name="col3-insight"/>
          <p:cNvSpPr txBox="1"/>
          <p:nvPr/>
        </p:nvSpPr>
        <p:spPr>
          <a:xfrm>
            <a:off x="8229600" y="4775200"/>
            <a:ext cx="3352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1F2937"/>
                </a:solidFill>
                <a:latin typeface="Inter"/>
                <a:ea typeface="Inter"/>
              </a:rPr>
              <a:t>Защищает ИТ-бюджет перед собственником без языка для доказательства отдачи; ему нужна цифра для защиты бюджета.</a:t>
            </a:r>
            <a:endParaRPr lang="en-US" sz="850" noProof="1"/>
          </a:p>
        </p:txBody>
      </p:sp>
      <p:sp>
        <p:nvSpPr>
          <p:cNvPr id="27" name="col3-formats-label"/>
          <p:cNvSpPr txBox="1"/>
          <p:nvPr/>
        </p:nvSpPr>
        <p:spPr>
          <a:xfrm>
            <a:off x="8229600" y="55118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b="1" kern="0" spc="150" noProof="1">
                <a:solidFill>
                  <a:srgbClr val="8C98A8"/>
                </a:solidFill>
                <a:latin typeface="Montserrat"/>
                <a:ea typeface="Montserrat"/>
              </a:rPr>
              <a:t>ФОРМАТЫ</a:t>
            </a:r>
            <a:endParaRPr lang="en-US" sz="800" noProof="1"/>
          </a:p>
        </p:txBody>
      </p:sp>
      <p:sp>
        <p:nvSpPr>
          <p:cNvPr id="28" name="col3-formats"/>
          <p:cNvSpPr txBox="1"/>
          <p:nvPr/>
        </p:nvSpPr>
        <p:spPr>
          <a:xfrm>
            <a:off x="8229600" y="5715000"/>
            <a:ext cx="3505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ROI-калькулятор «сколько стоит склад без WMS», одностраничный финансовый кейс для пересылки собственнику «как есть», сравнение «подписка vs капитальный проект».</a:t>
            </a:r>
            <a:endParaRPr lang="en-US" sz="850" noProof="1"/>
          </a:p>
        </p:txBody>
      </p:sp>
      <p:sp>
        <p:nvSpPr>
          <p:cNvPr id="29" name="footer-page"/>
          <p:cNvSpPr txBox="1"/>
          <p:nvPr/>
        </p:nvSpPr>
        <p:spPr>
          <a:xfrm>
            <a:off x="11176000" y="65532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7</a:t>
            </a:r>
            <a:endParaRPr lang="en-US" sz="8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55600"/>
            <a:ext cx="584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kern="0" spc="250" noProof="1">
                <a:solidFill>
                  <a:srgbClr val="1B3A6B"/>
                </a:solidFill>
                <a:latin typeface="Montserrat"/>
                <a:ea typeface="Montserrat"/>
              </a:rPr>
              <a:t>КЛЮЧЕВАЯ МАРКЕТИНГОВАЯ ЗАДАЧА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0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F2937"/>
                </a:solidFill>
                <a:latin typeface="Montserrat"/>
                <a:ea typeface="Montserrat"/>
              </a:rPr>
              <a:t>+25% SQL за 12 месяцев, конверсия MQL→SQL +20%, CAC payback ≤ 12 мес</a:t>
            </a:r>
            <a:endParaRPr lang="en-US" sz="2000" noProof="1"/>
          </a:p>
        </p:txBody>
      </p:sp>
      <p:graphicFrame>
        <p:nvGraphicFramePr>
          <p:cNvPr id="5" name="smart-table"/>
          <p:cNvGraphicFramePr>
            <a:graphicFrameLocks noGrp="1"/>
          </p:cNvGraphicFramePr>
          <p:nvPr/>
        </p:nvGraphicFramePr>
        <p:xfrm>
          <a:off x="609600" y="1295400"/>
          <a:ext cx="10972800" cy="4673600"/>
        </p:xfrm>
        <a:graphic>
          <a:graphicData uri="http://schemas.openxmlformats.org/drawingml/2006/table">
            <a:tbl>
              <a:tblPr/>
              <a:tblGrid>
                <a:gridCol w="1426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6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152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SMART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B3A6B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1000" b="1" noProof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Формулировка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1B3A6B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456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S · Specific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Увеличить поток SQL из приоритетного сегмента (e-commerce 300 млн - 3 млрд ₽, склады 1 000-20 000 м²) и поднять конверсию MQL→SQL: ролевой контент в каналах с доказанной экономикой (Habr, vc.ru, вебинары), дожим вебинарного пула, точечные конференции как доступ к ЛПР, сбор 2-3 собственных кейсов. Холодный обзвон и упор на горячий поиск не масштабируются.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M · Measurable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SQL +25% к базе (база фиксируется в первый месяц); конверсия MQL→SQL +20% относительно базы; цикл сделки ниже базовых 3,5 мес; CAC payback ≤ 12 мес (потолок CAC ≈ 1,0-1,2 млн ₽ при валовой марже 70-80%); ≥ 2 опубликованных кейса. Критерий: +25% к концу Q2 2027 и удержание уровня в Q3 2027.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A · Achievable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Рост достигается без пропорционального роста бюджета: перераспределение из холодного аутрича и квалификация имеющегося потока MQL; контент/SEO уже даёт качественные лиды дёшево, конференции дали две крупные сделки в пайплайне.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R · Relevant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Прямая составляющая бизнес-цели: +30% нового ARR ≈ 120 новых контрактов при ACV 1,5 млн ₽ невозможны без опережающего накопления SQL. Лаг «касание → контракт» 2-3 квартала задаёт годовой горизонт.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4720"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b="1" noProof="1">
                          <a:solidFill>
                            <a:srgbClr val="1B3A6B"/>
                          </a:solidFill>
                          <a:latin typeface="Montserrat"/>
                          <a:ea typeface="Montserrat"/>
                        </a:rPr>
                        <a:t>T · Time-bound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2000"/>
                        </a:lnSpc>
                      </a:pPr>
                      <a:r>
                        <a:rPr lang="en-US" sz="950" noProof="1">
                          <a:solidFill>
                            <a:srgbClr val="1F2937"/>
                          </a:solidFill>
                          <a:latin typeface="Inter"/>
                          <a:ea typeface="Inter"/>
                        </a:rPr>
                        <a:t>Дедлайн - 30.09.2027. Q4 2026 - фиксация базы и разрез клиентов по сегментам; Q1 2027 - SQL ≥ +10%; Q2 2027 - выход на +25% (точка выполнения основной метрики); Q3 2027 - удержание, пайплайн созрел к окну бюджетирования клиентов (Q4).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FE8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mart-note-bar"/>
          <p:cNvSpPr/>
          <p:nvPr/>
        </p:nvSpPr>
        <p:spPr>
          <a:xfrm>
            <a:off x="609600" y="6096000"/>
            <a:ext cx="63500" cy="508000"/>
          </a:xfrm>
          <a:prstGeom prst="rect">
            <a:avLst/>
          </a:prstGeom>
          <a:solidFill>
            <a:srgbClr val="C97B2D"/>
          </a:solidFill>
          <a:ln>
            <a:noFill/>
          </a:ln>
        </p:spPr>
      </p:sp>
      <p:sp>
        <p:nvSpPr>
          <p:cNvPr id="7" name="smart-note"/>
          <p:cNvSpPr txBox="1"/>
          <p:nvPr/>
        </p:nvSpPr>
        <p:spPr>
          <a:xfrm>
            <a:off x="812800" y="60960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950" b="1" noProof="1">
                <a:solidFill>
                  <a:srgbClr val="1F2937"/>
                </a:solidFill>
                <a:latin typeface="Inter"/>
                <a:ea typeface="Inter"/>
              </a:rPr>
              <a:t>Сценарий B:</a:t>
            </a:r>
            <a:r>
              <a:rPr lang="en-US" sz="950" noProof="1">
                <a:solidFill>
                  <a:srgbClr val="1F2937"/>
                </a:solidFill>
                <a:latin typeface="Inter"/>
                <a:ea typeface="Inter"/>
              </a:rPr>
              <a:t> если к концу Q1 2027 прирост SQL ниже +10% - пересмотр канального микса (усиление конференций и работы с тёплой базой отказников) и уточнение сроков с CFO, без форсирования неэффективных каналов.</a:t>
            </a:r>
            <a:endParaRPr lang="en-US" sz="950" noProof="1"/>
          </a:p>
        </p:txBody>
      </p:sp>
      <p:sp>
        <p:nvSpPr>
          <p:cNvPr id="8" name="footer-page"/>
          <p:cNvSpPr txBox="1"/>
          <p:nvPr/>
        </p:nvSpPr>
        <p:spPr>
          <a:xfrm>
            <a:off x="11176000" y="66802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850" noProof="1">
                <a:solidFill>
                  <a:srgbClr val="8C98A8"/>
                </a:solidFill>
                <a:latin typeface="Inter"/>
                <a:ea typeface="Inter"/>
              </a:rPr>
              <a:t>8</a:t>
            </a:r>
            <a:endParaRPr lang="en-US" sz="8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1988</Words>
  <Application>Microsoft Office PowerPoint</Application>
  <PresentationFormat>Widescreen</PresentationFormat>
  <Paragraphs>152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Montserrat</vt:lpstr>
      <vt:lpstr>Inter</vt:lpstr>
      <vt:lpstr>PPTD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СКЛАДИО - Маркетинговый анализ</dc:title>
  <dc:creator>Ethicalt</dc:creator>
  <cp:lastModifiedBy>Honor</cp:lastModifiedBy>
  <cp:revision>1</cp:revision>
  <dcterms:modified xsi:type="dcterms:W3CDTF">2026-09-21T08:54:07Z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