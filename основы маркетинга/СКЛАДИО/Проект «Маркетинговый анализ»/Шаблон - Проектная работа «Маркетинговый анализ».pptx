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df230063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9df230063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9df2300631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9df2300631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3dad3b147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3dad3b14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9df2300631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29df230063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a1399d3e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3a1399d3e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dad3b14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3dad3b14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dad3b14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3dad3b14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dad3b1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3dad3b1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3dad3b14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3dad3b14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dad3b14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3dad3b14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dad3b14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3dad3b14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-5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269875" y="766775"/>
            <a:ext cx="86043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latin typeface="Inter"/>
                <a:ea typeface="Inter"/>
                <a:cs typeface="Inter"/>
                <a:sym typeface="Inter"/>
              </a:rPr>
              <a:t>Проектная работа </a:t>
            </a:r>
            <a:endParaRPr b="1" sz="3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latin typeface="Inter"/>
                <a:ea typeface="Inter"/>
                <a:cs typeface="Inter"/>
                <a:sym typeface="Inter"/>
              </a:rPr>
              <a:t>«Маркетинговый анализ»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ctrTitle"/>
          </p:nvPr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Задачи для B2C</a:t>
            </a:r>
            <a:endParaRPr b="1" sz="3000"/>
          </a:p>
        </p:txBody>
      </p:sp>
      <p:sp>
        <p:nvSpPr>
          <p:cNvPr id="64" name="Google Shape;64;p14"/>
          <p:cNvSpPr/>
          <p:nvPr/>
        </p:nvSpPr>
        <p:spPr>
          <a:xfrm>
            <a:off x="343500" y="1351475"/>
            <a:ext cx="8438700" cy="35259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31306" y="1477924"/>
            <a:ext cx="80631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Провести анализ ситуации: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Проанализируйте рынок: оцените объём и потенциал ниши, посчитайте текущую долю бренда, определите, за счёт какого «пирога» можно расти.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Проведите анализ конкурентов: где на карте «цена ↔ доверие» находится бренд и где свободные зоны. Карта позиционирования по осям «цена ↔ доказательность/доверие» быстро покажет, где бренд может выделиться.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Опишите целевой сегмент через потребность — живого человека с болью и триггером, а не «женщины 25–40». Опишите с помощью ИИ. Приложите промпт, составленный по одной из методик, и результат. Сравните полученные выводы.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Сформулируйте ценностное предложение: почему клиент выберет именно этот бренд.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Поставьте ключевую маркетинговую задачу на запуск по SMART.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ctrTitle"/>
          </p:nvPr>
        </p:nvSpPr>
        <p:spPr>
          <a:xfrm>
            <a:off x="280950" y="766775"/>
            <a:ext cx="561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Задачи для B2В</a:t>
            </a:r>
            <a:endParaRPr b="1" sz="3000"/>
          </a:p>
        </p:txBody>
      </p:sp>
      <p:sp>
        <p:nvSpPr>
          <p:cNvPr id="73" name="Google Shape;73;p15"/>
          <p:cNvSpPr/>
          <p:nvPr/>
        </p:nvSpPr>
        <p:spPr>
          <a:xfrm>
            <a:off x="343500" y="1351475"/>
            <a:ext cx="8438700" cy="35259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31306" y="1477924"/>
            <a:ext cx="80631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Провести анализ ситуации:</a:t>
            </a:r>
            <a:endParaRPr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Проанализируйте рынок: какие факторы формируют спрос, почему сейчас окно для облачной WMS.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Проведите анализ конкурентов: где на карте «сложность/цена внедрения ↔ гибкость» находится продукт и какая зона свободна.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Опишите целевой сегмент и всех участников сделки через их боли (склад, ИТ, финансы).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Сформулируйте ценностное предложение — по одному сообщению на каждую роль.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ru"/>
              <a:t>Поставьте ключевую маркетинговую задачу по SMART (учитывая, что цель — SQL и пайплайн, а не мгновенные продажи).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69875" y="766775"/>
            <a:ext cx="8604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ru" sz="3000"/>
              <a:t>Анализ рынка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</p:txBody>
      </p:sp>
      <p:sp>
        <p:nvSpPr>
          <p:cNvPr id="81" name="Google Shape;81;p16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800" y="3955802"/>
            <a:ext cx="1278375" cy="9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04825" y="1446225"/>
            <a:ext cx="78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Карта конкурентов - текущая ситуация B2C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500"/>
          </a:p>
        </p:txBody>
      </p:sp>
      <p:sp>
        <p:nvSpPr>
          <p:cNvPr id="93" name="Google Shape;93;p17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>
            <a:off x="4517975" y="2059400"/>
            <a:ext cx="0" cy="262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/>
          <p:nvPr/>
        </p:nvCxnSpPr>
        <p:spPr>
          <a:xfrm>
            <a:off x="646675" y="3358950"/>
            <a:ext cx="783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7"/>
          <p:cNvSpPr txBox="1"/>
          <p:nvPr/>
        </p:nvSpPr>
        <p:spPr>
          <a:xfrm>
            <a:off x="4586375" y="20457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Высокая цена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29725" y="34411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Медийность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107250" y="34411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Доказательность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Карта конкурентов - текущая ситуация B2B</a:t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500"/>
          </a:p>
        </p:txBody>
      </p:sp>
      <p:sp>
        <p:nvSpPr>
          <p:cNvPr id="107" name="Google Shape;107;p18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4517975" y="2059400"/>
            <a:ext cx="0" cy="262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8"/>
          <p:cNvCxnSpPr/>
          <p:nvPr/>
        </p:nvCxnSpPr>
        <p:spPr>
          <a:xfrm>
            <a:off x="646675" y="3358950"/>
            <a:ext cx="783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8"/>
          <p:cNvSpPr txBox="1"/>
          <p:nvPr/>
        </p:nvSpPr>
        <p:spPr>
          <a:xfrm>
            <a:off x="4586375" y="20457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Высокая цена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586375" y="42873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Низкая цена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29725" y="34411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Гибкость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806301" y="3441100"/>
            <a:ext cx="45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Сложность внедрения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Карта конкурентов - как позиционироваться</a:t>
            </a:r>
            <a:endParaRPr sz="3500"/>
          </a:p>
        </p:txBody>
      </p:sp>
      <p:sp>
        <p:nvSpPr>
          <p:cNvPr id="122" name="Google Shape;122;p19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46675" y="1934975"/>
            <a:ext cx="79203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Целевая аудитория - промпт</a:t>
            </a:r>
            <a:endParaRPr sz="3500"/>
          </a:p>
        </p:txBody>
      </p:sp>
      <p:sp>
        <p:nvSpPr>
          <p:cNvPr id="132" name="Google Shape;132;p20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646675" y="1934975"/>
            <a:ext cx="792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Целевая аудитория - портрет</a:t>
            </a:r>
            <a:endParaRPr sz="3500"/>
          </a:p>
        </p:txBody>
      </p:sp>
      <p:sp>
        <p:nvSpPr>
          <p:cNvPr id="142" name="Google Shape;142;p21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646675" y="1934975"/>
            <a:ext cx="79203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Целевая аудитория - ценностное предложение</a:t>
            </a:r>
            <a:endParaRPr sz="3500"/>
          </a:p>
        </p:txBody>
      </p:sp>
      <p:sp>
        <p:nvSpPr>
          <p:cNvPr id="152" name="Google Shape;152;p22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050" y="270000"/>
            <a:ext cx="1317950" cy="23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/>
          <p:nvPr/>
        </p:nvSpPr>
        <p:spPr>
          <a:xfrm>
            <a:off x="327400" y="1701750"/>
            <a:ext cx="8431200" cy="3285000"/>
          </a:xfrm>
          <a:prstGeom prst="roundRect">
            <a:avLst>
              <a:gd fmla="val 593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type="ctrTitle"/>
          </p:nvPr>
        </p:nvSpPr>
        <p:spPr>
          <a:xfrm>
            <a:off x="270000" y="763725"/>
            <a:ext cx="86040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/>
              <a:t>Цель по SMART</a:t>
            </a:r>
            <a:endParaRPr sz="3500"/>
          </a:p>
        </p:txBody>
      </p:sp>
      <p:sp>
        <p:nvSpPr>
          <p:cNvPr id="161" name="Google Shape;161;p23"/>
          <p:cNvSpPr/>
          <p:nvPr/>
        </p:nvSpPr>
        <p:spPr>
          <a:xfrm>
            <a:off x="269875" y="270000"/>
            <a:ext cx="2153100" cy="306900"/>
          </a:xfrm>
          <a:prstGeom prst="roundRect">
            <a:avLst>
              <a:gd fmla="val 50000" name="adj"/>
            </a:avLst>
          </a:prstGeom>
          <a:solidFill>
            <a:srgbClr val="FF92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маркетинговые стратегии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2422975" y="270000"/>
            <a:ext cx="1152000" cy="306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" sz="1000">
                <a:solidFill>
                  <a:schemeClr val="dk1"/>
                </a:solidFill>
              </a:rPr>
              <a:t>анализ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