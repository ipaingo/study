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5C00"/>
    <a:srgbClr val="FFF3E8"/>
    <a:srgbClr val="FF9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</c:v>
                </c:pt>
              </c:strCache>
            </c:strRef>
          </c:tx>
          <c:spPr>
            <a:solidFill>
              <a:srgbClr val="FF922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 noProof="1">
                    <a:solidFill>
                      <a:srgbClr val="212121"/>
                    </a:solidFill>
                    <a:latin typeface="Arial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Axelot</c:v>
                </c:pt>
                <c:pt idx="1">
                  <c:v>Novardis</c:v>
                </c:pt>
                <c:pt idx="2">
                  <c:v>КОРУС</c:v>
                </c:pt>
                <c:pt idx="3">
                  <c:v>LogistiX</c:v>
                </c:pt>
                <c:pt idx="4">
                  <c:v>EME</c:v>
                </c:pt>
                <c:pt idx="5">
                  <c:v>Solvo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1150</c:v>
                </c:pt>
                <c:pt idx="1">
                  <c:v>732</c:v>
                </c:pt>
                <c:pt idx="2">
                  <c:v>708</c:v>
                </c:pt>
                <c:pt idx="3">
                  <c:v>520</c:v>
                </c:pt>
                <c:pt idx="4">
                  <c:v>340</c:v>
                </c:pt>
                <c:pt idx="5">
                  <c:v>330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EE2-4B31-8D8F-C2DD95DC1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b="0" i="0" u="none" strike="noStrike" noProof="1">
                <a:solidFill>
                  <a:srgbClr val="595959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00"/>
          <c:min val="0"/>
        </c:scaling>
        <c:delete val="0"/>
        <c:axPos val="b"/>
        <c:majorGridlines>
          <c:spPr>
            <a:ln w="12700">
              <a:solidFill>
                <a:srgbClr val="E0E6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b="0" i="0" u="none" strike="noStrike" noProof="1">
                <a:solidFill>
                  <a:srgbClr val="595959"/>
                </a:solidFill>
                <a:latin typeface="Arial"/>
              </a:defRPr>
            </a:pPr>
            <a:endParaRPr lang="ru-RU"/>
          </a:p>
        </c:txPr>
        <c:crossAx val="1"/>
        <c:crosses val="autoZero"/>
        <c:crossBetween val="between"/>
        <c:majorUnit val="20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Arial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trln</c:v>
                </c:pt>
              </c:strCache>
            </c:strRef>
          </c:tx>
          <c:spPr>
            <a:solidFill>
              <a:srgbClr val="FF922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 noProof="1">
                    <a:solidFill>
                      <a:srgbClr val="212121"/>
                    </a:solidFill>
                    <a:latin typeface="Arial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11.2</c:v>
                </c:pt>
                <c:pt idx="1">
                  <c:v>11.5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1F-4355-BB0B-347DD0A7C1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b="0" i="0" u="none" strike="noStrike" noProof="1">
                <a:solidFill>
                  <a:srgbClr val="595959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"/>
          <c:min val="0"/>
        </c:scaling>
        <c:delete val="0"/>
        <c:axPos val="l"/>
        <c:majorGridlines>
          <c:spPr>
            <a:ln w="12700">
              <a:solidFill>
                <a:srgbClr val="E0E6F1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b="0" i="0" u="none" strike="noStrike" noProof="1">
                <a:solidFill>
                  <a:srgbClr val="595959"/>
                </a:solidFill>
                <a:latin typeface="Arial"/>
              </a:defRPr>
            </a:pPr>
            <a:endParaRPr lang="ru-RU"/>
          </a:p>
        </c:txPr>
        <c:crossAx val="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Arial"/>
        </a:defRPr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pattern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3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4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5" name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6" name="title"/>
          <p:cNvSpPr txBox="1"/>
          <p:nvPr/>
        </p:nvSpPr>
        <p:spPr>
          <a:xfrm>
            <a:off x="361950" y="806086"/>
            <a:ext cx="84201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lang="en-US" sz="3400" b="1" noProof="1">
                <a:solidFill>
                  <a:srgbClr val="212121"/>
                </a:solidFill>
                <a:latin typeface="Inter"/>
                <a:ea typeface="Inter"/>
              </a:rPr>
              <a:t>Маркетинговый анализ</a:t>
            </a:r>
            <a:endParaRPr lang="en-US" sz="1600" noProof="1"/>
          </a:p>
          <a:p>
            <a:pPr algn="l">
              <a:lnSpc>
                <a:spcPct val="130000"/>
              </a:lnSpc>
            </a:pPr>
            <a:r>
              <a:rPr lang="en-US" sz="1900" noProof="1">
                <a:solidFill>
                  <a:srgbClr val="595959"/>
                </a:solidFill>
                <a:latin typeface="Inter"/>
                <a:ea typeface="Inter"/>
              </a:rPr>
              <a:t>Облачная WMS «СКЛАДИО» для среднего бизнеса</a:t>
            </a:r>
            <a:endParaRPr lang="en-US" sz="1600" noProof="1"/>
          </a:p>
        </p:txBody>
      </p:sp>
      <p:sp>
        <p:nvSpPr>
          <p:cNvPr id="7" name="subtitle-block"/>
          <p:cNvSpPr txBox="1"/>
          <p:nvPr/>
        </p:nvSpPr>
        <p:spPr>
          <a:xfrm>
            <a:off x="361950" y="1930399"/>
            <a:ext cx="635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212121"/>
                </a:solidFill>
                <a:latin typeface="Arial"/>
                <a:ea typeface="Arial"/>
              </a:rPr>
              <a:t>Рынок и окно для облачной WMS  ·  Конкуренты и карта позиционирования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212121"/>
                </a:solidFill>
                <a:latin typeface="Arial"/>
                <a:ea typeface="Arial"/>
              </a:rPr>
              <a:t>Целевая аудитория и участники сделки  ·  Ценностное предложение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212121"/>
                </a:solidFill>
                <a:latin typeface="Arial"/>
                <a:ea typeface="Arial"/>
              </a:rPr>
              <a:t>Ключевая задача по SMART</a:t>
            </a:r>
            <a:endParaRPr lang="en-US" sz="16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Кейс: что такое СКЛАДИО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kpi1-num"/>
          <p:cNvSpPr txBox="1"/>
          <p:nvPr/>
        </p:nvSpPr>
        <p:spPr>
          <a:xfrm>
            <a:off x="698499" y="1625600"/>
            <a:ext cx="2069011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FF922D"/>
                </a:solidFill>
                <a:latin typeface="Arial"/>
                <a:ea typeface="Arial"/>
              </a:rPr>
              <a:t>600 млн </a:t>
            </a:r>
            <a:r>
              <a:rPr lang="ru-RU" sz="2600" b="1" noProof="1">
                <a:solidFill>
                  <a:srgbClr val="FF922D"/>
                </a:solidFill>
                <a:latin typeface="Arial"/>
                <a:ea typeface="Arial"/>
              </a:rPr>
              <a:t>руб.</a:t>
            </a:r>
            <a:endParaRPr lang="en-US" sz="1600" noProof="1">
              <a:solidFill>
                <a:srgbClr val="FF922D"/>
              </a:solidFill>
            </a:endParaRPr>
          </a:p>
        </p:txBody>
      </p:sp>
      <p:sp>
        <p:nvSpPr>
          <p:cNvPr id="8" name="kpi1-label"/>
          <p:cNvSpPr txBox="1"/>
          <p:nvPr/>
        </p:nvSpPr>
        <p:spPr>
          <a:xfrm>
            <a:off x="698499" y="2159000"/>
            <a:ext cx="2069011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ARR, годовая регулярная выручка (SaaS-подписка)</a:t>
            </a:r>
            <a:endParaRPr lang="en-US" sz="1000" noProof="1"/>
          </a:p>
        </p:txBody>
      </p:sp>
      <p:sp>
        <p:nvSpPr>
          <p:cNvPr id="9" name="kpi2-num"/>
          <p:cNvSpPr txBox="1"/>
          <p:nvPr/>
        </p:nvSpPr>
        <p:spPr>
          <a:xfrm>
            <a:off x="3070126" y="1625600"/>
            <a:ext cx="1651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FF922D"/>
                </a:solidFill>
                <a:latin typeface="Arial"/>
                <a:ea typeface="Arial"/>
              </a:rPr>
              <a:t>≈ 400</a:t>
            </a:r>
            <a:endParaRPr lang="en-US" sz="1600" noProof="1">
              <a:solidFill>
                <a:srgbClr val="FF922D"/>
              </a:solidFill>
            </a:endParaRPr>
          </a:p>
        </p:txBody>
      </p:sp>
      <p:sp>
        <p:nvSpPr>
          <p:cNvPr id="10" name="kpi2-label"/>
          <p:cNvSpPr txBox="1"/>
          <p:nvPr/>
        </p:nvSpPr>
        <p:spPr>
          <a:xfrm>
            <a:off x="3070126" y="2159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активных клиентов, география РФ + ЕАЭС</a:t>
            </a:r>
            <a:endParaRPr lang="en-US" sz="1000" noProof="1"/>
          </a:p>
        </p:txBody>
      </p:sp>
      <p:sp>
        <p:nvSpPr>
          <p:cNvPr id="11" name="kpi3-num"/>
          <p:cNvSpPr txBox="1"/>
          <p:nvPr/>
        </p:nvSpPr>
        <p:spPr>
          <a:xfrm>
            <a:off x="4748346" y="1625600"/>
            <a:ext cx="2044337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FF922D"/>
                </a:solidFill>
                <a:latin typeface="Arial"/>
                <a:ea typeface="Arial"/>
              </a:rPr>
              <a:t>1,5 млн </a:t>
            </a:r>
            <a:r>
              <a:rPr lang="ru-RU" sz="2600" b="1" noProof="1">
                <a:solidFill>
                  <a:srgbClr val="FF922D"/>
                </a:solidFill>
                <a:latin typeface="Arial"/>
                <a:ea typeface="Arial"/>
              </a:rPr>
              <a:t>руб.</a:t>
            </a:r>
            <a:endParaRPr lang="en-US" sz="1600" noProof="1">
              <a:solidFill>
                <a:srgbClr val="FF922D"/>
              </a:solidFill>
            </a:endParaRPr>
          </a:p>
        </p:txBody>
      </p:sp>
      <p:sp>
        <p:nvSpPr>
          <p:cNvPr id="12" name="kpi3-label"/>
          <p:cNvSpPr txBox="1"/>
          <p:nvPr/>
        </p:nvSpPr>
        <p:spPr>
          <a:xfrm>
            <a:off x="4748347" y="2159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средний контракт (ACV) в год</a:t>
            </a:r>
            <a:endParaRPr lang="en-US" sz="1000" noProof="1"/>
          </a:p>
        </p:txBody>
      </p:sp>
      <p:sp>
        <p:nvSpPr>
          <p:cNvPr id="13" name="kpi4-num"/>
          <p:cNvSpPr txBox="1"/>
          <p:nvPr/>
        </p:nvSpPr>
        <p:spPr>
          <a:xfrm>
            <a:off x="7065912" y="1625600"/>
            <a:ext cx="1379588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FF922D"/>
                </a:solidFill>
                <a:latin typeface="Arial"/>
                <a:ea typeface="Arial"/>
              </a:rPr>
              <a:t>3,5 мес</a:t>
            </a:r>
            <a:endParaRPr lang="en-US" sz="1600" noProof="1">
              <a:solidFill>
                <a:srgbClr val="FF922D"/>
              </a:solidFill>
            </a:endParaRPr>
          </a:p>
        </p:txBody>
      </p:sp>
      <p:sp>
        <p:nvSpPr>
          <p:cNvPr id="14" name="kpi4-label"/>
          <p:cNvSpPr txBox="1"/>
          <p:nvPr/>
        </p:nvSpPr>
        <p:spPr>
          <a:xfrm>
            <a:off x="7065912" y="2159000"/>
            <a:ext cx="1379588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средний цикл сделки</a:t>
            </a:r>
            <a:endParaRPr lang="en-US" sz="1000" noProof="1"/>
          </a:p>
        </p:txBody>
      </p:sp>
      <p:sp>
        <p:nvSpPr>
          <p:cNvPr id="15" name="divide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eyJ2aWV3Qm94IjpbNjEwLDJdLCJwb2ludHMiOiIwLDEgNjEwLDEiLCJjdXJ2ZSI6InNoYXJwIn0</pptd:line>
              </p:ext>
            </p:extLst>
          </p:nvPr>
        </p:nvSpPr>
        <p:spPr>
          <a:xfrm>
            <a:off x="698500" y="2692400"/>
            <a:ext cx="7747000" cy="25400"/>
          </a:xfrm>
          <a:custGeom>
            <a:avLst/>
            <a:gdLst/>
            <a:ahLst/>
            <a:cxnLst/>
            <a:rect l="l" t="t" r="r" b="b"/>
            <a:pathLst>
              <a:path w="610" h="2">
                <a:moveTo>
                  <a:pt x="0" y="1"/>
                </a:moveTo>
                <a:lnTo>
                  <a:pt x="610" y="1"/>
                </a:lnTo>
              </a:path>
            </a:pathLst>
          </a:custGeom>
          <a:noFill/>
          <a:ln w="12700">
            <a:solidFill>
              <a:srgbClr val="DDDDDD"/>
            </a:solidFill>
          </a:ln>
        </p:spPr>
      </p:sp>
      <p:sp>
        <p:nvSpPr>
          <p:cNvPr id="16" name="seg-title"/>
          <p:cNvSpPr txBox="1"/>
          <p:nvPr/>
        </p:nvSpPr>
        <p:spPr>
          <a:xfrm>
            <a:off x="698500" y="2844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12121"/>
                </a:solidFill>
                <a:latin typeface="Arial"/>
                <a:ea typeface="Arial"/>
              </a:rPr>
              <a:t>Целевой клиент — средний бизнес:</a:t>
            </a:r>
            <a:endParaRPr lang="en-US" sz="1500" noProof="1"/>
          </a:p>
        </p:txBody>
      </p:sp>
      <p:sp>
        <p:nvSpPr>
          <p:cNvPr id="17" name="seg-list"/>
          <p:cNvSpPr txBox="1"/>
          <p:nvPr/>
        </p:nvSpPr>
        <p:spPr>
          <a:xfrm>
            <a:off x="698500" y="3149600"/>
            <a:ext cx="4826000" cy="9862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розничные сети 5-50 точек;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e-commerce с оборотом 300 млн – 3 млрд </a:t>
            </a:r>
            <a:r>
              <a:rPr lang="ru-RU" sz="1200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дистрибьюторы;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склады 1 000–20 000 м</a:t>
            </a:r>
            <a:r>
              <a:rPr lang="ru-RU" sz="1200" noProof="1">
                <a:solidFill>
                  <a:srgbClr val="212121"/>
                </a:solidFill>
                <a:latin typeface="Arial"/>
                <a:ea typeface="Arial"/>
              </a:rPr>
              <a:t>2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.</a:t>
            </a:r>
            <a:endParaRPr lang="en-US" sz="1200" noProof="1"/>
          </a:p>
        </p:txBody>
      </p:sp>
      <p:sp>
        <p:nvSpPr>
          <p:cNvPr id="18" name="goal-shape"/>
          <p:cNvSpPr/>
          <p:nvPr/>
        </p:nvSpPr>
        <p:spPr>
          <a:xfrm>
            <a:off x="5842000" y="2895600"/>
            <a:ext cx="2603500" cy="1265646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19" name="goal-text"/>
          <p:cNvSpPr txBox="1"/>
          <p:nvPr/>
        </p:nvSpPr>
        <p:spPr>
          <a:xfrm>
            <a:off x="5994400" y="3022600"/>
            <a:ext cx="23241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100" noProof="1">
                <a:solidFill>
                  <a:srgbClr val="595959"/>
                </a:solidFill>
                <a:latin typeface="Arial"/>
                <a:ea typeface="Arial"/>
              </a:rPr>
              <a:t>БИЗНЕС-ЦЕЛЬ НА ГОД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sz="1500" b="1" noProof="1">
                <a:solidFill>
                  <a:srgbClr val="212121"/>
                </a:solidFill>
                <a:latin typeface="Arial"/>
                <a:ea typeface="Arial"/>
              </a:rPr>
              <a:t>+30% нового ARR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через +25% SQL, рост MQ</a:t>
            </a:r>
            <a:r>
              <a:rPr lang="ru-RU" sz="1000" noProof="1">
                <a:solidFill>
                  <a:srgbClr val="595959"/>
                </a:solidFill>
                <a:latin typeface="Arial"/>
                <a:ea typeface="Arial"/>
              </a:rPr>
              <a:t> -</a:t>
            </a: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&gt; SQL, CAC payback &lt;= 12 мес</a:t>
            </a:r>
            <a:endParaRPr lang="en-US" sz="16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Рынок WMS: что формирует спрос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factors"/>
          <p:cNvSpPr txBox="1"/>
          <p:nvPr/>
        </p:nvSpPr>
        <p:spPr>
          <a:xfrm>
            <a:off x="609599" y="1549400"/>
            <a:ext cx="4347381" cy="312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lang="en-US" sz="1200" b="1" noProof="1">
                <a:solidFill>
                  <a:srgbClr val="212121"/>
                </a:solidFill>
                <a:latin typeface="Arial"/>
                <a:ea typeface="Arial"/>
              </a:rPr>
              <a:t>1. Импортозамещение.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 Уход SAP EWM и Manhattan; Novardis выросла на 74% за 2024 на их замещении.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lang="en-US" sz="1200" b="1" noProof="1">
                <a:solidFill>
                  <a:srgbClr val="212121"/>
                </a:solidFill>
                <a:latin typeface="Arial"/>
                <a:ea typeface="Arial"/>
              </a:rPr>
              <a:t>2. E-commerce и маркетплейсы.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 Онлайн-торговля 2024 — 11,2 трлн </a:t>
            </a:r>
            <a:r>
              <a:rPr lang="ru-RU" sz="1200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 (+39%); WB + Ozon = 77% онлайн-оборота.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lang="en-US" sz="1200" b="1" noProof="1">
                <a:solidFill>
                  <a:srgbClr val="212121"/>
                </a:solidFill>
                <a:latin typeface="Arial"/>
                <a:ea typeface="Arial"/>
              </a:rPr>
              <a:t>3. «Честный </a:t>
            </a:r>
            <a:r>
              <a:rPr lang="ru-RU" sz="1200" b="1" noProof="1">
                <a:solidFill>
                  <a:srgbClr val="212121"/>
                </a:solidFill>
                <a:latin typeface="Arial"/>
                <a:ea typeface="Arial"/>
              </a:rPr>
              <a:t>знак</a:t>
            </a:r>
            <a:r>
              <a:rPr lang="en-US" sz="1200" b="1" noProof="1">
                <a:solidFill>
                  <a:srgbClr val="212121"/>
                </a:solidFill>
                <a:latin typeface="Arial"/>
                <a:ea typeface="Arial"/>
              </a:rPr>
              <a:t>».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 Расширение маркировки: ручной уч</a:t>
            </a:r>
            <a:r>
              <a:rPr lang="ru-RU" sz="1200" noProof="1">
                <a:solidFill>
                  <a:srgbClr val="212121"/>
                </a:solidFill>
                <a:latin typeface="Arial"/>
                <a:ea typeface="Arial"/>
              </a:rPr>
              <a:t>е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т становится рискованным.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lang="en-US" sz="1200" b="1" noProof="1">
                <a:solidFill>
                  <a:srgbClr val="212121"/>
                </a:solidFill>
                <a:latin typeface="Arial"/>
                <a:ea typeface="Arial"/>
              </a:rPr>
              <a:t>4. Кадровый дефицит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 и рост стоимости складского труда.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lang="en-US" sz="1200" b="1" noProof="1">
                <a:solidFill>
                  <a:srgbClr val="212121"/>
                </a:solidFill>
                <a:latin typeface="Arial"/>
                <a:ea typeface="Arial"/>
              </a:rPr>
              <a:t>5. Отложенный спрос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 на фоне высокой ключевой ставки.</a:t>
            </a:r>
            <a:endParaRPr lang="en-US" sz="1600" noProof="1"/>
          </a:p>
        </p:txBody>
      </p:sp>
      <p:graphicFrame>
        <p:nvGraphicFramePr>
          <p:cNvPr id="8" name="chart"/>
          <p:cNvGraphicFramePr/>
          <p:nvPr>
            <p:extLst>
              <p:ext uri="{D42A27DB-BD31-4B8C-83A1-F6EECF244321}">
                <p14:modId xmlns:p14="http://schemas.microsoft.com/office/powerpoint/2010/main" val="3022495223"/>
              </p:ext>
            </p:extLst>
          </p:nvPr>
        </p:nvGraphicFramePr>
        <p:xfrm>
          <a:off x="5050241" y="1498600"/>
          <a:ext cx="3632200" cy="26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chart-caption"/>
          <p:cNvSpPr txBox="1"/>
          <p:nvPr/>
        </p:nvSpPr>
        <p:spPr>
          <a:xfrm>
            <a:off x="5050240" y="4191000"/>
            <a:ext cx="3560359" cy="563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Выручка топ-вендоров от WMS-проектов, 2024, млн </a:t>
            </a:r>
            <a:r>
              <a:rPr lang="ru-RU" sz="1000" noProof="1">
                <a:solidFill>
                  <a:srgbClr val="595959"/>
                </a:solidFill>
                <a:latin typeface="Arial"/>
                <a:ea typeface="Arial"/>
              </a:rPr>
              <a:t>руб.</a:t>
            </a: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 (TAdviser). Средний рост участников рейтинга ≈ +27%; быстрее всех выросла Sevco — +146%.</a:t>
            </a:r>
            <a:endParaRPr lang="en-US" sz="1000" noProof="1"/>
          </a:p>
        </p:txBody>
      </p:sp>
      <p:sp>
        <p:nvSpPr>
          <p:cNvPr id="10" name="market-size"/>
          <p:cNvSpPr txBox="1"/>
          <p:nvPr/>
        </p:nvSpPr>
        <p:spPr>
          <a:xfrm>
            <a:off x="609600" y="4191000"/>
            <a:ext cx="4191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ru-RU" sz="1100" b="1" noProof="1">
                <a:solidFill>
                  <a:srgbClr val="595959"/>
                </a:solidFill>
                <a:latin typeface="Arial"/>
                <a:ea typeface="Arial"/>
              </a:rPr>
              <a:t>Е</a:t>
            </a:r>
            <a:r>
              <a:rPr lang="en-US" sz="1100" b="1" noProof="1">
                <a:solidFill>
                  <a:srgbClr val="595959"/>
                </a:solidFill>
                <a:latin typeface="Arial"/>
                <a:ea typeface="Arial"/>
              </a:rPr>
              <a:t>мкость рынка:</a:t>
            </a:r>
            <a:r>
              <a:rPr lang="en-US" sz="1100" noProof="1">
                <a:solidFill>
                  <a:srgbClr val="595959"/>
                </a:solidFill>
                <a:latin typeface="Arial"/>
                <a:ea typeface="Arial"/>
              </a:rPr>
              <a:t> 5,2 млрд </a:t>
            </a:r>
            <a:r>
              <a:rPr lang="ru-RU" sz="1100" noProof="1">
                <a:solidFill>
                  <a:srgbClr val="595959"/>
                </a:solidFill>
                <a:latin typeface="Arial"/>
                <a:ea typeface="Arial"/>
              </a:rPr>
              <a:t>руб.</a:t>
            </a:r>
            <a:r>
              <a:rPr lang="en-US" sz="1100" noProof="1">
                <a:solidFill>
                  <a:srgbClr val="595959"/>
                </a:solidFill>
                <a:latin typeface="Arial"/>
                <a:ea typeface="Arial"/>
              </a:rPr>
              <a:t> (видимая выручка) – 7–9 млрд </a:t>
            </a:r>
            <a:r>
              <a:rPr lang="ru-RU" sz="1100" noProof="1">
                <a:solidFill>
                  <a:srgbClr val="595959"/>
                </a:solidFill>
                <a:latin typeface="Arial"/>
                <a:ea typeface="Arial"/>
              </a:rPr>
              <a:t>руб.</a:t>
            </a:r>
            <a:r>
              <a:rPr lang="en-US" sz="1100" noProof="1">
                <a:solidFill>
                  <a:srgbClr val="595959"/>
                </a:solidFill>
                <a:latin typeface="Arial"/>
                <a:ea typeface="Arial"/>
              </a:rPr>
              <a:t> (оценки EME / INTEKEY)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Почему окно — сейчас и для облака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reason1-shape"/>
          <p:cNvSpPr/>
          <p:nvPr/>
        </p:nvSpPr>
        <p:spPr>
          <a:xfrm>
            <a:off x="609600" y="1574800"/>
            <a:ext cx="2540000" cy="13716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8" name="reason1"/>
          <p:cNvSpPr txBox="1"/>
          <p:nvPr/>
        </p:nvSpPr>
        <p:spPr>
          <a:xfrm>
            <a:off x="736600" y="16764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noProof="1">
                <a:solidFill>
                  <a:srgbClr val="B35C00"/>
                </a:solidFill>
                <a:latin typeface="Arial"/>
                <a:ea typeface="Arial"/>
              </a:rPr>
              <a:t>Дорогие деньги</a:t>
            </a:r>
            <a:endParaRPr lang="en-US" sz="1600" noProof="1">
              <a:solidFill>
                <a:srgbClr val="B35C00"/>
              </a:solidFill>
            </a:endParaR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Спрос смещается к проектам «с окупаемостью до года и минимальным сроком внедрения» (EME)</a:t>
            </a:r>
            <a:endParaRPr lang="en-US" sz="1600" noProof="1"/>
          </a:p>
        </p:txBody>
      </p:sp>
      <p:sp>
        <p:nvSpPr>
          <p:cNvPr id="9" name="reason2-shape"/>
          <p:cNvSpPr/>
          <p:nvPr/>
        </p:nvSpPr>
        <p:spPr>
          <a:xfrm>
            <a:off x="3327400" y="1574800"/>
            <a:ext cx="2540000" cy="13716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10" name="reason2"/>
          <p:cNvSpPr txBox="1"/>
          <p:nvPr/>
        </p:nvSpPr>
        <p:spPr>
          <a:xfrm>
            <a:off x="3454400" y="16764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noProof="1">
                <a:solidFill>
                  <a:srgbClr val="B35C00"/>
                </a:solidFill>
                <a:latin typeface="Arial"/>
                <a:ea typeface="Arial"/>
              </a:rPr>
              <a:t>SaaS — отдельный тренд</a:t>
            </a:r>
            <a:endParaRPr lang="en-US" sz="1600" noProof="1">
              <a:solidFill>
                <a:srgbClr val="B35C00"/>
              </a:solidFill>
            </a:endParaR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В 2025 зафиксирован рост спроса на облачные SaaS-WMS: быстрый старт и снижение CAPEX (INTEKEY)</a:t>
            </a:r>
            <a:endParaRPr lang="en-US" sz="1600" noProof="1"/>
          </a:p>
        </p:txBody>
      </p:sp>
      <p:sp>
        <p:nvSpPr>
          <p:cNvPr id="11" name="reason3-shape"/>
          <p:cNvSpPr/>
          <p:nvPr/>
        </p:nvSpPr>
        <p:spPr>
          <a:xfrm>
            <a:off x="6045200" y="1574800"/>
            <a:ext cx="2540000" cy="13716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12" name="reason3"/>
          <p:cNvSpPr txBox="1"/>
          <p:nvPr/>
        </p:nvSpPr>
        <p:spPr>
          <a:xfrm>
            <a:off x="6172200" y="16764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noProof="1">
                <a:solidFill>
                  <a:srgbClr val="B35C00"/>
                </a:solidFill>
                <a:latin typeface="Arial"/>
                <a:ea typeface="Arial"/>
              </a:rPr>
              <a:t>Расслоение рынка</a:t>
            </a:r>
            <a:endParaRPr lang="en-US" sz="1600" noProof="1">
              <a:solidFill>
                <a:srgbClr val="B35C00"/>
              </a:solidFill>
            </a:endParaR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Крупные автоматизируются, средний бизнес выжидает → возврат отложенного спроса в 2026: +20–30% (INTEKEY)</a:t>
            </a:r>
            <a:endParaRPr lang="en-US" sz="1600" noProof="1"/>
          </a:p>
        </p:txBody>
      </p:sp>
      <p:graphicFrame>
        <p:nvGraphicFramePr>
          <p:cNvPr id="13" name="chart"/>
          <p:cNvGraphicFramePr/>
          <p:nvPr>
            <p:extLst>
              <p:ext uri="{D42A27DB-BD31-4B8C-83A1-F6EECF244321}">
                <p14:modId xmlns:p14="http://schemas.microsoft.com/office/powerpoint/2010/main" val="1638493318"/>
              </p:ext>
            </p:extLst>
          </p:nvPr>
        </p:nvGraphicFramePr>
        <p:xfrm>
          <a:off x="609600" y="3047274"/>
          <a:ext cx="3810000" cy="154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chart-caption"/>
          <p:cNvSpPr txBox="1"/>
          <p:nvPr/>
        </p:nvSpPr>
        <p:spPr>
          <a:xfrm>
            <a:off x="609600" y="4552587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Интернет-торговля РФ, трлн </a:t>
            </a:r>
            <a:r>
              <a:rPr lang="ru-RU" sz="1000" noProof="1">
                <a:solidFill>
                  <a:srgbClr val="595959"/>
                </a:solidFill>
                <a:latin typeface="Arial"/>
                <a:ea typeface="Arial"/>
              </a:rPr>
              <a:t>руб.</a:t>
            </a: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 (АКИТ, Data Insight)</a:t>
            </a:r>
            <a:endParaRPr lang="en-US" sz="1000" noProof="1"/>
          </a:p>
        </p:txBody>
      </p:sp>
      <p:sp>
        <p:nvSpPr>
          <p:cNvPr id="15" name="window-note"/>
          <p:cNvSpPr txBox="1"/>
          <p:nvPr/>
        </p:nvSpPr>
        <p:spPr>
          <a:xfrm>
            <a:off x="4826000" y="3102973"/>
            <a:ext cx="37592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b="1" noProof="1">
                <a:solidFill>
                  <a:srgbClr val="212121"/>
                </a:solidFill>
                <a:latin typeface="Arial"/>
                <a:ea typeface="Arial"/>
              </a:rPr>
              <a:t>Окно СКЛАДИО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Enterprise не опускается по цене (&gt;15 млн </a:t>
            </a:r>
            <a:r>
              <a:rPr lang="ru-RU" sz="1100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, до года), «1С» не поднимается по гибкости, л</a:t>
            </a:r>
            <a:r>
              <a:rPr lang="ru-RU" sz="1100" noProof="1">
                <a:solidFill>
                  <a:srgbClr val="212121"/>
                </a:solidFill>
                <a:latin typeface="Arial"/>
                <a:ea typeface="Arial"/>
              </a:rPr>
              <a:t>е</a:t>
            </a: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гкие облака не тянут масштаб сетей.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595959"/>
                </a:solidFill>
                <a:latin typeface="Arial"/>
                <a:ea typeface="Arial"/>
              </a:rPr>
              <a:t>Оценка горизонта окна: 1–2 года — облачные линейки Axelot (Logareon) и INTEKEY уже растут.</a:t>
            </a:r>
            <a:endParaRPr lang="en-US" sz="16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Конкурентное поле: четыре архетипа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090"/>
            </a:avLst>
          </a:prstGeom>
          <a:solidFill>
            <a:srgbClr val="FFFFFF"/>
          </a:solidFill>
          <a:ln>
            <a:noFill/>
          </a:ln>
        </p:spPr>
      </p:sp>
      <p:graphicFrame>
        <p:nvGraphicFramePr>
          <p:cNvPr id="7" name="arch-table"/>
          <p:cNvGraphicFramePr>
            <a:graphicFrameLocks noGrp="1"/>
          </p:cNvGraphicFramePr>
          <p:nvPr/>
        </p:nvGraphicFramePr>
        <p:xfrm>
          <a:off x="609600" y="1549400"/>
          <a:ext cx="7899400" cy="3098800"/>
        </p:xfrm>
        <a:graphic>
          <a:graphicData uri="http://schemas.openxmlformats.org/drawingml/2006/table">
            <a:tbl>
              <a:tblPr/>
              <a:tblGrid>
                <a:gridCol w="157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2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844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Архетип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Примеры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Сил</a:t>
                      </a:r>
                      <a:r>
                        <a:rPr lang="ru-RU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е</a:t>
                      </a:r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Уязвим для среднего бизнеса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989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Enterprise-WMS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Axelot (1 150 млн </a:t>
                      </a:r>
                      <a:r>
                        <a:rPr lang="ru-RU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руб.</a:t>
                      </a:r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), Solvo, LogistiX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Функционал, крупные сети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Дорого и долго: от 15 млн </a:t>
                      </a:r>
                      <a:r>
                        <a:rPr lang="ru-RU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руб.</a:t>
                      </a:r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, до года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989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Нишевые WMS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EME, TopLog, Sevco (+146%)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Глубина под отрасль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Узкая специализация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989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Коробка на «1С»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1С:WMS, YARUS (2–3 млн </a:t>
                      </a:r>
                      <a:r>
                        <a:rPr lang="ru-RU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руб.</a:t>
                      </a:r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 типовой)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Д</a:t>
                      </a:r>
                      <a:r>
                        <a:rPr lang="ru-RU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е</a:t>
                      </a:r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шево, знакомо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Негибки, много доработок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989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Л</a:t>
                      </a:r>
                      <a:r>
                        <a:rPr lang="ru-RU" sz="1000" b="1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е</a:t>
                      </a:r>
                      <a:r>
                        <a:rPr lang="en-US" sz="1000" b="1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гкие облака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YOLKA (от 60 тыс. </a:t>
                      </a:r>
                      <a:r>
                        <a:rPr lang="ru-RU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руб.</a:t>
                      </a:r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/мес), АСП.Склад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Старт за дни, д</a:t>
                      </a:r>
                      <a:r>
                        <a:rPr lang="ru-RU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е</a:t>
                      </a:r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шево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Малый бизнес, до ~500 заказов/день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Карта позиционирования: где свободно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199"/>
            <a:ext cx="8432800" cy="3166327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zone"/>
          <p:cNvSpPr/>
          <p:nvPr/>
        </p:nvSpPr>
        <p:spPr>
          <a:xfrm>
            <a:off x="3556000" y="1625600"/>
            <a:ext cx="2667000" cy="1651000"/>
          </a:xfrm>
          <a:prstGeom prst="roundRect">
            <a:avLst>
              <a:gd name="adj" fmla="val 10000"/>
            </a:avLst>
          </a:prstGeom>
          <a:solidFill>
            <a:srgbClr val="FFE9D6"/>
          </a:solidFill>
          <a:ln w="19050">
            <a:solidFill>
              <a:srgbClr val="FF922D"/>
            </a:solidFill>
            <a:prstDash val="dash"/>
          </a:ln>
        </p:spPr>
      </p:sp>
      <p:sp>
        <p:nvSpPr>
          <p:cNvPr id="8" name="zone-label"/>
          <p:cNvSpPr txBox="1"/>
          <p:nvPr/>
        </p:nvSpPr>
        <p:spPr>
          <a:xfrm>
            <a:off x="3657600" y="1701800"/>
            <a:ext cx="2463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00" b="1" noProof="1">
                <a:solidFill>
                  <a:srgbClr val="B35C00"/>
                </a:solidFill>
                <a:latin typeface="Arial"/>
                <a:ea typeface="Arial"/>
              </a:rPr>
              <a:t>СВОБОДНАЯ ЗОНА: средняя цена × высокая гибкость</a:t>
            </a:r>
            <a:endParaRPr lang="en-US" sz="900" noProof="1"/>
          </a:p>
        </p:txBody>
      </p:sp>
      <p:sp>
        <p:nvSpPr>
          <p:cNvPr id="11" name="axis-y-label"/>
          <p:cNvSpPr txBox="1"/>
          <p:nvPr/>
        </p:nvSpPr>
        <p:spPr>
          <a:xfrm>
            <a:off x="508000" y="1488069"/>
            <a:ext cx="584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Гибкость</a:t>
            </a:r>
            <a:endParaRPr lang="en-US" sz="1000" noProof="1"/>
          </a:p>
        </p:txBody>
      </p:sp>
      <p:sp>
        <p:nvSpPr>
          <p:cNvPr id="12" name="axis-x-label"/>
          <p:cNvSpPr txBox="1"/>
          <p:nvPr/>
        </p:nvSpPr>
        <p:spPr>
          <a:xfrm>
            <a:off x="6654487" y="4292600"/>
            <a:ext cx="1756627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Сложность / цена внедрени</a:t>
            </a:r>
            <a:r>
              <a:rPr lang="ru-RU" sz="1000" noProof="1">
                <a:solidFill>
                  <a:srgbClr val="595959"/>
                </a:solidFill>
                <a:latin typeface="Arial"/>
                <a:ea typeface="Arial"/>
              </a:rPr>
              <a:t>я</a:t>
            </a:r>
            <a:endParaRPr lang="en-US" sz="1000" noProof="1"/>
          </a:p>
        </p:txBody>
      </p:sp>
      <p:sp>
        <p:nvSpPr>
          <p:cNvPr id="13" name="dot-1c"/>
          <p:cNvSpPr/>
          <p:nvPr/>
        </p:nvSpPr>
        <p:spPr>
          <a:xfrm>
            <a:off x="1651000" y="4038600"/>
            <a:ext cx="127000" cy="127000"/>
          </a:xfrm>
          <a:prstGeom prst="ellipse">
            <a:avLst/>
          </a:prstGeom>
          <a:solidFill>
            <a:srgbClr val="8A84C7"/>
          </a:solidFill>
          <a:ln>
            <a:noFill/>
          </a:ln>
        </p:spPr>
      </p:sp>
      <p:sp>
        <p:nvSpPr>
          <p:cNvPr id="14" name="lbl-1c"/>
          <p:cNvSpPr txBox="1"/>
          <p:nvPr/>
        </p:nvSpPr>
        <p:spPr>
          <a:xfrm>
            <a:off x="1828800" y="39878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212121"/>
                </a:solidFill>
                <a:latin typeface="Arial"/>
                <a:ea typeface="Arial"/>
              </a:rPr>
              <a:t>«1С»-коробка</a:t>
            </a:r>
            <a:endParaRPr lang="en-US" sz="1000" noProof="1"/>
          </a:p>
        </p:txBody>
      </p:sp>
      <p:sp>
        <p:nvSpPr>
          <p:cNvPr id="15" name="dot-light"/>
          <p:cNvSpPr/>
          <p:nvPr/>
        </p:nvSpPr>
        <p:spPr>
          <a:xfrm>
            <a:off x="2095500" y="3403600"/>
            <a:ext cx="127000" cy="127000"/>
          </a:xfrm>
          <a:prstGeom prst="ellipse">
            <a:avLst/>
          </a:prstGeom>
          <a:solidFill>
            <a:srgbClr val="8A84C7"/>
          </a:solidFill>
          <a:ln>
            <a:noFill/>
          </a:ln>
        </p:spPr>
      </p:sp>
      <p:sp>
        <p:nvSpPr>
          <p:cNvPr id="16" name="lbl-light"/>
          <p:cNvSpPr txBox="1"/>
          <p:nvPr/>
        </p:nvSpPr>
        <p:spPr>
          <a:xfrm>
            <a:off x="2273300" y="33528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212121"/>
                </a:solidFill>
                <a:latin typeface="Arial"/>
                <a:ea typeface="Arial"/>
              </a:rPr>
              <a:t>YOLKA, АСП.Склад</a:t>
            </a:r>
            <a:endParaRPr lang="en-US" sz="1000" noProof="1"/>
          </a:p>
        </p:txBody>
      </p:sp>
      <p:sp>
        <p:nvSpPr>
          <p:cNvPr id="17" name="dot-midcloud"/>
          <p:cNvSpPr/>
          <p:nvPr/>
        </p:nvSpPr>
        <p:spPr>
          <a:xfrm>
            <a:off x="3810000" y="3073400"/>
            <a:ext cx="127000" cy="12700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</p:sp>
      <p:sp>
        <p:nvSpPr>
          <p:cNvPr id="18" name="lbl-midcloud"/>
          <p:cNvSpPr txBox="1"/>
          <p:nvPr/>
        </p:nvSpPr>
        <p:spPr>
          <a:xfrm>
            <a:off x="3124200" y="2870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212121"/>
                </a:solidFill>
                <a:latin typeface="Arial"/>
                <a:ea typeface="Arial"/>
              </a:rPr>
              <a:t>InStock, INTEKEY Lite, Logareon</a:t>
            </a:r>
            <a:endParaRPr lang="en-US" sz="1000" noProof="1"/>
          </a:p>
        </p:txBody>
      </p:sp>
      <p:sp>
        <p:nvSpPr>
          <p:cNvPr id="19" name="dot-niche"/>
          <p:cNvSpPr/>
          <p:nvPr/>
        </p:nvSpPr>
        <p:spPr>
          <a:xfrm>
            <a:off x="5969000" y="2032000"/>
            <a:ext cx="127000" cy="1270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20" name="lbl-niche"/>
          <p:cNvSpPr txBox="1"/>
          <p:nvPr/>
        </p:nvSpPr>
        <p:spPr>
          <a:xfrm>
            <a:off x="6146800" y="1981200"/>
            <a:ext cx="1905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212121"/>
                </a:solidFill>
                <a:latin typeface="Arial"/>
                <a:ea typeface="Arial"/>
              </a:rPr>
              <a:t>EME, TopLog, Sevco</a:t>
            </a:r>
            <a:endParaRPr lang="en-US" sz="1000" noProof="1"/>
          </a:p>
        </p:txBody>
      </p:sp>
      <p:sp>
        <p:nvSpPr>
          <p:cNvPr id="21" name="dot-ent"/>
          <p:cNvSpPr/>
          <p:nvPr/>
        </p:nvSpPr>
        <p:spPr>
          <a:xfrm>
            <a:off x="7429500" y="1752600"/>
            <a:ext cx="127000" cy="1270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</p:sp>
      <p:sp>
        <p:nvSpPr>
          <p:cNvPr id="22" name="lbl-ent"/>
          <p:cNvSpPr txBox="1"/>
          <p:nvPr/>
        </p:nvSpPr>
        <p:spPr>
          <a:xfrm>
            <a:off x="7112000" y="15494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212121"/>
                </a:solidFill>
                <a:latin typeface="Arial"/>
                <a:ea typeface="Arial"/>
              </a:rPr>
              <a:t>Axelot, Solvo</a:t>
            </a:r>
            <a:endParaRPr lang="en-US" sz="1000" noProof="1"/>
          </a:p>
        </p:txBody>
      </p:sp>
      <p:sp>
        <p:nvSpPr>
          <p:cNvPr id="23" name="dot-sk"/>
          <p:cNvSpPr/>
          <p:nvPr/>
        </p:nvSpPr>
        <p:spPr>
          <a:xfrm>
            <a:off x="4318000" y="2260600"/>
            <a:ext cx="203200" cy="203200"/>
          </a:xfrm>
          <a:prstGeom prst="star5">
            <a:avLst/>
          </a:prstGeom>
          <a:solidFill>
            <a:srgbClr val="FF922D"/>
          </a:solidFill>
          <a:ln>
            <a:noFill/>
          </a:ln>
        </p:spPr>
      </p:sp>
      <p:sp>
        <p:nvSpPr>
          <p:cNvPr id="24" name="lbl-sk"/>
          <p:cNvSpPr txBox="1"/>
          <p:nvPr/>
        </p:nvSpPr>
        <p:spPr>
          <a:xfrm>
            <a:off x="4597400" y="2260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212121"/>
                </a:solidFill>
                <a:latin typeface="Arial"/>
                <a:ea typeface="Arial"/>
              </a:rPr>
              <a:t>СКЛАДИО</a:t>
            </a:r>
            <a:endParaRPr lang="en-US" sz="1200" noProof="1"/>
          </a:p>
        </p:txBody>
      </p:sp>
      <p:sp>
        <p:nvSpPr>
          <p:cNvPr id="25" name="note"/>
          <p:cNvSpPr txBox="1"/>
          <p:nvPr/>
        </p:nvSpPr>
        <p:spPr>
          <a:xfrm>
            <a:off x="558800" y="4597926"/>
            <a:ext cx="7924800" cy="431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Enterprise не опускается по цене, «1С» не поднимается по гибкости, л</a:t>
            </a:r>
            <a:r>
              <a:rPr lang="ru-RU" sz="1000" noProof="1">
                <a:solidFill>
                  <a:srgbClr val="595959"/>
                </a:solidFill>
                <a:latin typeface="Arial"/>
                <a:ea typeface="Arial"/>
              </a:rPr>
              <a:t>е</a:t>
            </a: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гкие облака не растут в функционале достаточно быстро для сетей. Позиция СКЛАДИО — середина карты со смещением вверх.</a:t>
            </a:r>
            <a:endParaRPr lang="en-US" sz="1000" noProof="1"/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110F946A-3248-4CFE-A743-0C836A07E844}"/>
              </a:ext>
            </a:extLst>
          </p:cNvPr>
          <p:cNvCxnSpPr/>
          <p:nvPr/>
        </p:nvCxnSpPr>
        <p:spPr>
          <a:xfrm flipV="1">
            <a:off x="1134174" y="1488069"/>
            <a:ext cx="0" cy="275466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4C43CC31-066F-48C8-8EE6-E32083F1E6DE}"/>
              </a:ext>
            </a:extLst>
          </p:cNvPr>
          <p:cNvCxnSpPr>
            <a:cxnSpLocks/>
          </p:cNvCxnSpPr>
          <p:nvPr/>
        </p:nvCxnSpPr>
        <p:spPr>
          <a:xfrm>
            <a:off x="1134174" y="4242730"/>
            <a:ext cx="723512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Целевой сегмент: ядро и периферия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seg-title"/>
          <p:cNvSpPr txBox="1"/>
          <p:nvPr/>
        </p:nvSpPr>
        <p:spPr>
          <a:xfrm>
            <a:off x="609600" y="14986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12121"/>
                </a:solidFill>
                <a:latin typeface="Arial"/>
                <a:ea typeface="Arial"/>
              </a:rPr>
              <a:t>Четыре подсегмента среднего бизнеса</a:t>
            </a:r>
            <a:endParaRPr lang="en-US" sz="1500" noProof="1"/>
          </a:p>
        </p:txBody>
      </p:sp>
      <p:sp>
        <p:nvSpPr>
          <p:cNvPr id="8" name="segs"/>
          <p:cNvSpPr txBox="1"/>
          <p:nvPr/>
        </p:nvSpPr>
        <p:spPr>
          <a:xfrm>
            <a:off x="609600" y="1803400"/>
            <a:ext cx="4445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розничные сети 5–50 точек;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e-commerce 300 млн – 3 млрд </a:t>
            </a:r>
            <a:r>
              <a:rPr lang="ru-RU" sz="1200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дистрибьюторы;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склады 1 000–20 000 м².</a:t>
            </a:r>
            <a:endParaRPr lang="en-US" sz="1200" noProof="1"/>
          </a:p>
        </p:txBody>
      </p:sp>
      <p:sp>
        <p:nvSpPr>
          <p:cNvPr id="9" name="trig-title"/>
          <p:cNvSpPr txBox="1"/>
          <p:nvPr/>
        </p:nvSpPr>
        <p:spPr>
          <a:xfrm>
            <a:off x="609600" y="30480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12121"/>
                </a:solidFill>
                <a:latin typeface="Arial"/>
                <a:ea typeface="Arial"/>
              </a:rPr>
              <a:t>Подтвержд</a:t>
            </a:r>
            <a:r>
              <a:rPr lang="ru-RU" sz="1500" b="1" noProof="1">
                <a:solidFill>
                  <a:srgbClr val="212121"/>
                </a:solidFill>
                <a:latin typeface="Arial"/>
                <a:ea typeface="Arial"/>
              </a:rPr>
              <a:t>е</a:t>
            </a:r>
            <a:r>
              <a:rPr lang="en-US" sz="1500" b="1" noProof="1">
                <a:solidFill>
                  <a:srgbClr val="212121"/>
                </a:solidFill>
                <a:latin typeface="Arial"/>
                <a:ea typeface="Arial"/>
              </a:rPr>
              <a:t>нные триггеры (события боли)</a:t>
            </a:r>
            <a:endParaRPr lang="en-US" sz="1500" noProof="1"/>
          </a:p>
        </p:txBody>
      </p:sp>
      <p:sp>
        <p:nvSpPr>
          <p:cNvPr id="10" name="trigs"/>
          <p:cNvSpPr txBox="1"/>
          <p:nvPr/>
        </p:nvSpPr>
        <p:spPr>
          <a:xfrm>
            <a:off x="609600" y="3327400"/>
            <a:ext cx="444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пересортица и ошибки комплектации;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штрафы и требования маркетплейсов (FBS/DBS);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маркировка «Честный </a:t>
            </a:r>
            <a:r>
              <a:rPr lang="ru-RU" sz="1200" noProof="1">
                <a:solidFill>
                  <a:srgbClr val="212121"/>
                </a:solidFill>
                <a:latin typeface="Arial"/>
                <a:ea typeface="Arial"/>
              </a:rPr>
              <a:t>знак</a:t>
            </a: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»;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кадровый дефицит и рост нагрузки.</a:t>
            </a:r>
            <a:endParaRPr lang="en-US" sz="1200" noProof="1"/>
          </a:p>
        </p:txBody>
      </p:sp>
      <p:sp>
        <p:nvSpPr>
          <p:cNvPr id="11" name="core-shape"/>
          <p:cNvSpPr/>
          <p:nvPr/>
        </p:nvSpPr>
        <p:spPr>
          <a:xfrm>
            <a:off x="5189034" y="1457093"/>
            <a:ext cx="3319966" cy="13970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</p:spPr>
      </p:sp>
      <p:sp>
        <p:nvSpPr>
          <p:cNvPr id="12" name="core-text"/>
          <p:cNvSpPr txBox="1"/>
          <p:nvPr/>
        </p:nvSpPr>
        <p:spPr>
          <a:xfrm>
            <a:off x="5321300" y="1558693"/>
            <a:ext cx="30353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noProof="1">
                <a:solidFill>
                  <a:srgbClr val="4285F4"/>
                </a:solidFill>
                <a:latin typeface="Arial"/>
                <a:ea typeface="Arial"/>
              </a:rPr>
              <a:t>ЯДРО — боль уже случилась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Горизонт покупки 1–3 мес. Горячий поиск есть, но его мало (Директ: CPC 200–500 </a:t>
            </a:r>
            <a:r>
              <a:rPr lang="ru-RU" sz="1100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, конверсия 3–5%). Задача — забирать спрос.</a:t>
            </a:r>
            <a:endParaRPr lang="en-US" sz="1600" noProof="1"/>
          </a:p>
        </p:txBody>
      </p:sp>
      <p:sp>
        <p:nvSpPr>
          <p:cNvPr id="13" name="per-shape"/>
          <p:cNvSpPr/>
          <p:nvPr/>
        </p:nvSpPr>
        <p:spPr>
          <a:xfrm>
            <a:off x="5189034" y="2946400"/>
            <a:ext cx="3319966" cy="1778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14" name="per-text"/>
          <p:cNvSpPr txBox="1"/>
          <p:nvPr/>
        </p:nvSpPr>
        <p:spPr>
          <a:xfrm>
            <a:off x="5321300" y="3048000"/>
            <a:ext cx="30353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noProof="1">
                <a:solidFill>
                  <a:srgbClr val="B35C00"/>
                </a:solidFill>
                <a:latin typeface="Arial"/>
                <a:ea typeface="Arial"/>
              </a:rPr>
              <a:t>ПЕРИФЕРИЯ — выжидает (больше ядра)</a:t>
            </a:r>
            <a:endParaRPr lang="en-US" sz="1600" noProof="1"/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Доросла до автоматизации, но бюджет планируется на Q4 следующего года. Задача — созревание: контент, вебинары, nurturing. В ядро переводит событие: штраф МП или маркировка.</a:t>
            </a:r>
            <a:endParaRPr lang="en-US" sz="16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rd">
            <a:extLst>
              <a:ext uri="{FF2B5EF4-FFF2-40B4-BE49-F238E27FC236}">
                <a16:creationId xmlns:a16="http://schemas.microsoft.com/office/drawing/2014/main" id="{1F881988-DBF6-433F-84E7-A494A5754E11}"/>
              </a:ext>
            </a:extLst>
          </p:cNvPr>
          <p:cNvSpPr/>
          <p:nvPr/>
        </p:nvSpPr>
        <p:spPr>
          <a:xfrm>
            <a:off x="342900" y="1346200"/>
            <a:ext cx="8432800" cy="3173761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Комитет покупки: три роли, три боли</a:t>
            </a:r>
            <a:endParaRPr lang="en-US" sz="3000" noProof="1"/>
          </a:p>
        </p:txBody>
      </p:sp>
      <p:graphicFrame>
        <p:nvGraphicFramePr>
          <p:cNvPr id="7" name="ro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56129"/>
              </p:ext>
            </p:extLst>
          </p:nvPr>
        </p:nvGraphicFramePr>
        <p:xfrm>
          <a:off x="609600" y="1553736"/>
          <a:ext cx="7899401" cy="2772937"/>
        </p:xfrm>
        <a:graphic>
          <a:graphicData uri="http://schemas.openxmlformats.org/drawingml/2006/table">
            <a:tbl>
              <a:tblPr/>
              <a:tblGrid>
                <a:gridCol w="1500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2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2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785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Роль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Боль (Push)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Страх (Anxiety)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Что реально покупает (Pull)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384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Инициатор: руководитель склада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Пересортица, Excel, ошибки комплектации, зависимость от «незаменимого» сотрудника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«Система затормозит склад», «команда не освоит»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Результат смены: порядок в остатках, скорость и точность сборки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384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ЛПР: операционный / ИТ-директор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Зоопарк систем; риск долгого и дорогого внедрения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«Интеграция с 1С завалится», «проект растянется на полгода»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Управляемость: запуск за недели, готовые интеграции, один контур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384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Согласующий: финансовый директор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Не видит отдачи от ИТ-затрат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«Окупаемость останется на слайде», скрытые расходы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Доказуемую экономику: payback &lt;= 12 мес, прозрачный TCO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609600" y="4634884"/>
            <a:ext cx="7899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Разбор по Switch (Push / Pull / Anxiety / Habit). Одно общее сообщение комитет не закрывает — нужен контент по каждой роли.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Ценностное предложение: ядро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pos-title"/>
          <p:cNvSpPr txBox="1"/>
          <p:nvPr/>
        </p:nvSpPr>
        <p:spPr>
          <a:xfrm>
            <a:off x="609600" y="1498600"/>
            <a:ext cx="7899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12121"/>
                </a:solidFill>
                <a:latin typeface="Arial"/>
                <a:ea typeface="Arial"/>
              </a:rPr>
              <a:t>Positioning statement</a:t>
            </a:r>
            <a:endParaRPr lang="en-US" sz="1500" noProof="1"/>
          </a:p>
        </p:txBody>
      </p:sp>
      <p:sp>
        <p:nvSpPr>
          <p:cNvPr id="8" name="pos-text"/>
          <p:cNvSpPr txBox="1"/>
          <p:nvPr/>
        </p:nvSpPr>
        <p:spPr>
          <a:xfrm>
            <a:off x="609600" y="1778000"/>
            <a:ext cx="7899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150" noProof="1">
                <a:solidFill>
                  <a:srgbClr val="212121"/>
                </a:solidFill>
                <a:latin typeface="Arial"/>
                <a:ea typeface="Arial"/>
              </a:rPr>
              <a:t>Для среднего бизнеса с сетью складов и маркетплейс-операциями, который дорос до автоматизации, </a:t>
            </a:r>
            <a:r>
              <a:rPr lang="en-US" sz="1150" b="1" noProof="1">
                <a:solidFill>
                  <a:srgbClr val="212121"/>
                </a:solidFill>
                <a:latin typeface="Arial"/>
                <a:ea typeface="Arial"/>
              </a:rPr>
              <a:t>СКЛАДИО</a:t>
            </a:r>
            <a:r>
              <a:rPr lang="en-US" sz="1150" noProof="1">
                <a:solidFill>
                  <a:srgbClr val="212121"/>
                </a:solidFill>
                <a:latin typeface="Arial"/>
                <a:ea typeface="Arial"/>
              </a:rPr>
              <a:t> — облачная WMS по подписке, которая да</a:t>
            </a:r>
            <a:r>
              <a:rPr lang="ru-RU" sz="1150" noProof="1">
                <a:solidFill>
                  <a:srgbClr val="212121"/>
                </a:solidFill>
                <a:latin typeface="Arial"/>
                <a:ea typeface="Arial"/>
              </a:rPr>
              <a:t>е</a:t>
            </a:r>
            <a:r>
              <a:rPr lang="en-US" sz="1150" noProof="1">
                <a:solidFill>
                  <a:srgbClr val="212121"/>
                </a:solidFill>
                <a:latin typeface="Arial"/>
                <a:ea typeface="Arial"/>
              </a:rPr>
              <a:t>т прозрачные остатки и быструю сборку на всех складах в одном окне без многомесячного внедрения, в отличие от enterprise (&gt;15 млн </a:t>
            </a:r>
            <a:r>
              <a:rPr lang="ru-RU" sz="1150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150" noProof="1">
                <a:solidFill>
                  <a:srgbClr val="212121"/>
                </a:solidFill>
                <a:latin typeface="Arial"/>
                <a:ea typeface="Arial"/>
              </a:rPr>
              <a:t>, до года) и типовой 1С (негибко), благодаря готовым интеграциям и запуску за недели.</a:t>
            </a:r>
            <a:endParaRPr lang="en-US" sz="1600" noProof="1"/>
          </a:p>
        </p:txBody>
      </p:sp>
      <p:sp>
        <p:nvSpPr>
          <p:cNvPr id="9" name="core1-shape"/>
          <p:cNvSpPr/>
          <p:nvPr/>
        </p:nvSpPr>
        <p:spPr>
          <a:xfrm>
            <a:off x="609600" y="2743200"/>
            <a:ext cx="2540000" cy="18542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10" name="core1"/>
          <p:cNvSpPr txBox="1"/>
          <p:nvPr/>
        </p:nvSpPr>
        <p:spPr>
          <a:xfrm>
            <a:off x="736600" y="2870200"/>
            <a:ext cx="22860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noProof="1">
                <a:solidFill>
                  <a:srgbClr val="B35C00"/>
                </a:solidFill>
                <a:latin typeface="Arial"/>
                <a:ea typeface="Arial"/>
              </a:rPr>
              <a:t>1. Порядок без остановки склада</a:t>
            </a:r>
            <a:endParaRPr lang="en-US" sz="1600" noProof="1">
              <a:solidFill>
                <a:srgbClr val="B35C00"/>
              </a:solidFill>
            </a:endParaR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212121"/>
                </a:solidFill>
                <a:latin typeface="Arial"/>
                <a:ea typeface="Arial"/>
              </a:rPr>
              <a:t>Прозрачные остатки и точная сборка во всех складах в одном окне</a:t>
            </a:r>
            <a:endParaRPr lang="en-US" sz="1600" noProof="1"/>
          </a:p>
        </p:txBody>
      </p:sp>
      <p:sp>
        <p:nvSpPr>
          <p:cNvPr id="11" name="core2-shape"/>
          <p:cNvSpPr/>
          <p:nvPr/>
        </p:nvSpPr>
        <p:spPr>
          <a:xfrm>
            <a:off x="3327400" y="2743200"/>
            <a:ext cx="2540000" cy="18542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12" name="core2"/>
          <p:cNvSpPr txBox="1"/>
          <p:nvPr/>
        </p:nvSpPr>
        <p:spPr>
          <a:xfrm>
            <a:off x="3454400" y="2870200"/>
            <a:ext cx="22860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noProof="1">
                <a:solidFill>
                  <a:srgbClr val="B35C00"/>
                </a:solidFill>
                <a:latin typeface="Arial"/>
                <a:ea typeface="Arial"/>
              </a:rPr>
              <a:t>2. Скорость без риска проекта</a:t>
            </a:r>
            <a:endParaRPr lang="en-US" sz="1600" noProof="1">
              <a:solidFill>
                <a:srgbClr val="B35C00"/>
              </a:solidFill>
            </a:endParaR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212121"/>
                </a:solidFill>
                <a:latin typeface="Arial"/>
                <a:ea typeface="Arial"/>
              </a:rPr>
              <a:t>Запуск за недели, а не полгода: готовые интеграции с 1С и маркетплейсами</a:t>
            </a:r>
            <a:endParaRPr lang="en-US" sz="1600" noProof="1"/>
          </a:p>
        </p:txBody>
      </p:sp>
      <p:sp>
        <p:nvSpPr>
          <p:cNvPr id="13" name="core3-shape"/>
          <p:cNvSpPr/>
          <p:nvPr/>
        </p:nvSpPr>
        <p:spPr>
          <a:xfrm>
            <a:off x="6045200" y="2743200"/>
            <a:ext cx="2540000" cy="18542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14" name="core3"/>
          <p:cNvSpPr txBox="1"/>
          <p:nvPr/>
        </p:nvSpPr>
        <p:spPr>
          <a:xfrm>
            <a:off x="6172200" y="2870200"/>
            <a:ext cx="22860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noProof="1">
                <a:solidFill>
                  <a:srgbClr val="B35C00"/>
                </a:solidFill>
                <a:latin typeface="Arial"/>
                <a:ea typeface="Arial"/>
              </a:rPr>
              <a:t>3. Экономика без CAPEX</a:t>
            </a:r>
            <a:endParaRPr lang="en-US" sz="1600" noProof="1">
              <a:solidFill>
                <a:srgbClr val="B35C00"/>
              </a:solidFill>
            </a:endParaRP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212121"/>
                </a:solidFill>
                <a:latin typeface="Arial"/>
                <a:ea typeface="Arial"/>
              </a:rPr>
              <a:t>Подписка вместо вложений от 15 млн </a:t>
            </a:r>
            <a:r>
              <a:rPr lang="ru-RU" sz="1050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050" noProof="1">
                <a:solidFill>
                  <a:srgbClr val="212121"/>
                </a:solidFill>
                <a:latin typeface="Arial"/>
                <a:ea typeface="Arial"/>
              </a:rPr>
              <a:t>; ориентир окупаемости — до 12 месяцев</a:t>
            </a:r>
            <a:endParaRPr lang="en-US" sz="16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Одно ядро — три сообщения по ролям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r1-shape"/>
          <p:cNvSpPr/>
          <p:nvPr/>
        </p:nvSpPr>
        <p:spPr>
          <a:xfrm>
            <a:off x="609600" y="1574800"/>
            <a:ext cx="7899400" cy="939800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</p:spPr>
      </p:sp>
      <p:sp>
        <p:nvSpPr>
          <p:cNvPr id="8" name="r1-tag"/>
          <p:cNvSpPr/>
          <p:nvPr/>
        </p:nvSpPr>
        <p:spPr>
          <a:xfrm>
            <a:off x="762000" y="1727200"/>
            <a:ext cx="1625600" cy="2794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9" name="r1-tag-text"/>
          <p:cNvSpPr txBox="1"/>
          <p:nvPr/>
        </p:nvSpPr>
        <p:spPr>
          <a:xfrm>
            <a:off x="762000" y="1727200"/>
            <a:ext cx="1625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Arial"/>
                <a:ea typeface="Arial"/>
              </a:rPr>
              <a:t>Руководитель склада</a:t>
            </a:r>
            <a:endParaRPr lang="en-US" sz="1000" noProof="1"/>
          </a:p>
        </p:txBody>
      </p:sp>
      <p:sp>
        <p:nvSpPr>
          <p:cNvPr id="10" name="r1-msg"/>
          <p:cNvSpPr txBox="1"/>
          <p:nvPr/>
        </p:nvSpPr>
        <p:spPr>
          <a:xfrm>
            <a:off x="762000" y="2057400"/>
            <a:ext cx="7594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212121"/>
                </a:solidFill>
                <a:latin typeface="Arial"/>
                <a:ea typeface="Arial"/>
              </a:rPr>
              <a:t>«Склад, который работает, даже когда “тот самый” кладовщик в отпуске»</a:t>
            </a:r>
            <a:endParaRPr lang="en-US" sz="1600" noProof="1"/>
          </a:p>
        </p:txBody>
      </p:sp>
      <p:sp>
        <p:nvSpPr>
          <p:cNvPr id="11" name="r2-shape"/>
          <p:cNvSpPr/>
          <p:nvPr/>
        </p:nvSpPr>
        <p:spPr>
          <a:xfrm>
            <a:off x="609600" y="2641600"/>
            <a:ext cx="7899400" cy="939800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</p:spPr>
      </p:sp>
      <p:sp>
        <p:nvSpPr>
          <p:cNvPr id="12" name="r2-tag"/>
          <p:cNvSpPr/>
          <p:nvPr/>
        </p:nvSpPr>
        <p:spPr>
          <a:xfrm>
            <a:off x="762000" y="2794000"/>
            <a:ext cx="1905000" cy="279400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</p:sp>
      <p:sp>
        <p:nvSpPr>
          <p:cNvPr id="13" name="r2-tag-text"/>
          <p:cNvSpPr txBox="1"/>
          <p:nvPr/>
        </p:nvSpPr>
        <p:spPr>
          <a:xfrm>
            <a:off x="762000" y="2794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Arial"/>
                <a:ea typeface="Arial"/>
              </a:rPr>
              <a:t>Опер / ИТ-директор (ЛПР)</a:t>
            </a:r>
            <a:endParaRPr lang="en-US" sz="1000" noProof="1"/>
          </a:p>
        </p:txBody>
      </p:sp>
      <p:sp>
        <p:nvSpPr>
          <p:cNvPr id="14" name="r2-msg"/>
          <p:cNvSpPr txBox="1"/>
          <p:nvPr/>
        </p:nvSpPr>
        <p:spPr>
          <a:xfrm>
            <a:off x="762000" y="3124200"/>
            <a:ext cx="7594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212121"/>
                </a:solidFill>
                <a:latin typeface="Arial"/>
                <a:ea typeface="Arial"/>
              </a:rPr>
              <a:t>«Складской контур за недели, а не ещ</a:t>
            </a:r>
            <a:r>
              <a:rPr lang="ru-RU" sz="1300" b="1" noProof="1">
                <a:solidFill>
                  <a:srgbClr val="212121"/>
                </a:solidFill>
                <a:latin typeface="Arial"/>
                <a:ea typeface="Arial"/>
              </a:rPr>
              <a:t>е</a:t>
            </a:r>
            <a:r>
              <a:rPr lang="en-US" sz="1300" b="1" noProof="1">
                <a:solidFill>
                  <a:srgbClr val="212121"/>
                </a:solidFill>
                <a:latin typeface="Arial"/>
                <a:ea typeface="Arial"/>
              </a:rPr>
              <a:t> один полугодовой ИТ-проект»</a:t>
            </a:r>
            <a:endParaRPr lang="en-US" sz="1600" noProof="1"/>
          </a:p>
        </p:txBody>
      </p:sp>
      <p:sp>
        <p:nvSpPr>
          <p:cNvPr id="15" name="r3-shape"/>
          <p:cNvSpPr/>
          <p:nvPr/>
        </p:nvSpPr>
        <p:spPr>
          <a:xfrm>
            <a:off x="609600" y="3708400"/>
            <a:ext cx="7899400" cy="939800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16" name="r3-tag"/>
          <p:cNvSpPr/>
          <p:nvPr/>
        </p:nvSpPr>
        <p:spPr>
          <a:xfrm>
            <a:off x="762000" y="3860800"/>
            <a:ext cx="1905000" cy="27940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17" name="r3-tag-text"/>
          <p:cNvSpPr txBox="1"/>
          <p:nvPr/>
        </p:nvSpPr>
        <p:spPr>
          <a:xfrm>
            <a:off x="762000" y="38608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Arial"/>
                <a:ea typeface="Arial"/>
              </a:rPr>
              <a:t>Финансовый директор</a:t>
            </a:r>
            <a:endParaRPr lang="en-US" sz="1000" noProof="1"/>
          </a:p>
        </p:txBody>
      </p:sp>
      <p:sp>
        <p:nvSpPr>
          <p:cNvPr id="18" name="r3-msg"/>
          <p:cNvSpPr txBox="1"/>
          <p:nvPr/>
        </p:nvSpPr>
        <p:spPr>
          <a:xfrm>
            <a:off x="762000" y="4191000"/>
            <a:ext cx="7594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212121"/>
                </a:solidFill>
                <a:latin typeface="Arial"/>
                <a:ea typeface="Arial"/>
              </a:rPr>
              <a:t>«ИТ-проект с понятной датой возврата денег: окупаемость до 12 месяцев»</a:t>
            </a:r>
            <a:endParaRPr lang="en-US" sz="16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Мостик: SQL → сделки → новый ARR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b1-shape"/>
          <p:cNvSpPr/>
          <p:nvPr/>
        </p:nvSpPr>
        <p:spPr>
          <a:xfrm>
            <a:off x="711200" y="1854200"/>
            <a:ext cx="1638300" cy="1219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 w="19050">
            <a:solidFill>
              <a:srgbClr val="4285F4"/>
            </a:solidFill>
          </a:ln>
        </p:spPr>
      </p:sp>
      <p:sp>
        <p:nvSpPr>
          <p:cNvPr id="8" name="b1"/>
          <p:cNvSpPr txBox="1"/>
          <p:nvPr/>
        </p:nvSpPr>
        <p:spPr>
          <a:xfrm>
            <a:off x="812800" y="1981200"/>
            <a:ext cx="1574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000" b="1" noProof="1">
                <a:solidFill>
                  <a:srgbClr val="4285F4"/>
                </a:solidFill>
                <a:latin typeface="Arial"/>
                <a:ea typeface="Arial"/>
              </a:rPr>
              <a:t>240 SQL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в год = 20/мес, +25% к базе ~16/мес</a:t>
            </a:r>
            <a:endParaRPr lang="en-US" sz="1600" noProof="1"/>
          </a:p>
        </p:txBody>
      </p:sp>
      <p:sp>
        <p:nvSpPr>
          <p:cNvPr id="9" name="a1"/>
          <p:cNvSpPr txBox="1"/>
          <p:nvPr/>
        </p:nvSpPr>
        <p:spPr>
          <a:xfrm>
            <a:off x="2341446" y="223520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595959"/>
                </a:solidFill>
                <a:latin typeface="Arial"/>
                <a:ea typeface="Arial"/>
              </a:rPr>
              <a:t>× 20%</a:t>
            </a:r>
            <a:endParaRPr lang="en-US" sz="1400" noProof="1"/>
          </a:p>
        </p:txBody>
      </p:sp>
      <p:sp>
        <p:nvSpPr>
          <p:cNvPr id="10" name="b2-shape"/>
          <p:cNvSpPr/>
          <p:nvPr/>
        </p:nvSpPr>
        <p:spPr>
          <a:xfrm>
            <a:off x="3205046" y="1854200"/>
            <a:ext cx="1778000" cy="1219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 w="19050">
            <a:solidFill>
              <a:srgbClr val="4285F4"/>
            </a:solidFill>
          </a:ln>
        </p:spPr>
      </p:sp>
      <p:sp>
        <p:nvSpPr>
          <p:cNvPr id="11" name="b2"/>
          <p:cNvSpPr txBox="1"/>
          <p:nvPr/>
        </p:nvSpPr>
        <p:spPr>
          <a:xfrm>
            <a:off x="3336228" y="1981200"/>
            <a:ext cx="1574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000" b="1" noProof="1">
                <a:solidFill>
                  <a:srgbClr val="4285F4"/>
                </a:solidFill>
                <a:latin typeface="Arial"/>
                <a:ea typeface="Arial"/>
              </a:rPr>
              <a:t>48 сделок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конверсия SQL→сделка ≥ 20%</a:t>
            </a:r>
            <a:endParaRPr lang="en-US" sz="1600" noProof="1"/>
          </a:p>
        </p:txBody>
      </p:sp>
      <p:sp>
        <p:nvSpPr>
          <p:cNvPr id="12" name="a2"/>
          <p:cNvSpPr txBox="1"/>
          <p:nvPr/>
        </p:nvSpPr>
        <p:spPr>
          <a:xfrm>
            <a:off x="5234723" y="224790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595959"/>
                </a:solidFill>
                <a:latin typeface="Arial"/>
                <a:ea typeface="Arial"/>
              </a:rPr>
              <a:t>× 1,5 млн </a:t>
            </a:r>
            <a:r>
              <a:rPr lang="ru-RU" sz="1300" b="1" noProof="1">
                <a:solidFill>
                  <a:srgbClr val="595959"/>
                </a:solidFill>
                <a:latin typeface="Arial"/>
                <a:ea typeface="Arial"/>
              </a:rPr>
              <a:t>руб.</a:t>
            </a:r>
            <a:endParaRPr lang="en-US" sz="1300" noProof="1"/>
          </a:p>
        </p:txBody>
      </p:sp>
      <p:sp>
        <p:nvSpPr>
          <p:cNvPr id="13" name="b3-shape"/>
          <p:cNvSpPr/>
          <p:nvPr/>
        </p:nvSpPr>
        <p:spPr>
          <a:xfrm>
            <a:off x="6248400" y="1849863"/>
            <a:ext cx="2184400" cy="12192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19050">
            <a:solidFill>
              <a:srgbClr val="FF922D"/>
            </a:solidFill>
          </a:ln>
        </p:spPr>
      </p:sp>
      <p:sp>
        <p:nvSpPr>
          <p:cNvPr id="14" name="b3"/>
          <p:cNvSpPr txBox="1"/>
          <p:nvPr/>
        </p:nvSpPr>
        <p:spPr>
          <a:xfrm>
            <a:off x="6350000" y="1981200"/>
            <a:ext cx="1981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000" b="1" noProof="1">
                <a:solidFill>
                  <a:srgbClr val="B35C00"/>
                </a:solidFill>
                <a:latin typeface="Arial"/>
                <a:ea typeface="Arial"/>
              </a:rPr>
              <a:t>+72 млн </a:t>
            </a:r>
            <a:r>
              <a:rPr lang="ru-RU" sz="2000" b="1" noProof="1">
                <a:solidFill>
                  <a:srgbClr val="B35C00"/>
                </a:solidFill>
                <a:latin typeface="Arial"/>
                <a:ea typeface="Arial"/>
              </a:rPr>
              <a:t>руб.</a:t>
            </a:r>
            <a:endParaRPr lang="en-US" sz="1600" noProof="1"/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нового ARR = +30% к базе 240 млн </a:t>
            </a:r>
            <a:r>
              <a:rPr lang="ru-RU" sz="1000" noProof="1">
                <a:solidFill>
                  <a:srgbClr val="595959"/>
                </a:solidFill>
                <a:latin typeface="Arial"/>
                <a:ea typeface="Arial"/>
              </a:rPr>
              <a:t>руб.</a:t>
            </a: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*</a:t>
            </a:r>
            <a:endParaRPr lang="en-US" sz="1600" noProof="1"/>
          </a:p>
        </p:txBody>
      </p:sp>
      <p:sp>
        <p:nvSpPr>
          <p:cNvPr id="15" name="base-note"/>
          <p:cNvSpPr txBox="1"/>
          <p:nvPr/>
        </p:nvSpPr>
        <p:spPr>
          <a:xfrm>
            <a:off x="711200" y="3302000"/>
            <a:ext cx="7721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*База нового ARR 240 млн </a:t>
            </a:r>
            <a:r>
              <a:rPr lang="ru-RU" sz="1000" noProof="1">
                <a:solidFill>
                  <a:srgbClr val="595959"/>
                </a:solidFill>
                <a:latin typeface="Arial"/>
                <a:ea typeface="Arial"/>
              </a:rPr>
              <a:t>руб.</a:t>
            </a:r>
            <a:r>
              <a:rPr lang="en-US" sz="1000" noProof="1">
                <a:solidFill>
                  <a:srgbClr val="595959"/>
                </a:solidFill>
                <a:latin typeface="Arial"/>
                <a:ea typeface="Arial"/>
              </a:rPr>
              <a:t>, текущий поток ~16 SQL/мес и конверсия 20% — рабочие допущения файла 05: в кейсе эти базы не заданы. Формула пересчитывается за один шаг при подстановке фактических данных CRM. Бенчмарки: MQL→SQL 15–21%, цикл B2B SaaS 84 дня (Digital Bloom 2025), цикл СКЛАДИО — 105 дней.</a:t>
            </a:r>
            <a:endParaRPr lang="en-US" sz="1600" noProof="1"/>
          </a:p>
        </p:txBody>
      </p:sp>
      <p:sp>
        <p:nvSpPr>
          <p:cNvPr id="16" name="guard"/>
          <p:cNvSpPr txBox="1"/>
          <p:nvPr/>
        </p:nvSpPr>
        <p:spPr>
          <a:xfrm>
            <a:off x="711200" y="3987800"/>
            <a:ext cx="7721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100" b="1" noProof="1">
                <a:solidFill>
                  <a:srgbClr val="212121"/>
                </a:solidFill>
                <a:latin typeface="Arial"/>
                <a:ea typeface="Arial"/>
              </a:rPr>
              <a:t>Ограничения задачи:</a:t>
            </a: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 конверсия SQL→сделка ≥ 20%, CAC payback &lt;= 12 мес (при ACV 1,5 млн </a:t>
            </a:r>
            <a:r>
              <a:rPr lang="ru-RU" sz="1100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 потолок CAC ~1,05–1,5 млн </a:t>
            </a:r>
            <a:r>
              <a:rPr lang="ru-RU" sz="1100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100" noProof="1">
                <a:solidFill>
                  <a:srgbClr val="212121"/>
                </a:solidFill>
                <a:latin typeface="Arial"/>
                <a:ea typeface="Arial"/>
              </a:rPr>
              <a:t>).</a:t>
            </a:r>
            <a:endParaRPr lang="en-US" sz="16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Ключевая задача по SMART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goal-shape"/>
          <p:cNvSpPr/>
          <p:nvPr/>
        </p:nvSpPr>
        <p:spPr>
          <a:xfrm>
            <a:off x="609600" y="1549400"/>
            <a:ext cx="7899400" cy="8382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19050">
            <a:solidFill>
              <a:srgbClr val="FF922D"/>
            </a:solidFill>
          </a:ln>
        </p:spPr>
      </p:sp>
      <p:sp>
        <p:nvSpPr>
          <p:cNvPr id="8" name="goal-text"/>
          <p:cNvSpPr txBox="1"/>
          <p:nvPr/>
        </p:nvSpPr>
        <p:spPr>
          <a:xfrm>
            <a:off x="762000" y="1651000"/>
            <a:ext cx="7594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200" b="1" noProof="1">
                <a:solidFill>
                  <a:srgbClr val="212121"/>
                </a:solidFill>
                <a:latin typeface="Arial"/>
                <a:ea typeface="Arial"/>
              </a:rPr>
              <a:t>За 12 месяцев (окт 2026 – сен 2027) вырастить поток SQL до 20/мес (240/год, +25% к базе) при конверсии SQL→сделка ≥ 20% и CAC payback &lt;= 12 мес — обеспечив ≥ 48 новых сделок и +72 млн </a:t>
            </a:r>
            <a:r>
              <a:rPr lang="ru-RU" sz="1200" b="1" noProof="1">
                <a:solidFill>
                  <a:srgbClr val="212121"/>
                </a:solidFill>
                <a:latin typeface="Arial"/>
                <a:ea typeface="Arial"/>
              </a:rPr>
              <a:t>руб.</a:t>
            </a:r>
            <a:r>
              <a:rPr lang="en-US" sz="1200" b="1" noProof="1">
                <a:solidFill>
                  <a:srgbClr val="212121"/>
                </a:solidFill>
                <a:latin typeface="Arial"/>
                <a:ea typeface="Arial"/>
              </a:rPr>
              <a:t> нового ARR (+30%).</a:t>
            </a:r>
            <a:endParaRPr lang="en-US" sz="1600" noProof="1"/>
          </a:p>
        </p:txBody>
      </p:sp>
      <p:graphicFrame>
        <p:nvGraphicFramePr>
          <p:cNvPr id="9" name="smart-table"/>
          <p:cNvGraphicFramePr>
            <a:graphicFrameLocks noGrp="1"/>
          </p:cNvGraphicFramePr>
          <p:nvPr/>
        </p:nvGraphicFramePr>
        <p:xfrm>
          <a:off x="609600" y="2565400"/>
          <a:ext cx="7899400" cy="2108200"/>
        </p:xfrm>
        <a:graphic>
          <a:graphicData uri="http://schemas.openxmlformats.org/drawingml/2006/table">
            <a:tbl>
              <a:tblPr/>
              <a:tblGrid>
                <a:gridCol w="78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9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4285F4"/>
                          </a:solidFill>
                          <a:latin typeface="Arial"/>
                          <a:ea typeface="Arial"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Конкретная: SQL (лид, дошедший до демо и признанный продажами квалифицированным); рычаги — ролевой контент, триггерные входы, каналы созревания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4285F4"/>
                          </a:solidFill>
                          <a:latin typeface="Arial"/>
                          <a:ea typeface="Arial"/>
                        </a:rPr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Измеримая: 20 SQL/мес против базы ~16; контроль конверсии SQL→сделка ≥ 20% и CAC payback &lt;= 12 мес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4285F4"/>
                          </a:solidFill>
                          <a:latin typeface="Arial"/>
                          <a:ea typeface="Arial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Достижимая: +25% — в норме 20–30%; рынок раст</a:t>
                      </a:r>
                      <a:r>
                        <a:rPr lang="ru-RU" sz="105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е</a:t>
                      </a:r>
                      <a:r>
                        <a:rPr lang="en-US" sz="105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т ~27% в среднем, контент и вебинары дают деш</a:t>
                      </a:r>
                      <a:r>
                        <a:rPr lang="ru-RU" sz="105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е</a:t>
                      </a:r>
                      <a:r>
                        <a:rPr lang="en-US" sz="105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вые MQL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4285F4"/>
                          </a:solidFill>
                          <a:latin typeface="Arial"/>
                          <a:ea typeface="Arial"/>
                        </a:rPr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Релевантная: прямо выводит к бизнес-цели кейса «+30% нового ARR через +25% SQL»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4285F4"/>
                          </a:solidFill>
                          <a:latin typeface="Arial"/>
                          <a:ea typeface="Arial"/>
                        </a:rPr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noProof="1">
                          <a:solidFill>
                            <a:srgbClr val="212121"/>
                          </a:solidFill>
                          <a:latin typeface="Arial"/>
                          <a:ea typeface="Arial"/>
                        </a:rPr>
                        <a:t>Ограничена по времени: 12 месяцев, ежемесячный контроль по RunRate; при отставании &gt;15% — корректировка каналов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shape"/>
          <p:cNvSpPr/>
          <p:nvPr/>
        </p:nvSpPr>
        <p:spPr>
          <a:xfrm>
            <a:off x="270510" y="270510"/>
            <a:ext cx="2152650" cy="307340"/>
          </a:xfrm>
          <a:prstGeom prst="roundRect">
            <a:avLst>
              <a:gd name="adj" fmla="val 50000"/>
            </a:avLst>
          </a:prstGeom>
          <a:solidFill>
            <a:srgbClr val="FF922D"/>
          </a:solidFill>
          <a:ln>
            <a:noFill/>
          </a:ln>
        </p:spPr>
      </p:sp>
      <p:sp>
        <p:nvSpPr>
          <p:cNvPr id="3" name="pill-text"/>
          <p:cNvSpPr txBox="1"/>
          <p:nvPr/>
        </p:nvSpPr>
        <p:spPr>
          <a:xfrm>
            <a:off x="270510" y="270510"/>
            <a:ext cx="21526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Arial"/>
                <a:ea typeface="Arial"/>
              </a:rPr>
              <a:t>маркетинговые стратегии</a:t>
            </a:r>
            <a:endParaRPr lang="en-US" sz="1000" noProof="1"/>
          </a:p>
        </p:txBody>
      </p:sp>
      <p:pic>
        <p:nvPicPr>
          <p:cNvPr id="4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0" y="270510"/>
            <a:ext cx="1318260" cy="234950"/>
          </a:xfrm>
          <a:prstGeom prst="rect">
            <a:avLst/>
          </a:prstGeom>
          <a:ln>
            <a:noFill/>
          </a:ln>
        </p:spPr>
      </p:pic>
      <p:sp>
        <p:nvSpPr>
          <p:cNvPr id="5" name="title"/>
          <p:cNvSpPr txBox="1"/>
          <p:nvPr/>
        </p:nvSpPr>
        <p:spPr>
          <a:xfrm>
            <a:off x="372110" y="762000"/>
            <a:ext cx="84328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b="1" noProof="1">
                <a:solidFill>
                  <a:srgbClr val="212121"/>
                </a:solidFill>
                <a:latin typeface="Arial"/>
                <a:ea typeface="Arial"/>
              </a:rPr>
              <a:t>Риски, контроль и план Б</a:t>
            </a:r>
            <a:endParaRPr lang="en-US" sz="3000" noProof="1"/>
          </a:p>
        </p:txBody>
      </p:sp>
      <p:sp>
        <p:nvSpPr>
          <p:cNvPr id="6" name="card"/>
          <p:cNvSpPr/>
          <p:nvPr/>
        </p:nvSpPr>
        <p:spPr>
          <a:xfrm>
            <a:off x="342900" y="1346200"/>
            <a:ext cx="8432800" cy="3517900"/>
          </a:xfrm>
          <a:prstGeom prst="roundRect">
            <a:avLst>
              <a:gd name="adj" fmla="val 593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" name="risk1-shape"/>
          <p:cNvSpPr/>
          <p:nvPr/>
        </p:nvSpPr>
        <p:spPr>
          <a:xfrm>
            <a:off x="609600" y="1524000"/>
            <a:ext cx="2540000" cy="1600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</p:spPr>
      </p:sp>
      <p:sp>
        <p:nvSpPr>
          <p:cNvPr id="8" name="risk1"/>
          <p:cNvSpPr txBox="1"/>
          <p:nvPr/>
        </p:nvSpPr>
        <p:spPr>
          <a:xfrm>
            <a:off x="736600" y="1625600"/>
            <a:ext cx="2286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8000"/>
              </a:lnSpc>
            </a:pPr>
            <a:r>
              <a:rPr lang="en-US" sz="1100" b="1" noProof="1">
                <a:solidFill>
                  <a:srgbClr val="4285F4"/>
                </a:solidFill>
                <a:latin typeface="Arial"/>
                <a:ea typeface="Arial"/>
              </a:rPr>
              <a:t>Качество SQL упад</a:t>
            </a:r>
            <a:r>
              <a:rPr lang="ru-RU" sz="1100" b="1" noProof="1">
                <a:solidFill>
                  <a:srgbClr val="4285F4"/>
                </a:solidFill>
                <a:latin typeface="Arial"/>
                <a:ea typeface="Arial"/>
              </a:rPr>
              <a:t>е</a:t>
            </a:r>
            <a:r>
              <a:rPr lang="en-US" sz="1100" b="1" noProof="1">
                <a:solidFill>
                  <a:srgbClr val="4285F4"/>
                </a:solidFill>
                <a:latin typeface="Arial"/>
                <a:ea typeface="Arial"/>
              </a:rPr>
              <a:t>т при росте объ</a:t>
            </a:r>
            <a:r>
              <a:rPr lang="ru-RU" sz="1100" b="1" noProof="1">
                <a:solidFill>
                  <a:srgbClr val="4285F4"/>
                </a:solidFill>
                <a:latin typeface="Arial"/>
                <a:ea typeface="Arial"/>
              </a:rPr>
              <a:t>е</a:t>
            </a:r>
            <a:r>
              <a:rPr lang="en-US" sz="1100" b="1" noProof="1">
                <a:solidFill>
                  <a:srgbClr val="4285F4"/>
                </a:solidFill>
                <a:latin typeface="Arial"/>
                <a:ea typeface="Arial"/>
              </a:rPr>
              <a:t>ма</a:t>
            </a:r>
            <a:endParaRPr lang="en-US" sz="1600" noProof="1"/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212121"/>
                </a:solidFill>
                <a:latin typeface="Arial"/>
                <a:ea typeface="Arial"/>
              </a:rPr>
              <a:t>MQL→SQL — самая узкая точка B2B. Сигнал: конверсия SQL→сделка &lt; 20% два месяца.</a:t>
            </a:r>
            <a:endParaRPr lang="en-US" sz="1600" noProof="1"/>
          </a:p>
          <a:p>
            <a:pPr algn="l">
              <a:lnSpc>
                <a:spcPct val="128000"/>
              </a:lnSpc>
              <a:spcBef>
                <a:spcPts val="300"/>
              </a:spcBef>
            </a:pPr>
            <a:r>
              <a:rPr lang="en-US" sz="950" noProof="1">
                <a:solidFill>
                  <a:srgbClr val="595959"/>
                </a:solidFill>
                <a:latin typeface="Arial"/>
                <a:ea typeface="Arial"/>
              </a:rPr>
              <a:t>Ответ: ICP-скоринг, бюджет в каналы качества.</a:t>
            </a:r>
            <a:endParaRPr lang="en-US" sz="1600" noProof="1"/>
          </a:p>
        </p:txBody>
      </p:sp>
      <p:sp>
        <p:nvSpPr>
          <p:cNvPr id="9" name="risk2-shape"/>
          <p:cNvSpPr/>
          <p:nvPr/>
        </p:nvSpPr>
        <p:spPr>
          <a:xfrm>
            <a:off x="3327400" y="1524000"/>
            <a:ext cx="2540000" cy="1600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</p:spPr>
      </p:sp>
      <p:sp>
        <p:nvSpPr>
          <p:cNvPr id="10" name="risk2"/>
          <p:cNvSpPr txBox="1"/>
          <p:nvPr/>
        </p:nvSpPr>
        <p:spPr>
          <a:xfrm>
            <a:off x="3454400" y="1625600"/>
            <a:ext cx="2286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8000"/>
              </a:lnSpc>
            </a:pPr>
            <a:r>
              <a:rPr lang="en-US" sz="1100" b="1" noProof="1">
                <a:solidFill>
                  <a:srgbClr val="4285F4"/>
                </a:solidFill>
                <a:latin typeface="Arial"/>
                <a:ea typeface="Arial"/>
              </a:rPr>
              <a:t>Отложенный спрос не верн</a:t>
            </a:r>
            <a:r>
              <a:rPr lang="ru-RU" sz="1100" b="1" noProof="1">
                <a:solidFill>
                  <a:srgbClr val="4285F4"/>
                </a:solidFill>
                <a:latin typeface="Arial"/>
                <a:ea typeface="Arial"/>
              </a:rPr>
              <a:t>е</a:t>
            </a:r>
            <a:r>
              <a:rPr lang="en-US" sz="1100" b="1" noProof="1">
                <a:solidFill>
                  <a:srgbClr val="4285F4"/>
                </a:solidFill>
                <a:latin typeface="Arial"/>
                <a:ea typeface="Arial"/>
              </a:rPr>
              <a:t>тся в 2026</a:t>
            </a:r>
            <a:endParaRPr lang="en-US" sz="1600" noProof="1"/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212121"/>
                </a:solidFill>
                <a:latin typeface="Arial"/>
                <a:ea typeface="Arial"/>
              </a:rPr>
              <a:t>Ставка давит: у части вендоров −90% входящих запросов (авг 2025).</a:t>
            </a:r>
            <a:endParaRPr lang="en-US" sz="1600" noProof="1"/>
          </a:p>
          <a:p>
            <a:pPr algn="l">
              <a:lnSpc>
                <a:spcPct val="128000"/>
              </a:lnSpc>
              <a:spcBef>
                <a:spcPts val="300"/>
              </a:spcBef>
            </a:pPr>
            <a:r>
              <a:rPr lang="en-US" sz="950" noProof="1">
                <a:solidFill>
                  <a:srgbClr val="595959"/>
                </a:solidFill>
                <a:latin typeface="Arial"/>
                <a:ea typeface="Arial"/>
              </a:rPr>
              <a:t>Ответ: каналы созревания периферии, контроль на Q1 2027.</a:t>
            </a:r>
            <a:endParaRPr lang="en-US" sz="1600" noProof="1"/>
          </a:p>
        </p:txBody>
      </p:sp>
      <p:sp>
        <p:nvSpPr>
          <p:cNvPr id="11" name="risk3-shape"/>
          <p:cNvSpPr/>
          <p:nvPr/>
        </p:nvSpPr>
        <p:spPr>
          <a:xfrm>
            <a:off x="6045200" y="1524000"/>
            <a:ext cx="2540000" cy="1600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</p:spPr>
      </p:sp>
      <p:sp>
        <p:nvSpPr>
          <p:cNvPr id="12" name="risk3"/>
          <p:cNvSpPr txBox="1"/>
          <p:nvPr/>
        </p:nvSpPr>
        <p:spPr>
          <a:xfrm>
            <a:off x="6172200" y="1625600"/>
            <a:ext cx="2286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8000"/>
              </a:lnSpc>
            </a:pPr>
            <a:r>
              <a:rPr lang="en-US" sz="1100" b="1" noProof="1">
                <a:solidFill>
                  <a:srgbClr val="4285F4"/>
                </a:solidFill>
                <a:latin typeface="Arial"/>
                <a:ea typeface="Arial"/>
              </a:rPr>
              <a:t>Сезонность бюджетов B2B</a:t>
            </a:r>
            <a:endParaRPr lang="en-US" sz="1600" noProof="1"/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212121"/>
                </a:solidFill>
                <a:latin typeface="Arial"/>
                <a:ea typeface="Arial"/>
              </a:rPr>
              <a:t>Решения скапливаются в Q4–Q1, летом — провал.</a:t>
            </a:r>
            <a:endParaRPr lang="en-US" sz="1600" noProof="1"/>
          </a:p>
          <a:p>
            <a:pPr algn="l">
              <a:lnSpc>
                <a:spcPct val="128000"/>
              </a:lnSpc>
              <a:spcBef>
                <a:spcPts val="300"/>
              </a:spcBef>
            </a:pPr>
            <a:r>
              <a:rPr lang="en-US" sz="950" noProof="1">
                <a:solidFill>
                  <a:srgbClr val="595959"/>
                </a:solidFill>
                <a:latin typeface="Arial"/>
                <a:ea typeface="Arial"/>
              </a:rPr>
              <a:t>Ответ: месячные нормы +40% в Q4–Q1, −20% летом.</a:t>
            </a:r>
            <a:endParaRPr lang="en-US" sz="1600" noProof="1"/>
          </a:p>
        </p:txBody>
      </p:sp>
      <p:sp>
        <p:nvSpPr>
          <p:cNvPr id="13" name="control-title"/>
          <p:cNvSpPr txBox="1"/>
          <p:nvPr/>
        </p:nvSpPr>
        <p:spPr>
          <a:xfrm>
            <a:off x="609600" y="3327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212121"/>
                </a:solidFill>
                <a:latin typeface="Arial"/>
                <a:ea typeface="Arial"/>
              </a:rPr>
              <a:t>Контроль исполнения</a:t>
            </a:r>
            <a:endParaRPr lang="en-US" sz="1500" noProof="1"/>
          </a:p>
        </p:txBody>
      </p:sp>
      <p:sp>
        <p:nvSpPr>
          <p:cNvPr id="14" name="control"/>
          <p:cNvSpPr txBox="1"/>
          <p:nvPr/>
        </p:nvSpPr>
        <p:spPr>
          <a:xfrm>
            <a:off x="609600" y="3606800"/>
            <a:ext cx="4445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ежемесячный RunRate SQL;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план-факт по мостику с поправкой на цикл 3,5 мес;</a:t>
            </a:r>
            <a:endParaRPr lang="en-US" sz="1200" noProof="1"/>
          </a:p>
          <a:p>
            <a:pPr marL="171450" indent="-171450" algn="l">
              <a:lnSpc>
                <a:spcPct val="13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z="1200" noProof="1">
                <a:solidFill>
                  <a:srgbClr val="212121"/>
                </a:solidFill>
                <a:latin typeface="Arial"/>
                <a:ea typeface="Arial"/>
              </a:rPr>
              <a:t>CAC payback по каналам, кап 12 мес.</a:t>
            </a:r>
            <a:endParaRPr lang="en-US" sz="1200" noProof="1"/>
          </a:p>
        </p:txBody>
      </p:sp>
      <p:sp>
        <p:nvSpPr>
          <p:cNvPr id="15" name="planb-shape"/>
          <p:cNvSpPr/>
          <p:nvPr/>
        </p:nvSpPr>
        <p:spPr>
          <a:xfrm>
            <a:off x="5397500" y="3276600"/>
            <a:ext cx="3187700" cy="13208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>
            <a:noFill/>
          </a:ln>
        </p:spPr>
      </p:sp>
      <p:sp>
        <p:nvSpPr>
          <p:cNvPr id="16" name="planb"/>
          <p:cNvSpPr txBox="1"/>
          <p:nvPr/>
        </p:nvSpPr>
        <p:spPr>
          <a:xfrm>
            <a:off x="5549900" y="3378200"/>
            <a:ext cx="28829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8000"/>
              </a:lnSpc>
            </a:pPr>
            <a:r>
              <a:rPr lang="en-US" sz="1100" b="1" noProof="1">
                <a:solidFill>
                  <a:srgbClr val="B35C00"/>
                </a:solidFill>
                <a:latin typeface="Arial"/>
                <a:ea typeface="Arial"/>
              </a:rPr>
              <a:t>План Б: если к концу Q1 2027 SQL &lt;= 17/мес</a:t>
            </a:r>
            <a:endParaRPr lang="en-US" sz="1600" noProof="1"/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212121"/>
                </a:solidFill>
                <a:latin typeface="Arial"/>
                <a:ea typeface="Arial"/>
              </a:rPr>
              <a:t>Узкое место — конверсия MQ→SQL, а не трафик. Переключаемся на качество: ролевой скоринг и триггерные цепочки при том же бюджете.</a:t>
            </a:r>
            <a:endParaRPr lang="en-US" sz="1600" noProof="1"/>
          </a:p>
        </p:txBody>
      </p:sp>
      <p:sp>
        <p:nvSpPr>
          <p:cNvPr id="17" name="final-line"/>
          <p:cNvSpPr txBox="1"/>
          <p:nvPr/>
        </p:nvSpPr>
        <p:spPr>
          <a:xfrm>
            <a:off x="609600" y="4699000"/>
            <a:ext cx="7899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595959"/>
                </a:solidFill>
                <a:latin typeface="Arial"/>
                <a:ea typeface="Arial"/>
              </a:rPr>
              <a:t>Материалы: 01 Анализ рынка · 02 Анализ конкурентов · 03 ЦА и участники сделки · 04 Ценностные предложения · 05 Задача по SMART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1639</Words>
  <Application>Microsoft Office PowerPoint</Application>
  <PresentationFormat>Экран (16:9)</PresentationFormat>
  <Paragraphs>175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Inter</vt:lpstr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</dc:title>
  <cp:lastModifiedBy>Софья Зименкова</cp:lastModifiedBy>
  <cp:revision>2</cp:revision>
  <dcterms:modified xsi:type="dcterms:W3CDTF">2026-09-26T20:58:54Z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