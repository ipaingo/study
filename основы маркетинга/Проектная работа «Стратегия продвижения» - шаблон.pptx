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6858000" cy="9144000"/>
  <p:embeddedFontLst>
    <p:embeddedFont>
      <p:font typeface="Inter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.fntdata"/><Relationship Id="rId20" Type="http://schemas.openxmlformats.org/officeDocument/2006/relationships/slide" Target="slides/slide16.xml"/><Relationship Id="rId42" Type="http://schemas.openxmlformats.org/officeDocument/2006/relationships/font" Target="fonts/Inter-boldItalic.fntdata"/><Relationship Id="rId41" Type="http://schemas.openxmlformats.org/officeDocument/2006/relationships/font" Target="fonts/Inter-italic.fntdata"/><Relationship Id="rId22" Type="http://schemas.openxmlformats.org/officeDocument/2006/relationships/slide" Target="slides/slide18.xml"/><Relationship Id="rId44" Type="http://schemas.openxmlformats.org/officeDocument/2006/relationships/font" Target="fonts/OpenSans-bold.fntdata"/><Relationship Id="rId21" Type="http://schemas.openxmlformats.org/officeDocument/2006/relationships/slide" Target="slides/slide17.xml"/><Relationship Id="rId43" Type="http://schemas.openxmlformats.org/officeDocument/2006/relationships/font" Target="fonts/OpenSans-regular.fntdata"/><Relationship Id="rId24" Type="http://schemas.openxmlformats.org/officeDocument/2006/relationships/slide" Target="slides/slide20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9.xml"/><Relationship Id="rId45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Inter-regular.fnt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9df2300631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29df2300631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9df2300631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29df2300631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9df2300631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29df2300631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7061ebd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f7061ebd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75eb00e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f75eb00e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75eb00e9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f75eb00e9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8b602d0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f8b602d0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8b602d07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f8b602d07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8b602d07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f8b602d07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75eb00e9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f75eb00e9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75eb00e9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f75eb00e9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75eb00e9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f75eb00e9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75eb00e9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f75eb00e9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8b602d07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f8b602d07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8b602d07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f8b602d07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8b602d07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f8b602d07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75eb00e9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f75eb00e9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75eb00e9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f75eb00e9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75eb00e9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f75eb00e9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75eb00e9f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f75eb00e9f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75eb00e9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f75eb00e9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8b602d07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f8b602d07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8b602d07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f8b602d07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8b602d07c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f8b602d07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8b602d07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f8b602d07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8b602d07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f8b602d07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75eb00e9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f75eb00e9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75eb00e9f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f75eb00e9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8b602d07c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f8b602d07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8b602d07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f8b602d07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8b602d07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f8b602d07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8b602d07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f8b602d07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75eb00e9f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f75eb00e9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75eb00e9f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f75eb00e9f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" y="-5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title"/>
          </p:nvPr>
        </p:nvSpPr>
        <p:spPr>
          <a:xfrm>
            <a:off x="269875" y="766775"/>
            <a:ext cx="8604300" cy="1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latin typeface="Inter"/>
                <a:ea typeface="Inter"/>
                <a:cs typeface="Inter"/>
                <a:sym typeface="Inter"/>
              </a:rPr>
              <a:t>Проектная работа </a:t>
            </a:r>
            <a:endParaRPr b="1" sz="35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latin typeface="Inter"/>
                <a:ea typeface="Inter"/>
                <a:cs typeface="Inter"/>
                <a:sym typeface="Inter"/>
              </a:rPr>
              <a:t>«Стратегия продвижения»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type="ctrTitle"/>
          </p:nvPr>
        </p:nvSpPr>
        <p:spPr>
          <a:xfrm>
            <a:off x="280950" y="766775"/>
            <a:ext cx="5611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000"/>
              <a:t>Задачи для B2C</a:t>
            </a:r>
            <a:endParaRPr b="1" sz="3000"/>
          </a:p>
        </p:txBody>
      </p:sp>
      <p:sp>
        <p:nvSpPr>
          <p:cNvPr id="64" name="Google Shape;64;p14"/>
          <p:cNvSpPr/>
          <p:nvPr/>
        </p:nvSpPr>
        <p:spPr>
          <a:xfrm>
            <a:off x="343500" y="1351475"/>
            <a:ext cx="8438700" cy="3525900"/>
          </a:xfrm>
          <a:prstGeom prst="roundRect">
            <a:avLst>
              <a:gd fmla="val 593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31306" y="1477924"/>
            <a:ext cx="8063100" cy="24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Провести анализ ситуации: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Выбери модель роста и посчитай, за счёт каких рычагов достигается цель +35%. Используй юнит-экономику: что выгоднее — лить больше холодного трафика или снижать CAC и растить повторные покупки?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Проверь здоровье экономики: посчитай текущий LTV/CAC и целевой. Куда его надо привести?</a:t>
            </a:r>
            <a:r>
              <a:rPr lang="ru"/>
              <a:t> </a:t>
            </a:r>
            <a:r>
              <a:rPr lang="ru">
                <a:solidFill>
                  <a:srgbClr val="FF0000"/>
                </a:solidFill>
              </a:rPr>
              <a:t>Проверь самостоятельно и с помощью ИИ.</a:t>
            </a:r>
            <a:endParaRPr>
              <a:solidFill>
                <a:srgbClr val="FF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Спроектируй воронку и задай целевые показатели по стадиям (прогрев/имидж → брендформанс → перформанс → удержание). Опирайся на базовые конверсии.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Обоснуй, какой канал работает на какую стадию воронки.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Опиши креативную концепцию </a:t>
            </a:r>
            <a:r>
              <a:rPr lang="ru">
                <a:solidFill>
                  <a:srgbClr val="FF0000"/>
                </a:solidFill>
              </a:rPr>
              <a:t>— единое сообщение через всю коммуникацию самостоятельно и через ИИ. Загрузи данные и составь промпт</a:t>
            </a:r>
            <a:r>
              <a:rPr lang="ru"/>
              <a:t>. </a:t>
            </a:r>
            <a:r>
              <a:rPr lang="ru">
                <a:solidFill>
                  <a:srgbClr val="FF0000"/>
                </a:solidFill>
              </a:rPr>
              <a:t>Результат и промпт добавь в работу. Сделай выводы</a:t>
            </a:r>
            <a:endParaRPr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b="1" lang="ru" sz="3000"/>
              <a:t>Модель роста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72" name="Google Shape;72;p15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604825" y="1446225"/>
            <a:ext cx="78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b="1" lang="ru" sz="3000"/>
              <a:t>Модель роста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82" name="Google Shape;82;p16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604825" y="1446225"/>
            <a:ext cx="78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b="1" lang="ru" sz="3000"/>
              <a:t>Модель роста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92" name="Google Shape;92;p17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604825" y="1446225"/>
            <a:ext cx="78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/>
              <a:t>2. Здоровье экономики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102" name="Google Shape;102;p18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604825" y="1446225"/>
            <a:ext cx="78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/>
              <a:t>2. Здоровье экономики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112" name="Google Shape;112;p19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/>
        </p:nvSpPr>
        <p:spPr>
          <a:xfrm>
            <a:off x="604825" y="1446225"/>
            <a:ext cx="788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Промпт (по методологии ___________)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/>
              <a:t>2. Здоровье экономики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122" name="Google Shape;122;p20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604825" y="1446225"/>
            <a:ext cx="788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Оценка нейросети (наименование и модель)</a:t>
            </a:r>
            <a:endParaRPr b="1" sz="20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/>
              <a:t>2. Здоровье экономики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132" name="Google Shape;132;p21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/>
        </p:nvSpPr>
        <p:spPr>
          <a:xfrm>
            <a:off x="604825" y="1446225"/>
            <a:ext cx="788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Оценка нейросети (наименование и модель)</a:t>
            </a:r>
            <a:endParaRPr b="1" sz="20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/>
              <a:t>3.</a:t>
            </a:r>
            <a:r>
              <a:rPr b="1" lang="ru" sz="3000"/>
              <a:t> Воронка и целевые показатели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142" name="Google Shape;142;p22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604825" y="1446225"/>
            <a:ext cx="788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Скриншот таблицы или таблица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891100" y="4062825"/>
            <a:ext cx="6458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Холодный трафик конвертирует плохо, поэтому необходимо работать над конверсиями из теплого трафика, тем самым расширяя воронку.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/>
              <a:t>4. Каналы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153" name="Google Shape;153;p23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/>
        </p:nvSpPr>
        <p:spPr>
          <a:xfrm>
            <a:off x="604825" y="1446225"/>
            <a:ext cx="78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/>
              <a:t>4. Каналы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2000"/>
              <a:t>Таблица с воронкой или </a:t>
            </a:r>
            <a:r>
              <a:rPr lang="ru" sz="2000"/>
              <a:t>скриншот</a:t>
            </a:r>
            <a:r>
              <a:rPr lang="ru" sz="2000"/>
              <a:t> таблиц</a:t>
            </a:r>
            <a:endParaRPr sz="2000"/>
          </a:p>
        </p:txBody>
      </p:sp>
      <p:sp>
        <p:nvSpPr>
          <p:cNvPr id="163" name="Google Shape;163;p24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/>
              <a:t>5. Коммуникационное сообщение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172" name="Google Shape;172;p25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 txBox="1"/>
          <p:nvPr/>
        </p:nvSpPr>
        <p:spPr>
          <a:xfrm>
            <a:off x="604825" y="1446225"/>
            <a:ext cx="788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/>
              <a:t>5. Коммуникационное сообщение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182" name="Google Shape;182;p26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6"/>
          <p:cNvSpPr txBox="1"/>
          <p:nvPr/>
        </p:nvSpPr>
        <p:spPr>
          <a:xfrm>
            <a:off x="604825" y="1446225"/>
            <a:ext cx="788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Промпт для нейросети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/>
              <a:t>5. Коммуникационное сообщение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192" name="Google Shape;192;p27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7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 txBox="1"/>
          <p:nvPr/>
        </p:nvSpPr>
        <p:spPr>
          <a:xfrm>
            <a:off x="604825" y="1446225"/>
            <a:ext cx="7880100" cy="1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Версия от нейросети (название и модель) -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/>
              <a:t>5. Коммуникационное сообщение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202" name="Google Shape;202;p28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8"/>
          <p:cNvSpPr txBox="1"/>
          <p:nvPr/>
        </p:nvSpPr>
        <p:spPr>
          <a:xfrm>
            <a:off x="604825" y="1446225"/>
            <a:ext cx="788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Вывод по работе нейросети и собственному опыту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9"/>
          <p:cNvSpPr txBox="1"/>
          <p:nvPr>
            <p:ph type="ctrTitle"/>
          </p:nvPr>
        </p:nvSpPr>
        <p:spPr>
          <a:xfrm>
            <a:off x="280950" y="766775"/>
            <a:ext cx="5611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000"/>
              <a:t>Задачи для B2В</a:t>
            </a:r>
            <a:endParaRPr b="1" sz="3000"/>
          </a:p>
        </p:txBody>
      </p:sp>
      <p:sp>
        <p:nvSpPr>
          <p:cNvPr id="213" name="Google Shape;213;p29"/>
          <p:cNvSpPr/>
          <p:nvPr/>
        </p:nvSpPr>
        <p:spPr>
          <a:xfrm>
            <a:off x="343500" y="1351475"/>
            <a:ext cx="8438700" cy="3525900"/>
          </a:xfrm>
          <a:prstGeom prst="roundRect">
            <a:avLst>
              <a:gd fmla="val 593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531306" y="1477924"/>
            <a:ext cx="8063100" cy="24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Провести анализ ситуации: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Выбери модель роста для +30% нового ARR. Посчитай: сколько нужно сделок, SQL и MQL, чтобы это дало результат (используй конверсии воронки).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Реши, что выгоднее: гнать больше лидов или растить конверсию MQL→SQL и работать точечно по крупным аккаунтам (ABM). Обоснуй экономикой. </a:t>
            </a:r>
            <a:r>
              <a:rPr lang="ru">
                <a:solidFill>
                  <a:srgbClr val="FF0000"/>
                </a:solidFill>
              </a:rPr>
              <a:t>Проверь самостоятельно и с помощью ИИ. Приложи промпт, модель и результат. Сделай выводы.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Посчитай CAC payback и LTV/CAC — здоровая ли экономика, куда её вести. </a:t>
            </a:r>
            <a:r>
              <a:rPr lang="ru">
                <a:solidFill>
                  <a:srgbClr val="FF0000"/>
                </a:solidFill>
              </a:rPr>
              <a:t>Проверь самостоятельно и с помощью ИИ. Приложи промпт, модель и результат. Сделай выводы.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Спроектируй воронку с учётом длинного цикла: demand gen → lead gen → MQL → SQL → демо → сделка.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Обоснуй, какой канал работает на какую стадию.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b="1" lang="ru" sz="3000"/>
              <a:t>Модель роста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221" name="Google Shape;221;p30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0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0"/>
          <p:cNvSpPr txBox="1"/>
          <p:nvPr/>
        </p:nvSpPr>
        <p:spPr>
          <a:xfrm>
            <a:off x="604825" y="1446225"/>
            <a:ext cx="78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b="1" lang="ru" sz="3000"/>
              <a:t>Модель роста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231" name="Google Shape;231;p31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1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1"/>
          <p:cNvSpPr txBox="1"/>
          <p:nvPr/>
        </p:nvSpPr>
        <p:spPr>
          <a:xfrm>
            <a:off x="604825" y="1446225"/>
            <a:ext cx="78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b="1" lang="ru" sz="3000"/>
              <a:t>Модель роста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241" name="Google Shape;241;p32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2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2"/>
          <p:cNvSpPr txBox="1"/>
          <p:nvPr/>
        </p:nvSpPr>
        <p:spPr>
          <a:xfrm>
            <a:off x="604825" y="1446225"/>
            <a:ext cx="788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000"/>
              <a:t>2. Стратегия</a:t>
            </a:r>
            <a:endParaRPr sz="2000"/>
          </a:p>
        </p:txBody>
      </p:sp>
      <p:sp>
        <p:nvSpPr>
          <p:cNvPr id="251" name="Google Shape;251;p33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3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3"/>
          <p:cNvSpPr txBox="1"/>
          <p:nvPr/>
        </p:nvSpPr>
        <p:spPr>
          <a:xfrm>
            <a:off x="604825" y="1446225"/>
            <a:ext cx="7880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000"/>
              <a:t>2. Стратегия</a:t>
            </a:r>
            <a:endParaRPr sz="2000"/>
          </a:p>
        </p:txBody>
      </p:sp>
      <p:sp>
        <p:nvSpPr>
          <p:cNvPr id="261" name="Google Shape;261;p34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4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4"/>
          <p:cNvSpPr txBox="1"/>
          <p:nvPr/>
        </p:nvSpPr>
        <p:spPr>
          <a:xfrm>
            <a:off x="604825" y="1446225"/>
            <a:ext cx="7880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Промпт (тип промпта)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000"/>
              <a:t>2. Стратегия</a:t>
            </a:r>
            <a:endParaRPr sz="2000"/>
          </a:p>
        </p:txBody>
      </p:sp>
      <p:sp>
        <p:nvSpPr>
          <p:cNvPr id="271" name="Google Shape;271;p35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5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5"/>
          <p:cNvSpPr txBox="1"/>
          <p:nvPr/>
        </p:nvSpPr>
        <p:spPr>
          <a:xfrm>
            <a:off x="604825" y="1446225"/>
            <a:ext cx="7880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Вывод от нейросети (название и модель)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000"/>
              <a:t>2. Стратегия</a:t>
            </a:r>
            <a:endParaRPr sz="2000"/>
          </a:p>
        </p:txBody>
      </p:sp>
      <p:sp>
        <p:nvSpPr>
          <p:cNvPr id="281" name="Google Shape;281;p36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6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6"/>
          <p:cNvSpPr txBox="1"/>
          <p:nvPr/>
        </p:nvSpPr>
        <p:spPr>
          <a:xfrm>
            <a:off x="604825" y="1446225"/>
            <a:ext cx="7880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Вывод нейросети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7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000"/>
              <a:t>2. Стратегия</a:t>
            </a:r>
            <a:endParaRPr sz="2000"/>
          </a:p>
        </p:txBody>
      </p:sp>
      <p:sp>
        <p:nvSpPr>
          <p:cNvPr id="291" name="Google Shape;291;p37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7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7"/>
          <p:cNvSpPr txBox="1"/>
          <p:nvPr/>
        </p:nvSpPr>
        <p:spPr>
          <a:xfrm>
            <a:off x="604825" y="1446225"/>
            <a:ext cx="788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Вывод нейросети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 txBox="1"/>
          <p:nvPr>
            <p:ph type="title"/>
          </p:nvPr>
        </p:nvSpPr>
        <p:spPr>
          <a:xfrm>
            <a:off x="269875" y="766775"/>
            <a:ext cx="8604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000"/>
              <a:t>2. Стратегия</a:t>
            </a:r>
            <a:endParaRPr sz="2000"/>
          </a:p>
        </p:txBody>
      </p:sp>
      <p:sp>
        <p:nvSpPr>
          <p:cNvPr id="301" name="Google Shape;301;p38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8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8"/>
          <p:cNvSpPr txBox="1"/>
          <p:nvPr/>
        </p:nvSpPr>
        <p:spPr>
          <a:xfrm>
            <a:off x="604825" y="1446225"/>
            <a:ext cx="788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Вывод - сравнение нейросети и собственносй стратегии: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000"/>
              <a:t>2. Стратегия</a:t>
            </a:r>
            <a:endParaRPr sz="2000"/>
          </a:p>
        </p:txBody>
      </p:sp>
      <p:sp>
        <p:nvSpPr>
          <p:cNvPr id="311" name="Google Shape;311;p39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9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9"/>
          <p:cNvSpPr txBox="1"/>
          <p:nvPr/>
        </p:nvSpPr>
        <p:spPr>
          <a:xfrm>
            <a:off x="604825" y="1446225"/>
            <a:ext cx="788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000"/>
              <a:t>3</a:t>
            </a:r>
            <a:r>
              <a:rPr b="1" lang="ru" sz="3000"/>
              <a:t>. </a:t>
            </a:r>
            <a:r>
              <a:rPr b="1" lang="ru" sz="3000"/>
              <a:t>CAC payback и LTV/CAC</a:t>
            </a:r>
            <a:endParaRPr sz="2000"/>
          </a:p>
        </p:txBody>
      </p:sp>
      <p:sp>
        <p:nvSpPr>
          <p:cNvPr id="321" name="Google Shape;321;p40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0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3" name="Google Shape;32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0"/>
          <p:cNvSpPr txBox="1"/>
          <p:nvPr/>
        </p:nvSpPr>
        <p:spPr>
          <a:xfrm>
            <a:off x="604825" y="1446225"/>
            <a:ext cx="7880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1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000"/>
              <a:t>3. CAC payback и LTV/CAC</a:t>
            </a:r>
            <a:endParaRPr sz="2000"/>
          </a:p>
        </p:txBody>
      </p:sp>
      <p:sp>
        <p:nvSpPr>
          <p:cNvPr id="331" name="Google Shape;331;p41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1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1"/>
          <p:cNvSpPr txBox="1"/>
          <p:nvPr/>
        </p:nvSpPr>
        <p:spPr>
          <a:xfrm>
            <a:off x="604825" y="1446225"/>
            <a:ext cx="7880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Промпт (по методологии ____________)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2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000"/>
              <a:t>3. CAC payback и LTV/CAC</a:t>
            </a:r>
            <a:endParaRPr sz="2000"/>
          </a:p>
        </p:txBody>
      </p:sp>
      <p:sp>
        <p:nvSpPr>
          <p:cNvPr id="341" name="Google Shape;341;p42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2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2"/>
          <p:cNvSpPr txBox="1"/>
          <p:nvPr/>
        </p:nvSpPr>
        <p:spPr>
          <a:xfrm>
            <a:off x="604825" y="1446225"/>
            <a:ext cx="7880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Вывод от соцсети (название и модель):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000"/>
              <a:t>3. CAC payback и LTV/CAC</a:t>
            </a:r>
            <a:endParaRPr sz="2000"/>
          </a:p>
        </p:txBody>
      </p:sp>
      <p:sp>
        <p:nvSpPr>
          <p:cNvPr id="351" name="Google Shape;351;p43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3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3"/>
          <p:cNvSpPr txBox="1"/>
          <p:nvPr/>
        </p:nvSpPr>
        <p:spPr>
          <a:xfrm>
            <a:off x="604825" y="1446225"/>
            <a:ext cx="7880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Вывод от соцсети: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4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000"/>
              <a:t>3. CAC payback и LTV/CAC</a:t>
            </a:r>
            <a:endParaRPr sz="2000"/>
          </a:p>
        </p:txBody>
      </p:sp>
      <p:sp>
        <p:nvSpPr>
          <p:cNvPr id="361" name="Google Shape;361;p44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4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4"/>
          <p:cNvSpPr txBox="1"/>
          <p:nvPr/>
        </p:nvSpPr>
        <p:spPr>
          <a:xfrm>
            <a:off x="604825" y="1446225"/>
            <a:ext cx="7880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Вывод. Сравнение результатов нейросети и собственных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5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000"/>
              <a:t>4. Воронка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000"/>
              <a:t>Таблица или скриншот таблицы</a:t>
            </a:r>
            <a:endParaRPr sz="3000"/>
          </a:p>
        </p:txBody>
      </p:sp>
      <p:sp>
        <p:nvSpPr>
          <p:cNvPr id="371" name="Google Shape;371;p45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5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6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000"/>
              <a:t>5</a:t>
            </a:r>
            <a:r>
              <a:rPr b="1" lang="ru" sz="3000"/>
              <a:t>. Каналы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000"/>
              <a:t>Таблца или скриншот таблицы</a:t>
            </a:r>
            <a:endParaRPr b="1" sz="3000"/>
          </a:p>
        </p:txBody>
      </p:sp>
      <p:sp>
        <p:nvSpPr>
          <p:cNvPr id="380" name="Google Shape;380;p46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6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