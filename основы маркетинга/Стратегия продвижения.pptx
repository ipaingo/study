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</p:sldIdLst>
  <p:sldSz cx="9144000" cy="5143500" type="screen16x9"/>
  <p:notesSz cx="6858000" cy="9144000"/>
  <p:embeddedFontLst>
    <p:embeddedFont>
      <p:font typeface="Inter" panose="02000503000000020004" pitchFamily="2" charset="0"/>
      <p:regular r:id="rId22"/>
      <p:bold r:id="rId23"/>
      <p:italic r:id="rId24"/>
      <p:boldItalic r:id="rId25"/>
    </p:embeddedFont>
    <p:embeddedFont>
      <p:font typeface="Open Sans" panose="020B0606030504020204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701"/>
  </p:normalViewPr>
  <p:slideViewPr>
    <p:cSldViewPr snapToGrid="0">
      <p:cViewPr varScale="1">
        <p:scale>
          <a:sx n="146" d="100"/>
          <a:sy n="146" d="100"/>
        </p:scale>
        <p:origin x="6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9df2300631_0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g29df2300631_0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75eb00e9f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g3f75eb00e9f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75eb00e9f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" name="Google Shape;218;g3f75eb00e9f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75eb00e9f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g3f75eb00e9f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75eb00e9f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g3f75eb00e9f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75eb00e9f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g3f75eb00e9f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8b602d07c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8" name="Google Shape;258;g3f8b602d07c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8b602d07c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g3f8b602d07c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8b602d07c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g3f8b602d07c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f8b602d07c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g3f8b602d07c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8b602d07c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" name="Google Shape;298;g3f8b602d07c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f75eb00e9f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8" name="Google Shape;308;g3f75eb00e9f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f75eb00e9f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g3f75eb00e9f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8b602d07c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8" name="Google Shape;328;g3f8b602d07c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f8b602d07c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3f8b602d07c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f8b602d07c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g3f8b602d07c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f8b602d07c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8" name="Google Shape;358;g3f8b602d07c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f75eb00e9f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" name="Google Shape;368;g3f75eb00e9f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f75eb00e9f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7" name="Google Shape;377;g3f75eb00e9f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269875" y="766775"/>
            <a:ext cx="8604300" cy="18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 b="1">
                <a:latin typeface="Inter"/>
                <a:ea typeface="Inter"/>
                <a:cs typeface="Inter"/>
                <a:sym typeface="Inter"/>
              </a:rPr>
              <a:t>Проектная работа </a:t>
            </a:r>
            <a:endParaRPr sz="3500" b="1"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000">
                <a:latin typeface="Inter"/>
                <a:ea typeface="Inter"/>
                <a:cs typeface="Inter"/>
                <a:sym typeface="Inter"/>
              </a:rPr>
              <a:t>«Стратегия продвижения»</a:t>
            </a:r>
            <a:endParaRPr sz="2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name="adj" fmla="val 50000"/>
            </a:avLst>
          </a:prstGeom>
          <a:solidFill>
            <a:srgbClr val="FF92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" sz="1000" b="1">
                <a:solidFill>
                  <a:schemeClr val="dk1"/>
                </a:solidFill>
              </a:rPr>
              <a:t>маркетинговые стратегии</a:t>
            </a:r>
            <a:endParaRPr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TextBox 57"/>
          <p:cNvSpPr txBox="1"/>
          <p:nvPr/>
        </p:nvSpPr>
        <p:spPr>
          <a:xfrm>
            <a:off x="269825" y="1826623"/>
            <a:ext cx="859536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lang="ru-RU" sz="1300" b="0" dirty="0">
                <a:solidFill>
                  <a:srgbClr val="6E6E6E"/>
                </a:solidFill>
                <a:latin typeface="Open Sans"/>
              </a:rPr>
              <a:t>Кейс: СКЛАДИО — облачная WMS для среднего бизнеса (B2B </a:t>
            </a:r>
            <a:r>
              <a:rPr lang="ru-RU" sz="1300" b="0" dirty="0" err="1">
                <a:solidFill>
                  <a:srgbClr val="6E6E6E"/>
                </a:solidFill>
                <a:latin typeface="Open Sans"/>
              </a:rPr>
              <a:t>SaaS</a:t>
            </a:r>
            <a:r>
              <a:rPr lang="ru-RU" sz="1300" b="0" dirty="0">
                <a:solidFill>
                  <a:srgbClr val="6E6E6E"/>
                </a:solidFill>
                <a:latin typeface="Open Sans"/>
              </a:rPr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9"/>
          <p:cNvSpPr txBox="1">
            <a:spLocks noGrp="1"/>
          </p:cNvSpPr>
          <p:nvPr>
            <p:ph type="ctrTitle"/>
          </p:nvPr>
        </p:nvSpPr>
        <p:spPr>
          <a:xfrm>
            <a:off x="280950" y="766775"/>
            <a:ext cx="5611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b="1" dirty="0"/>
              <a:t>Задачи анализа</a:t>
            </a:r>
            <a:endParaRPr sz="3000" b="1" dirty="0"/>
          </a:p>
        </p:txBody>
      </p:sp>
      <p:sp>
        <p:nvSpPr>
          <p:cNvPr id="213" name="Google Shape;213;p29"/>
          <p:cNvSpPr/>
          <p:nvPr/>
        </p:nvSpPr>
        <p:spPr>
          <a:xfrm>
            <a:off x="343500" y="1351475"/>
            <a:ext cx="8438700" cy="3525900"/>
          </a:xfrm>
          <a:prstGeom prst="roundRect">
            <a:avLst>
              <a:gd name="adj" fmla="val 593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9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name="adj" fmla="val 50000"/>
            </a:avLst>
          </a:prstGeom>
          <a:solidFill>
            <a:srgbClr val="FF92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" sz="1000" b="1">
                <a:solidFill>
                  <a:schemeClr val="dk1"/>
                </a:solidFill>
              </a:rPr>
              <a:t>маркетинговые стратегии</a:t>
            </a:r>
            <a:endParaRPr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9"/>
          <p:cNvSpPr txBox="1"/>
          <p:nvPr/>
        </p:nvSpPr>
        <p:spPr>
          <a:xfrm>
            <a:off x="531306" y="1477924"/>
            <a:ext cx="8063100" cy="3242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Провести анализ ситуации:</a:t>
            </a:r>
            <a:endParaRPr b="1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ru-RU" dirty="0"/>
              <a:t>Выбрать</a:t>
            </a:r>
            <a:r>
              <a:rPr lang="ru" dirty="0"/>
              <a:t> модель роста для +30% нового ARR. Проверить, сколько нужно сделок, SQL и MQL, чтобы это дало результат.</a:t>
            </a:r>
            <a:endParaRPr dirty="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ru" dirty="0"/>
              <a:t>Проверить, что выгоднее: гнать больше лидов или растить конверсию MQL→SQL и работать точечно по крупным аккаунтам (ABM). Обосновать экономикой.</a:t>
            </a:r>
            <a:endParaRPr dirty="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ru" dirty="0"/>
              <a:t>Посчитать CAC payback и LTV/CAC — здоровая ли экономика, куда её вести.</a:t>
            </a:r>
            <a:endParaRPr dirty="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ru" dirty="0"/>
              <a:t>Спроектировать воронку с учетом длинного цикла: demand gen → lead gen → MQL → SQL → демо → сделка.</a:t>
            </a:r>
            <a:endParaRPr dirty="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ru" dirty="0"/>
              <a:t>Обосновать, какой канал работает на какую стадию.</a:t>
            </a:r>
            <a:endParaRPr dirty="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0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name="adj" fmla="val 50000"/>
            </a:avLst>
          </a:prstGeom>
          <a:solidFill>
            <a:srgbClr val="FF92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</a:rPr>
              <a:t>маркетинговые стратегии</a:t>
            </a:r>
            <a:endParaRPr lang="ru-RU"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0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</a:rPr>
              <a:t>анализ</a:t>
            </a:r>
            <a:endParaRPr lang="ru-RU"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5800" y="3955802"/>
            <a:ext cx="1278375" cy="91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Rounded Rectangle 224"/>
          <p:cNvSpPr/>
          <p:nvPr/>
        </p:nvSpPr>
        <p:spPr>
          <a:xfrm>
            <a:off x="274320" y="1417320"/>
            <a:ext cx="4160520" cy="2244037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7" name="Rounded Rectangle 226"/>
          <p:cNvSpPr/>
          <p:nvPr/>
        </p:nvSpPr>
        <p:spPr>
          <a:xfrm>
            <a:off x="4709160" y="1417320"/>
            <a:ext cx="4160520" cy="2244037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8" name="TextBox 227"/>
          <p:cNvSpPr txBox="1"/>
          <p:nvPr/>
        </p:nvSpPr>
        <p:spPr>
          <a:xfrm>
            <a:off x="4983480" y="1645920"/>
            <a:ext cx="3611880" cy="1723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lang="ru-RU" sz="1300" b="1">
                <a:solidFill>
                  <a:srgbClr val="1A1A1A"/>
                </a:solidFill>
                <a:latin typeface="Inter"/>
              </a:rPr>
              <a:t>Модель: воронка B2B-продаж</a:t>
            </a:r>
          </a:p>
          <a:p>
            <a:pPr>
              <a:spcAft>
                <a:spcPts val="800"/>
              </a:spcAft>
            </a:pPr>
            <a:r>
              <a:rPr lang="ru-RU" sz="1000" b="0">
                <a:solidFill>
                  <a:srgbClr val="1A1A1A"/>
                </a:solidFill>
                <a:latin typeface="Open Sans"/>
              </a:rPr>
              <a:t>Расчёт снизу вверх — от цели по сделкам к необходимому числу MQL:</a:t>
            </a:r>
          </a:p>
          <a:p>
            <a:pPr>
              <a:spcAft>
                <a:spcPts val="1000"/>
              </a:spcAft>
            </a:pPr>
            <a:r>
              <a:rPr lang="ru-RU" sz="1100" b="1">
                <a:solidFill>
                  <a:srgbClr val="1A1A1A"/>
                </a:solidFill>
                <a:latin typeface="Open Sans"/>
              </a:rPr>
              <a:t>сделки → демо → SQL → MQL → лиды</a:t>
            </a:r>
          </a:p>
          <a:p>
            <a:pPr>
              <a:spcAft>
                <a:spcPts val="400"/>
              </a:spcAft>
            </a:pPr>
            <a:r>
              <a:rPr lang="ru-RU" sz="1000" b="0">
                <a:solidFill>
                  <a:srgbClr val="1A1A1A"/>
                </a:solidFill>
                <a:latin typeface="Open Sans"/>
              </a:rPr>
              <a:t>Сквозная конверсия MQL → сделка:</a:t>
            </a:r>
          </a:p>
          <a:p>
            <a:pPr>
              <a:spcAft>
                <a:spcPts val="1000"/>
              </a:spcAft>
            </a:pPr>
            <a:r>
              <a:rPr lang="ru-RU" sz="1400" b="1">
                <a:solidFill>
                  <a:srgbClr val="1A1A1A"/>
                </a:solidFill>
                <a:latin typeface="Inter"/>
              </a:rPr>
              <a:t>15% × 45% × 40% = 2,7%</a:t>
            </a:r>
          </a:p>
          <a:p>
            <a:pPr>
              <a:spcAft>
                <a:spcPts val="0"/>
              </a:spcAft>
            </a:pPr>
            <a:r>
              <a:rPr lang="ru-RU" sz="900" b="0">
                <a:solidFill>
                  <a:srgbClr val="6E6E6E"/>
                </a:solidFill>
                <a:latin typeface="Open Sans"/>
              </a:rPr>
              <a:t>MQL→SQL 15% · SQL→демо 45% · демо→сделка 40%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274320" y="4828032"/>
            <a:ext cx="77724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lang="ru-RU" sz="750" b="0">
                <a:solidFill>
                  <a:srgbClr val="6E6E6E"/>
                </a:solidFill>
                <a:latin typeface="Open Sans"/>
              </a:rPr>
              <a:t>Источник: данные кейса СКЛАДИО. Конверсия лид → MQL = 30% — допущение по бенчмаркам B2B SaaS.</a:t>
            </a:r>
          </a:p>
        </p:txBody>
      </p:sp>
      <p:sp>
        <p:nvSpPr>
          <p:cNvPr id="4" name="Google Shape;212;p29">
            <a:extLst>
              <a:ext uri="{FF2B5EF4-FFF2-40B4-BE49-F238E27FC236}">
                <a16:creationId xmlns:a16="http://schemas.microsoft.com/office/drawing/2014/main" id="{5B566704-23B3-4F97-5416-8A95891EF076}"/>
              </a:ext>
            </a:extLst>
          </p:cNvPr>
          <p:cNvSpPr txBox="1">
            <a:spLocks/>
          </p:cNvSpPr>
          <p:nvPr/>
        </p:nvSpPr>
        <p:spPr>
          <a:xfrm>
            <a:off x="280950" y="766775"/>
            <a:ext cx="5611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100"/>
            </a:pPr>
            <a:r>
              <a:rPr lang="ru-RU" sz="3000" b="1"/>
              <a:t>1. Модель роста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548640" y="1645920"/>
            <a:ext cx="3611880" cy="1618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lang="ru-RU" sz="1300" b="1">
                <a:solidFill>
                  <a:srgbClr val="1A1A1A"/>
                </a:solidFill>
                <a:latin typeface="Inter"/>
              </a:rPr>
              <a:t>Цель бизнеса</a:t>
            </a:r>
          </a:p>
          <a:p>
            <a:pPr>
              <a:spcAft>
                <a:spcPts val="600"/>
              </a:spcAft>
            </a:pPr>
            <a:r>
              <a:rPr lang="ru-RU" sz="1100" b="1">
                <a:solidFill>
                  <a:srgbClr val="1A1A1A"/>
                </a:solidFill>
                <a:latin typeface="Open Sans"/>
              </a:rPr>
              <a:t>+30% нового ARR за 12 месяцев</a:t>
            </a:r>
          </a:p>
          <a:p>
            <a:pPr>
              <a:spcAft>
                <a:spcPts val="600"/>
              </a:spcAft>
            </a:pPr>
            <a:r>
              <a:rPr lang="ru-RU" sz="1050" b="0">
                <a:solidFill>
                  <a:srgbClr val="1A1A1A"/>
                </a:solidFill>
                <a:latin typeface="Open Sans"/>
              </a:rPr>
              <a:t>= +180 млн руб.  (ARR 600 млн руб. × 30%)</a:t>
            </a:r>
          </a:p>
          <a:p>
            <a:pPr>
              <a:spcAft>
                <a:spcPts val="600"/>
              </a:spcAft>
            </a:pPr>
            <a:r>
              <a:rPr lang="ru-RU" sz="1050" b="0">
                <a:solidFill>
                  <a:srgbClr val="1A1A1A"/>
                </a:solidFill>
                <a:latin typeface="Open Sans"/>
              </a:rPr>
              <a:t>= 120 новых сделок  (ACV 1,5 млн руб./год)</a:t>
            </a:r>
          </a:p>
          <a:p>
            <a:pPr>
              <a:spcAft>
                <a:spcPts val="1000"/>
              </a:spcAft>
            </a:pPr>
            <a:r>
              <a:rPr lang="ru-RU" sz="1050" b="0">
                <a:solidFill>
                  <a:srgbClr val="1A1A1A"/>
                </a:solidFill>
                <a:latin typeface="Open Sans"/>
              </a:rPr>
              <a:t>= 10 сделок в месяц</a:t>
            </a:r>
          </a:p>
          <a:p>
            <a:pPr>
              <a:spcAft>
                <a:spcPts val="0"/>
              </a:spcAft>
            </a:pPr>
            <a:r>
              <a:rPr lang="ru-RU" sz="900" b="0">
                <a:solidFill>
                  <a:srgbClr val="6E6E6E"/>
                </a:solidFill>
                <a:latin typeface="Open Sans"/>
              </a:rPr>
              <a:t>Цикл сделки 3,5 мес → решения по бюджету клиенты принимают в Q4, лаг «касание → контракт» 2–3 квартала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1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name="adj" fmla="val 50000"/>
            </a:avLst>
          </a:prstGeom>
          <a:solidFill>
            <a:srgbClr val="FF92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" sz="1000" b="1">
                <a:solidFill>
                  <a:schemeClr val="dk1"/>
                </a:solidFill>
              </a:rPr>
              <a:t>маркетинговые стратегии</a:t>
            </a:r>
            <a:endParaRPr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1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" sz="1000" b="1">
                <a:solidFill>
                  <a:schemeClr val="dk1"/>
                </a:solidFill>
              </a:rPr>
              <a:t>анализ</a:t>
            </a:r>
            <a:endParaRPr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" name="Google Shape;234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TextBox 234"/>
          <p:cNvSpPr txBox="1"/>
          <p:nvPr/>
        </p:nvSpPr>
        <p:spPr>
          <a:xfrm>
            <a:off x="274320" y="1417320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Inter"/>
              </a:rPr>
              <a:t>Сколько нужно лидов, MQL и SQL для цели +30% нового ARR — при текущих конверсиях воронки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0508742"/>
              </p:ext>
            </p:extLst>
          </p:nvPr>
        </p:nvGraphicFramePr>
        <p:xfrm>
          <a:off x="274320" y="1783080"/>
          <a:ext cx="8595360" cy="2670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ru-RU" sz="1000" b="1" noProof="0">
                          <a:solidFill>
                            <a:srgbClr val="FFFFFF"/>
                          </a:solidFill>
                          <a:latin typeface="Inter"/>
                        </a:rPr>
                        <a:t>Этап воронки</a:t>
                      </a:r>
                    </a:p>
                  </a:txBody>
                  <a:tcPr marL="54864" marR="54864" marT="18288" marB="1828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noProof="0">
                          <a:solidFill>
                            <a:srgbClr val="FFFFFF"/>
                          </a:solidFill>
                          <a:latin typeface="Inter"/>
                        </a:rPr>
                        <a:t>Конверсия в следующий этап</a:t>
                      </a:r>
                    </a:p>
                  </a:txBody>
                  <a:tcPr marL="54864" marR="54864" marT="18288" marB="1828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noProof="0">
                          <a:solidFill>
                            <a:srgbClr val="FFFFFF"/>
                          </a:solidFill>
                          <a:latin typeface="Inter"/>
                        </a:rPr>
                        <a:t>Объём в год</a:t>
                      </a:r>
                    </a:p>
                  </a:txBody>
                  <a:tcPr marL="54864" marR="54864" marT="18288" marB="1828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noProof="0">
                          <a:solidFill>
                            <a:srgbClr val="FFFFFF"/>
                          </a:solidFill>
                          <a:latin typeface="Inter"/>
                        </a:rPr>
                        <a:t>Объём в месяц</a:t>
                      </a:r>
                    </a:p>
                  </a:txBody>
                  <a:tcPr marL="54864" marR="54864" marT="18288" marB="18288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ru-RU" sz="1000" b="0" noProof="0">
                          <a:solidFill>
                            <a:srgbClr val="1A1A1A"/>
                          </a:solidFill>
                          <a:latin typeface="Open Sans"/>
                        </a:rPr>
                        <a:t>Лиды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0" noProof="0">
                          <a:solidFill>
                            <a:srgbClr val="1A1A1A"/>
                          </a:solidFill>
                          <a:latin typeface="Open Sans"/>
                        </a:rPr>
                        <a:t>30% → MQL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0" noProof="0">
                          <a:solidFill>
                            <a:srgbClr val="1A1A1A"/>
                          </a:solidFill>
                          <a:latin typeface="Open Sans"/>
                        </a:rPr>
                        <a:t>≈14 800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0" noProof="0">
                          <a:solidFill>
                            <a:srgbClr val="1A1A1A"/>
                          </a:solidFill>
                          <a:latin typeface="Open Sans"/>
                        </a:rPr>
                        <a:t>≈1 235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ru-RU" sz="1000" b="0" noProof="0">
                          <a:solidFill>
                            <a:srgbClr val="1A1A1A"/>
                          </a:solidFill>
                          <a:latin typeface="Open Sans"/>
                        </a:rPr>
                        <a:t>MQL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0" noProof="0">
                          <a:solidFill>
                            <a:srgbClr val="1A1A1A"/>
                          </a:solidFill>
                          <a:latin typeface="Open Sans"/>
                        </a:rPr>
                        <a:t>15% → SQL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0" noProof="0">
                          <a:solidFill>
                            <a:srgbClr val="1A1A1A"/>
                          </a:solidFill>
                          <a:latin typeface="Open Sans"/>
                        </a:rPr>
                        <a:t>4 444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0" noProof="0">
                          <a:solidFill>
                            <a:srgbClr val="1A1A1A"/>
                          </a:solidFill>
                          <a:latin typeface="Open Sans"/>
                        </a:rPr>
                        <a:t>370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ru-RU" sz="1000" b="0" noProof="0">
                          <a:solidFill>
                            <a:srgbClr val="1A1A1A"/>
                          </a:solidFill>
                          <a:latin typeface="Open Sans"/>
                        </a:rPr>
                        <a:t>SQL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0" noProof="0">
                          <a:solidFill>
                            <a:srgbClr val="1A1A1A"/>
                          </a:solidFill>
                          <a:latin typeface="Open Sans"/>
                        </a:rPr>
                        <a:t>45% → демо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0" noProof="0">
                          <a:solidFill>
                            <a:srgbClr val="1A1A1A"/>
                          </a:solidFill>
                          <a:latin typeface="Open Sans"/>
                        </a:rPr>
                        <a:t>667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0" noProof="0">
                          <a:solidFill>
                            <a:srgbClr val="1A1A1A"/>
                          </a:solidFill>
                          <a:latin typeface="Open Sans"/>
                        </a:rPr>
                        <a:t>56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ru-RU" sz="1000" b="0" noProof="0">
                          <a:solidFill>
                            <a:srgbClr val="1A1A1A"/>
                          </a:solidFill>
                          <a:latin typeface="Open Sans"/>
                        </a:rPr>
                        <a:t>Демо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0" noProof="0">
                          <a:solidFill>
                            <a:srgbClr val="1A1A1A"/>
                          </a:solidFill>
                          <a:latin typeface="Open Sans"/>
                        </a:rPr>
                        <a:t>40% → сделка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0" noProof="0">
                          <a:solidFill>
                            <a:srgbClr val="1A1A1A"/>
                          </a:solidFill>
                          <a:latin typeface="Open Sans"/>
                        </a:rPr>
                        <a:t>300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0" noProof="0">
                          <a:solidFill>
                            <a:srgbClr val="1A1A1A"/>
                          </a:solidFill>
                          <a:latin typeface="Open Sans"/>
                        </a:rPr>
                        <a:t>25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ru-RU" sz="1000" b="0" noProof="0">
                          <a:solidFill>
                            <a:srgbClr val="1A1A1A"/>
                          </a:solidFill>
                          <a:latin typeface="Open Sans"/>
                        </a:rPr>
                        <a:t>Сделки (won)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0" noProof="0">
                          <a:solidFill>
                            <a:srgbClr val="1A1A1A"/>
                          </a:solidFill>
                          <a:latin typeface="Open Sans"/>
                        </a:rPr>
                        <a:t>2,7% от MQL (сквозная)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0" noProof="0">
                          <a:solidFill>
                            <a:srgbClr val="1A1A1A"/>
                          </a:solidFill>
                          <a:latin typeface="Open Sans"/>
                        </a:rPr>
                        <a:t>120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0" noProof="0">
                          <a:solidFill>
                            <a:srgbClr val="1A1A1A"/>
                          </a:solidFill>
                          <a:latin typeface="Open Sans"/>
                        </a:rP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ru-RU" sz="1000" b="0" noProof="0">
                          <a:solidFill>
                            <a:srgbClr val="1A1A1A"/>
                          </a:solidFill>
                          <a:latin typeface="Open Sans"/>
                        </a:rPr>
                        <a:t>Новый ARR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0" noProof="0">
                          <a:solidFill>
                            <a:srgbClr val="1A1A1A"/>
                          </a:solidFill>
                          <a:latin typeface="Open Sans"/>
                        </a:rPr>
                        <a:t>ACV 1,5 млн руб.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0" noProof="0">
                          <a:solidFill>
                            <a:srgbClr val="1A1A1A"/>
                          </a:solidFill>
                          <a:latin typeface="Open Sans"/>
                        </a:rPr>
                        <a:t>+180 млн руб.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0" noProof="0" dirty="0">
                          <a:solidFill>
                            <a:srgbClr val="1A1A1A"/>
                          </a:solidFill>
                          <a:latin typeface="Open Sans"/>
                        </a:rPr>
                        <a:t>+15 млн руб.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37" name="TextBox 236"/>
          <p:cNvSpPr txBox="1"/>
          <p:nvPr/>
        </p:nvSpPr>
        <p:spPr>
          <a:xfrm>
            <a:off x="274320" y="4828032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750" b="0">
                <a:solidFill>
                  <a:srgbClr val="6E6E6E"/>
                </a:solidFill>
                <a:latin typeface="Open Sans"/>
              </a:rPr>
              <a:t>Расчёт снизу вверх: 120 сделок / 0,40 = 300 демо; / 0,45 = 667 SQL; / 0,15 = 4 444 MQL; / 0,30 ≈ 14 800 лидов.</a:t>
            </a:r>
          </a:p>
        </p:txBody>
      </p:sp>
      <p:sp>
        <p:nvSpPr>
          <p:cNvPr id="4" name="Google Shape;212;p29">
            <a:extLst>
              <a:ext uri="{FF2B5EF4-FFF2-40B4-BE49-F238E27FC236}">
                <a16:creationId xmlns:a16="http://schemas.microsoft.com/office/drawing/2014/main" id="{0B1C1D49-6E25-18D9-9C6C-7B1CE806C6E5}"/>
              </a:ext>
            </a:extLst>
          </p:cNvPr>
          <p:cNvSpPr txBox="1">
            <a:spLocks/>
          </p:cNvSpPr>
          <p:nvPr/>
        </p:nvSpPr>
        <p:spPr>
          <a:xfrm>
            <a:off x="280950" y="766775"/>
            <a:ext cx="5611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100"/>
            </a:pPr>
            <a:r>
              <a:rPr lang="ru-RU" sz="3000" b="1" dirty="0"/>
              <a:t>1. Модель роста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name="adj" fmla="val 50000"/>
            </a:avLst>
          </a:prstGeom>
          <a:solidFill>
            <a:srgbClr val="FF92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" sz="1000" b="1">
                <a:solidFill>
                  <a:schemeClr val="dk1"/>
                </a:solidFill>
              </a:rPr>
              <a:t>маркетинговые стратегии</a:t>
            </a:r>
            <a:endParaRPr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2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" sz="1000" b="1">
                <a:solidFill>
                  <a:schemeClr val="dk1"/>
                </a:solidFill>
              </a:rPr>
              <a:t>анализ</a:t>
            </a:r>
            <a:endParaRPr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TextBox 244"/>
          <p:cNvSpPr txBox="1"/>
          <p:nvPr/>
        </p:nvSpPr>
        <p:spPr>
          <a:xfrm>
            <a:off x="274320" y="1417320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Inter"/>
              </a:rPr>
              <a:t>Показатели, необходимые для достижения цели (в месяц)</a:t>
            </a:r>
          </a:p>
        </p:txBody>
      </p:sp>
      <p:sp>
        <p:nvSpPr>
          <p:cNvPr id="246" name="Rounded Rectangle 245"/>
          <p:cNvSpPr/>
          <p:nvPr/>
        </p:nvSpPr>
        <p:spPr>
          <a:xfrm>
            <a:off x="274320" y="1783080"/>
            <a:ext cx="2011680" cy="10515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TextBox 246"/>
          <p:cNvSpPr txBox="1"/>
          <p:nvPr/>
        </p:nvSpPr>
        <p:spPr>
          <a:xfrm>
            <a:off x="457200" y="1920240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1A1A1A"/>
                </a:solidFill>
                <a:latin typeface="Inter"/>
              </a:rPr>
              <a:t>370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457200" y="2395728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6E6E6E"/>
                </a:solidFill>
                <a:latin typeface="Open Sans"/>
              </a:rPr>
              <a:t>MQL / мес</a:t>
            </a:r>
          </a:p>
        </p:txBody>
      </p:sp>
      <p:sp>
        <p:nvSpPr>
          <p:cNvPr id="249" name="Rounded Rectangle 248"/>
          <p:cNvSpPr/>
          <p:nvPr/>
        </p:nvSpPr>
        <p:spPr>
          <a:xfrm>
            <a:off x="2468879" y="1783080"/>
            <a:ext cx="2011680" cy="10515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TextBox 249"/>
          <p:cNvSpPr txBox="1"/>
          <p:nvPr/>
        </p:nvSpPr>
        <p:spPr>
          <a:xfrm>
            <a:off x="2651760" y="1920240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1A1A1A"/>
                </a:solidFill>
                <a:latin typeface="Inter"/>
              </a:rPr>
              <a:t>56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2651760" y="2395728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6E6E6E"/>
                </a:solidFill>
                <a:latin typeface="Open Sans"/>
              </a:rPr>
              <a:t>SQL / мес</a:t>
            </a:r>
          </a:p>
        </p:txBody>
      </p:sp>
      <p:sp>
        <p:nvSpPr>
          <p:cNvPr id="252" name="Rounded Rectangle 251"/>
          <p:cNvSpPr/>
          <p:nvPr/>
        </p:nvSpPr>
        <p:spPr>
          <a:xfrm>
            <a:off x="4663440" y="1783080"/>
            <a:ext cx="2011680" cy="10515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TextBox 252"/>
          <p:cNvSpPr txBox="1"/>
          <p:nvPr/>
        </p:nvSpPr>
        <p:spPr>
          <a:xfrm>
            <a:off x="4846320" y="1920240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1A1A1A"/>
                </a:solidFill>
                <a:latin typeface="Inter"/>
              </a:rPr>
              <a:t>25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4846320" y="2395728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6E6E6E"/>
                </a:solidFill>
                <a:latin typeface="Open Sans"/>
              </a:rPr>
              <a:t>демо / мес</a:t>
            </a:r>
          </a:p>
        </p:txBody>
      </p:sp>
      <p:sp>
        <p:nvSpPr>
          <p:cNvPr id="255" name="Rounded Rectangle 254"/>
          <p:cNvSpPr/>
          <p:nvPr/>
        </p:nvSpPr>
        <p:spPr>
          <a:xfrm>
            <a:off x="6858000" y="1783080"/>
            <a:ext cx="2011680" cy="10515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TextBox 255"/>
          <p:cNvSpPr txBox="1"/>
          <p:nvPr/>
        </p:nvSpPr>
        <p:spPr>
          <a:xfrm>
            <a:off x="7040880" y="1920240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1A1A1A"/>
                </a:solidFill>
                <a:latin typeface="Inter"/>
              </a:rPr>
              <a:t>10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7040880" y="2395728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6E6E6E"/>
                </a:solidFill>
                <a:latin typeface="Open Sans"/>
              </a:rPr>
              <a:t>сделок / мес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274320" y="3154680"/>
            <a:ext cx="8595360" cy="12362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ru-RU" sz="1150" b="1" dirty="0">
                <a:solidFill>
                  <a:srgbClr val="1A1A1A"/>
                </a:solidFill>
                <a:latin typeface="Inter"/>
              </a:rPr>
              <a:t>Узкое место — переход MQL → SQL (15%)</a:t>
            </a:r>
          </a:p>
          <a:p>
            <a:pPr>
              <a:spcAft>
                <a:spcPts val="400"/>
              </a:spcAft>
            </a:pPr>
            <a:r>
              <a:rPr lang="ru-RU" sz="1000" b="0" dirty="0">
                <a:solidFill>
                  <a:srgbClr val="1A1A1A"/>
                </a:solidFill>
                <a:latin typeface="Open Sans"/>
              </a:rPr>
              <a:t>• Вебинары дают много MQL, но они «не готовы покупать сейчас» — спрос отложенный, созревает 2–3 квартала</a:t>
            </a:r>
          </a:p>
          <a:p>
            <a:pPr>
              <a:spcAft>
                <a:spcPts val="400"/>
              </a:spcAft>
            </a:pPr>
            <a:r>
              <a:rPr lang="ru-RU" sz="1000" b="0" dirty="0">
                <a:solidFill>
                  <a:srgbClr val="1A1A1A"/>
                </a:solidFill>
                <a:latin typeface="Open Sans"/>
              </a:rPr>
              <a:t>• Горячих поисковых запросов мало → рост только за счёт объёма упирается в потолок спроса и дорожающий трафик (CPL в Директе 4–17 </a:t>
            </a:r>
            <a:r>
              <a:rPr lang="ru-RU" sz="1000" b="0" dirty="0" err="1">
                <a:solidFill>
                  <a:srgbClr val="1A1A1A"/>
                </a:solidFill>
                <a:latin typeface="Open Sans"/>
              </a:rPr>
              <a:t>тыс</a:t>
            </a:r>
            <a:r>
              <a:rPr lang="ru-RU" sz="1000" b="0" dirty="0">
                <a:solidFill>
                  <a:srgbClr val="1A1A1A"/>
                </a:solidFill>
                <a:latin typeface="Open Sans"/>
              </a:rPr>
              <a:t> руб.)</a:t>
            </a:r>
          </a:p>
          <a:p>
            <a:pPr>
              <a:spcAft>
                <a:spcPts val="800"/>
              </a:spcAft>
            </a:pPr>
            <a:r>
              <a:rPr lang="ru-RU" sz="1000" b="0" dirty="0">
                <a:solidFill>
                  <a:srgbClr val="1A1A1A"/>
                </a:solidFill>
                <a:latin typeface="Open Sans"/>
              </a:rPr>
              <a:t>• Чтобы набрать 4 444 MQL/год платными каналами, бюджет вырастет непропорционально — дешёвый спрос уже выкуплен</a:t>
            </a:r>
          </a:p>
          <a:p>
            <a:pPr>
              <a:spcAft>
                <a:spcPts val="0"/>
              </a:spcAft>
            </a:pPr>
            <a:r>
              <a:rPr lang="ru-RU" sz="1050" b="1" dirty="0">
                <a:solidFill>
                  <a:srgbClr val="1A1A1A"/>
                </a:solidFill>
                <a:latin typeface="Open Sans"/>
              </a:rPr>
              <a:t>Вывод: сравниваем два сценария — «больше </a:t>
            </a:r>
            <a:r>
              <a:rPr lang="ru-RU" sz="1050" b="1" dirty="0" err="1">
                <a:solidFill>
                  <a:srgbClr val="1A1A1A"/>
                </a:solidFill>
                <a:latin typeface="Open Sans"/>
              </a:rPr>
              <a:t>лидов</a:t>
            </a:r>
            <a:r>
              <a:rPr lang="ru-RU" sz="1050" b="1" dirty="0">
                <a:solidFill>
                  <a:srgbClr val="1A1A1A"/>
                </a:solidFill>
                <a:latin typeface="Open Sans"/>
              </a:rPr>
              <a:t>» </a:t>
            </a:r>
            <a:r>
              <a:rPr lang="ru-RU" sz="1050" b="1" dirty="0" err="1">
                <a:solidFill>
                  <a:srgbClr val="1A1A1A"/>
                </a:solidFill>
                <a:latin typeface="Open Sans"/>
              </a:rPr>
              <a:t>vs</a:t>
            </a:r>
            <a:r>
              <a:rPr lang="ru-RU" sz="1050" b="1" dirty="0">
                <a:solidFill>
                  <a:srgbClr val="1A1A1A"/>
                </a:solidFill>
                <a:latin typeface="Open Sans"/>
              </a:rPr>
              <a:t> «рост конверсии MQL→SQL + ABM» → раздел 2</a:t>
            </a:r>
          </a:p>
        </p:txBody>
      </p:sp>
      <p:sp>
        <p:nvSpPr>
          <p:cNvPr id="4" name="Google Shape;212;p29">
            <a:extLst>
              <a:ext uri="{FF2B5EF4-FFF2-40B4-BE49-F238E27FC236}">
                <a16:creationId xmlns:a16="http://schemas.microsoft.com/office/drawing/2014/main" id="{A9820434-FD8D-A7B0-442F-C093E373E8B7}"/>
              </a:ext>
            </a:extLst>
          </p:cNvPr>
          <p:cNvSpPr txBox="1">
            <a:spLocks/>
          </p:cNvSpPr>
          <p:nvPr/>
        </p:nvSpPr>
        <p:spPr>
          <a:xfrm>
            <a:off x="280950" y="766775"/>
            <a:ext cx="5611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100"/>
            </a:pPr>
            <a:r>
              <a:rPr lang="ru-RU" sz="3000" b="1" dirty="0"/>
              <a:t>1. Модель роста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3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name="adj" fmla="val 50000"/>
            </a:avLst>
          </a:prstGeom>
          <a:solidFill>
            <a:srgbClr val="FF92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" sz="1000" b="1">
                <a:solidFill>
                  <a:schemeClr val="dk1"/>
                </a:solidFill>
              </a:rPr>
              <a:t>маркетинговые стратегии</a:t>
            </a:r>
            <a:endParaRPr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3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" sz="1000" b="1">
                <a:solidFill>
                  <a:schemeClr val="dk1"/>
                </a:solidFill>
              </a:rPr>
              <a:t>анализ</a:t>
            </a:r>
            <a:endParaRPr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4" name="Google Shape;254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TextBox 254"/>
          <p:cNvSpPr txBox="1"/>
          <p:nvPr/>
        </p:nvSpPr>
        <p:spPr>
          <a:xfrm>
            <a:off x="274320" y="1417320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Inter"/>
              </a:rPr>
              <a:t>Два сценария достижения +30% нового ARR — экономическое сравнение</a:t>
            </a:r>
          </a:p>
        </p:txBody>
      </p:sp>
      <p:graphicFrame>
        <p:nvGraphicFramePr>
          <p:cNvPr id="256" name="Table 2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764643"/>
              </p:ext>
            </p:extLst>
          </p:nvPr>
        </p:nvGraphicFramePr>
        <p:xfrm>
          <a:off x="274320" y="1691640"/>
          <a:ext cx="8595360" cy="29992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ru-RU" sz="850" b="1" noProof="0">
                          <a:solidFill>
                            <a:srgbClr val="FFFFFF"/>
                          </a:solidFill>
                          <a:latin typeface="Inter"/>
                        </a:rPr>
                        <a:t>Показатель</a:t>
                      </a:r>
                    </a:p>
                  </a:txBody>
                  <a:tcPr marL="54864" marR="54864" marT="18288" marB="1828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1" noProof="0">
                          <a:solidFill>
                            <a:srgbClr val="FFFFFF"/>
                          </a:solidFill>
                          <a:latin typeface="Inter"/>
                        </a:rPr>
                        <a:t>А. Больше лидов (текущие конверсии)</a:t>
                      </a:r>
                    </a:p>
                  </a:txBody>
                  <a:tcPr marL="54864" marR="54864" marT="18288" marB="1828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1" noProof="0">
                          <a:solidFill>
                            <a:srgbClr val="FFFFFF"/>
                          </a:solidFill>
                          <a:latin typeface="Inter"/>
                        </a:rPr>
                        <a:t>B. Рост конверсии MQL→SQL + ABM</a:t>
                      </a:r>
                    </a:p>
                  </a:txBody>
                  <a:tcPr marL="54864" marR="54864" marT="18288" marB="18288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Конверсии MQL→SQL / SQL→демо / демо→сделка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15% / 45% / 40%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1" noProof="0">
                          <a:solidFill>
                            <a:srgbClr val="1A1A1A"/>
                          </a:solidFill>
                          <a:latin typeface="Open Sans"/>
                        </a:rPr>
                        <a:t>20% / 50% / 45%</a:t>
                      </a:r>
                    </a:p>
                  </a:txBody>
                  <a:tcPr marL="54864" marR="54864" marT="18288" marB="18288" anchor="ctr"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Сквозная конверсия MQL → сделка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2,7%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1" noProof="0">
                          <a:solidFill>
                            <a:srgbClr val="1A1A1A"/>
                          </a:solidFill>
                          <a:latin typeface="Open Sans"/>
                        </a:rPr>
                        <a:t>4,5%</a:t>
                      </a:r>
                    </a:p>
                  </a:txBody>
                  <a:tcPr marL="54864" marR="54864" marT="18288" marB="18288" anchor="ctr"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Нужно MQL в год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4 444 (дорогой трафик, ≈6 500 руб./MQL)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1" noProof="0">
                          <a:solidFill>
                            <a:srgbClr val="1A1A1A"/>
                          </a:solidFill>
                          <a:latin typeface="Open Sans"/>
                        </a:rPr>
                        <a:t>2 667 (контент/вебинары, ≈4 000 руб./MQL)</a:t>
                      </a:r>
                    </a:p>
                  </a:txBody>
                  <a:tcPr marL="54864" marR="54864" marT="18288" marB="18288" anchor="ctr"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Нужно SQL / демо в год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667 / 300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1" noProof="0">
                          <a:solidFill>
                            <a:srgbClr val="1A1A1A"/>
                          </a:solidFill>
                          <a:latin typeface="Open Sans"/>
                        </a:rPr>
                        <a:t>533 / 267</a:t>
                      </a:r>
                    </a:p>
                  </a:txBody>
                  <a:tcPr marL="54864" marR="54864" marT="18288" marB="18288" anchor="ctr"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Затраты на +180 млн руб. ARR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≈46,9 млн руб.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1" noProof="0">
                          <a:solidFill>
                            <a:srgbClr val="1A1A1A"/>
                          </a:solidFill>
                          <a:latin typeface="Open Sans"/>
                        </a:rPr>
                        <a:t>≈32,2 млн руб. (−31%)</a:t>
                      </a:r>
                    </a:p>
                  </a:txBody>
                  <a:tcPr marL="54864" marR="54864" marT="18288" marB="18288" anchor="ctr"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CAC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≈391 тыс руб.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1" noProof="0">
                          <a:solidFill>
                            <a:srgbClr val="1A1A1A"/>
                          </a:solidFill>
                          <a:latin typeface="Open Sans"/>
                        </a:rPr>
                        <a:t>≈268 тыс руб.</a:t>
                      </a:r>
                    </a:p>
                  </a:txBody>
                  <a:tcPr marL="54864" marR="54864" marT="18288" marB="18288" anchor="ctr"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CAC payback (лимит ≤ 12 мес)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4,2 мес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1" noProof="0">
                          <a:solidFill>
                            <a:srgbClr val="1A1A1A"/>
                          </a:solidFill>
                          <a:latin typeface="Open Sans"/>
                        </a:rPr>
                        <a:t>2,9 мес</a:t>
                      </a:r>
                    </a:p>
                  </a:txBody>
                  <a:tcPr marL="54864" marR="54864" marT="18288" marB="18288" anchor="ctr"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 dirty="0">
                          <a:solidFill>
                            <a:srgbClr val="1A1A1A"/>
                          </a:solidFill>
                          <a:latin typeface="Open Sans"/>
                        </a:rPr>
                        <a:t>Главный риск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горячего спроса нет в нужном объёме, CPL растёт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1" noProof="0" dirty="0">
                          <a:solidFill>
                            <a:srgbClr val="1A1A1A"/>
                          </a:solidFill>
                          <a:latin typeface="Open Sans"/>
                        </a:rPr>
                        <a:t>нужна дисциплина квалификации, эффект через 2–3 кв.</a:t>
                      </a:r>
                    </a:p>
                  </a:txBody>
                  <a:tcPr marL="54864" marR="54864" marT="18288" marB="18288" anchor="ctr"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7" name="TextBox 256"/>
          <p:cNvSpPr txBox="1"/>
          <p:nvPr/>
        </p:nvSpPr>
        <p:spPr>
          <a:xfrm>
            <a:off x="274320" y="4828032"/>
            <a:ext cx="77724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lang="ru-RU" sz="750" b="0" dirty="0">
                <a:solidFill>
                  <a:srgbClr val="6E6E6E"/>
                </a:solidFill>
                <a:latin typeface="Open Sans"/>
              </a:rPr>
              <a:t>Выбран сценарий </a:t>
            </a:r>
            <a:r>
              <a:rPr lang="ru-RU" sz="750" b="0" dirty="0" err="1">
                <a:solidFill>
                  <a:srgbClr val="6E6E6E"/>
                </a:solidFill>
                <a:latin typeface="Open Sans"/>
              </a:rPr>
              <a:t>B</a:t>
            </a:r>
            <a:r>
              <a:rPr lang="ru-RU" sz="750" b="0" dirty="0">
                <a:solidFill>
                  <a:srgbClr val="6E6E6E"/>
                </a:solidFill>
                <a:latin typeface="Open Sans"/>
              </a:rPr>
              <a:t>: та же цель по ARR с экономией 14,7 млн руб. (−31%); стоимость MQL и продаж на сделку (150 </a:t>
            </a:r>
            <a:r>
              <a:rPr lang="ru-RU" sz="750" b="0" dirty="0" err="1">
                <a:solidFill>
                  <a:srgbClr val="6E6E6E"/>
                </a:solidFill>
                <a:latin typeface="Open Sans"/>
              </a:rPr>
              <a:t>тыс</a:t>
            </a:r>
            <a:r>
              <a:rPr lang="ru-RU" sz="750" b="0" dirty="0">
                <a:solidFill>
                  <a:srgbClr val="6E6E6E"/>
                </a:solidFill>
                <a:latin typeface="Open Sans"/>
              </a:rPr>
              <a:t> руб.) — допущения. ABM: 30–50 аккаунтов, ~10 сделок с ACV 2,5–3 млн руб..</a:t>
            </a:r>
          </a:p>
        </p:txBody>
      </p:sp>
      <p:sp>
        <p:nvSpPr>
          <p:cNvPr id="4" name="Google Shape;212;p29">
            <a:extLst>
              <a:ext uri="{FF2B5EF4-FFF2-40B4-BE49-F238E27FC236}">
                <a16:creationId xmlns:a16="http://schemas.microsoft.com/office/drawing/2014/main" id="{F8D1B256-F705-DFC7-38ED-50704A2B4A61}"/>
              </a:ext>
            </a:extLst>
          </p:cNvPr>
          <p:cNvSpPr txBox="1">
            <a:spLocks/>
          </p:cNvSpPr>
          <p:nvPr/>
        </p:nvSpPr>
        <p:spPr>
          <a:xfrm>
            <a:off x="280950" y="766775"/>
            <a:ext cx="5611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100"/>
            </a:pPr>
            <a:r>
              <a:rPr lang="ru-RU" sz="3000" b="1" dirty="0"/>
              <a:t>2. Стратегия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4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name="adj" fmla="val 50000"/>
            </a:avLst>
          </a:prstGeom>
          <a:solidFill>
            <a:srgbClr val="FF92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" sz="1000" b="1">
                <a:solidFill>
                  <a:schemeClr val="dk1"/>
                </a:solidFill>
              </a:rPr>
              <a:t>маркетинговые стратегии</a:t>
            </a:r>
            <a:endParaRPr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4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" sz="1000" b="1">
                <a:solidFill>
                  <a:schemeClr val="dk1"/>
                </a:solidFill>
              </a:rPr>
              <a:t>анализ</a:t>
            </a:r>
            <a:endParaRPr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TextBox 264"/>
          <p:cNvSpPr txBox="1"/>
          <p:nvPr/>
        </p:nvSpPr>
        <p:spPr>
          <a:xfrm>
            <a:off x="274320" y="1417320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Промпт — тип: структурированный «роль → контекст → данные → задача → формат»</a:t>
            </a:r>
          </a:p>
        </p:txBody>
      </p:sp>
      <p:sp>
        <p:nvSpPr>
          <p:cNvPr id="266" name="Rounded Rectangle 265"/>
          <p:cNvSpPr/>
          <p:nvPr/>
        </p:nvSpPr>
        <p:spPr>
          <a:xfrm>
            <a:off x="274320" y="1783080"/>
            <a:ext cx="859536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67" name="TextBox 266"/>
          <p:cNvSpPr txBox="1"/>
          <p:nvPr/>
        </p:nvSpPr>
        <p:spPr>
          <a:xfrm>
            <a:off x="502920" y="1938528"/>
            <a:ext cx="8138160" cy="25930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lang="ru-RU" sz="1200" b="0" dirty="0">
                <a:solidFill>
                  <a:srgbClr val="1A1A1A"/>
                </a:solidFill>
                <a:latin typeface="Open Sans"/>
              </a:rPr>
              <a:t>Ты — B2B-маркетолог </a:t>
            </a:r>
            <a:r>
              <a:rPr lang="ru-RU" sz="1200" b="0" dirty="0" err="1">
                <a:solidFill>
                  <a:srgbClr val="1A1A1A"/>
                </a:solidFill>
                <a:latin typeface="Open Sans"/>
              </a:rPr>
              <a:t>SaaS</a:t>
            </a:r>
            <a:r>
              <a:rPr lang="ru-RU" sz="1200" b="0" dirty="0">
                <a:solidFill>
                  <a:srgbClr val="1A1A1A"/>
                </a:solidFill>
                <a:latin typeface="Open Sans"/>
              </a:rPr>
              <a:t>-компании с 10-летним опытом </a:t>
            </a:r>
            <a:r>
              <a:rPr lang="ru-RU" sz="1200" b="0" dirty="0" err="1">
                <a:solidFill>
                  <a:srgbClr val="1A1A1A"/>
                </a:solidFill>
                <a:latin typeface="Open Sans"/>
              </a:rPr>
              <a:t>growth</a:t>
            </a:r>
            <a:r>
              <a:rPr lang="ru-RU" sz="1200" b="0" dirty="0">
                <a:solidFill>
                  <a:srgbClr val="1A1A1A"/>
                </a:solidFill>
                <a:latin typeface="Open Sans"/>
              </a:rPr>
              <a:t>-стратегий.</a:t>
            </a:r>
          </a:p>
          <a:p>
            <a:pPr>
              <a:spcAft>
                <a:spcPts val="500"/>
              </a:spcAft>
            </a:pPr>
            <a:r>
              <a:rPr lang="ru-RU" sz="1200" b="0" dirty="0">
                <a:solidFill>
                  <a:srgbClr val="1A1A1A"/>
                </a:solidFill>
                <a:latin typeface="Open Sans"/>
              </a:rPr>
              <a:t>Контекст: облачная WMS для среднего бизнеса, подписка. ARR 600 млн руб., ~400 клиентов, ACV 1,5 млн руб./год, цикл сделки 3,5 мес. Цель: +30% нового ARR за 12 </a:t>
            </a:r>
            <a:r>
              <a:rPr lang="ru-RU" sz="1200" b="0" dirty="0" err="1">
                <a:solidFill>
                  <a:srgbClr val="1A1A1A"/>
                </a:solidFill>
                <a:latin typeface="Open Sans"/>
              </a:rPr>
              <a:t>мес</a:t>
            </a:r>
            <a:r>
              <a:rPr lang="ru-RU" sz="1200" b="0" dirty="0">
                <a:solidFill>
                  <a:srgbClr val="1A1A1A"/>
                </a:solidFill>
                <a:latin typeface="Open Sans"/>
              </a:rPr>
              <a:t> (120 новых сделок). Конверсии: MQL→SQL 15%, </a:t>
            </a:r>
            <a:r>
              <a:rPr lang="ru-RU" sz="1200" b="0" dirty="0" err="1">
                <a:solidFill>
                  <a:srgbClr val="1A1A1A"/>
                </a:solidFill>
                <a:latin typeface="Open Sans"/>
              </a:rPr>
              <a:t>SQL→демо</a:t>
            </a:r>
            <a:r>
              <a:rPr lang="ru-RU" sz="1200" b="0" dirty="0">
                <a:solidFill>
                  <a:srgbClr val="1A1A1A"/>
                </a:solidFill>
                <a:latin typeface="Open Sans"/>
              </a:rPr>
              <a:t> 45%, </a:t>
            </a:r>
            <a:r>
              <a:rPr lang="ru-RU" sz="1200" b="0" dirty="0" err="1">
                <a:solidFill>
                  <a:srgbClr val="1A1A1A"/>
                </a:solidFill>
                <a:latin typeface="Open Sans"/>
              </a:rPr>
              <a:t>демо→сделка</a:t>
            </a:r>
            <a:r>
              <a:rPr lang="ru-RU" sz="1200" b="0" dirty="0">
                <a:solidFill>
                  <a:srgbClr val="1A1A1A"/>
                </a:solidFill>
                <a:latin typeface="Open Sans"/>
              </a:rPr>
              <a:t> 40%. Спрос: горячих запросов мало, лаг «касание → контракт» 2–3 квартала, бюджеты клиентов планируются на Q4. Каналы: </a:t>
            </a:r>
            <a:r>
              <a:rPr lang="ru-RU" sz="1200" b="0" dirty="0" err="1">
                <a:solidFill>
                  <a:srgbClr val="1A1A1A"/>
                </a:solidFill>
                <a:latin typeface="Open Sans"/>
              </a:rPr>
              <a:t>Яндекс.Директ</a:t>
            </a:r>
            <a:r>
              <a:rPr lang="ru-RU" sz="1200" b="0" dirty="0">
                <a:solidFill>
                  <a:srgbClr val="1A1A1A"/>
                </a:solidFill>
                <a:latin typeface="Open Sans"/>
              </a:rPr>
              <a:t> (CPC 200–500 руб., конверсия 3–5%), вебинары (много MQL, но «не готовы покупать сейчас»), холодный аутрич (низкая конверсия, дорого), контент/SEO на </a:t>
            </a:r>
            <a:r>
              <a:rPr lang="ru-RU" sz="1200" b="0" dirty="0" err="1">
                <a:solidFill>
                  <a:srgbClr val="1A1A1A"/>
                </a:solidFill>
                <a:latin typeface="Open Sans"/>
              </a:rPr>
              <a:t>Habr</a:t>
            </a:r>
            <a:r>
              <a:rPr lang="ru-RU" sz="1200" b="0" dirty="0">
                <a:solidFill>
                  <a:srgbClr val="1A1A1A"/>
                </a:solidFill>
                <a:latin typeface="Open Sans"/>
              </a:rPr>
              <a:t> и </a:t>
            </a:r>
            <a:r>
              <a:rPr lang="ru-RU" sz="1200" b="0" dirty="0" err="1">
                <a:solidFill>
                  <a:srgbClr val="1A1A1A"/>
                </a:solidFill>
                <a:latin typeface="Open Sans"/>
              </a:rPr>
              <a:t>vc.ru</a:t>
            </a:r>
            <a:r>
              <a:rPr lang="ru-RU" sz="1200" b="0" dirty="0">
                <a:solidFill>
                  <a:srgbClr val="1A1A1A"/>
                </a:solidFill>
                <a:latin typeface="Open Sans"/>
              </a:rPr>
              <a:t> (дёшево, качественные MQL), конференции (дорого, но 2 крупные сделки в </a:t>
            </a:r>
            <a:r>
              <a:rPr lang="ru-RU" sz="1200" b="0" dirty="0" err="1">
                <a:solidFill>
                  <a:srgbClr val="1A1A1A"/>
                </a:solidFill>
                <a:latin typeface="Open Sans"/>
              </a:rPr>
              <a:t>пайплайне</a:t>
            </a:r>
            <a:r>
              <a:rPr lang="ru-RU" sz="1200" b="0" dirty="0">
                <a:solidFill>
                  <a:srgbClr val="1A1A1A"/>
                </a:solidFill>
                <a:latin typeface="Open Sans"/>
              </a:rPr>
              <a:t>).</a:t>
            </a:r>
          </a:p>
          <a:p>
            <a:pPr>
              <a:spcAft>
                <a:spcPts val="500"/>
              </a:spcAft>
            </a:pPr>
            <a:r>
              <a:rPr lang="ru-RU" sz="1200" b="0" dirty="0">
                <a:solidFill>
                  <a:srgbClr val="1A1A1A"/>
                </a:solidFill>
                <a:latin typeface="Open Sans"/>
              </a:rPr>
              <a:t>Сравни два сценария достижения цели: (А) масштабирование текущей воронки за счёт роста числа </a:t>
            </a:r>
            <a:r>
              <a:rPr lang="ru-RU" sz="1200" b="0" dirty="0" err="1">
                <a:solidFill>
                  <a:srgbClr val="1A1A1A"/>
                </a:solidFill>
                <a:latin typeface="Open Sans"/>
              </a:rPr>
              <a:t>лидов</a:t>
            </a:r>
            <a:r>
              <a:rPr lang="ru-RU" sz="1200" b="0" dirty="0">
                <a:solidFill>
                  <a:srgbClr val="1A1A1A"/>
                </a:solidFill>
                <a:latin typeface="Open Sans"/>
              </a:rPr>
              <a:t>; (</a:t>
            </a:r>
            <a:r>
              <a:rPr lang="ru-RU" sz="1200" b="0" dirty="0" err="1">
                <a:solidFill>
                  <a:srgbClr val="1A1A1A"/>
                </a:solidFill>
                <a:latin typeface="Open Sans"/>
              </a:rPr>
              <a:t>B</a:t>
            </a:r>
            <a:r>
              <a:rPr lang="ru-RU" sz="1200" b="0" dirty="0">
                <a:solidFill>
                  <a:srgbClr val="1A1A1A"/>
                </a:solidFill>
                <a:latin typeface="Open Sans"/>
              </a:rPr>
              <a:t>) повышение конверсии MQL→SQL до 20% за счёт </a:t>
            </a:r>
            <a:r>
              <a:rPr lang="ru-RU" sz="1200" b="0" dirty="0" err="1">
                <a:solidFill>
                  <a:srgbClr val="1A1A1A"/>
                </a:solidFill>
                <a:latin typeface="Open Sans"/>
              </a:rPr>
              <a:t>лид</a:t>
            </a:r>
            <a:r>
              <a:rPr lang="ru-RU" sz="1200" b="0" dirty="0">
                <a:solidFill>
                  <a:srgbClr val="1A1A1A"/>
                </a:solidFill>
                <a:latin typeface="Open Sans"/>
              </a:rPr>
              <a:t>-скоринга и </a:t>
            </a:r>
            <a:r>
              <a:rPr lang="ru-RU" sz="1200" b="0" dirty="0" err="1">
                <a:solidFill>
                  <a:srgbClr val="1A1A1A"/>
                </a:solidFill>
                <a:latin typeface="Open Sans"/>
              </a:rPr>
              <a:t>нуртуринга</a:t>
            </a:r>
            <a:r>
              <a:rPr lang="ru-RU" sz="1200" b="0" dirty="0">
                <a:solidFill>
                  <a:srgbClr val="1A1A1A"/>
                </a:solidFill>
                <a:latin typeface="Open Sans"/>
              </a:rPr>
              <a:t> + ABM на 30–50 крупных аккаунтов.</a:t>
            </a:r>
          </a:p>
          <a:p>
            <a:pPr>
              <a:spcAft>
                <a:spcPts val="0"/>
              </a:spcAft>
            </a:pPr>
            <a:r>
              <a:rPr lang="ru-RU" sz="1200" b="0" dirty="0">
                <a:solidFill>
                  <a:srgbClr val="1A1A1A"/>
                </a:solidFill>
                <a:latin typeface="Open Sans"/>
              </a:rPr>
              <a:t>Формат ответа: 1) расчёт объёмов MQL/SQL/демо для каждого сценария; 2) сравнение затрат и CAC; 3) риски каждого сценария; 4) рекомендация с обоснованием.</a:t>
            </a:r>
          </a:p>
        </p:txBody>
      </p:sp>
      <p:sp>
        <p:nvSpPr>
          <p:cNvPr id="4" name="Google Shape;212;p29">
            <a:extLst>
              <a:ext uri="{FF2B5EF4-FFF2-40B4-BE49-F238E27FC236}">
                <a16:creationId xmlns:a16="http://schemas.microsoft.com/office/drawing/2014/main" id="{2293322D-DB9B-BA81-EC7C-3C29F085D773}"/>
              </a:ext>
            </a:extLst>
          </p:cNvPr>
          <p:cNvSpPr txBox="1">
            <a:spLocks/>
          </p:cNvSpPr>
          <p:nvPr/>
        </p:nvSpPr>
        <p:spPr>
          <a:xfrm>
            <a:off x="280950" y="766775"/>
            <a:ext cx="5611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100"/>
            </a:pPr>
            <a:r>
              <a:rPr lang="ru-RU" sz="3000" b="1" dirty="0"/>
              <a:t>2. Стратегия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5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name="adj" fmla="val 50000"/>
            </a:avLst>
          </a:prstGeom>
          <a:solidFill>
            <a:srgbClr val="FF92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" sz="1000" b="1">
                <a:solidFill>
                  <a:schemeClr val="dk1"/>
                </a:solidFill>
              </a:rPr>
              <a:t>маркетинговые стратегии</a:t>
            </a:r>
            <a:endParaRPr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5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" sz="1000" b="1">
                <a:solidFill>
                  <a:schemeClr val="dk1"/>
                </a:solidFill>
              </a:rPr>
              <a:t>анализ</a:t>
            </a:r>
            <a:endParaRPr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3" name="Google Shape;27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5800" y="3955802"/>
            <a:ext cx="1278375" cy="91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TextBox 274"/>
          <p:cNvSpPr txBox="1"/>
          <p:nvPr/>
        </p:nvSpPr>
        <p:spPr>
          <a:xfrm>
            <a:off x="274320" y="1417320"/>
            <a:ext cx="85953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lang="ru-RU" sz="1150" b="1" dirty="0">
                <a:solidFill>
                  <a:srgbClr val="1A1A1A"/>
                </a:solidFill>
                <a:latin typeface="Inter"/>
              </a:rPr>
              <a:t>Вывод нейросети — </a:t>
            </a:r>
            <a:r>
              <a:rPr lang="ru-RU" sz="1150" b="1" dirty="0" err="1">
                <a:solidFill>
                  <a:srgbClr val="1A1A1A"/>
                </a:solidFill>
                <a:latin typeface="Inter"/>
              </a:rPr>
              <a:t>Kimi</a:t>
            </a:r>
            <a:r>
              <a:rPr lang="ru-RU" sz="1150" b="1" dirty="0">
                <a:solidFill>
                  <a:srgbClr val="1A1A1A"/>
                </a:solidFill>
                <a:latin typeface="Inter"/>
              </a:rPr>
              <a:t> (</a:t>
            </a:r>
            <a:r>
              <a:rPr lang="ru-RU" sz="1150" b="1" dirty="0" err="1">
                <a:solidFill>
                  <a:srgbClr val="1A1A1A"/>
                </a:solidFill>
                <a:latin typeface="Inter"/>
              </a:rPr>
              <a:t>Moonshot</a:t>
            </a:r>
            <a:r>
              <a:rPr lang="ru-RU" sz="1150" b="1" dirty="0">
                <a:solidFill>
                  <a:srgbClr val="1A1A1A"/>
                </a:solidFill>
                <a:latin typeface="Inter"/>
              </a:rPr>
              <a:t> AI), модель </a:t>
            </a:r>
            <a:r>
              <a:rPr lang="ru-RU" sz="1150" b="1" dirty="0" err="1">
                <a:solidFill>
                  <a:srgbClr val="1A1A1A"/>
                </a:solidFill>
                <a:latin typeface="Inter"/>
              </a:rPr>
              <a:t>Kimi</a:t>
            </a:r>
            <a:r>
              <a:rPr lang="ru-RU" sz="1150" b="1" dirty="0">
                <a:solidFill>
                  <a:srgbClr val="1A1A1A"/>
                </a:solidFill>
                <a:latin typeface="Inter"/>
              </a:rPr>
              <a:t> K3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274320" y="1737360"/>
            <a:ext cx="8595360" cy="19800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ru-RU" sz="1100" b="1" dirty="0">
                <a:solidFill>
                  <a:srgbClr val="1A1A1A"/>
                </a:solidFill>
                <a:latin typeface="Inter"/>
              </a:rPr>
              <a:t>Что посчитала нейросеть</a:t>
            </a:r>
          </a:p>
          <a:p>
            <a:pPr>
              <a:spcAft>
                <a:spcPts val="500"/>
              </a:spcAft>
            </a:pPr>
            <a:r>
              <a:rPr lang="ru-RU" sz="1000" b="0" dirty="0">
                <a:solidFill>
                  <a:srgbClr val="1A1A1A"/>
                </a:solidFill>
                <a:latin typeface="Open Sans"/>
              </a:rPr>
              <a:t>• Сценарий А: 4 444 MQL, 667 SQL, 300 демо для 120 сделок — цифры совпали с собственным расчётом</a:t>
            </a:r>
          </a:p>
          <a:p>
            <a:pPr>
              <a:spcAft>
                <a:spcPts val="500"/>
              </a:spcAft>
            </a:pPr>
            <a:r>
              <a:rPr lang="ru-RU" sz="1000" b="0" dirty="0">
                <a:solidFill>
                  <a:srgbClr val="1A1A1A"/>
                </a:solidFill>
                <a:latin typeface="Open Sans"/>
              </a:rPr>
              <a:t>• Сценарий </a:t>
            </a:r>
            <a:r>
              <a:rPr lang="ru-RU" sz="1000" b="0" dirty="0" err="1">
                <a:solidFill>
                  <a:srgbClr val="1A1A1A"/>
                </a:solidFill>
                <a:latin typeface="Open Sans"/>
              </a:rPr>
              <a:t>B</a:t>
            </a:r>
            <a:r>
              <a:rPr lang="ru-RU" sz="1000" b="0" dirty="0">
                <a:solidFill>
                  <a:srgbClr val="1A1A1A"/>
                </a:solidFill>
                <a:latin typeface="Open Sans"/>
              </a:rPr>
              <a:t> (20%/50%/45%): 2 667 MQL, 533 SQL, 267 демо — совпало</a:t>
            </a:r>
          </a:p>
          <a:p>
            <a:pPr>
              <a:spcAft>
                <a:spcPts val="1200"/>
              </a:spcAft>
            </a:pPr>
            <a:r>
              <a:rPr lang="ru-RU" sz="1000" b="0" dirty="0">
                <a:solidFill>
                  <a:srgbClr val="1A1A1A"/>
                </a:solidFill>
                <a:latin typeface="Open Sans"/>
              </a:rPr>
              <a:t>• Подтвердила ключевое допущение: при масштабировании стоимость MQL вырастет в 1,5–2 раза — горячий спрос ограничен, придётся покупать более холодный трафик</a:t>
            </a:r>
          </a:p>
          <a:p>
            <a:pPr>
              <a:spcAft>
                <a:spcPts val="600"/>
              </a:spcAft>
            </a:pPr>
            <a:r>
              <a:rPr lang="ru-RU" sz="1100" b="1" dirty="0">
                <a:solidFill>
                  <a:srgbClr val="1A1A1A"/>
                </a:solidFill>
                <a:latin typeface="Inter"/>
              </a:rPr>
              <a:t>Рекомендация нейросети</a:t>
            </a:r>
          </a:p>
          <a:p>
            <a:pPr>
              <a:spcAft>
                <a:spcPts val="500"/>
              </a:spcAft>
            </a:pPr>
            <a:r>
              <a:rPr lang="ru-RU" sz="1000" b="0" dirty="0">
                <a:solidFill>
                  <a:srgbClr val="1A1A1A"/>
                </a:solidFill>
                <a:latin typeface="Open Sans"/>
              </a:rPr>
              <a:t>• Сценарий </a:t>
            </a:r>
            <a:r>
              <a:rPr lang="ru-RU" sz="1000" b="0" dirty="0" err="1">
                <a:solidFill>
                  <a:srgbClr val="1A1A1A"/>
                </a:solidFill>
                <a:latin typeface="Open Sans"/>
              </a:rPr>
              <a:t>B</a:t>
            </a:r>
            <a:r>
              <a:rPr lang="ru-RU" sz="1000" b="0" dirty="0">
                <a:solidFill>
                  <a:srgbClr val="1A1A1A"/>
                </a:solidFill>
                <a:latin typeface="Open Sans"/>
              </a:rPr>
              <a:t> как основной — дешевле и устойчивее к структуре спроса</a:t>
            </a:r>
          </a:p>
          <a:p>
            <a:pPr>
              <a:spcAft>
                <a:spcPts val="500"/>
              </a:spcAft>
            </a:pPr>
            <a:r>
              <a:rPr lang="ru-RU" sz="1000" b="0" dirty="0">
                <a:solidFill>
                  <a:srgbClr val="1A1A1A"/>
                </a:solidFill>
                <a:latin typeface="Open Sans"/>
              </a:rPr>
              <a:t>• Дополнила метриками контроля: доля MQL, прошедших скоринг; SLA реакции SDR на горячий MQL ≤ 1 часа</a:t>
            </a:r>
          </a:p>
          <a:p>
            <a:pPr>
              <a:spcAft>
                <a:spcPts val="0"/>
              </a:spcAft>
            </a:pPr>
            <a:r>
              <a:rPr lang="ru-RU" sz="1000" b="0" dirty="0">
                <a:solidFill>
                  <a:srgbClr val="1A1A1A"/>
                </a:solidFill>
                <a:latin typeface="Open Sans"/>
              </a:rPr>
              <a:t>• Предложила параллельно тестировать </a:t>
            </a:r>
            <a:r>
              <a:rPr lang="ru-RU" sz="1000" b="0" dirty="0" err="1">
                <a:solidFill>
                  <a:srgbClr val="1A1A1A"/>
                </a:solidFill>
                <a:latin typeface="Open Sans"/>
              </a:rPr>
              <a:t>Яндекс.Директ</a:t>
            </a:r>
            <a:r>
              <a:rPr lang="ru-RU" sz="1000" b="0" dirty="0">
                <a:solidFill>
                  <a:srgbClr val="1A1A1A"/>
                </a:solidFill>
                <a:latin typeface="Open Sans"/>
              </a:rPr>
              <a:t> на широкую семантику («автоматизация склада»)</a:t>
            </a:r>
          </a:p>
        </p:txBody>
      </p:sp>
      <p:sp>
        <p:nvSpPr>
          <p:cNvPr id="4" name="Google Shape;212;p29">
            <a:extLst>
              <a:ext uri="{FF2B5EF4-FFF2-40B4-BE49-F238E27FC236}">
                <a16:creationId xmlns:a16="http://schemas.microsoft.com/office/drawing/2014/main" id="{D5A5255C-7964-3FE0-0887-37D646450B02}"/>
              </a:ext>
            </a:extLst>
          </p:cNvPr>
          <p:cNvSpPr txBox="1">
            <a:spLocks/>
          </p:cNvSpPr>
          <p:nvPr/>
        </p:nvSpPr>
        <p:spPr>
          <a:xfrm>
            <a:off x="280950" y="766775"/>
            <a:ext cx="5611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100"/>
            </a:pPr>
            <a:r>
              <a:rPr lang="ru-RU" sz="3000" b="1" dirty="0"/>
              <a:t>2. Стратегия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6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name="adj" fmla="val 50000"/>
            </a:avLst>
          </a:prstGeom>
          <a:solidFill>
            <a:srgbClr val="FF92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</a:rPr>
              <a:t>маркетинговые стратегии</a:t>
            </a:r>
            <a:endParaRPr lang="ru-RU"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6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</a:rPr>
              <a:t>анализ</a:t>
            </a:r>
            <a:endParaRPr lang="ru-RU"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4" name="Google Shape;284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TextBox 284"/>
          <p:cNvSpPr txBox="1"/>
          <p:nvPr/>
        </p:nvSpPr>
        <p:spPr>
          <a:xfrm>
            <a:off x="274320" y="1417320"/>
            <a:ext cx="85953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lang="ru-RU" sz="1150" b="1">
                <a:solidFill>
                  <a:srgbClr val="1A1A1A"/>
                </a:solidFill>
                <a:latin typeface="Inter"/>
              </a:rPr>
              <a:t>Вывод нейросети (продолжение) — что принято, что отклонено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274320" y="1737360"/>
            <a:ext cx="8595360" cy="2033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ru-RU" sz="1100" b="1">
                <a:solidFill>
                  <a:srgbClr val="1A1A1A"/>
                </a:solidFill>
                <a:latin typeface="Inter"/>
              </a:rPr>
              <a:t>Принято в стратегию</a:t>
            </a:r>
          </a:p>
          <a:p>
            <a:pPr>
              <a:spcAft>
                <a:spcPts val="500"/>
              </a:spcAft>
            </a:pPr>
            <a:r>
              <a:rPr lang="ru-RU" sz="1000" b="0">
                <a:solidFill>
                  <a:srgbClr val="1A1A1A"/>
                </a:solidFill>
                <a:latin typeface="Open Sans"/>
              </a:rPr>
              <a:t>• Выбор сценария B — рекомендация совпала с собственным выводом</a:t>
            </a:r>
          </a:p>
          <a:p>
            <a:pPr>
              <a:spcAft>
                <a:spcPts val="1200"/>
              </a:spcAft>
            </a:pPr>
            <a:r>
              <a:rPr lang="ru-RU" sz="1000" b="0">
                <a:solidFill>
                  <a:srgbClr val="1A1A1A"/>
                </a:solidFill>
                <a:latin typeface="Open Sans"/>
              </a:rPr>
              <a:t>• Контрольные метрики: доля скоринга MQL и SLA реакции SDR ≤ 1 часа — добавлены в план</a:t>
            </a:r>
          </a:p>
          <a:p>
            <a:pPr>
              <a:spcAft>
                <a:spcPts val="600"/>
              </a:spcAft>
            </a:pPr>
            <a:r>
              <a:rPr lang="ru-RU" sz="1100" b="1">
                <a:solidFill>
                  <a:srgbClr val="1A1A1A"/>
                </a:solidFill>
                <a:latin typeface="Inter"/>
              </a:rPr>
              <a:t>Расхождение 1: масштабирование Директа на широкую семантику — отклонено</a:t>
            </a:r>
          </a:p>
          <a:p>
            <a:pPr>
              <a:spcAft>
                <a:spcPts val="1200"/>
              </a:spcAft>
            </a:pPr>
            <a:r>
              <a:rPr lang="ru-RU" sz="1000" b="0">
                <a:solidFill>
                  <a:srgbClr val="1A1A1A"/>
                </a:solidFill>
                <a:latin typeface="Open Sans"/>
              </a:rPr>
              <a:t>• По кейсу горячего спроса мало; широкая семантика даст CPL холодных каналов при конверсии ниже контентных. Оставлено как малый тест в рамках доли Директа ~10% бюджета</a:t>
            </a:r>
          </a:p>
          <a:p>
            <a:pPr>
              <a:spcAft>
                <a:spcPts val="600"/>
              </a:spcAft>
            </a:pPr>
            <a:r>
              <a:rPr lang="ru-RU" sz="1100" b="1">
                <a:solidFill>
                  <a:srgbClr val="1A1A1A"/>
                </a:solidFill>
                <a:latin typeface="Inter"/>
              </a:rPr>
              <a:t>Расхождение 2: бюджет ABM — скорректирован</a:t>
            </a:r>
          </a:p>
          <a:p>
            <a:pPr>
              <a:spcAft>
                <a:spcPts val="0"/>
              </a:spcAft>
            </a:pPr>
            <a:r>
              <a:rPr lang="ru-RU" sz="1000" b="0">
                <a:solidFill>
                  <a:srgbClr val="1A1A1A"/>
                </a:solidFill>
                <a:latin typeface="Open Sans"/>
              </a:rPr>
              <a:t>• Нейросеть оценила программу в 5–7 млн руб.; в расчёт взято 3,5 млн руб.: программа ограничена 30–50 аккаунтами, часть работы выполняют действующие сейлзы</a:t>
            </a:r>
          </a:p>
        </p:txBody>
      </p:sp>
      <p:sp>
        <p:nvSpPr>
          <p:cNvPr id="4" name="Google Shape;212;p29">
            <a:extLst>
              <a:ext uri="{FF2B5EF4-FFF2-40B4-BE49-F238E27FC236}">
                <a16:creationId xmlns:a16="http://schemas.microsoft.com/office/drawing/2014/main" id="{8D213E65-3C7D-9B12-0B95-4D803FC64D8A}"/>
              </a:ext>
            </a:extLst>
          </p:cNvPr>
          <p:cNvSpPr txBox="1">
            <a:spLocks/>
          </p:cNvSpPr>
          <p:nvPr/>
        </p:nvSpPr>
        <p:spPr>
          <a:xfrm>
            <a:off x="280950" y="766775"/>
            <a:ext cx="5611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100"/>
            </a:pPr>
            <a:r>
              <a:rPr lang="ru-RU" sz="3000" b="1" dirty="0"/>
              <a:t>2. Стратегия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7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name="adj" fmla="val 50000"/>
            </a:avLst>
          </a:prstGeom>
          <a:solidFill>
            <a:srgbClr val="FF92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</a:rPr>
              <a:t>маркетинговые стратегии</a:t>
            </a:r>
            <a:endParaRPr lang="ru-RU"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37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</a:rPr>
              <a:t>анализ</a:t>
            </a:r>
            <a:endParaRPr lang="ru-RU"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4" name="Google Shape;294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TextBox 294"/>
          <p:cNvSpPr txBox="1"/>
          <p:nvPr/>
        </p:nvSpPr>
        <p:spPr>
          <a:xfrm>
            <a:off x="274320" y="1417320"/>
            <a:ext cx="85953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lang="ru-RU" sz="1150" b="1">
                <a:solidFill>
                  <a:srgbClr val="1A1A1A"/>
                </a:solidFill>
                <a:latin typeface="Inter"/>
              </a:rPr>
              <a:t>Вывод нейросети — итоговая оценка сценариев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274320" y="1737360"/>
            <a:ext cx="8595360" cy="18517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ru-RU" sz="1100" b="1">
                <a:solidFill>
                  <a:srgbClr val="1A1A1A"/>
                </a:solidFill>
                <a:latin typeface="Inter"/>
              </a:rPr>
              <a:t>Оценка рисков от нейросети</a:t>
            </a:r>
          </a:p>
          <a:p>
            <a:pPr>
              <a:spcAft>
                <a:spcPts val="500"/>
              </a:spcAft>
            </a:pPr>
            <a:r>
              <a:rPr lang="ru-RU" sz="1000" b="0">
                <a:solidFill>
                  <a:srgbClr val="1A1A1A"/>
                </a:solidFill>
                <a:latin typeface="Open Sans"/>
              </a:rPr>
              <a:t>• Сценарий А: упирается в физический потолок горячего спроса; CPL растёт по мере расширения семантики; часть оплаченных лидов «созреет» за пределами планового года (лаг 2–3 квартала)</a:t>
            </a:r>
          </a:p>
          <a:p>
            <a:pPr>
              <a:spcAft>
                <a:spcPts val="1200"/>
              </a:spcAft>
            </a:pPr>
            <a:r>
              <a:rPr lang="ru-RU" sz="1000" b="0">
                <a:solidFill>
                  <a:srgbClr val="1A1A1A"/>
                </a:solidFill>
                <a:latin typeface="Open Sans"/>
              </a:rPr>
              <a:t>• Сценарий B: требует дисциплины квалификации и отложенного эффекта — первые сделки по новой схеме через 2–3 квартала; риск срыва годового плана при позднем старте</a:t>
            </a:r>
          </a:p>
          <a:p>
            <a:pPr>
              <a:spcAft>
                <a:spcPts val="600"/>
              </a:spcAft>
            </a:pPr>
            <a:r>
              <a:rPr lang="ru-RU" sz="1100" b="1">
                <a:solidFill>
                  <a:srgbClr val="1A1A1A"/>
                </a:solidFill>
                <a:latin typeface="Inter"/>
              </a:rPr>
              <a:t>Итоговая рекомендация нейросети</a:t>
            </a:r>
          </a:p>
          <a:p>
            <a:pPr>
              <a:spcAft>
                <a:spcPts val="500"/>
              </a:spcAft>
            </a:pPr>
            <a:r>
              <a:rPr lang="ru-RU" sz="1000" b="0">
                <a:solidFill>
                  <a:srgbClr val="1A1A1A"/>
                </a:solidFill>
                <a:latin typeface="Open Sans"/>
              </a:rPr>
              <a:t>• Сценарий B как основной + немедленный старт нуртуринга имеющейся базы MQL, чтобы прогретые лиды попали в Q4-планирование бюджетов клиентов</a:t>
            </a:r>
          </a:p>
          <a:p>
            <a:pPr>
              <a:spcAft>
                <a:spcPts val="0"/>
              </a:spcAft>
            </a:pPr>
            <a:r>
              <a:rPr lang="ru-RU" sz="1000" b="0">
                <a:solidFill>
                  <a:srgbClr val="1A1A1A"/>
                </a:solidFill>
                <a:latin typeface="Open Sans"/>
              </a:rPr>
              <a:t>• Это совпадает со структурой спроса из кейса: бюджеты клиентов планируются на Q4</a:t>
            </a:r>
          </a:p>
        </p:txBody>
      </p:sp>
      <p:sp>
        <p:nvSpPr>
          <p:cNvPr id="4" name="Google Shape;212;p29">
            <a:extLst>
              <a:ext uri="{FF2B5EF4-FFF2-40B4-BE49-F238E27FC236}">
                <a16:creationId xmlns:a16="http://schemas.microsoft.com/office/drawing/2014/main" id="{52C5E29E-2131-FE06-AFE8-FEFF536ECE2D}"/>
              </a:ext>
            </a:extLst>
          </p:cNvPr>
          <p:cNvSpPr txBox="1">
            <a:spLocks/>
          </p:cNvSpPr>
          <p:nvPr/>
        </p:nvSpPr>
        <p:spPr>
          <a:xfrm>
            <a:off x="280950" y="766775"/>
            <a:ext cx="5611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100"/>
            </a:pPr>
            <a:r>
              <a:rPr lang="ru-RU" sz="3000" b="1"/>
              <a:t>2. Стратегия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8"/>
          <p:cNvSpPr txBox="1">
            <a:spLocks noGrp="1"/>
          </p:cNvSpPr>
          <p:nvPr>
            <p:ph type="title"/>
          </p:nvPr>
        </p:nvSpPr>
        <p:spPr>
          <a:xfrm>
            <a:off x="269875" y="766775"/>
            <a:ext cx="8604300" cy="6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3000" b="1" dirty="0"/>
              <a:t>2. Стратегия</a:t>
            </a:r>
            <a:endParaRPr lang="ru-RU" sz="2000" dirty="0"/>
          </a:p>
        </p:txBody>
      </p:sp>
      <p:sp>
        <p:nvSpPr>
          <p:cNvPr id="301" name="Google Shape;301;p38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name="adj" fmla="val 50000"/>
            </a:avLst>
          </a:prstGeom>
          <a:solidFill>
            <a:srgbClr val="FF92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</a:rPr>
              <a:t>маркетинговые стратегии</a:t>
            </a:r>
            <a:endParaRPr lang="ru-RU"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8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</a:rPr>
              <a:t>анализ</a:t>
            </a:r>
            <a:endParaRPr lang="ru-RU"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4" name="Google Shape;304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TextBox 304"/>
          <p:cNvSpPr txBox="1"/>
          <p:nvPr/>
        </p:nvSpPr>
        <p:spPr>
          <a:xfrm>
            <a:off x="274320" y="1417320"/>
            <a:ext cx="85953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lang="ru-RU" sz="1150" b="1">
                <a:solidFill>
                  <a:srgbClr val="1A1A1A"/>
                </a:solidFill>
                <a:latin typeface="Inter"/>
              </a:rPr>
              <a:t>Вывод — сравнение нейросети и собственной стратегии</a:t>
            </a:r>
          </a:p>
        </p:txBody>
      </p:sp>
      <p:graphicFrame>
        <p:nvGraphicFramePr>
          <p:cNvPr id="306" name="Table 3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286672"/>
              </p:ext>
            </p:extLst>
          </p:nvPr>
        </p:nvGraphicFramePr>
        <p:xfrm>
          <a:off x="274320" y="1737360"/>
          <a:ext cx="8595360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lang="ru-RU" sz="900" b="1" noProof="0" dirty="0">
                          <a:solidFill>
                            <a:srgbClr val="FFFFFF"/>
                          </a:solidFill>
                          <a:latin typeface="Inter"/>
                        </a:rPr>
                        <a:t>Вопрос</a:t>
                      </a:r>
                    </a:p>
                  </a:txBody>
                  <a:tcPr marL="54864" marR="54864" marT="18288" marB="1828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900" b="1" noProof="0">
                          <a:solidFill>
                            <a:srgbClr val="FFFFFF"/>
                          </a:solidFill>
                          <a:latin typeface="Inter"/>
                        </a:rPr>
                        <a:t>Собственная стратегия</a:t>
                      </a:r>
                    </a:p>
                  </a:txBody>
                  <a:tcPr marL="54864" marR="54864" marT="18288" marB="1828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900" b="1" noProof="0" dirty="0">
                          <a:solidFill>
                            <a:srgbClr val="FFFFFF"/>
                          </a:solidFill>
                          <a:latin typeface="Inter"/>
                        </a:rPr>
                        <a:t>Нейросеть (</a:t>
                      </a:r>
                      <a:r>
                        <a:rPr lang="en-GB" sz="900" b="1" noProof="0" dirty="0">
                          <a:solidFill>
                            <a:srgbClr val="FFFFFF"/>
                          </a:solidFill>
                          <a:latin typeface="Inter"/>
                        </a:rPr>
                        <a:t>Kimi K3</a:t>
                      </a:r>
                      <a:r>
                        <a:rPr lang="ru-RU" sz="900" b="1" noProof="0" dirty="0">
                          <a:solidFill>
                            <a:srgbClr val="FFFFFF"/>
                          </a:solidFill>
                          <a:latin typeface="Inter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900" b="1" noProof="0">
                          <a:solidFill>
                            <a:srgbClr val="FFFFFF"/>
                          </a:solidFill>
                          <a:latin typeface="Inter"/>
                        </a:rPr>
                        <a:t>Итог</a:t>
                      </a:r>
                    </a:p>
                  </a:txBody>
                  <a:tcPr marL="54864" marR="54864" marT="18288" marB="18288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Выбор сценария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B: конверсия + ABM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B: конверсия + ABM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совпало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Объёмы воронки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2 667 MQL, 533 SQL, 267 демо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те же цифры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совпало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Контрольные метрики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не заданы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доля скоринга, SLA SDR ≤ 1 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принято от ИИ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Широкий Директ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не масштабировать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тестировать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отклонено: только малый тест (~10%)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Бюджет ABM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3,5 млн руб.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5–7 млн руб.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 dirty="0">
                          <a:solidFill>
                            <a:srgbClr val="1A1A1A"/>
                          </a:solidFill>
                          <a:latin typeface="Open Sans"/>
                        </a:rPr>
                        <a:t>своя оценка (</a:t>
                      </a:r>
                      <a:r>
                        <a:rPr lang="ru-RU" sz="850" b="0" noProof="0" dirty="0" err="1">
                          <a:solidFill>
                            <a:srgbClr val="1A1A1A"/>
                          </a:solidFill>
                          <a:latin typeface="Open Sans"/>
                        </a:rPr>
                        <a:t>sanity-check</a:t>
                      </a:r>
                      <a:r>
                        <a:rPr lang="ru-RU" sz="850" b="0" noProof="0" dirty="0">
                          <a:solidFill>
                            <a:srgbClr val="1A1A1A"/>
                          </a:solidFill>
                          <a:latin typeface="Open Sans"/>
                        </a:rPr>
                        <a:t> по ARR)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7" name="TextBox 306"/>
          <p:cNvSpPr txBox="1"/>
          <p:nvPr/>
        </p:nvSpPr>
        <p:spPr>
          <a:xfrm>
            <a:off x="274320" y="4160520"/>
            <a:ext cx="75895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lang="ru-RU" sz="1000" b="1">
                <a:solidFill>
                  <a:srgbClr val="1A1A1A"/>
                </a:solidFill>
                <a:latin typeface="Open Sans"/>
              </a:rPr>
              <a:t>Итог: ИИ подтвердил арифметику и выбор сценария, добавил метрики контроля; предложения вразрез с кейсом отклонены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9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name="adj" fmla="val 50000"/>
            </a:avLst>
          </a:prstGeom>
          <a:solidFill>
            <a:srgbClr val="FF92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" sz="1000" b="1">
                <a:solidFill>
                  <a:schemeClr val="dk1"/>
                </a:solidFill>
              </a:rPr>
              <a:t>маркетинговые стратегии</a:t>
            </a:r>
            <a:endParaRPr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9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" sz="1000" b="1">
                <a:solidFill>
                  <a:schemeClr val="dk1"/>
                </a:solidFill>
              </a:rPr>
              <a:t>анализ</a:t>
            </a:r>
            <a:endParaRPr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4" name="Google Shape;314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TextBox 314"/>
          <p:cNvSpPr txBox="1"/>
          <p:nvPr/>
        </p:nvSpPr>
        <p:spPr>
          <a:xfrm>
            <a:off x="274320" y="1417320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Inter"/>
              </a:rPr>
              <a:t>Точки роста: гипотезы повышения конверсии (сценарий B)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274320" y="1737360"/>
          <a:ext cx="8595360" cy="26151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Inter"/>
                        </a:rPr>
                        <a:t>Переход воронки</a:t>
                      </a:r>
                    </a:p>
                  </a:txBody>
                  <a:tcPr marL="54864" marR="54864" marT="18288" marB="1828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Inter"/>
                        </a:rPr>
                        <a:t>Сейчас</a:t>
                      </a:r>
                    </a:p>
                  </a:txBody>
                  <a:tcPr marL="54864" marR="54864" marT="18288" marB="1828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Inter"/>
                        </a:rPr>
                        <a:t>Цель</a:t>
                      </a:r>
                    </a:p>
                  </a:txBody>
                  <a:tcPr marL="54864" marR="54864" marT="18288" marB="1828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Inter"/>
                        </a:rPr>
                        <a:t>За счёт чего (гипотезы)</a:t>
                      </a:r>
                    </a:p>
                  </a:txBody>
                  <a:tcPr marL="54864" marR="54864" marT="18288" marB="18288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Open Sans"/>
                        </a:rPr>
                        <a:t>MQL → SQL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Open Sans"/>
                        </a:rPr>
                        <a:t>15%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Open Sans"/>
                        </a:rPr>
                        <a:t>20%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Open Sans"/>
                        </a:rPr>
                        <a:t>лид-скоринг (размер склада, отрасль, текущая учётная система), квалификация SDR, нуртуринг «неготовых» MQL к Q4-планированию бюджетов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Open Sans"/>
                        </a:rPr>
                        <a:t>SQL → демо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Open Sans"/>
                        </a:rPr>
                        <a:t>45%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Open Sans"/>
                        </a:rPr>
                        <a:t>50%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Open Sans"/>
                        </a:rPr>
                        <a:t>сегментированные демо под роль: склад — скорость и порядок; ИТ — запуск и интеграция с 1С; финдир — ROI-калькулятор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Open Sans"/>
                        </a:rPr>
                        <a:t>Демо → сделка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Open Sans"/>
                        </a:rPr>
                        <a:t>40%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Open Sans"/>
                        </a:rPr>
                        <a:t>45%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Open Sans"/>
                        </a:rPr>
                        <a:t>пилотные проекты, бизнес-кейс для финдира, работа с собственником как скрытой ролью сделки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Open Sans"/>
                        </a:rPr>
                        <a:t>MQL → сделка (сквозная)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Open Sans"/>
                        </a:rPr>
                        <a:t>2,7%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Open Sans"/>
                        </a:rPr>
                        <a:t>4,5%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Open Sans"/>
                        </a:rPr>
                        <a:t>рост в 1,7 раза → нужно на 40% меньше MQL для той же цели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7" name="TextBox 316"/>
          <p:cNvSpPr txBox="1"/>
          <p:nvPr/>
        </p:nvSpPr>
        <p:spPr>
          <a:xfrm>
            <a:off x="274320" y="4828032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750" b="0">
                <a:solidFill>
                  <a:srgbClr val="6E6E6E"/>
                </a:solidFill>
                <a:latin typeface="Open Sans"/>
              </a:rPr>
              <a:t>Гипотезы основаны на данных кейса: вебинарные MQL «не готовы покупать сейчас», контент даёт качественные MQL, конференции — крупные сделки в пайплайне.</a:t>
            </a:r>
          </a:p>
        </p:txBody>
      </p:sp>
      <p:sp>
        <p:nvSpPr>
          <p:cNvPr id="4" name="Google Shape;300;p38">
            <a:extLst>
              <a:ext uri="{FF2B5EF4-FFF2-40B4-BE49-F238E27FC236}">
                <a16:creationId xmlns:a16="http://schemas.microsoft.com/office/drawing/2014/main" id="{A9B61A4B-2CDB-FC7E-2399-BD7397ADFE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75" y="766775"/>
            <a:ext cx="8604300" cy="6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3000" b="1" dirty="0"/>
              <a:t>2. Стратегия</a:t>
            </a:r>
            <a:endParaRPr lang="ru-RU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0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name="adj" fmla="val 50000"/>
            </a:avLst>
          </a:prstGeom>
          <a:solidFill>
            <a:srgbClr val="FF92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</a:rPr>
              <a:t>маркетинговые стратегии</a:t>
            </a:r>
            <a:endParaRPr lang="ru-RU"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40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</a:rPr>
              <a:t>анализ</a:t>
            </a:r>
            <a:endParaRPr lang="ru-RU"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4" name="Google Shape;324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TextBox 324"/>
          <p:cNvSpPr txBox="1"/>
          <p:nvPr/>
        </p:nvSpPr>
        <p:spPr>
          <a:xfrm>
            <a:off x="274320" y="1417320"/>
            <a:ext cx="85953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lang="ru-RU" sz="1150" b="1">
                <a:solidFill>
                  <a:srgbClr val="1A1A1A"/>
                </a:solidFill>
                <a:latin typeface="Inter"/>
              </a:rPr>
              <a:t>CAC payback и LTV/CAC — собственный расчёт</a:t>
            </a:r>
          </a:p>
        </p:txBody>
      </p:sp>
      <p:graphicFrame>
        <p:nvGraphicFramePr>
          <p:cNvPr id="326" name="Table 3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1711708"/>
              </p:ext>
            </p:extLst>
          </p:nvPr>
        </p:nvGraphicFramePr>
        <p:xfrm>
          <a:off x="274320" y="1691640"/>
          <a:ext cx="8595360" cy="2651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lang="ru-RU" sz="900" b="1" noProof="0">
                          <a:solidFill>
                            <a:srgbClr val="FFFFFF"/>
                          </a:solidFill>
                          <a:latin typeface="Inter"/>
                        </a:rPr>
                        <a:t>Показатель</a:t>
                      </a:r>
                    </a:p>
                  </a:txBody>
                  <a:tcPr marL="54864" marR="54864" marT="18288" marB="1828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900" b="1" noProof="0">
                          <a:solidFill>
                            <a:srgbClr val="FFFFFF"/>
                          </a:solidFill>
                          <a:latin typeface="Inter"/>
                        </a:rPr>
                        <a:t>Сейчас</a:t>
                      </a:r>
                    </a:p>
                  </a:txBody>
                  <a:tcPr marL="54864" marR="54864" marT="18288" marB="1828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900" b="1" noProof="0">
                          <a:solidFill>
                            <a:srgbClr val="FFFFFF"/>
                          </a:solidFill>
                          <a:latin typeface="Inter"/>
                        </a:rPr>
                        <a:t>Цель (сценарий B)</a:t>
                      </a:r>
                    </a:p>
                  </a:txBody>
                  <a:tcPr marL="54864" marR="54864" marT="18288" marB="18288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Валовая прибыль на клиента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1 125 000 руб./год = 93 750 руб./мес (ACV 1,5 млн × маржа 75%)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та же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CAC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≈261 тыс руб. (37 MQL × 3 000 руб. + 150 тыс руб. продажи)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≈268 тыс руб.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CAC payback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≈2,8 мес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≈2,9 мес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LTV (срок жизни 4 года)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4 500 000 руб.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4 500 000 руб.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LTV / CAC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≈17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≈17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Потолок CAC при payback ≤ 12 мес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1 125 000 руб. — запас прочности ×4,3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 dirty="0">
                          <a:solidFill>
                            <a:srgbClr val="1A1A1A"/>
                          </a:solidFill>
                          <a:latin typeface="Open Sans"/>
                        </a:rPr>
                        <a:t>сохраняется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27" name="TextBox 326"/>
          <p:cNvSpPr txBox="1"/>
          <p:nvPr/>
        </p:nvSpPr>
        <p:spPr>
          <a:xfrm>
            <a:off x="274320" y="4389120"/>
            <a:ext cx="75895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lang="ru-RU" sz="1000" b="1">
                <a:solidFill>
                  <a:srgbClr val="1A1A1A"/>
                </a:solidFill>
                <a:latin typeface="Open Sans"/>
              </a:rPr>
              <a:t>Экономика здоровая: payback 2,8 мес &lt;&lt; 12 мес, LTV/CAC 17 &gt;&gt; 3 → можно инвестировать в привлечение</a:t>
            </a:r>
          </a:p>
        </p:txBody>
      </p:sp>
      <p:sp>
        <p:nvSpPr>
          <p:cNvPr id="2" name="Google Shape;300;p38">
            <a:extLst>
              <a:ext uri="{FF2B5EF4-FFF2-40B4-BE49-F238E27FC236}">
                <a16:creationId xmlns:a16="http://schemas.microsoft.com/office/drawing/2014/main" id="{07CFBA9B-D7F8-44FF-9EC4-E6582D1D1087}"/>
              </a:ext>
            </a:extLst>
          </p:cNvPr>
          <p:cNvSpPr txBox="1">
            <a:spLocks/>
          </p:cNvSpPr>
          <p:nvPr/>
        </p:nvSpPr>
        <p:spPr>
          <a:xfrm>
            <a:off x="269875" y="766775"/>
            <a:ext cx="6679565" cy="6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3000" b="1" dirty="0"/>
              <a:t>3. CAC </a:t>
            </a:r>
            <a:r>
              <a:rPr lang="ru-RU" sz="3000" b="1" dirty="0" err="1"/>
              <a:t>payback</a:t>
            </a:r>
            <a:r>
              <a:rPr lang="ru-RU" sz="3000" b="1" dirty="0"/>
              <a:t> и LTV/CAC</a:t>
            </a:r>
            <a:endParaRPr lang="ru-RU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1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name="adj" fmla="val 50000"/>
            </a:avLst>
          </a:prstGeom>
          <a:solidFill>
            <a:srgbClr val="FF92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</a:rPr>
              <a:t>маркетинговые стратегии</a:t>
            </a:r>
            <a:endParaRPr lang="ru-RU"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41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</a:rPr>
              <a:t>анализ</a:t>
            </a:r>
            <a:endParaRPr lang="ru-RU"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4" name="Google Shape;334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TextBox 334"/>
          <p:cNvSpPr txBox="1"/>
          <p:nvPr/>
        </p:nvSpPr>
        <p:spPr>
          <a:xfrm>
            <a:off x="274320" y="1417320"/>
            <a:ext cx="85953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lang="ru-RU" sz="1100" b="1">
                <a:solidFill>
                  <a:srgbClr val="1A1A1A"/>
                </a:solidFill>
                <a:latin typeface="Inter"/>
              </a:rPr>
              <a:t>Промпт — методология Chain-of-Verification (расчёт + самопроверка по шагам)</a:t>
            </a:r>
          </a:p>
        </p:txBody>
      </p:sp>
      <p:sp>
        <p:nvSpPr>
          <p:cNvPr id="336" name="Rounded Rectangle 335"/>
          <p:cNvSpPr/>
          <p:nvPr/>
        </p:nvSpPr>
        <p:spPr>
          <a:xfrm>
            <a:off x="274320" y="1783080"/>
            <a:ext cx="859536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7" name="TextBox 336"/>
          <p:cNvSpPr txBox="1"/>
          <p:nvPr/>
        </p:nvSpPr>
        <p:spPr>
          <a:xfrm>
            <a:off x="502920" y="1938528"/>
            <a:ext cx="8138160" cy="20672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lang="ru-RU" b="0" dirty="0">
                <a:solidFill>
                  <a:srgbClr val="1A1A1A"/>
                </a:solidFill>
                <a:latin typeface="Open Sans"/>
              </a:rPr>
              <a:t>Ты — финансовый аналитик </a:t>
            </a:r>
            <a:r>
              <a:rPr lang="ru-RU" b="0" dirty="0" err="1">
                <a:solidFill>
                  <a:srgbClr val="1A1A1A"/>
                </a:solidFill>
                <a:latin typeface="Open Sans"/>
              </a:rPr>
              <a:t>SaaS</a:t>
            </a:r>
            <a:r>
              <a:rPr lang="ru-RU" b="0" dirty="0">
                <a:solidFill>
                  <a:srgbClr val="1A1A1A"/>
                </a:solidFill>
                <a:latin typeface="Open Sans"/>
              </a:rPr>
              <a:t>-компании. Посчитай юнит-экономику и проверь себя по шагам.</a:t>
            </a:r>
          </a:p>
          <a:p>
            <a:pPr>
              <a:spcAft>
                <a:spcPts val="500"/>
              </a:spcAft>
            </a:pPr>
            <a:r>
              <a:rPr lang="ru-RU" b="0" dirty="0">
                <a:solidFill>
                  <a:srgbClr val="1A1A1A"/>
                </a:solidFill>
                <a:latin typeface="Open Sans"/>
              </a:rPr>
              <a:t>Данные: средний контракт (ACV) 1,5 млн руб./год, валовая маржа 75%, срок жизни клиента 4 года, стоимость продаж на сделку 150 </a:t>
            </a:r>
            <a:r>
              <a:rPr lang="ru-RU" b="0" dirty="0" err="1">
                <a:solidFill>
                  <a:srgbClr val="1A1A1A"/>
                </a:solidFill>
                <a:latin typeface="Open Sans"/>
              </a:rPr>
              <a:t>тыс</a:t>
            </a:r>
            <a:r>
              <a:rPr lang="ru-RU" b="0" dirty="0">
                <a:solidFill>
                  <a:srgbClr val="1A1A1A"/>
                </a:solidFill>
                <a:latin typeface="Open Sans"/>
              </a:rPr>
              <a:t> руб., текущий бленд-стоимость MQL 3 000 руб., конверсия </a:t>
            </a:r>
            <a:r>
              <a:rPr lang="ru-RU" b="0" dirty="0" err="1">
                <a:solidFill>
                  <a:srgbClr val="1A1A1A"/>
                </a:solidFill>
                <a:latin typeface="Open Sans"/>
              </a:rPr>
              <a:t>MQL→сделка</a:t>
            </a:r>
            <a:r>
              <a:rPr lang="ru-RU" b="0" dirty="0">
                <a:solidFill>
                  <a:srgbClr val="1A1A1A"/>
                </a:solidFill>
                <a:latin typeface="Open Sans"/>
              </a:rPr>
              <a:t> 2,7%.</a:t>
            </a:r>
          </a:p>
          <a:p>
            <a:pPr>
              <a:spcAft>
                <a:spcPts val="0"/>
              </a:spcAft>
            </a:pPr>
            <a:r>
              <a:rPr lang="ru-RU" b="0" dirty="0">
                <a:solidFill>
                  <a:srgbClr val="1A1A1A"/>
                </a:solidFill>
                <a:latin typeface="Open Sans"/>
              </a:rPr>
              <a:t>Задача: 1) посчитай CAC, CAC </a:t>
            </a:r>
            <a:r>
              <a:rPr lang="ru-RU" b="0" dirty="0" err="1">
                <a:solidFill>
                  <a:srgbClr val="1A1A1A"/>
                </a:solidFill>
                <a:latin typeface="Open Sans"/>
              </a:rPr>
              <a:t>payback</a:t>
            </a:r>
            <a:r>
              <a:rPr lang="ru-RU" b="0" dirty="0">
                <a:solidFill>
                  <a:srgbClr val="1A1A1A"/>
                </a:solidFill>
                <a:latin typeface="Open Sans"/>
              </a:rPr>
              <a:t>, LTV, LTV/CAC; 2) после расчёта проверь каждый шаг: правильно ли учтена валовая маржа, не завышен ли срок жизни, все ли компоненты CAC учтены; 3) сравни с нормами для B2B </a:t>
            </a:r>
            <a:r>
              <a:rPr lang="ru-RU" b="0" dirty="0" err="1">
                <a:solidFill>
                  <a:srgbClr val="1A1A1A"/>
                </a:solidFill>
                <a:latin typeface="Open Sans"/>
              </a:rPr>
              <a:t>SaaS</a:t>
            </a:r>
            <a:r>
              <a:rPr lang="ru-RU" b="0" dirty="0">
                <a:solidFill>
                  <a:srgbClr val="1A1A1A"/>
                </a:solidFill>
                <a:latin typeface="Open Sans"/>
              </a:rPr>
              <a:t> (</a:t>
            </a:r>
            <a:r>
              <a:rPr lang="ru-RU" b="0" dirty="0" err="1">
                <a:solidFill>
                  <a:srgbClr val="1A1A1A"/>
                </a:solidFill>
                <a:latin typeface="Open Sans"/>
              </a:rPr>
              <a:t>payback</a:t>
            </a:r>
            <a:r>
              <a:rPr lang="ru-RU" b="0" dirty="0">
                <a:solidFill>
                  <a:srgbClr val="1A1A1A"/>
                </a:solidFill>
                <a:latin typeface="Open Sans"/>
              </a:rPr>
              <a:t> ≤ 12 </a:t>
            </a:r>
            <a:r>
              <a:rPr lang="ru-RU" b="0" dirty="0" err="1">
                <a:solidFill>
                  <a:srgbClr val="1A1A1A"/>
                </a:solidFill>
                <a:latin typeface="Open Sans"/>
              </a:rPr>
              <a:t>мес</a:t>
            </a:r>
            <a:r>
              <a:rPr lang="ru-RU" b="0" dirty="0">
                <a:solidFill>
                  <a:srgbClr val="1A1A1A"/>
                </a:solidFill>
                <a:latin typeface="Open Sans"/>
              </a:rPr>
              <a:t>, LTV/CAC ≥ 3) и оцени здоровье экономики; 4) предложи направление развития.</a:t>
            </a:r>
          </a:p>
        </p:txBody>
      </p:sp>
      <p:sp>
        <p:nvSpPr>
          <p:cNvPr id="4" name="Google Shape;300;p38">
            <a:extLst>
              <a:ext uri="{FF2B5EF4-FFF2-40B4-BE49-F238E27FC236}">
                <a16:creationId xmlns:a16="http://schemas.microsoft.com/office/drawing/2014/main" id="{78158ABB-FF84-E0AB-83E0-99842623914B}"/>
              </a:ext>
            </a:extLst>
          </p:cNvPr>
          <p:cNvSpPr txBox="1">
            <a:spLocks/>
          </p:cNvSpPr>
          <p:nvPr/>
        </p:nvSpPr>
        <p:spPr>
          <a:xfrm>
            <a:off x="269875" y="766775"/>
            <a:ext cx="6679565" cy="6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3000" b="1" dirty="0"/>
              <a:t>3. CAC </a:t>
            </a:r>
            <a:r>
              <a:rPr lang="ru-RU" sz="3000" b="1" dirty="0" err="1"/>
              <a:t>payback</a:t>
            </a:r>
            <a:r>
              <a:rPr lang="ru-RU" sz="3000" b="1" dirty="0"/>
              <a:t> и LTV/CAC</a:t>
            </a:r>
            <a:endParaRPr lang="ru-RU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name="adj" fmla="val 50000"/>
            </a:avLst>
          </a:prstGeom>
          <a:solidFill>
            <a:srgbClr val="FF92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</a:rPr>
              <a:t>маркетинговые стратегии</a:t>
            </a:r>
            <a:endParaRPr lang="ru-RU"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42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</a:rPr>
              <a:t>анализ</a:t>
            </a:r>
            <a:endParaRPr lang="ru-RU"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3" name="Google Shape;34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5800" y="3955802"/>
            <a:ext cx="1278375" cy="91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TextBox 344"/>
          <p:cNvSpPr txBox="1"/>
          <p:nvPr/>
        </p:nvSpPr>
        <p:spPr>
          <a:xfrm>
            <a:off x="274320" y="1417320"/>
            <a:ext cx="85953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lang="ru-RU" sz="1150" b="1">
                <a:solidFill>
                  <a:srgbClr val="1A1A1A"/>
                </a:solidFill>
                <a:latin typeface="Inter"/>
              </a:rPr>
              <a:t>Вывод нейросети — Kimi (Moonshot AI), модель Kimi K3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74320" y="1737360"/>
            <a:ext cx="8595360" cy="18261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ru-RU" sz="1100" b="1" dirty="0">
                <a:solidFill>
                  <a:srgbClr val="1A1A1A"/>
                </a:solidFill>
                <a:latin typeface="Inter"/>
              </a:rPr>
              <a:t>Расчёт нейросети</a:t>
            </a:r>
          </a:p>
          <a:p>
            <a:pPr>
              <a:spcAft>
                <a:spcPts val="500"/>
              </a:spcAft>
            </a:pPr>
            <a:r>
              <a:rPr lang="ru-RU" sz="1000" b="0" dirty="0">
                <a:solidFill>
                  <a:srgbClr val="1A1A1A"/>
                </a:solidFill>
                <a:latin typeface="Open Sans"/>
              </a:rPr>
              <a:t>• CAC = 37 MQL × 3 000 руб. + 150 000 руб. ≈ 261 </a:t>
            </a:r>
            <a:r>
              <a:rPr lang="ru-RU" sz="1000" b="0" dirty="0" err="1">
                <a:solidFill>
                  <a:srgbClr val="1A1A1A"/>
                </a:solidFill>
                <a:latin typeface="Open Sans"/>
              </a:rPr>
              <a:t>тыс</a:t>
            </a:r>
            <a:r>
              <a:rPr lang="ru-RU" sz="1000" b="0" dirty="0">
                <a:solidFill>
                  <a:srgbClr val="1A1A1A"/>
                </a:solidFill>
                <a:latin typeface="Open Sans"/>
              </a:rPr>
              <a:t> руб. — совпало с собственным расчётом</a:t>
            </a:r>
          </a:p>
          <a:p>
            <a:pPr>
              <a:spcAft>
                <a:spcPts val="500"/>
              </a:spcAft>
            </a:pPr>
            <a:r>
              <a:rPr lang="ru-RU" sz="1000" b="0" dirty="0">
                <a:solidFill>
                  <a:srgbClr val="1A1A1A"/>
                </a:solidFill>
                <a:latin typeface="Open Sans"/>
              </a:rPr>
              <a:t>• Первая версия CAC </a:t>
            </a:r>
            <a:r>
              <a:rPr lang="ru-RU" sz="1000" b="0" dirty="0" err="1">
                <a:solidFill>
                  <a:srgbClr val="1A1A1A"/>
                </a:solidFill>
                <a:latin typeface="Open Sans"/>
              </a:rPr>
              <a:t>payback</a:t>
            </a:r>
            <a:r>
              <a:rPr lang="ru-RU" sz="1000" b="0" dirty="0">
                <a:solidFill>
                  <a:srgbClr val="1A1A1A"/>
                </a:solidFill>
                <a:latin typeface="Open Sans"/>
              </a:rPr>
              <a:t>: 261 000 / (1 500 000 / 12) ≈ 2,1 </a:t>
            </a:r>
            <a:r>
              <a:rPr lang="ru-RU" sz="1000" b="0" dirty="0" err="1">
                <a:solidFill>
                  <a:srgbClr val="1A1A1A"/>
                </a:solidFill>
                <a:latin typeface="Open Sans"/>
              </a:rPr>
              <a:t>мес</a:t>
            </a:r>
            <a:r>
              <a:rPr lang="ru-RU" sz="1000" b="0" dirty="0">
                <a:solidFill>
                  <a:srgbClr val="1A1A1A"/>
                </a:solidFill>
                <a:latin typeface="Open Sans"/>
              </a:rPr>
              <a:t> — ошибка: деление на выручку, а не на валовую прибыль</a:t>
            </a:r>
          </a:p>
          <a:p>
            <a:pPr>
              <a:spcAft>
                <a:spcPts val="500"/>
              </a:spcAft>
            </a:pPr>
            <a:r>
              <a:rPr lang="ru-RU" sz="1000" b="0" dirty="0">
                <a:solidFill>
                  <a:srgbClr val="1A1A1A"/>
                </a:solidFill>
                <a:latin typeface="Open Sans"/>
              </a:rPr>
              <a:t>• На шаге самопроверки нейросеть сама нашла и исправила ошибку: </a:t>
            </a:r>
            <a:r>
              <a:rPr lang="ru-RU" sz="1000" b="0" dirty="0" err="1">
                <a:solidFill>
                  <a:srgbClr val="1A1A1A"/>
                </a:solidFill>
                <a:latin typeface="Open Sans"/>
              </a:rPr>
              <a:t>payback</a:t>
            </a:r>
            <a:r>
              <a:rPr lang="ru-RU" sz="1000" b="0" dirty="0">
                <a:solidFill>
                  <a:srgbClr val="1A1A1A"/>
                </a:solidFill>
                <a:latin typeface="Open Sans"/>
              </a:rPr>
              <a:t> = 261 000 / 93 750 ≈ 2,8 </a:t>
            </a:r>
            <a:r>
              <a:rPr lang="ru-RU" sz="1000" b="0" dirty="0" err="1">
                <a:solidFill>
                  <a:srgbClr val="1A1A1A"/>
                </a:solidFill>
                <a:latin typeface="Open Sans"/>
              </a:rPr>
              <a:t>мес</a:t>
            </a:r>
            <a:r>
              <a:rPr lang="ru-RU" sz="1000" b="0" dirty="0">
                <a:solidFill>
                  <a:srgbClr val="1A1A1A"/>
                </a:solidFill>
                <a:latin typeface="Open Sans"/>
              </a:rPr>
              <a:t> — совпало</a:t>
            </a:r>
          </a:p>
          <a:p>
            <a:pPr>
              <a:spcAft>
                <a:spcPts val="1200"/>
              </a:spcAft>
            </a:pPr>
            <a:r>
              <a:rPr lang="ru-RU" sz="1000" b="0" dirty="0">
                <a:solidFill>
                  <a:srgbClr val="1A1A1A"/>
                </a:solidFill>
                <a:latin typeface="Open Sans"/>
              </a:rPr>
              <a:t>• LTV = 4,5 млн руб., LTV/CAC ≈ 17 — совпало</a:t>
            </a:r>
          </a:p>
          <a:p>
            <a:pPr>
              <a:spcAft>
                <a:spcPts val="600"/>
              </a:spcAft>
            </a:pPr>
            <a:r>
              <a:rPr lang="ru-RU" sz="1100" b="1" dirty="0">
                <a:solidFill>
                  <a:srgbClr val="1A1A1A"/>
                </a:solidFill>
                <a:latin typeface="Inter"/>
              </a:rPr>
              <a:t>Оценка нейросети</a:t>
            </a:r>
          </a:p>
          <a:p>
            <a:pPr>
              <a:spcAft>
                <a:spcPts val="500"/>
              </a:spcAft>
            </a:pPr>
            <a:r>
              <a:rPr lang="ru-RU" sz="1000" b="0" dirty="0">
                <a:solidFill>
                  <a:srgbClr val="1A1A1A"/>
                </a:solidFill>
                <a:latin typeface="Open Sans"/>
              </a:rPr>
              <a:t>• Экономика здоровая: </a:t>
            </a:r>
            <a:r>
              <a:rPr lang="ru-RU" sz="1000" b="0" dirty="0" err="1">
                <a:solidFill>
                  <a:srgbClr val="1A1A1A"/>
                </a:solidFill>
                <a:latin typeface="Open Sans"/>
              </a:rPr>
              <a:t>payback</a:t>
            </a:r>
            <a:r>
              <a:rPr lang="ru-RU" sz="1000" b="0" dirty="0">
                <a:solidFill>
                  <a:srgbClr val="1A1A1A"/>
                </a:solidFill>
                <a:latin typeface="Open Sans"/>
              </a:rPr>
              <a:t> сильно ниже лимита 12 </a:t>
            </a:r>
            <a:r>
              <a:rPr lang="ru-RU" sz="1000" b="0" dirty="0" err="1">
                <a:solidFill>
                  <a:srgbClr val="1A1A1A"/>
                </a:solidFill>
                <a:latin typeface="Open Sans"/>
              </a:rPr>
              <a:t>мес</a:t>
            </a:r>
            <a:r>
              <a:rPr lang="ru-RU" sz="1000" b="0" dirty="0">
                <a:solidFill>
                  <a:srgbClr val="1A1A1A"/>
                </a:solidFill>
                <a:latin typeface="Open Sans"/>
              </a:rPr>
              <a:t>, LTV/CAC выше нормы ≥ 3</a:t>
            </a:r>
          </a:p>
          <a:p>
            <a:pPr>
              <a:spcAft>
                <a:spcPts val="0"/>
              </a:spcAft>
            </a:pPr>
            <a:r>
              <a:rPr lang="ru-RU" sz="1000" b="0" dirty="0">
                <a:solidFill>
                  <a:srgbClr val="1A1A1A"/>
                </a:solidFill>
                <a:latin typeface="Open Sans"/>
              </a:rPr>
              <a:t>• Вывод: компания </a:t>
            </a:r>
            <a:r>
              <a:rPr lang="ru-RU" sz="1000" b="0" dirty="0" err="1">
                <a:solidFill>
                  <a:srgbClr val="1A1A1A"/>
                </a:solidFill>
                <a:latin typeface="Open Sans"/>
              </a:rPr>
              <a:t>недоинвестирует</a:t>
            </a:r>
            <a:r>
              <a:rPr lang="ru-RU" sz="1000" b="0" dirty="0">
                <a:solidFill>
                  <a:srgbClr val="1A1A1A"/>
                </a:solidFill>
                <a:latin typeface="Open Sans"/>
              </a:rPr>
              <a:t> в рост — есть запас на усиление каналов привлечения</a:t>
            </a:r>
          </a:p>
        </p:txBody>
      </p:sp>
      <p:sp>
        <p:nvSpPr>
          <p:cNvPr id="4" name="Google Shape;300;p38">
            <a:extLst>
              <a:ext uri="{FF2B5EF4-FFF2-40B4-BE49-F238E27FC236}">
                <a16:creationId xmlns:a16="http://schemas.microsoft.com/office/drawing/2014/main" id="{0C7F9BF7-C0F0-8ABA-BFD1-22B3E37D3EAE}"/>
              </a:ext>
            </a:extLst>
          </p:cNvPr>
          <p:cNvSpPr txBox="1">
            <a:spLocks/>
          </p:cNvSpPr>
          <p:nvPr/>
        </p:nvSpPr>
        <p:spPr>
          <a:xfrm>
            <a:off x="269875" y="766775"/>
            <a:ext cx="6679565" cy="6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3000" b="1" dirty="0"/>
              <a:t>3. CAC </a:t>
            </a:r>
            <a:r>
              <a:rPr lang="ru-RU" sz="3000" b="1" dirty="0" err="1"/>
              <a:t>payback</a:t>
            </a:r>
            <a:r>
              <a:rPr lang="ru-RU" sz="3000" b="1" dirty="0"/>
              <a:t> и LTV/CAC</a:t>
            </a:r>
            <a:endParaRPr lang="ru-RU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3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name="adj" fmla="val 50000"/>
            </a:avLst>
          </a:prstGeom>
          <a:solidFill>
            <a:srgbClr val="FF92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</a:rPr>
              <a:t>маркетинговые стратегии</a:t>
            </a:r>
            <a:endParaRPr lang="ru-RU"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43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</a:rPr>
              <a:t>анализ</a:t>
            </a:r>
            <a:endParaRPr lang="ru-RU"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4" name="Google Shape;354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TextBox 354"/>
          <p:cNvSpPr txBox="1"/>
          <p:nvPr/>
        </p:nvSpPr>
        <p:spPr>
          <a:xfrm>
            <a:off x="274320" y="1417320"/>
            <a:ext cx="85953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lang="ru-RU" sz="1150" b="1" dirty="0">
                <a:solidFill>
                  <a:srgbClr val="1A1A1A"/>
                </a:solidFill>
                <a:latin typeface="Inter"/>
              </a:rPr>
              <a:t>Вывод нейросети (продолжение) — допущения и чувствительность</a:t>
            </a:r>
          </a:p>
        </p:txBody>
      </p:sp>
      <p:sp>
        <p:nvSpPr>
          <p:cNvPr id="356" name="TextBox 355"/>
          <p:cNvSpPr txBox="1"/>
          <p:nvPr/>
        </p:nvSpPr>
        <p:spPr>
          <a:xfrm>
            <a:off x="274320" y="1737360"/>
            <a:ext cx="8595360" cy="1544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ru-RU" sz="1100" b="1" dirty="0">
                <a:solidFill>
                  <a:srgbClr val="1A1A1A"/>
                </a:solidFill>
                <a:latin typeface="Inter"/>
              </a:rPr>
              <a:t>Что ещё предложила нейросеть</a:t>
            </a:r>
          </a:p>
          <a:p>
            <a:pPr>
              <a:spcAft>
                <a:spcPts val="500"/>
              </a:spcAft>
            </a:pPr>
            <a:r>
              <a:rPr lang="ru-RU" sz="1000" b="0" dirty="0">
                <a:solidFill>
                  <a:srgbClr val="1A1A1A"/>
                </a:solidFill>
                <a:latin typeface="Open Sans"/>
              </a:rPr>
              <a:t>• Считать LTV с дисконтированием (ставка 20%): LTV ≈ 3,5 млн руб., LTV/CAC ≈ 13 — вывод о здоровье экономики не меняется</a:t>
            </a:r>
          </a:p>
          <a:p>
            <a:pPr>
              <a:spcAft>
                <a:spcPts val="1200"/>
              </a:spcAft>
            </a:pPr>
            <a:r>
              <a:rPr lang="ru-RU" sz="1000" b="0" dirty="0">
                <a:solidFill>
                  <a:srgbClr val="1A1A1A"/>
                </a:solidFill>
                <a:latin typeface="Open Sans"/>
              </a:rPr>
              <a:t>• Консервативный срок жизни 3 года вместо 4: LTV/CAC ≈ 13 — вывод также не меняется</a:t>
            </a:r>
          </a:p>
          <a:p>
            <a:pPr>
              <a:spcAft>
                <a:spcPts val="600"/>
              </a:spcAft>
            </a:pPr>
            <a:r>
              <a:rPr lang="ru-RU" sz="1100" b="1" dirty="0">
                <a:solidFill>
                  <a:srgbClr val="1A1A1A"/>
                </a:solidFill>
                <a:latin typeface="Inter"/>
              </a:rPr>
              <a:t>Разбор расхождений</a:t>
            </a:r>
          </a:p>
          <a:p>
            <a:pPr>
              <a:spcAft>
                <a:spcPts val="500"/>
              </a:spcAft>
            </a:pPr>
            <a:r>
              <a:rPr lang="ru-RU" sz="1000" b="0" dirty="0">
                <a:solidFill>
                  <a:srgbClr val="1A1A1A"/>
                </a:solidFill>
                <a:latin typeface="Open Sans"/>
              </a:rPr>
              <a:t>• Срок жизни оставлен 4 года: по кейсу отток низкий, WMS внедряется в ядро операций склада — высокие </a:t>
            </a:r>
            <a:r>
              <a:rPr lang="ru-RU" sz="1000" b="0" dirty="0" err="1">
                <a:solidFill>
                  <a:srgbClr val="1A1A1A"/>
                </a:solidFill>
                <a:latin typeface="Open Sans"/>
              </a:rPr>
              <a:t>switching</a:t>
            </a:r>
            <a:r>
              <a:rPr lang="ru-RU" sz="1000" b="0" dirty="0">
                <a:solidFill>
                  <a:srgbClr val="1A1A1A"/>
                </a:solidFill>
                <a:latin typeface="Open Sans"/>
              </a:rPr>
              <a:t> </a:t>
            </a:r>
            <a:r>
              <a:rPr lang="ru-RU" sz="1000" b="0" dirty="0" err="1">
                <a:solidFill>
                  <a:srgbClr val="1A1A1A"/>
                </a:solidFill>
                <a:latin typeface="Open Sans"/>
              </a:rPr>
              <a:t>costs</a:t>
            </a:r>
            <a:endParaRPr lang="ru-RU" sz="1000" b="0" dirty="0">
              <a:solidFill>
                <a:srgbClr val="1A1A1A"/>
              </a:solidFill>
              <a:latin typeface="Open Sans"/>
            </a:endParaRPr>
          </a:p>
          <a:p>
            <a:pPr>
              <a:spcAft>
                <a:spcPts val="0"/>
              </a:spcAft>
            </a:pPr>
            <a:r>
              <a:rPr lang="ru-RU" sz="1000" b="0" dirty="0">
                <a:solidFill>
                  <a:srgbClr val="1A1A1A"/>
                </a:solidFill>
                <a:latin typeface="Open Sans"/>
              </a:rPr>
              <a:t>• Направление развития от нейросети совпало с собственным: инвестировать запас маржи в каналы созревания спроса и растить LTV (удержание, расширение аккаунтов, рост ACV через ABM)</a:t>
            </a:r>
          </a:p>
        </p:txBody>
      </p:sp>
      <p:sp>
        <p:nvSpPr>
          <p:cNvPr id="4" name="Google Shape;300;p38">
            <a:extLst>
              <a:ext uri="{FF2B5EF4-FFF2-40B4-BE49-F238E27FC236}">
                <a16:creationId xmlns:a16="http://schemas.microsoft.com/office/drawing/2014/main" id="{04384612-5835-9220-B832-0BB9BD2F986A}"/>
              </a:ext>
            </a:extLst>
          </p:cNvPr>
          <p:cNvSpPr txBox="1">
            <a:spLocks/>
          </p:cNvSpPr>
          <p:nvPr/>
        </p:nvSpPr>
        <p:spPr>
          <a:xfrm>
            <a:off x="269875" y="766775"/>
            <a:ext cx="6679565" cy="6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3000" b="1" dirty="0"/>
              <a:t>3. CAC </a:t>
            </a:r>
            <a:r>
              <a:rPr lang="ru-RU" sz="3000" b="1" dirty="0" err="1"/>
              <a:t>payback</a:t>
            </a:r>
            <a:r>
              <a:rPr lang="ru-RU" sz="3000" b="1" dirty="0"/>
              <a:t> и LTV/CAC</a:t>
            </a:r>
            <a:endParaRPr lang="ru-RU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4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name="adj" fmla="val 50000"/>
            </a:avLst>
          </a:prstGeom>
          <a:solidFill>
            <a:srgbClr val="FF92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" sz="1000" b="1">
                <a:solidFill>
                  <a:schemeClr val="dk1"/>
                </a:solidFill>
              </a:rPr>
              <a:t>маркетинговые стратегии</a:t>
            </a:r>
            <a:endParaRPr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4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" sz="1000" b="1">
                <a:solidFill>
                  <a:schemeClr val="dk1"/>
                </a:solidFill>
              </a:rPr>
              <a:t>анализ</a:t>
            </a:r>
            <a:endParaRPr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4" name="Google Shape;364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TextBox 364"/>
          <p:cNvSpPr txBox="1"/>
          <p:nvPr/>
        </p:nvSpPr>
        <p:spPr>
          <a:xfrm>
            <a:off x="274320" y="1417320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Inter"/>
              </a:rPr>
              <a:t>Вывод — сравнение результатов нейросети и собственных расчётов</a:t>
            </a:r>
          </a:p>
        </p:txBody>
      </p:sp>
      <p:graphicFrame>
        <p:nvGraphicFramePr>
          <p:cNvPr id="366" name="Table 3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533405"/>
              </p:ext>
            </p:extLst>
          </p:nvPr>
        </p:nvGraphicFramePr>
        <p:xfrm>
          <a:off x="274320" y="1737360"/>
          <a:ext cx="8595360" cy="19568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lang="ru-RU" sz="900" b="1" noProof="0">
                          <a:solidFill>
                            <a:srgbClr val="FFFFFF"/>
                          </a:solidFill>
                          <a:latin typeface="Inter"/>
                        </a:rPr>
                        <a:t>Метрика</a:t>
                      </a:r>
                    </a:p>
                  </a:txBody>
                  <a:tcPr marL="54864" marR="54864" marT="18288" marB="1828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900" b="1" noProof="0">
                          <a:solidFill>
                            <a:srgbClr val="FFFFFF"/>
                          </a:solidFill>
                          <a:latin typeface="Inter"/>
                        </a:rPr>
                        <a:t>Собственный расчёт</a:t>
                      </a:r>
                    </a:p>
                  </a:txBody>
                  <a:tcPr marL="54864" marR="54864" marT="18288" marB="1828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900" b="1" noProof="0">
                          <a:solidFill>
                            <a:srgbClr val="FFFFFF"/>
                          </a:solidFill>
                          <a:latin typeface="Inter"/>
                        </a:rPr>
                        <a:t>Нейросеть (Kimi K3)</a:t>
                      </a:r>
                    </a:p>
                  </a:txBody>
                  <a:tcPr marL="54864" marR="54864" marT="18288" marB="1828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900" b="1" noProof="0">
                          <a:solidFill>
                            <a:srgbClr val="FFFFFF"/>
                          </a:solidFill>
                          <a:latin typeface="Inter"/>
                        </a:rPr>
                        <a:t>Итог</a:t>
                      </a:r>
                    </a:p>
                  </a:txBody>
                  <a:tcPr marL="54864" marR="54864" marT="18288" marB="18288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CAC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≈261 тыс руб.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≈261 тыс руб.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совпало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CAC payback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2,8 мес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2,1 мес → исправлено на 2,8 мес при самопроверке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совпало после верификации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LTV / LTV/CAC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4,5 млн руб. / ≈17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4,5 млн руб. / ≈17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совпало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Здоровье экономики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здоровая, запас ×4,3 к лимиту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здоровая, недоинвестирование в рост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 dirty="0">
                          <a:solidFill>
                            <a:srgbClr val="1A1A1A"/>
                          </a:solidFill>
                          <a:latin typeface="Open Sans"/>
                        </a:rPr>
                        <a:t>совпало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67" name="TextBox 366"/>
          <p:cNvSpPr txBox="1"/>
          <p:nvPr/>
        </p:nvSpPr>
        <p:spPr>
          <a:xfrm>
            <a:off x="274320" y="3977639"/>
            <a:ext cx="8595360" cy="512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1" dirty="0" err="1">
                <a:solidFill>
                  <a:srgbClr val="1A1A1A"/>
                </a:solidFill>
                <a:latin typeface="Open Sans"/>
              </a:rPr>
              <a:t>Итог</a:t>
            </a:r>
            <a:r>
              <a:rPr sz="1000" b="1" dirty="0">
                <a:solidFill>
                  <a:srgbClr val="1A1A1A"/>
                </a:solidFill>
                <a:latin typeface="Open Sans"/>
              </a:rPr>
              <a:t>: Chain-of-Verification </a:t>
            </a:r>
            <a:r>
              <a:rPr sz="1000" b="1" dirty="0" err="1">
                <a:solidFill>
                  <a:srgbClr val="1A1A1A"/>
                </a:solidFill>
                <a:latin typeface="Open Sans"/>
              </a:rPr>
              <a:t>сработал</a:t>
            </a:r>
            <a:r>
              <a:rPr sz="1000" b="1" dirty="0">
                <a:solidFill>
                  <a:srgbClr val="1A1A1A"/>
                </a:solidFill>
                <a:latin typeface="Open Sans"/>
              </a:rPr>
              <a:t> — </a:t>
            </a:r>
            <a:r>
              <a:rPr sz="1000" b="1" dirty="0" err="1">
                <a:solidFill>
                  <a:srgbClr val="1A1A1A"/>
                </a:solidFill>
                <a:latin typeface="Open Sans"/>
              </a:rPr>
              <a:t>нейросеть</a:t>
            </a:r>
            <a:r>
              <a:rPr sz="1000" b="1" dirty="0">
                <a:solidFill>
                  <a:srgbClr val="1A1A1A"/>
                </a:solidFill>
                <a:latin typeface="Open Sans"/>
              </a:rPr>
              <a:t> </a:t>
            </a:r>
            <a:r>
              <a:rPr sz="1000" b="1" dirty="0" err="1">
                <a:solidFill>
                  <a:srgbClr val="1A1A1A"/>
                </a:solidFill>
                <a:latin typeface="Open Sans"/>
              </a:rPr>
              <a:t>сама</a:t>
            </a:r>
            <a:r>
              <a:rPr sz="1000" b="1" dirty="0">
                <a:solidFill>
                  <a:srgbClr val="1A1A1A"/>
                </a:solidFill>
                <a:latin typeface="Open Sans"/>
              </a:rPr>
              <a:t> </a:t>
            </a:r>
            <a:r>
              <a:rPr sz="1000" b="1" dirty="0" err="1">
                <a:solidFill>
                  <a:srgbClr val="1A1A1A"/>
                </a:solidFill>
                <a:latin typeface="Open Sans"/>
              </a:rPr>
              <a:t>исправила</a:t>
            </a:r>
            <a:r>
              <a:rPr sz="1000" b="1" dirty="0">
                <a:solidFill>
                  <a:srgbClr val="1A1A1A"/>
                </a:solidFill>
                <a:latin typeface="Open Sans"/>
              </a:rPr>
              <a:t> </a:t>
            </a:r>
            <a:r>
              <a:rPr sz="1000" b="1" dirty="0" err="1">
                <a:solidFill>
                  <a:srgbClr val="1A1A1A"/>
                </a:solidFill>
                <a:latin typeface="Open Sans"/>
              </a:rPr>
              <a:t>ошибку</a:t>
            </a:r>
            <a:r>
              <a:rPr sz="1000" b="1" dirty="0">
                <a:solidFill>
                  <a:srgbClr val="1A1A1A"/>
                </a:solidFill>
                <a:latin typeface="Open Sans"/>
              </a:rPr>
              <a:t> payback </a:t>
            </a:r>
            <a:r>
              <a:rPr sz="1000" b="1" dirty="0" err="1">
                <a:solidFill>
                  <a:srgbClr val="1A1A1A"/>
                </a:solidFill>
                <a:latin typeface="Open Sans"/>
              </a:rPr>
              <a:t>без</a:t>
            </a:r>
            <a:r>
              <a:rPr sz="1000" b="1" dirty="0">
                <a:solidFill>
                  <a:srgbClr val="1A1A1A"/>
                </a:solidFill>
                <a:latin typeface="Open Sans"/>
              </a:rPr>
              <a:t> </a:t>
            </a:r>
            <a:r>
              <a:rPr sz="1000" b="1" dirty="0" err="1">
                <a:solidFill>
                  <a:srgbClr val="1A1A1A"/>
                </a:solidFill>
                <a:latin typeface="Open Sans"/>
              </a:rPr>
              <a:t>учёта</a:t>
            </a:r>
            <a:r>
              <a:rPr sz="1000" b="1" dirty="0">
                <a:solidFill>
                  <a:srgbClr val="1A1A1A"/>
                </a:solidFill>
                <a:latin typeface="Open Sans"/>
              </a:rPr>
              <a:t> </a:t>
            </a:r>
            <a:r>
              <a:rPr sz="1000" b="1" dirty="0" err="1">
                <a:solidFill>
                  <a:srgbClr val="1A1A1A"/>
                </a:solidFill>
                <a:latin typeface="Open Sans"/>
              </a:rPr>
              <a:t>маржи</a:t>
            </a:r>
            <a:r>
              <a:rPr sz="1000" b="1" dirty="0">
                <a:solidFill>
                  <a:srgbClr val="1A1A1A"/>
                </a:solidFill>
                <a:latin typeface="Open Sans"/>
              </a:rPr>
              <a:t>. </a:t>
            </a:r>
            <a:r>
              <a:rPr sz="1000" b="1" dirty="0" err="1">
                <a:solidFill>
                  <a:srgbClr val="1A1A1A"/>
                </a:solidFill>
                <a:latin typeface="Open Sans"/>
              </a:rPr>
              <a:t>Числа</a:t>
            </a:r>
            <a:r>
              <a:rPr sz="1000" b="1" dirty="0">
                <a:solidFill>
                  <a:srgbClr val="1A1A1A"/>
                </a:solidFill>
                <a:latin typeface="Open Sans"/>
              </a:rPr>
              <a:t> </a:t>
            </a:r>
            <a:r>
              <a:rPr sz="1000" b="1" dirty="0" err="1">
                <a:solidFill>
                  <a:srgbClr val="1A1A1A"/>
                </a:solidFill>
                <a:latin typeface="Open Sans"/>
              </a:rPr>
              <a:t>совпали</a:t>
            </a:r>
            <a:r>
              <a:rPr sz="1000" b="1" dirty="0">
                <a:solidFill>
                  <a:srgbClr val="1A1A1A"/>
                </a:solidFill>
                <a:latin typeface="Open Sans"/>
              </a:rPr>
              <a:t>.</a:t>
            </a:r>
          </a:p>
          <a:p>
            <a:pPr>
              <a:spcAft>
                <a:spcPts val="0"/>
              </a:spcAft>
            </a:pPr>
            <a:r>
              <a:rPr sz="1000" b="0" dirty="0" err="1">
                <a:solidFill>
                  <a:srgbClr val="1A1A1A"/>
                </a:solidFill>
                <a:latin typeface="Open Sans"/>
              </a:rPr>
              <a:t>Направление</a:t>
            </a:r>
            <a:r>
              <a:rPr sz="1000" b="0" dirty="0">
                <a:solidFill>
                  <a:srgbClr val="1A1A1A"/>
                </a:solidFill>
                <a:latin typeface="Open Sans"/>
              </a:rPr>
              <a:t> </a:t>
            </a:r>
            <a:r>
              <a:rPr sz="1000" b="0" dirty="0" err="1">
                <a:solidFill>
                  <a:srgbClr val="1A1A1A"/>
                </a:solidFill>
                <a:latin typeface="Open Sans"/>
              </a:rPr>
              <a:t>развития</a:t>
            </a:r>
            <a:r>
              <a:rPr sz="1000" b="0" dirty="0">
                <a:solidFill>
                  <a:srgbClr val="1A1A1A"/>
                </a:solidFill>
                <a:latin typeface="Open Sans"/>
              </a:rPr>
              <a:t>: </a:t>
            </a:r>
            <a:r>
              <a:rPr sz="1000" b="0" dirty="0" err="1">
                <a:solidFill>
                  <a:srgbClr val="1A1A1A"/>
                </a:solidFill>
                <a:latin typeface="Open Sans"/>
              </a:rPr>
              <a:t>направить</a:t>
            </a:r>
            <a:r>
              <a:rPr sz="1000" b="0" dirty="0">
                <a:solidFill>
                  <a:srgbClr val="1A1A1A"/>
                </a:solidFill>
                <a:latin typeface="Open Sans"/>
              </a:rPr>
              <a:t> </a:t>
            </a:r>
            <a:r>
              <a:rPr sz="1000" b="0" dirty="0" err="1">
                <a:solidFill>
                  <a:srgbClr val="1A1A1A"/>
                </a:solidFill>
                <a:latin typeface="Open Sans"/>
              </a:rPr>
              <a:t>запас</a:t>
            </a:r>
            <a:r>
              <a:rPr sz="1000" b="0" dirty="0">
                <a:solidFill>
                  <a:srgbClr val="1A1A1A"/>
                </a:solidFill>
                <a:latin typeface="Open Sans"/>
              </a:rPr>
              <a:t> </a:t>
            </a:r>
            <a:r>
              <a:rPr sz="1000" b="0" dirty="0" err="1">
                <a:solidFill>
                  <a:srgbClr val="1A1A1A"/>
                </a:solidFill>
                <a:latin typeface="Open Sans"/>
              </a:rPr>
              <a:t>маржи</a:t>
            </a:r>
            <a:r>
              <a:rPr sz="1000" b="0" dirty="0">
                <a:solidFill>
                  <a:srgbClr val="1A1A1A"/>
                </a:solidFill>
                <a:latin typeface="Open Sans"/>
              </a:rPr>
              <a:t> </a:t>
            </a:r>
            <a:r>
              <a:rPr sz="1000" b="0" dirty="0" err="1">
                <a:solidFill>
                  <a:srgbClr val="1A1A1A"/>
                </a:solidFill>
                <a:latin typeface="Open Sans"/>
              </a:rPr>
              <a:t>в</a:t>
            </a:r>
            <a:r>
              <a:rPr sz="1000" b="0" dirty="0">
                <a:solidFill>
                  <a:srgbClr val="1A1A1A"/>
                </a:solidFill>
                <a:latin typeface="Open Sans"/>
              </a:rPr>
              <a:t> </a:t>
            </a:r>
            <a:r>
              <a:rPr sz="1000" b="0" dirty="0" err="1">
                <a:solidFill>
                  <a:srgbClr val="1A1A1A"/>
                </a:solidFill>
                <a:latin typeface="Open Sans"/>
              </a:rPr>
              <a:t>каналы</a:t>
            </a:r>
            <a:r>
              <a:rPr sz="1000" b="0" dirty="0">
                <a:solidFill>
                  <a:srgbClr val="1A1A1A"/>
                </a:solidFill>
                <a:latin typeface="Open Sans"/>
              </a:rPr>
              <a:t> </a:t>
            </a:r>
            <a:r>
              <a:rPr sz="1000" b="0" dirty="0" err="1">
                <a:solidFill>
                  <a:srgbClr val="1A1A1A"/>
                </a:solidFill>
                <a:latin typeface="Open Sans"/>
              </a:rPr>
              <a:t>созревания</a:t>
            </a:r>
            <a:r>
              <a:rPr sz="1000" b="0" dirty="0">
                <a:solidFill>
                  <a:srgbClr val="1A1A1A"/>
                </a:solidFill>
                <a:latin typeface="Open Sans"/>
              </a:rPr>
              <a:t> </a:t>
            </a:r>
            <a:r>
              <a:rPr sz="1000" b="0" dirty="0" err="1">
                <a:solidFill>
                  <a:srgbClr val="1A1A1A"/>
                </a:solidFill>
                <a:latin typeface="Open Sans"/>
              </a:rPr>
              <a:t>спроса</a:t>
            </a:r>
            <a:r>
              <a:rPr sz="1000" b="0" dirty="0">
                <a:solidFill>
                  <a:srgbClr val="1A1A1A"/>
                </a:solidFill>
                <a:latin typeface="Open Sans"/>
              </a:rPr>
              <a:t> (</a:t>
            </a:r>
            <a:r>
              <a:rPr sz="1000" b="0" dirty="0" err="1">
                <a:solidFill>
                  <a:srgbClr val="1A1A1A"/>
                </a:solidFill>
                <a:latin typeface="Open Sans"/>
              </a:rPr>
              <a:t>контент</a:t>
            </a:r>
            <a:r>
              <a:rPr sz="1000" b="0" dirty="0">
                <a:solidFill>
                  <a:srgbClr val="1A1A1A"/>
                </a:solidFill>
                <a:latin typeface="Open Sans"/>
              </a:rPr>
              <a:t>, </a:t>
            </a:r>
            <a:r>
              <a:rPr sz="1000" b="0" dirty="0" err="1">
                <a:solidFill>
                  <a:srgbClr val="1A1A1A"/>
                </a:solidFill>
                <a:latin typeface="Open Sans"/>
              </a:rPr>
              <a:t>вебинары</a:t>
            </a:r>
            <a:r>
              <a:rPr sz="1000" b="0" dirty="0">
                <a:solidFill>
                  <a:srgbClr val="1A1A1A"/>
                </a:solidFill>
                <a:latin typeface="Open Sans"/>
              </a:rPr>
              <a:t>, ABM) </a:t>
            </a:r>
            <a:r>
              <a:rPr sz="1000" b="0" dirty="0" err="1">
                <a:solidFill>
                  <a:srgbClr val="1A1A1A"/>
                </a:solidFill>
                <a:latin typeface="Open Sans"/>
              </a:rPr>
              <a:t>и</a:t>
            </a:r>
            <a:r>
              <a:rPr sz="1000" b="0" dirty="0">
                <a:solidFill>
                  <a:srgbClr val="1A1A1A"/>
                </a:solidFill>
                <a:latin typeface="Open Sans"/>
              </a:rPr>
              <a:t> </a:t>
            </a:r>
            <a:r>
              <a:rPr sz="1000" b="0" dirty="0" err="1">
                <a:solidFill>
                  <a:srgbClr val="1A1A1A"/>
                </a:solidFill>
                <a:latin typeface="Open Sans"/>
              </a:rPr>
              <a:t>рост</a:t>
            </a:r>
            <a:r>
              <a:rPr sz="1000" b="0" dirty="0">
                <a:solidFill>
                  <a:srgbClr val="1A1A1A"/>
                </a:solidFill>
                <a:latin typeface="Open Sans"/>
              </a:rPr>
              <a:t> LTV — </a:t>
            </a:r>
            <a:r>
              <a:rPr sz="1000" b="0" dirty="0" err="1">
                <a:solidFill>
                  <a:srgbClr val="1A1A1A"/>
                </a:solidFill>
                <a:latin typeface="Open Sans"/>
              </a:rPr>
              <a:t>удержание</a:t>
            </a:r>
            <a:r>
              <a:rPr sz="1000" b="0" dirty="0">
                <a:solidFill>
                  <a:srgbClr val="1A1A1A"/>
                </a:solidFill>
                <a:latin typeface="Open Sans"/>
              </a:rPr>
              <a:t>, </a:t>
            </a:r>
            <a:r>
              <a:rPr sz="1000" b="0" dirty="0" err="1">
                <a:solidFill>
                  <a:srgbClr val="1A1A1A"/>
                </a:solidFill>
                <a:latin typeface="Open Sans"/>
              </a:rPr>
              <a:t>расширение</a:t>
            </a:r>
            <a:r>
              <a:rPr sz="1000" b="0" dirty="0">
                <a:solidFill>
                  <a:srgbClr val="1A1A1A"/>
                </a:solidFill>
                <a:latin typeface="Open Sans"/>
              </a:rPr>
              <a:t> </a:t>
            </a:r>
            <a:r>
              <a:rPr sz="1000" b="0" dirty="0" err="1">
                <a:solidFill>
                  <a:srgbClr val="1A1A1A"/>
                </a:solidFill>
                <a:latin typeface="Open Sans"/>
              </a:rPr>
              <a:t>аккаунтов</a:t>
            </a:r>
            <a:r>
              <a:rPr sz="1000" b="0" dirty="0">
                <a:solidFill>
                  <a:srgbClr val="1A1A1A"/>
                </a:solidFill>
                <a:latin typeface="Open Sans"/>
              </a:rPr>
              <a:t>, </a:t>
            </a:r>
            <a:r>
              <a:rPr sz="1000" b="0" dirty="0" err="1">
                <a:solidFill>
                  <a:srgbClr val="1A1A1A"/>
                </a:solidFill>
                <a:latin typeface="Open Sans"/>
              </a:rPr>
              <a:t>рост</a:t>
            </a:r>
            <a:r>
              <a:rPr sz="1000" b="0" dirty="0">
                <a:solidFill>
                  <a:srgbClr val="1A1A1A"/>
                </a:solidFill>
                <a:latin typeface="Open Sans"/>
              </a:rPr>
              <a:t> ACV.</a:t>
            </a:r>
          </a:p>
        </p:txBody>
      </p:sp>
      <p:sp>
        <p:nvSpPr>
          <p:cNvPr id="4" name="Google Shape;300;p38">
            <a:extLst>
              <a:ext uri="{FF2B5EF4-FFF2-40B4-BE49-F238E27FC236}">
                <a16:creationId xmlns:a16="http://schemas.microsoft.com/office/drawing/2014/main" id="{8D0CB8B0-9276-69D9-1A51-20595612D6B1}"/>
              </a:ext>
            </a:extLst>
          </p:cNvPr>
          <p:cNvSpPr txBox="1">
            <a:spLocks/>
          </p:cNvSpPr>
          <p:nvPr/>
        </p:nvSpPr>
        <p:spPr>
          <a:xfrm>
            <a:off x="269875" y="766775"/>
            <a:ext cx="6679565" cy="6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3000" b="1" dirty="0"/>
              <a:t>3. CAC </a:t>
            </a:r>
            <a:r>
              <a:rPr lang="ru-RU" sz="3000" b="1" dirty="0" err="1"/>
              <a:t>payback</a:t>
            </a:r>
            <a:r>
              <a:rPr lang="ru-RU" sz="3000" b="1" dirty="0"/>
              <a:t> и LTV/CAC</a:t>
            </a:r>
            <a:endParaRPr lang="ru-RU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5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name="adj" fmla="val 50000"/>
            </a:avLst>
          </a:prstGeom>
          <a:solidFill>
            <a:srgbClr val="FF92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" sz="1000" b="1">
                <a:solidFill>
                  <a:schemeClr val="dk1"/>
                </a:solidFill>
              </a:rPr>
              <a:t>маркетинговые стратегии</a:t>
            </a:r>
            <a:endParaRPr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45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" sz="1000" b="1">
                <a:solidFill>
                  <a:schemeClr val="dk1"/>
                </a:solidFill>
              </a:rPr>
              <a:t>анализ</a:t>
            </a:r>
            <a:endParaRPr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4" name="Google Shape;374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75" name="Table 3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041753"/>
              </p:ext>
            </p:extLst>
          </p:nvPr>
        </p:nvGraphicFramePr>
        <p:xfrm>
          <a:off x="274320" y="1481328"/>
          <a:ext cx="8595360" cy="31821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ru-RU" sz="900" b="1" noProof="0">
                          <a:solidFill>
                            <a:srgbClr val="FFFFFF"/>
                          </a:solidFill>
                          <a:latin typeface="Inter"/>
                        </a:rPr>
                        <a:t>Этап</a:t>
                      </a:r>
                    </a:p>
                  </a:txBody>
                  <a:tcPr marL="54864" marR="54864" marT="18288" marB="1828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900" b="1" noProof="0">
                          <a:solidFill>
                            <a:srgbClr val="FFFFFF"/>
                          </a:solidFill>
                          <a:latin typeface="Inter"/>
                        </a:rPr>
                        <a:t>Целевой показатель (год)</a:t>
                      </a:r>
                    </a:p>
                  </a:txBody>
                  <a:tcPr marL="54864" marR="54864" marT="18288" marB="1828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900" b="1" noProof="0">
                          <a:solidFill>
                            <a:srgbClr val="FFFFFF"/>
                          </a:solidFill>
                          <a:latin typeface="Inter"/>
                        </a:rPr>
                        <a:t>Конверсия</a:t>
                      </a:r>
                    </a:p>
                  </a:txBody>
                  <a:tcPr marL="54864" marR="54864" marT="18288" marB="1828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900" b="1" noProof="0">
                          <a:solidFill>
                            <a:srgbClr val="FFFFFF"/>
                          </a:solidFill>
                          <a:latin typeface="Inter"/>
                        </a:rPr>
                        <a:t>Каналы и инструменты</a:t>
                      </a:r>
                    </a:p>
                  </a:txBody>
                  <a:tcPr marL="54864" marR="54864" marT="18288" marB="18288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Demand gen — спрос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охват ЦА: склады среднего бизнеса (ритейл, e-com, 3PL)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контент и SEO (Habr, vc.ru), отраслевые конференции, PR, кейсы клиентов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Lead gen — лиды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≈8 900 (740/мес)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30% → MQL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лид-магниты (гайды, ROI-калькулятор), вебинары, Яндекс.Директ на горячий спрос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MQL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2 667 (222/мес)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20% → SQL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вебинары, контентная подписка, лид-скоринг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SQL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533 (44/мес)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50% → демо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квалификация SDR (BANT), нуртуринг к Q4, ABM-аутрич по 30–50 аккаунтам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Демо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267 (22/мес)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45% → сделка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демо под роль (склад / ИТ / финдир), пилоты, ROI-калькулятор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Сделка — новый ARR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120 (10/мес) = +180 млн руб.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 dirty="0">
                          <a:solidFill>
                            <a:srgbClr val="1A1A1A"/>
                          </a:solidFill>
                          <a:latin typeface="Open Sans"/>
                        </a:rPr>
                        <a:t>продажи (цикл 3,5 </a:t>
                      </a:r>
                      <a:r>
                        <a:rPr lang="ru-RU" sz="850" b="0" noProof="0" dirty="0" err="1">
                          <a:solidFill>
                            <a:srgbClr val="1A1A1A"/>
                          </a:solidFill>
                          <a:latin typeface="Open Sans"/>
                        </a:rPr>
                        <a:t>мес</a:t>
                      </a:r>
                      <a:r>
                        <a:rPr lang="ru-RU" sz="850" b="0" noProof="0" dirty="0">
                          <a:solidFill>
                            <a:srgbClr val="1A1A1A"/>
                          </a:solidFill>
                          <a:latin typeface="Open Sans"/>
                        </a:rPr>
                        <a:t>), партнёры-интеграторы 1С, референс-визиты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76" name="TextBox 375"/>
          <p:cNvSpPr txBox="1"/>
          <p:nvPr/>
        </p:nvSpPr>
        <p:spPr>
          <a:xfrm>
            <a:off x="274320" y="4828032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750" b="0">
                <a:solidFill>
                  <a:srgbClr val="6E6E6E"/>
                </a:solidFill>
                <a:latin typeface="Open Sans"/>
              </a:rPr>
              <a:t>Целевые показатели — сценарий B: MQL→SQL 20%, SQL→демо 50%, демо→сделка 45% (сквозная 4,5% вместо текущих 2,7%).</a:t>
            </a:r>
          </a:p>
        </p:txBody>
      </p:sp>
      <p:sp>
        <p:nvSpPr>
          <p:cNvPr id="4" name="Google Shape;300;p38">
            <a:extLst>
              <a:ext uri="{FF2B5EF4-FFF2-40B4-BE49-F238E27FC236}">
                <a16:creationId xmlns:a16="http://schemas.microsoft.com/office/drawing/2014/main" id="{BE30AA9F-C56F-D34C-2B9A-1590F47F890F}"/>
              </a:ext>
            </a:extLst>
          </p:cNvPr>
          <p:cNvSpPr txBox="1">
            <a:spLocks/>
          </p:cNvSpPr>
          <p:nvPr/>
        </p:nvSpPr>
        <p:spPr>
          <a:xfrm>
            <a:off x="269875" y="766775"/>
            <a:ext cx="6679565" cy="6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3000" b="1" dirty="0"/>
              <a:t>4. Воронка</a:t>
            </a:r>
            <a:endParaRPr lang="ru-RU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6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name="adj" fmla="val 50000"/>
            </a:avLst>
          </a:prstGeom>
          <a:solidFill>
            <a:srgbClr val="FF92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</a:rPr>
              <a:t>маркетинговые стратегии</a:t>
            </a:r>
            <a:endParaRPr lang="ru-RU"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46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</a:rPr>
              <a:t>анализ</a:t>
            </a:r>
            <a:endParaRPr lang="ru-RU"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3" name="Google Shape;383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84" name="Table 3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235767"/>
              </p:ext>
            </p:extLst>
          </p:nvPr>
        </p:nvGraphicFramePr>
        <p:xfrm>
          <a:off x="274320" y="1481328"/>
          <a:ext cx="8595360" cy="31455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ru-RU" sz="900" b="1" noProof="0">
                          <a:solidFill>
                            <a:srgbClr val="FFFFFF"/>
                          </a:solidFill>
                          <a:latin typeface="Inter"/>
                        </a:rPr>
                        <a:t>Канал</a:t>
                      </a:r>
                    </a:p>
                  </a:txBody>
                  <a:tcPr marL="54864" marR="54864" marT="18288" marB="1828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900" b="1" noProof="0">
                          <a:solidFill>
                            <a:srgbClr val="FFFFFF"/>
                          </a:solidFill>
                          <a:latin typeface="Inter"/>
                        </a:rPr>
                        <a:t>Этап воронки</a:t>
                      </a:r>
                    </a:p>
                  </a:txBody>
                  <a:tcPr marL="54864" marR="54864" marT="18288" marB="1828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900" b="1" noProof="0">
                          <a:solidFill>
                            <a:srgbClr val="FFFFFF"/>
                          </a:solidFill>
                          <a:latin typeface="Inter"/>
                        </a:rPr>
                        <a:t>Роль и обоснование (данные кейса)</a:t>
                      </a:r>
                    </a:p>
                  </a:txBody>
                  <a:tcPr marL="54864" marR="54864" marT="18288" marB="1828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900" b="1" noProof="0">
                          <a:solidFill>
                            <a:srgbClr val="FFFFFF"/>
                          </a:solidFill>
                          <a:latin typeface="Inter"/>
                        </a:rPr>
                        <a:t>Бюджет*</a:t>
                      </a:r>
                    </a:p>
                  </a:txBody>
                  <a:tcPr marL="54864" marR="54864" marT="18288" marB="18288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Контент и SEO (Habr, vc.ru)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Demand gen → MQL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основной источник дешёвых качественных MQL; прогревает отложенный спрос (лаг 2–3 кв.)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~25%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Вебинары / демо-дни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Lead gen → SQL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много MQL; «неготовность» решаем скорингом и нуртурингом, а не отказом от канала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~15%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Яндекс.Директ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Lead gen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сбор горячего спроса (CPC 200–500 руб., CV 3–5%); запросов мало — не масштабируется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~10%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Отраслевые конференции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Demand gen → SQL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дорого, но дают ЛПР и крупные сделки (2 в пайплайне); точечное участие + выступления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~15%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ABM-программа (30–50 аккаунтов)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SQL → сделка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крупные аккаунты с ACV 2,5–3 млн руб. (~10 сделок из 120); персональная работа с ЛПР и собственником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~20%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Партнёры-интеграторы 1С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Демо → сделка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доверие и скорость внедрения; интеграция с 1С — ключевой критерий ИТ-директора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~10%</a:t>
                      </a:r>
                    </a:p>
                  </a:txBody>
                  <a:tcPr marL="54864" marR="54864" marT="18288" marB="18288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Email-нуртуринг / CRM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MQL → SQL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>
                          <a:solidFill>
                            <a:srgbClr val="1A1A1A"/>
                          </a:solidFill>
                          <a:latin typeface="Open Sans"/>
                        </a:rPr>
                        <a:t>доведение отложенного спроса до готовности к Q4-планированию бюджетов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50" b="0" noProof="0" dirty="0">
                          <a:solidFill>
                            <a:srgbClr val="1A1A1A"/>
                          </a:solidFill>
                          <a:latin typeface="Open Sans"/>
                        </a:rPr>
                        <a:t>~5%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85" name="TextBox 384"/>
          <p:cNvSpPr txBox="1"/>
          <p:nvPr/>
        </p:nvSpPr>
        <p:spPr>
          <a:xfrm>
            <a:off x="274320" y="4828032"/>
            <a:ext cx="77724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lang="ru-RU" sz="750" b="0">
                <a:solidFill>
                  <a:srgbClr val="6E6E6E"/>
                </a:solidFill>
                <a:latin typeface="Open Sans"/>
              </a:rPr>
              <a:t>* Доли маркетингового бюджета сценария B (~14,2 млн руб./год). Каждый канал закреплён за своим этапом и оценивается по своей метрике.</a:t>
            </a:r>
          </a:p>
        </p:txBody>
      </p:sp>
      <p:sp>
        <p:nvSpPr>
          <p:cNvPr id="4" name="Google Shape;300;p38">
            <a:extLst>
              <a:ext uri="{FF2B5EF4-FFF2-40B4-BE49-F238E27FC236}">
                <a16:creationId xmlns:a16="http://schemas.microsoft.com/office/drawing/2014/main" id="{43412C53-753B-3D3F-9186-AEFAB9747040}"/>
              </a:ext>
            </a:extLst>
          </p:cNvPr>
          <p:cNvSpPr txBox="1">
            <a:spLocks/>
          </p:cNvSpPr>
          <p:nvPr/>
        </p:nvSpPr>
        <p:spPr>
          <a:xfrm>
            <a:off x="269875" y="766775"/>
            <a:ext cx="6679565" cy="6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3000" b="1" dirty="0"/>
              <a:t>5. Каналы</a:t>
            </a:r>
            <a:endParaRPr lang="ru-RU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2792</Words>
  <Application>Microsoft Macintosh PowerPoint</Application>
  <PresentationFormat>On-screen Show (16:9)</PresentationFormat>
  <Paragraphs>354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Inter</vt:lpstr>
      <vt:lpstr>Open Sans</vt:lpstr>
      <vt:lpstr>Arial</vt:lpstr>
      <vt:lpstr>Simple Light</vt:lpstr>
      <vt:lpstr>Проектная работа  «Стратегия продвижения»</vt:lpstr>
      <vt:lpstr>Задачи анализа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 Стратегия</vt:lpstr>
      <vt:lpstr>2. Стратегия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Проектная работа  «Стратегия продвижения»</dc:title>
  <cp:lastModifiedBy>Софья Зименкова</cp:lastModifiedBy>
  <cp:revision>1</cp:revision>
  <dcterms:modified xsi:type="dcterms:W3CDTF">2026-10-05T05:50:23Z</dcterms:modified>
</cp:coreProperties>
</file>