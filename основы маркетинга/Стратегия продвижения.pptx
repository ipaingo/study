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</p:sldIdLst>
  <p:sldSz cy="5143500" cx="9144000"/>
  <p:notesSz cx="6858000" cy="9144000"/>
  <p:embeddedFontLst>
    <p:embeddedFont>
      <p:font typeface="Inter"/>
      <p:regular r:id="rId39"/>
      <p:bold r:id="rId40"/>
      <p:italic r:id="rId41"/>
      <p:boldItalic r:id="rId42"/>
    </p:embeddedFont>
    <p:embeddedFont>
      <p:font typeface="Open Sans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font" Target="fonts/Inter-regular.fntdata"/><Relationship Id="rId40" Type="http://schemas.openxmlformats.org/officeDocument/2006/relationships/font" Target="fonts/Inter-bold.fntdata"/><Relationship Id="rId41" Type="http://schemas.openxmlformats.org/officeDocument/2006/relationships/font" Target="fonts/Inter-italic.fntdata"/><Relationship Id="rId42" Type="http://schemas.openxmlformats.org/officeDocument/2006/relationships/font" Target="fonts/Inter-boldItalic.fntdata"/><Relationship Id="rId43" Type="http://schemas.openxmlformats.org/officeDocument/2006/relationships/font" Target="fonts/OpenSans-regular.fntdata"/><Relationship Id="rId44" Type="http://schemas.openxmlformats.org/officeDocument/2006/relationships/font" Target="fonts/OpenSans-bold.fntdata"/><Relationship Id="rId45" Type="http://schemas.openxmlformats.org/officeDocument/2006/relationships/font" Target="fonts/OpenSans-italic.fntdata"/><Relationship Id="rId46" Type="http://schemas.openxmlformats.org/officeDocument/2006/relationships/font" Target="fonts/Open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9df2300631_0_4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29df2300631_0_4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f75eb00e9f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9" name="Google Shape;209;g3f75eb00e9f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f75eb00e9f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8" name="Google Shape;218;g3f75eb00e9f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f75eb00e9f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g3f75eb00e9f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f75eb00e9f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8" name="Google Shape;238;g3f75eb00e9f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f75eb00e9f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8" name="Google Shape;248;g3f75eb00e9f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f8b602d07c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8" name="Google Shape;258;g3f8b602d07c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f8b602d07c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g3f8b602d07c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f8b602d07c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8" name="Google Shape;278;g3f8b602d07c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f8b602d07c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8" name="Google Shape;288;g3f8b602d07c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f8b602d07c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8" name="Google Shape;298;g3f8b602d07c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f75eb00e9f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f75eb00e9f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f75eb00e9f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8" name="Google Shape;318;g3f75eb00e9f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8b602d07c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8" name="Google Shape;328;g3f8b602d07c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f8b602d07c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8" name="Google Shape;338;g3f8b602d07c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f8b602d07c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g3f8b602d07c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f8b602d07c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8" name="Google Shape;358;g3f8b602d07c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f75eb00e9f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8" name="Google Shape;368;g3f75eb00e9f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f75eb00e9f_0_1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3f75eb00e9f_0_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" y="-5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>
            <p:ph type="title"/>
          </p:nvPr>
        </p:nvSpPr>
        <p:spPr>
          <a:xfrm>
            <a:off x="269875" y="766775"/>
            <a:ext cx="8604300" cy="18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3500">
                <a:latin typeface="Inter"/>
                <a:ea typeface="Inter"/>
                <a:cs typeface="Inter"/>
                <a:sym typeface="Inter"/>
              </a:rPr>
              <a:t>Проектная работа </a:t>
            </a:r>
            <a:endParaRPr b="1" sz="3500"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2000">
                <a:latin typeface="Inter"/>
                <a:ea typeface="Inter"/>
                <a:cs typeface="Inter"/>
                <a:sym typeface="Inter"/>
              </a:rPr>
              <a:t>«Стратегия продвижения»</a:t>
            </a:r>
            <a:endParaRPr sz="20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TextBox 57"/>
          <p:cNvSpPr txBox="1"/>
          <p:nvPr/>
        </p:nvSpPr>
        <p:spPr>
          <a:xfrm>
            <a:off x="274320" y="288036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6E6E6E"/>
                </a:solidFill>
                <a:latin typeface="Open Sans"/>
              </a:rPr>
              <a:t>Кейс: СКЛАДИО — облачная WMS для среднего бизнеса (B2B SaaS)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4320" y="4224528"/>
            <a:ext cx="8595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Алёна Лепилина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Open Sans"/>
              </a:rPr>
              <a:t>Магистратура «Управление IT-продуктом», 2 курс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211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9"/>
          <p:cNvSpPr txBox="1"/>
          <p:nvPr>
            <p:ph type="ctrTitle"/>
          </p:nvPr>
        </p:nvSpPr>
        <p:spPr>
          <a:xfrm>
            <a:off x="280950" y="766775"/>
            <a:ext cx="5611800" cy="5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3000"/>
              <a:t>Задачи для B2В</a:t>
            </a:r>
            <a:endParaRPr b="1" sz="3000"/>
          </a:p>
        </p:txBody>
      </p:sp>
      <p:sp>
        <p:nvSpPr>
          <p:cNvPr id="213" name="Google Shape;213;p29"/>
          <p:cNvSpPr/>
          <p:nvPr/>
        </p:nvSpPr>
        <p:spPr>
          <a:xfrm>
            <a:off x="343500" y="1351475"/>
            <a:ext cx="8438700" cy="3525900"/>
          </a:xfrm>
          <a:prstGeom prst="roundRect">
            <a:avLst>
              <a:gd fmla="val 5935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9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9"/>
          <p:cNvSpPr txBox="1"/>
          <p:nvPr/>
        </p:nvSpPr>
        <p:spPr>
          <a:xfrm>
            <a:off x="531306" y="1477924"/>
            <a:ext cx="8063100" cy="24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Провести анализ ситуации:</a:t>
            </a:r>
            <a:endParaRPr b="1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ru"/>
              <a:t>Выбери модель роста для +30% нового ARR. Посчитай: сколько нужно сделок, SQL и MQL, чтобы это дало результат (используй конверсии воронки).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ru"/>
              <a:t>Реши, что выгоднее: гнать больше лидов или растить конверсию MQL→SQL и работать точечно по крупным аккаунтам (ABM). Обоснуй экономикой. </a:t>
            </a:r>
            <a:r>
              <a:rPr lang="ru">
                <a:solidFill>
                  <a:srgbClr val="FF0000"/>
                </a:solidFill>
              </a:rPr>
              <a:t>Проверь самостоятельно и с помощью ИИ. Приложи промпт, модель и результат. Сделай выводы.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ru"/>
              <a:t>Посчитай CAC payback и LTV/CAC — здоровая ли экономика, куда её вести. </a:t>
            </a:r>
            <a:r>
              <a:rPr lang="ru">
                <a:solidFill>
                  <a:srgbClr val="FF0000"/>
                </a:solidFill>
              </a:rPr>
              <a:t>Проверь самостоятельно и с помощью ИИ. Приложи промпт, модель и результат. Сделай выводы.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ru"/>
              <a:t>Спроектируй воронку с учётом длинного цикла: demand gen → lead gen → MQL → SQL → демо → сделка.</a:t>
            </a:r>
            <a:endParaRPr/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ru"/>
              <a:t>Обоснуй, какой канал работает на какую стадию.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0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191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b="1" lang="ru" sz="3000"/>
              <a:t>Модель роста</a:t>
            </a:r>
            <a:endParaRPr b="1" sz="3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000"/>
          </a:p>
        </p:txBody>
      </p:sp>
      <p:sp>
        <p:nvSpPr>
          <p:cNvPr id="221" name="Google Shape;221;p30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30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3" name="Google Shape;22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Rounded Rectangle 224"/>
          <p:cNvSpPr/>
          <p:nvPr/>
        </p:nvSpPr>
        <p:spPr>
          <a:xfrm>
            <a:off x="274320" y="1417320"/>
            <a:ext cx="4160520" cy="32004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548640" y="1645920"/>
            <a:ext cx="36118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A1A1A"/>
                </a:solidFill>
                <a:latin typeface="Inter"/>
              </a:rPr>
              <a:t>Цель бизнеса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A1A1A"/>
                </a:solidFill>
                <a:latin typeface="Open Sans"/>
              </a:rPr>
              <a:t>+30% нового ARR за 12 месяцев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Open Sans"/>
              </a:rPr>
              <a:t>= +180 млн ₽  (ARR 600 млн ₽ × 30%)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1A1A1A"/>
                </a:solidFill>
                <a:latin typeface="Open Sans"/>
              </a:rPr>
              <a:t>= 120 новых сделок  (ACV 1,5 млн ₽/год)</a:t>
            </a:r>
          </a:p>
          <a:p>
            <a:pPr>
              <a:spcAft>
                <a:spcPts val="1000"/>
              </a:spcAft>
            </a:pPr>
            <a:r>
              <a:rPr sz="1050" b="0">
                <a:solidFill>
                  <a:srgbClr val="1A1A1A"/>
                </a:solidFill>
                <a:latin typeface="Open Sans"/>
              </a:rPr>
              <a:t>= 10 сделок в месяц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6E6E6E"/>
                </a:solidFill>
                <a:latin typeface="Open Sans"/>
              </a:rPr>
              <a:t>Цикл сделки 3,5 мес → решения по бюджету клиенты принимают в Q4, лаг «касание → контракт» 2–3 квартала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4709160" y="1417320"/>
            <a:ext cx="4160520" cy="32004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4983480" y="1645920"/>
            <a:ext cx="36118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1A1A1A"/>
                </a:solidFill>
                <a:latin typeface="Inter"/>
              </a:rPr>
              <a:t>Модель: воронка B2B-продаж</a:t>
            </a:r>
          </a:p>
          <a:p>
            <a:pPr>
              <a:spcAft>
                <a:spcPts val="8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Расчёт снизу вверх — от цели по сделкам к необходимому числу MQL: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1A1A1A"/>
                </a:solidFill>
                <a:latin typeface="Open Sans"/>
              </a:rPr>
              <a:t>сделки → демо → SQL → MQL → лиды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Сквозная конверсия MQL → сделка: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A1A1A"/>
                </a:solidFill>
                <a:latin typeface="Inter"/>
              </a:rPr>
              <a:t>15% × 45% × 40% = 2,7%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6E6E6E"/>
                </a:solidFill>
                <a:latin typeface="Open Sans"/>
              </a:rPr>
              <a:t>MQL→SQL 15% · SQL→демо 45% · демо→сделка 40%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274320" y="482803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750" b="0">
                <a:solidFill>
                  <a:srgbClr val="6E6E6E"/>
                </a:solidFill>
                <a:latin typeface="Open Sans"/>
              </a:rPr>
              <a:t>Источник: данные кейса СКЛАДИО. Конверсия лид → MQL = 30% — допущение по бенчмаркам B2B SaaS.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1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191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b="1" lang="ru" sz="3000"/>
              <a:t>Модель роста</a:t>
            </a:r>
            <a:endParaRPr b="1" sz="3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000"/>
          </a:p>
        </p:txBody>
      </p:sp>
      <p:sp>
        <p:nvSpPr>
          <p:cNvPr id="231" name="Google Shape;231;p31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31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3" name="Google Shape;23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TextBox 234"/>
          <p:cNvSpPr txBox="1"/>
          <p:nvPr/>
        </p:nvSpPr>
        <p:spPr>
          <a:xfrm>
            <a:off x="274320" y="141732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A1A1A"/>
                </a:solidFill>
                <a:latin typeface="Inter"/>
              </a:rPr>
              <a:t>Сколько нужно лидов, MQL и SQL для цели +30% нового ARR — при текущих конверсиях воронки</a:t>
            </a:r>
          </a:p>
        </p:txBody>
      </p:sp>
      <p:graphicFrame>
        <p:nvGraphicFramePr>
          <p:cNvPr id="236" name="Table 235"/>
          <p:cNvGraphicFramePr>
            <a:graphicFrameLocks noGrp="1"/>
          </p:cNvGraphicFramePr>
          <p:nvPr/>
        </p:nvGraphicFramePr>
        <p:xfrm>
          <a:off x="274320" y="1783080"/>
          <a:ext cx="8595360" cy="2670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834640"/>
                <a:gridCol w="1737360"/>
                <a:gridCol w="17373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Этап воронки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Конверсия в следующий этап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Объём в год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nter"/>
                        </a:rPr>
                        <a:t>Объём в месяц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Лиды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30% → MQL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≈14 800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≈1 235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MQL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15% → SQL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4 444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370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SQL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45% → демо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667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56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Демо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40% → сделка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300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25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Сделки (won)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2,7% от MQL (сквозная)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120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10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Новый ARR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ACV 1,5 млн ₽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+180 млн ₽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Open Sans"/>
                        </a:rPr>
                        <a:t>+15 млн ₽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237" name="TextBox 236"/>
          <p:cNvSpPr txBox="1"/>
          <p:nvPr/>
        </p:nvSpPr>
        <p:spPr>
          <a:xfrm>
            <a:off x="274320" y="482803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750" b="0">
                <a:solidFill>
                  <a:srgbClr val="6E6E6E"/>
                </a:solidFill>
                <a:latin typeface="Open Sans"/>
              </a:rPr>
              <a:t>Расчёт снизу вверх: 120 сделок / 0,40 = 300 демо; / 0,45 = 667 SQL; / 0,15 = 4 444 MQL; / 0,30 ≈ 14 800 лидов.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2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191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b="1" lang="ru" sz="3000"/>
              <a:t>Модель роста</a:t>
            </a:r>
            <a:endParaRPr b="1" sz="3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000"/>
          </a:p>
        </p:txBody>
      </p:sp>
      <p:sp>
        <p:nvSpPr>
          <p:cNvPr id="241" name="Google Shape;241;p32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32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3" name="Google Shape;243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TextBox 244"/>
          <p:cNvSpPr txBox="1"/>
          <p:nvPr/>
        </p:nvSpPr>
        <p:spPr>
          <a:xfrm>
            <a:off x="274320" y="141732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A1A1A"/>
                </a:solidFill>
                <a:latin typeface="Inter"/>
              </a:rPr>
              <a:t>Показатели, необходимые для достижения цели (в месяц)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274320" y="178308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457200" y="1920240"/>
            <a:ext cx="1645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1A1A1A"/>
                </a:solidFill>
                <a:latin typeface="Inter"/>
              </a:rPr>
              <a:t>370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457200" y="2395728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6E6E6E"/>
                </a:solidFill>
                <a:latin typeface="Open Sans"/>
              </a:rPr>
              <a:t>MQL / мес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2468879" y="178308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2651760" y="1920240"/>
            <a:ext cx="1645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1A1A1A"/>
                </a:solidFill>
                <a:latin typeface="Inter"/>
              </a:rPr>
              <a:t>56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2651760" y="2395728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6E6E6E"/>
                </a:solidFill>
                <a:latin typeface="Open Sans"/>
              </a:rPr>
              <a:t>SQL / мес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4663440" y="178308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4846320" y="1920240"/>
            <a:ext cx="1645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1A1A1A"/>
                </a:solidFill>
                <a:latin typeface="Inter"/>
              </a:rPr>
              <a:t>25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846320" y="2395728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6E6E6E"/>
                </a:solidFill>
                <a:latin typeface="Open Sans"/>
              </a:rPr>
              <a:t>демо / мес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6858000" y="178308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040880" y="1920240"/>
            <a:ext cx="1645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2200" b="1">
                <a:solidFill>
                  <a:srgbClr val="1A1A1A"/>
                </a:solidFill>
                <a:latin typeface="Inter"/>
              </a:rPr>
              <a:t>10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040880" y="2395728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950" b="0">
                <a:solidFill>
                  <a:srgbClr val="6E6E6E"/>
                </a:solidFill>
                <a:latin typeface="Open Sans"/>
              </a:rPr>
              <a:t>сделок / мес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274320" y="3154680"/>
            <a:ext cx="85953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Inter"/>
              </a:rPr>
              <a:t>Узкое место — переход MQL → SQL (15%)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Вебинары дают много MQL, но они «не готовы покупать сейчас» — спрос отложенный, созревает 2–3 квартала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Горячих поисковых запросов мало → рост только за счёт объёма упирается в потолок спроса и дорожающий трафик (CPL в Директе 4–17 тыс ₽)</a:t>
            </a:r>
          </a:p>
          <a:p>
            <a:pPr>
              <a:spcAft>
                <a:spcPts val="8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Чтобы набрать 4 444 MQL/год платными каналами, бюджет вырастет непропорционально — дешёвый спрос уже выкуплен</a:t>
            </a:r>
          </a:p>
          <a:p>
            <a:pPr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Open Sans"/>
              </a:rPr>
              <a:t>Вывод: сравниваем два сценария — «больше лидов» vs «рост конверсии MQL→SQL + ABM» → раздел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3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000"/>
              <a:t>2. Стратегия</a:t>
            </a:r>
            <a:endParaRPr sz="2000"/>
          </a:p>
        </p:txBody>
      </p:sp>
      <p:sp>
        <p:nvSpPr>
          <p:cNvPr id="251" name="Google Shape;251;p33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3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3" name="Google Shape;253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TextBox 254"/>
          <p:cNvSpPr txBox="1"/>
          <p:nvPr/>
        </p:nvSpPr>
        <p:spPr>
          <a:xfrm>
            <a:off x="274320" y="141732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A1A1A"/>
                </a:solidFill>
                <a:latin typeface="Inter"/>
              </a:rPr>
              <a:t>Два сценария достижения +30% нового ARR — экономическое сравнение</a:t>
            </a:r>
          </a:p>
        </p:txBody>
      </p:sp>
      <p:graphicFrame>
        <p:nvGraphicFramePr>
          <p:cNvPr id="256" name="Table 255"/>
          <p:cNvGraphicFramePr>
            <a:graphicFrameLocks noGrp="1"/>
          </p:cNvGraphicFramePr>
          <p:nvPr/>
        </p:nvGraphicFramePr>
        <p:xfrm>
          <a:off x="274320" y="1691640"/>
          <a:ext cx="8595360" cy="2999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2788920"/>
                <a:gridCol w="278892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Inter"/>
                        </a:rPr>
                        <a:t>А. Больше лидов (текущие конверсии)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Inter"/>
                        </a:rPr>
                        <a:t>B. Рост конверсии MQL→SQL + ABM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</a:tr>
              <a:tr h="33375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Конверсии MQL→SQL / SQL→демо / демо→сделка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15% / 45% / 40%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Open Sans"/>
                        </a:rPr>
                        <a:t>20% / 50% / 45%</a:t>
                      </a:r>
                    </a:p>
                  </a:txBody>
                  <a:tcPr anchor="ctr" marL="54864" marR="54864" marT="18288" marB="18288">
                    <a:solidFill>
                      <a:srgbClr val="E8E8E8"/>
                    </a:solidFill>
                  </a:tcPr>
                </a:tc>
              </a:tr>
              <a:tr h="33375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Сквозная конверсия MQL → сделка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2,7%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Open Sans"/>
                        </a:rPr>
                        <a:t>4,5%</a:t>
                      </a:r>
                    </a:p>
                  </a:txBody>
                  <a:tcPr anchor="ctr" marL="54864" marR="54864" marT="18288" marB="18288">
                    <a:solidFill>
                      <a:srgbClr val="E8E8E8"/>
                    </a:solidFill>
                  </a:tcPr>
                </a:tc>
              </a:tr>
              <a:tr h="33375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Нужно MQL в год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4 444 (дорогой трафик, ≈6 500 ₽/MQL)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Open Sans"/>
                        </a:rPr>
                        <a:t>2 667 (контент/вебинары, ≈4 000 ₽/MQL)</a:t>
                      </a:r>
                    </a:p>
                  </a:txBody>
                  <a:tcPr anchor="ctr" marL="54864" marR="54864" marT="18288" marB="18288">
                    <a:solidFill>
                      <a:srgbClr val="E8E8E8"/>
                    </a:solidFill>
                  </a:tcPr>
                </a:tc>
              </a:tr>
              <a:tr h="33375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Нужно SQL / демо в год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667 / 300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Open Sans"/>
                        </a:rPr>
                        <a:t>533 / 267</a:t>
                      </a:r>
                    </a:p>
                  </a:txBody>
                  <a:tcPr anchor="ctr" marL="54864" marR="54864" marT="18288" marB="18288">
                    <a:solidFill>
                      <a:srgbClr val="E8E8E8"/>
                    </a:solidFill>
                  </a:tcPr>
                </a:tc>
              </a:tr>
              <a:tr h="33375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Затраты на +180 млн ₽ ARR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≈46,9 млн ₽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Open Sans"/>
                        </a:rPr>
                        <a:t>≈32,2 млн ₽ (−31%)</a:t>
                      </a:r>
                    </a:p>
                  </a:txBody>
                  <a:tcPr anchor="ctr" marL="54864" marR="54864" marT="18288" marB="18288">
                    <a:solidFill>
                      <a:srgbClr val="E8E8E8"/>
                    </a:solidFill>
                  </a:tcPr>
                </a:tc>
              </a:tr>
              <a:tr h="33375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CAC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≈391 тыс ₽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Open Sans"/>
                        </a:rPr>
                        <a:t>≈268 тыс ₽</a:t>
                      </a:r>
                    </a:p>
                  </a:txBody>
                  <a:tcPr anchor="ctr" marL="54864" marR="54864" marT="18288" marB="18288">
                    <a:solidFill>
                      <a:srgbClr val="E8E8E8"/>
                    </a:solidFill>
                  </a:tcPr>
                </a:tc>
              </a:tr>
              <a:tr h="33375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CAC payback (лимит ≤ 12 мес)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4,2 мес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Open Sans"/>
                        </a:rPr>
                        <a:t>2,9 мес</a:t>
                      </a:r>
                    </a:p>
                  </a:txBody>
                  <a:tcPr anchor="ctr" marL="54864" marR="54864" marT="18288" marB="18288">
                    <a:solidFill>
                      <a:srgbClr val="E8E8E8"/>
                    </a:solidFill>
                  </a:tcPr>
                </a:tc>
              </a:tr>
              <a:tr h="33375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Главный риск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горячего спроса нет в нужном объёме, CPL растёт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Open Sans"/>
                        </a:rPr>
                        <a:t>нужна дисциплина квалификации, эффект через 2–3 кв.</a:t>
                      </a:r>
                    </a:p>
                  </a:txBody>
                  <a:tcPr anchor="ctr" marL="54864" marR="54864" marT="18288" marB="18288"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257" name="TextBox 256"/>
          <p:cNvSpPr txBox="1"/>
          <p:nvPr/>
        </p:nvSpPr>
        <p:spPr>
          <a:xfrm>
            <a:off x="274320" y="482803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750" b="0">
                <a:solidFill>
                  <a:srgbClr val="6E6E6E"/>
                </a:solidFill>
                <a:latin typeface="Open Sans"/>
              </a:rPr>
              <a:t>Выбран сценарий B: та же цель по ARR с экономией 14,7 млн ₽ (−31%); стоимость MQL и продаж на сделку (150 тыс ₽) — допущения. ABM: 30–50 аккаунтов, ~10 сделок с ACV 2,5–3 млн ₽.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4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000"/>
              <a:t>2. Стратегия</a:t>
            </a:r>
            <a:endParaRPr sz="2000"/>
          </a:p>
        </p:txBody>
      </p:sp>
      <p:sp>
        <p:nvSpPr>
          <p:cNvPr id="261" name="Google Shape;261;p34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34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3" name="Google Shape;263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TextBox 264"/>
          <p:cNvSpPr txBox="1"/>
          <p:nvPr/>
        </p:nvSpPr>
        <p:spPr>
          <a:xfrm>
            <a:off x="274320" y="141732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Промпт — тип: структурированный «роль → контекст → данные → задача → формат»</a:t>
            </a:r>
          </a:p>
        </p:txBody>
      </p:sp>
      <p:sp>
        <p:nvSpPr>
          <p:cNvPr id="266" name="Rounded Rectangle 265"/>
          <p:cNvSpPr/>
          <p:nvPr/>
        </p:nvSpPr>
        <p:spPr>
          <a:xfrm>
            <a:off x="274320" y="1783080"/>
            <a:ext cx="859536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502920" y="1938528"/>
            <a:ext cx="81381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850" b="0">
                <a:solidFill>
                  <a:srgbClr val="1A1A1A"/>
                </a:solidFill>
                <a:latin typeface="Open Sans"/>
              </a:rPr>
              <a:t>Ты — B2B-маркетолог SaaS-компании с 10-летним опытом growth-стратегий.</a:t>
            </a:r>
          </a:p>
          <a:p>
            <a:pPr>
              <a:spcAft>
                <a:spcPts val="500"/>
              </a:spcAft>
            </a:pPr>
            <a:r>
              <a:rPr sz="850" b="0">
                <a:solidFill>
                  <a:srgbClr val="1A1A1A"/>
                </a:solidFill>
                <a:latin typeface="Open Sans"/>
              </a:rPr>
              <a:t>Контекст: облачная WMS для среднего бизнеса, подписка. ARR 600 млн ₽, ~400 клиентов, ACV 1,5 млн ₽/год, цикл сделки 3,5 мес. Цель: +30% нового ARR за 12 мес (120 новых сделок). Конверсии: MQL→SQL 15%, SQL→демо 45%, демо→сделка 40%. Спрос: горячих запросов мало, лаг «касание → контракт» 2–3 квартала, бюджеты клиентов планируются на Q4. Каналы: Яндекс.Директ (CPC 200–500 ₽, конверсия 3–5%), вебинары (много MQL, но «не готовы покупать сейчас»), холодный аутрич (низкая конверсия, дорого), контент/SEO на Habr и vc.ru (дёшево, качественные MQL), конференции (дорого, но 2 крупные сделки в пайплайне).</a:t>
            </a:r>
          </a:p>
          <a:p>
            <a:pPr>
              <a:spcAft>
                <a:spcPts val="500"/>
              </a:spcAft>
            </a:pPr>
            <a:r>
              <a:rPr sz="850" b="0">
                <a:solidFill>
                  <a:srgbClr val="1A1A1A"/>
                </a:solidFill>
                <a:latin typeface="Open Sans"/>
              </a:rPr>
              <a:t>Сравни два сценария достижения цели: (А) масштабирование текущей воронки за счёт роста числа лидов; (B) повышение конверсии MQL→SQL до 20% за счёт лид-скоринга и нуртуринга + ABM на 30–50 крупных аккаунтов.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1A1A1A"/>
                </a:solidFill>
                <a:latin typeface="Open Sans"/>
              </a:rPr>
              <a:t>Формат ответа: 1) расчёт объёмов MQL/SQL/демо для каждого сценария; 2) сравнение затрат и CAC; 3) риски каждого сценария; 4) рекомендация с обоснованием.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5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000"/>
              <a:t>2. Стратегия</a:t>
            </a:r>
            <a:endParaRPr sz="2000"/>
          </a:p>
        </p:txBody>
      </p:sp>
      <p:sp>
        <p:nvSpPr>
          <p:cNvPr id="271" name="Google Shape;271;p35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35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3" name="Google Shape;273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TextBox 274"/>
          <p:cNvSpPr txBox="1"/>
          <p:nvPr/>
        </p:nvSpPr>
        <p:spPr>
          <a:xfrm>
            <a:off x="274320" y="141732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A1A1A"/>
                </a:solidFill>
                <a:latin typeface="Inter"/>
              </a:rPr>
              <a:t>Вывод нейросети — Kimi (Moonshot AI), модель Kimi K2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74320" y="1737360"/>
            <a:ext cx="85953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Что посчитала нейросеть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Сценарий А: 4 444 MQL, 667 SQL, 300 демо для 120 сделок — цифры совпали с собственным расчётом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Сценарий B (20%/50%/45%): 2 667 MQL, 533 SQL, 267 демо — совпало</a:t>
            </a:r>
          </a:p>
          <a:p>
            <a:pPr>
              <a:spcAft>
                <a:spcPts val="12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Подтвердила ключевое допущение: при масштабировании стоимость MQL вырастет в 1,5–2 раза — горячий спрос ограничен, придётся покупать более холодный трафик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Рекомендация нейросети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Сценарий B как основной — дешевле и устойчивее к структуре спроса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Дополнила метриками контроля: доля MQL, прошедших скоринг; SLA реакции SDR на горячий MQL ≤ 1 часа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Предложила параллельно тестировать Яндекс.Директ на широкую семантику («автоматизация склада»)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6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000"/>
              <a:t>2. Стратегия</a:t>
            </a:r>
            <a:endParaRPr sz="2000"/>
          </a:p>
        </p:txBody>
      </p:sp>
      <p:sp>
        <p:nvSpPr>
          <p:cNvPr id="281" name="Google Shape;281;p36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36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3" name="Google Shape;283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TextBox 284"/>
          <p:cNvSpPr txBox="1"/>
          <p:nvPr/>
        </p:nvSpPr>
        <p:spPr>
          <a:xfrm>
            <a:off x="274320" y="141732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A1A1A"/>
                </a:solidFill>
                <a:latin typeface="Inter"/>
              </a:rPr>
              <a:t>Вывод нейросети (продолжение) — что принято, что отклонено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274320" y="1737360"/>
            <a:ext cx="85953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Принято в стратегию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Выбор сценария B — рекомендация совпала с собственным выводом</a:t>
            </a:r>
          </a:p>
          <a:p>
            <a:pPr>
              <a:spcAft>
                <a:spcPts val="12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Контрольные метрики: доля скоринга MQL и SLA реакции SDR ≤ 1 часа — добавлены в план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Расхождение 1: масштабирование Директа на широкую семантику — отклонено</a:t>
            </a:r>
          </a:p>
          <a:p>
            <a:pPr>
              <a:spcAft>
                <a:spcPts val="12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По кейсу горячего спроса мало; широкая семантика даст CPL холодных каналов при конверсии ниже контентных. Оставлено как малый тест в рамках доли Директа ~10% бюджета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Расхождение 2: бюджет ABM — скорректирован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Нейросеть оценила программу в 5–7 млн ₽; в расчёт взято 3,5 млн ₽: программа ограничена 30–50 аккаунтами, часть работы выполняют действующие сейлзы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37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000"/>
              <a:t>2. Стратегия</a:t>
            </a:r>
            <a:endParaRPr sz="2000"/>
          </a:p>
        </p:txBody>
      </p:sp>
      <p:sp>
        <p:nvSpPr>
          <p:cNvPr id="291" name="Google Shape;291;p37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37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3" name="Google Shape;293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TextBox 294"/>
          <p:cNvSpPr txBox="1"/>
          <p:nvPr/>
        </p:nvSpPr>
        <p:spPr>
          <a:xfrm>
            <a:off x="274320" y="141732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A1A1A"/>
                </a:solidFill>
                <a:latin typeface="Inter"/>
              </a:rPr>
              <a:t>Вывод нейросети — итоговая оценка сценариев (Kimi K2)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274320" y="1737360"/>
            <a:ext cx="85953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Оценка рисков от нейросети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Сценарий А: упирается в физический потолок горячего спроса; CPL растёт по мере расширения семантики; часть оплаченных лидов «созреет» за пределами планового года (лаг 2–3 квартала)</a:t>
            </a:r>
          </a:p>
          <a:p>
            <a:pPr>
              <a:spcAft>
                <a:spcPts val="12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Сценарий B: требует дисциплины квалификации и отложенного эффекта — первые сделки по новой схеме через 2–3 квартала; риск срыва годового плана при позднем старте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Итоговая рекомендация нейросети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Сценарий B как основной + немедленный старт нуртуринга имеющейся базы MQL, чтобы прогретые лиды попали в Q4-планирование бюджетов клиентов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Это совпадает со структурой спроса из кейса: бюджеты клиентов планируются на Q4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8"/>
          <p:cNvSpPr txBox="1"/>
          <p:nvPr>
            <p:ph type="title"/>
          </p:nvPr>
        </p:nvSpPr>
        <p:spPr>
          <a:xfrm>
            <a:off x="269875" y="766775"/>
            <a:ext cx="8604300" cy="67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000"/>
              <a:t>2. Стратегия</a:t>
            </a:r>
            <a:endParaRPr sz="2000"/>
          </a:p>
        </p:txBody>
      </p:sp>
      <p:sp>
        <p:nvSpPr>
          <p:cNvPr id="301" name="Google Shape;301;p38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8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3" name="Google Shape;30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TextBox 304"/>
          <p:cNvSpPr txBox="1"/>
          <p:nvPr/>
        </p:nvSpPr>
        <p:spPr>
          <a:xfrm>
            <a:off x="274320" y="141732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A1A1A"/>
                </a:solidFill>
                <a:latin typeface="Inter"/>
              </a:rPr>
              <a:t>Вывод — сравнение нейросети и собственной стратегии</a:t>
            </a:r>
          </a:p>
        </p:txBody>
      </p:sp>
      <p:graphicFrame>
        <p:nvGraphicFramePr>
          <p:cNvPr id="306" name="Table 305"/>
          <p:cNvGraphicFramePr>
            <a:graphicFrameLocks noGrp="1"/>
          </p:cNvGraphicFramePr>
          <p:nvPr/>
        </p:nvGraphicFramePr>
        <p:xfrm>
          <a:off x="274320" y="1737360"/>
          <a:ext cx="859536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377440"/>
                <a:gridCol w="2194560"/>
                <a:gridCol w="210312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Вопрос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Собственная стратегия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Нейросеть (Kimi K2)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Итог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Выбор сценария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B: конверсия + ABM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B: конверсия + ABM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совпало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Объёмы воронки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2 667 MQL, 533 SQL, 267 демо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те же цифры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совпало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Контрольные метрики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не заданы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доля скоринга, SLA SDR ≤ 1 ч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принято от ИИ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Широкий Директ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не масштабировать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тестировать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отклонено: только малый тест (~10%)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Бюджет ABM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3,5 млн ₽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5–7 млн ₽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своя оценка (sanity-check по ARR)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7" name="TextBox 306"/>
          <p:cNvSpPr txBox="1"/>
          <p:nvPr/>
        </p:nvSpPr>
        <p:spPr>
          <a:xfrm>
            <a:off x="274320" y="4160520"/>
            <a:ext cx="7589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Open Sans"/>
              </a:rPr>
              <a:t>Итог: ИИ подтвердил арифметику и выбор сценария, добавил метрики контроля; предложения вразрез с кейсом отклонены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9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000"/>
              <a:t>2. Стратегия</a:t>
            </a:r>
            <a:endParaRPr sz="2000"/>
          </a:p>
        </p:txBody>
      </p:sp>
      <p:sp>
        <p:nvSpPr>
          <p:cNvPr id="311" name="Google Shape;311;p39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39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3" name="Google Shape;313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TextBox 314"/>
          <p:cNvSpPr txBox="1"/>
          <p:nvPr/>
        </p:nvSpPr>
        <p:spPr>
          <a:xfrm>
            <a:off x="274320" y="141732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A1A1A"/>
                </a:solidFill>
                <a:latin typeface="Inter"/>
              </a:rPr>
              <a:t>Точки роста: гипотезы повышения конверсии (сценарий B)</a:t>
            </a:r>
          </a:p>
        </p:txBody>
      </p:sp>
      <p:graphicFrame>
        <p:nvGraphicFramePr>
          <p:cNvPr id="316" name="Table 315"/>
          <p:cNvGraphicFramePr>
            <a:graphicFrameLocks noGrp="1"/>
          </p:cNvGraphicFramePr>
          <p:nvPr/>
        </p:nvGraphicFramePr>
        <p:xfrm>
          <a:off x="274320" y="1737360"/>
          <a:ext cx="8595360" cy="26151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777240"/>
                <a:gridCol w="777240"/>
                <a:gridCol w="530352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Переход воронки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Сейчас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Цель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За счёт чего (гипотезы)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MQL → SQL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15%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20%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лид-скоринг (размер склада, отрасль, текущая учётная система), квалификация SDR, нуртуринг «неготовых» MQL к Q4-планированию бюджетов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SQL → демо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45%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50%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сегментированные демо под роль: склад — скорость и порядок; ИТ — запуск и интеграция с 1С; финдир — ROI-калькулятор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Демо → сделка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40%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45%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пилотные проекты, бизнес-кейс для финдира, работа с собственником как скрытой ролью сделки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MQL → сделка (сквозная)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2,7%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4,5%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рост в 1,7 раза → нужно на 40% меньше MQL для той же цели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317" name="TextBox 316"/>
          <p:cNvSpPr txBox="1"/>
          <p:nvPr/>
        </p:nvSpPr>
        <p:spPr>
          <a:xfrm>
            <a:off x="274320" y="482803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750" b="0">
                <a:solidFill>
                  <a:srgbClr val="6E6E6E"/>
                </a:solidFill>
                <a:latin typeface="Open Sans"/>
              </a:rPr>
              <a:t>Гипотезы основаны на данных кейса: вебинарные MQL «не готовы покупать сейчас», контент даёт качественные MQL, конференции — крупные сделки в пайплайне.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0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000"/>
              <a:t>3</a:t>
            </a:r>
            <a:r>
              <a:rPr b="1" lang="ru" sz="3000"/>
              <a:t>. </a:t>
            </a:r>
            <a:r>
              <a:rPr b="1" lang="ru" sz="3000"/>
              <a:t>CAC payback и LTV/CAC</a:t>
            </a:r>
            <a:endParaRPr sz="2000"/>
          </a:p>
        </p:txBody>
      </p:sp>
      <p:sp>
        <p:nvSpPr>
          <p:cNvPr id="321" name="Google Shape;321;p40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40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3" name="Google Shape;323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TextBox 324"/>
          <p:cNvSpPr txBox="1"/>
          <p:nvPr/>
        </p:nvSpPr>
        <p:spPr>
          <a:xfrm>
            <a:off x="274320" y="141732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A1A1A"/>
                </a:solidFill>
                <a:latin typeface="Inter"/>
              </a:rPr>
              <a:t>CAC payback и LTV/CAC — собственный расчёт</a:t>
            </a:r>
          </a:p>
        </p:txBody>
      </p:sp>
      <p:graphicFrame>
        <p:nvGraphicFramePr>
          <p:cNvPr id="326" name="Table 325"/>
          <p:cNvGraphicFramePr>
            <a:graphicFrameLocks noGrp="1"/>
          </p:cNvGraphicFramePr>
          <p:nvPr/>
        </p:nvGraphicFramePr>
        <p:xfrm>
          <a:off x="274320" y="1691640"/>
          <a:ext cx="8595360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291840"/>
                <a:gridCol w="292608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Сейчас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Цель (сценарий B)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Валовая прибыль на клиента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1 125 000 ₽/год = 93 750 ₽/мес (ACV 1,5 млн × маржа 75%)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та же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CAC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≈261 тыс ₽ (37 MQL × 3 000 ₽ + 150 тыс ₽ продажи)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≈268 тыс ₽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CAC payback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≈2,8 мес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≈2,9 мес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LTV (срок жизни 4 года)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4 500 000 ₽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4 500 000 ₽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LTV / CAC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≈17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≈17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Потолок CAC при payback ≤ 12 мес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1 125 000 ₽ — запас прочности ×4,3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сохраняется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327" name="TextBox 326"/>
          <p:cNvSpPr txBox="1"/>
          <p:nvPr/>
        </p:nvSpPr>
        <p:spPr>
          <a:xfrm>
            <a:off x="274320" y="4389120"/>
            <a:ext cx="7589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Open Sans"/>
              </a:rPr>
              <a:t>Экономика здоровая: payback 2,8 мес &lt;&lt; 12 мес, LTV/CAC 17 &gt;&gt; 3 → можно инвестировать в привлечение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1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000"/>
              <a:t>3. CAC payback и LTV/CAC</a:t>
            </a:r>
            <a:endParaRPr sz="2000"/>
          </a:p>
        </p:txBody>
      </p:sp>
      <p:sp>
        <p:nvSpPr>
          <p:cNvPr id="331" name="Google Shape;331;p41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41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3" name="Google Shape;333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TextBox 334"/>
          <p:cNvSpPr txBox="1"/>
          <p:nvPr/>
        </p:nvSpPr>
        <p:spPr>
          <a:xfrm>
            <a:off x="274320" y="141732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Промпт — методология Chain-of-Verification (расчёт + самопроверка по шагам)</a:t>
            </a:r>
          </a:p>
        </p:txBody>
      </p:sp>
      <p:sp>
        <p:nvSpPr>
          <p:cNvPr id="336" name="Rounded Rectangle 335"/>
          <p:cNvSpPr/>
          <p:nvPr/>
        </p:nvSpPr>
        <p:spPr>
          <a:xfrm>
            <a:off x="274320" y="1783080"/>
            <a:ext cx="859536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502920" y="1938528"/>
            <a:ext cx="81381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850" b="0">
                <a:solidFill>
                  <a:srgbClr val="1A1A1A"/>
                </a:solidFill>
                <a:latin typeface="Open Sans"/>
              </a:rPr>
              <a:t>Ты — финансовый аналитик SaaS-компании. Посчитай юнит-экономику и проверь себя по шагам.</a:t>
            </a:r>
          </a:p>
          <a:p>
            <a:pPr>
              <a:spcAft>
                <a:spcPts val="500"/>
              </a:spcAft>
            </a:pPr>
            <a:r>
              <a:rPr sz="850" b="0">
                <a:solidFill>
                  <a:srgbClr val="1A1A1A"/>
                </a:solidFill>
                <a:latin typeface="Open Sans"/>
              </a:rPr>
              <a:t>Данные: средний контракт (ACV) 1,5 млн ₽/год, валовая маржа 75%, срок жизни клиента 4 года, стоимость продаж на сделку 150 тыс ₽, текущий бленд-стоимость MQL 3 000 ₽, конверсия MQL→сделка 2,7%.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1A1A1A"/>
                </a:solidFill>
                <a:latin typeface="Open Sans"/>
              </a:rPr>
              <a:t>Задача: 1) посчитай CAC, CAC payback, LTV, LTV/CAC; 2) после расчёта проверь каждый шаг: правильно ли учтена валовая маржа, не завышен ли срок жизни, все ли компоненты CAC учтены; 3) сравни с нормами для B2B SaaS (payback ≤ 12 мес, LTV/CAC ≥ 3) и оцени здоровье экономики; 4) предложи направление развития.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42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000"/>
              <a:t>3. CAC payback и LTV/CAC</a:t>
            </a:r>
            <a:endParaRPr sz="2000"/>
          </a:p>
        </p:txBody>
      </p:sp>
      <p:sp>
        <p:nvSpPr>
          <p:cNvPr id="341" name="Google Shape;341;p42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42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3" name="Google Shape;343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p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TextBox 344"/>
          <p:cNvSpPr txBox="1"/>
          <p:nvPr/>
        </p:nvSpPr>
        <p:spPr>
          <a:xfrm>
            <a:off x="274320" y="141732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A1A1A"/>
                </a:solidFill>
                <a:latin typeface="Inter"/>
              </a:rPr>
              <a:t>Вывод нейросети — Kimi (Moonshot AI), модель Kimi K2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274320" y="1737360"/>
            <a:ext cx="85953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Расчёт нейросети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CAC = 37 MQL × 3 000 ₽ + 150 000 ₽ ≈ 261 тыс ₽ — совпало с собственным расчётом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Первая версия CAC payback: 261 000 / (1 500 000 / 12) ≈ 2,1 мес — ошибка: деление на выручку, а не на валовую прибыль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На шаге самопроверки нейросеть сама нашла и исправила ошибку: payback = 261 000 / 93 750 ≈ 2,8 мес — совпало</a:t>
            </a:r>
          </a:p>
          <a:p>
            <a:pPr>
              <a:spcAft>
                <a:spcPts val="12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LTV = 4,5 млн ₽, LTV/CAC ≈ 17 — совпало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Оценка нейросети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Экономика здоровая: payback сильно ниже лимита 12 мес, LTV/CAC выше нормы ≥ 3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Вывод: компания недоинвестирует в рост — есть запас на усиление каналов привлечения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3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000"/>
              <a:t>3. CAC payback и LTV/CAC</a:t>
            </a:r>
            <a:endParaRPr sz="2000"/>
          </a:p>
        </p:txBody>
      </p:sp>
      <p:sp>
        <p:nvSpPr>
          <p:cNvPr id="351" name="Google Shape;351;p43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3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3" name="Google Shape;353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4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TextBox 354"/>
          <p:cNvSpPr txBox="1"/>
          <p:nvPr/>
        </p:nvSpPr>
        <p:spPr>
          <a:xfrm>
            <a:off x="274320" y="141732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A1A1A"/>
                </a:solidFill>
                <a:latin typeface="Inter"/>
              </a:rPr>
              <a:t>Вывод нейросети (продолжение) — допущения и чувствительность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274320" y="1737360"/>
            <a:ext cx="85953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Что ещё предложила нейросеть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Считать LTV с дисконтированием (ставка 20%): LTV ≈ 3,5 млн ₽, LTV/CAC ≈ 13 — вывод о здоровье экономики не меняется</a:t>
            </a:r>
          </a:p>
          <a:p>
            <a:pPr>
              <a:spcAft>
                <a:spcPts val="12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Консервативный срок жизни 3 года вместо 4: LTV/CAC ≈ 13 — вывод также не меняется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Разбор расхождений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Срок жизни оставлен 4 года: по кейсу отток низкий, WMS внедряется в ядро операций склада — высокие switching costs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• Направление развития от нейросети совпало с собственным: инвестировать запас маржи в каналы созревания спроса и растить LTV (удержание, расширение аккаунтов, рост ACV через ABM)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44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000"/>
              <a:t>3. CAC payback и LTV/CAC</a:t>
            </a:r>
            <a:endParaRPr sz="2000"/>
          </a:p>
        </p:txBody>
      </p:sp>
      <p:sp>
        <p:nvSpPr>
          <p:cNvPr id="361" name="Google Shape;361;p44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44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3" name="Google Shape;363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TextBox 364"/>
          <p:cNvSpPr txBox="1"/>
          <p:nvPr/>
        </p:nvSpPr>
        <p:spPr>
          <a:xfrm>
            <a:off x="274320" y="1417320"/>
            <a:ext cx="8595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150" b="1">
                <a:solidFill>
                  <a:srgbClr val="1A1A1A"/>
                </a:solidFill>
                <a:latin typeface="Inter"/>
              </a:rPr>
              <a:t>Вывод — сравнение результатов нейросети и собственных расчётов</a:t>
            </a:r>
          </a:p>
        </p:txBody>
      </p:sp>
      <p:graphicFrame>
        <p:nvGraphicFramePr>
          <p:cNvPr id="366" name="Table 365"/>
          <p:cNvGraphicFramePr>
            <a:graphicFrameLocks noGrp="1"/>
          </p:cNvGraphicFramePr>
          <p:nvPr/>
        </p:nvGraphicFramePr>
        <p:xfrm>
          <a:off x="274320" y="1737360"/>
          <a:ext cx="8595360" cy="1956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2377440"/>
                <a:gridCol w="2743200"/>
                <a:gridCol w="192024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Метрика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Собственный расчёт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Нейросеть (Kimi K2)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Итог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CAC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≈261 тыс ₽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≈261 тыс ₽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совпало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CAC payback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2,8 мес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2,1 мес → исправлено на 2,8 мес при самопроверке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совпало после верификации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LTV / LTV/CAC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4,5 млн ₽ / ≈17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4,5 млн ₽ / ≈17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совпало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Здоровье экономики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здоровая, запас ×4,3 к лимиту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здоровая, недоинвестирование в рост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совпало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367" name="TextBox 366"/>
          <p:cNvSpPr txBox="1"/>
          <p:nvPr/>
        </p:nvSpPr>
        <p:spPr>
          <a:xfrm>
            <a:off x="274320" y="3977639"/>
            <a:ext cx="7589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A1A1A"/>
                </a:solidFill>
                <a:latin typeface="Open Sans"/>
              </a:rPr>
              <a:t>Итог: Chain-of-Verification сработал — нейросеть сама исправила ошибку payback без учёта маржи. Числа совпали.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1A1A1A"/>
                </a:solidFill>
                <a:latin typeface="Open Sans"/>
              </a:rPr>
              <a:t>Направление развития: направить запас маржи в каналы созревания спроса (контент, вебинары, ABM) и рост LTV — удержание, расширение аккаунтов, рост ACV.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45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000"/>
              <a:t>4. Воронка</a:t>
            </a:r>
            <a:endParaRPr b="1" sz="3000"/>
          </a:p>
        </p:txBody>
      </p:sp>
      <p:sp>
        <p:nvSpPr>
          <p:cNvPr id="371" name="Google Shape;371;p45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45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3" name="Google Shape;373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4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75" name="Table 374"/>
          <p:cNvGraphicFramePr>
            <a:graphicFrameLocks noGrp="1"/>
          </p:cNvGraphicFramePr>
          <p:nvPr/>
        </p:nvGraphicFramePr>
        <p:xfrm>
          <a:off x="274320" y="1481328"/>
          <a:ext cx="8595360" cy="3182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2148840"/>
                <a:gridCol w="960120"/>
                <a:gridCol w="38862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Этап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Целевой показатель (год)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Конверсия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Каналы и инструменты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Demand gen — спрос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охват ЦА: склады среднего бизнеса (ритейл, e-com, 3PL)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контент и SEO (Habr, vc.ru), отраслевые конференции, PR, кейсы клиентов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Lead gen — лиды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≈8 900 (740/мес)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30% → MQL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лид-магниты (гайды, ROI-калькулятор), вебинары, Яндекс.Директ на горячий спрос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MQL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2 667 (222/мес)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20% → SQL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вебинары, контентная подписка, лид-скоринг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SQL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533 (44/мес)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50% → демо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квалификация SDR (BANT), нуртуринг к Q4, ABM-аутрич по 30–50 аккаунтам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Демо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267 (22/мес)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45% → сделка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демо под роль (склад / ИТ / финдир), пилоты, ROI-калькулятор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Сделка — новый ARR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120 (10/мес) = +180 млн ₽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продажи (цикл 3,5 мес), партнёры-интеграторы 1С, референс-визиты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376" name="TextBox 375"/>
          <p:cNvSpPr txBox="1"/>
          <p:nvPr/>
        </p:nvSpPr>
        <p:spPr>
          <a:xfrm>
            <a:off x="274320" y="482803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750" b="0">
                <a:solidFill>
                  <a:srgbClr val="6E6E6E"/>
                </a:solidFill>
                <a:latin typeface="Open Sans"/>
              </a:rPr>
              <a:t>Целевые показатели — сценарий B: MQL→SQL 20%, SQL→демо 50%, демо→сделка 45% (сквозная 4,5% вместо текущих 2,7%).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F1F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46"/>
          <p:cNvSpPr txBox="1"/>
          <p:nvPr>
            <p:ph type="title"/>
          </p:nvPr>
        </p:nvSpPr>
        <p:spPr>
          <a:xfrm>
            <a:off x="269875" y="766775"/>
            <a:ext cx="8604300" cy="202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000"/>
              <a:t>5. Каналы</a:t>
            </a:r>
            <a:endParaRPr b="1" sz="3000"/>
          </a:p>
        </p:txBody>
      </p:sp>
      <p:sp>
        <p:nvSpPr>
          <p:cNvPr id="380" name="Google Shape;380;p46"/>
          <p:cNvSpPr/>
          <p:nvPr/>
        </p:nvSpPr>
        <p:spPr>
          <a:xfrm>
            <a:off x="269875" y="270000"/>
            <a:ext cx="2153100" cy="306900"/>
          </a:xfrm>
          <a:prstGeom prst="roundRect">
            <a:avLst>
              <a:gd fmla="val 50000" name="adj"/>
            </a:avLst>
          </a:prstGeom>
          <a:solidFill>
            <a:srgbClr val="FF92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маркетинговые стратегии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46"/>
          <p:cNvSpPr/>
          <p:nvPr/>
        </p:nvSpPr>
        <p:spPr>
          <a:xfrm>
            <a:off x="2422975" y="270000"/>
            <a:ext cx="1152000" cy="3069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b="1" lang="ru" sz="1000">
                <a:solidFill>
                  <a:schemeClr val="dk1"/>
                </a:solidFill>
              </a:rPr>
              <a:t>анализ</a:t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2" name="Google Shape;382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800" y="3955802"/>
            <a:ext cx="1278375" cy="91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p4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56050" y="270000"/>
            <a:ext cx="1317950" cy="2344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84" name="Table 383"/>
          <p:cNvGraphicFramePr>
            <a:graphicFrameLocks noGrp="1"/>
          </p:cNvGraphicFramePr>
          <p:nvPr/>
        </p:nvGraphicFramePr>
        <p:xfrm>
          <a:off x="274320" y="1481328"/>
          <a:ext cx="8595360" cy="31455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/>
                <a:gridCol w="1371600"/>
                <a:gridCol w="4114800"/>
                <a:gridCol w="11430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Канал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Этап воронки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Роль и обоснование (данные кейса)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Inter"/>
                        </a:rPr>
                        <a:t>Бюджет*</a:t>
                      </a:r>
                    </a:p>
                  </a:txBody>
                  <a:tcPr anchor="ctr" marL="54864" marR="54864" marT="18288" marB="18288">
                    <a:solidFill>
                      <a:srgbClr val="1A1A1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Контент и SEO (Habr, vc.ru)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Demand gen → MQL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основной источник дешёвых качественных MQL; прогревает отложенный спрос (лаг 2–3 кв.)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~25%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Вебинары / демо-дни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Lead gen → SQL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много MQL; «неготовность» решаем скорингом и нуртурингом, а не отказом от канала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~15%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Яндекс.Директ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Lead gen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сбор горячего спроса (CPC 200–500 ₽, CV 3–5%); запросов мало — не масштабируется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~10%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Отраслевые конференции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Demand gen → SQL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дорого, но дают ЛПР и крупные сделки (2 в пайплайне); точечное участие + выступления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~15%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ABM-программа (30–50 аккаунтов)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SQL → сделка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крупные аккаунты с ACV 2,5–3 млн ₽ (~10 сделок из 120); персональная работа с ЛПР и собственником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~20%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Партнёры-интеграторы 1С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Демо → сделка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доверие и скорость внедрения; интеграция с 1С — ключевой критерий ИТ-директора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~10%</a:t>
                      </a:r>
                    </a:p>
                  </a:txBody>
                  <a:tcPr anchor="ctr" marL="54864" marR="54864" marT="18288" marB="18288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Email-нуртуринг / CRM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MQL → SQL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доведение отложенного спроса до готовности к Q4-планированию бюджетов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Open Sans"/>
                        </a:rPr>
                        <a:t>~5%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5" name="TextBox 384"/>
          <p:cNvSpPr txBox="1"/>
          <p:nvPr/>
        </p:nvSpPr>
        <p:spPr>
          <a:xfrm>
            <a:off x="274320" y="4828032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750" b="0">
                <a:solidFill>
                  <a:srgbClr val="6E6E6E"/>
                </a:solidFill>
                <a:latin typeface="Open Sans"/>
              </a:rPr>
              <a:t>* Доли маркетингового бюджета сценария B (~14,2 млн ₽/год). Каждый канал закреплён за своим этапом и оценивается по своей метрике.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