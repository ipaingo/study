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spPr>
            <a:solidFill>
              <a:srgbClr val="FFD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Запрос уточнений</c:v>
                  </c:pt>
                  <c:pt idx="1">
                    <c:v>Финансовые споры</c:v>
                  </c:pt>
                  <c:pt idx="2">
                    <c:v>Обращение по аренде</c:v>
                  </c:pt>
                  <c:pt idx="3">
                    <c:v>Общие вопросы</c:v>
                  </c:pt>
                  <c:pt idx="4">
                    <c:v>Интеграции</c:v>
                  </c:pt>
                  <c:pt idx="5">
                    <c:v>Сбои самоката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41839</c:v>
                </c:pt>
                <c:pt idx="1">
                  <c:v>39871</c:v>
                </c:pt>
                <c:pt idx="2">
                  <c:v>33820</c:v>
                </c:pt>
                <c:pt idx="3">
                  <c:v>32739</c:v>
                </c:pt>
                <c:pt idx="4">
                  <c:v>22834</c:v>
                </c:pt>
                <c:pt idx="5">
                  <c:v>17389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Кейсы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Парковка</c:v>
                  </c:pt>
                  <c:pt idx="1">
                    <c:v>Езда вдвоём</c:v>
                  </c:pt>
                  <c:pt idx="2">
                    <c:v>Неспешивание</c:v>
                  </c:pt>
                  <c:pt idx="3">
                    <c:v>Возраст/передача</c:v>
                  </c:pt>
                  <c:pt idx="4">
                    <c:v>С несоверш.</c:v>
                  </c:pt>
                  <c:pt idx="5">
                    <c:v>Неположенное место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84851</c:v>
                </c:pt>
                <c:pt idx="1">
                  <c:v>21084</c:v>
                </c:pt>
                <c:pt idx="2">
                  <c:v>14628</c:v>
                </c:pt>
                <c:pt idx="3">
                  <c:v>4993</c:v>
                </c:pt>
                <c:pt idx="4">
                  <c:v>3297</c:v>
                </c:pt>
                <c:pt idx="5">
                  <c:v>1041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Штрафные кейсы</c:v>
                </c:pt>
              </c:strCache>
            </c:strRef>
          </c:tx>
          <c:spPr>
            <a:solidFill>
              <a:srgbClr val="FFD400"/>
            </a:solidFill>
            <a:ln w="38100" cap="flat">
              <a:solidFill>
                <a:srgbClr val="FFD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D400"/>
              </a:solidFill>
              <a:ln w="9525" cap="flat">
                <a:solidFill>
                  <a:srgbClr val="FFD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415</c:v>
                </c:pt>
                <c:pt idx="1">
                  <c:v>556</c:v>
                </c:pt>
                <c:pt idx="2">
                  <c:v>6725</c:v>
                </c:pt>
                <c:pt idx="3">
                  <c:v>10999</c:v>
                </c:pt>
                <c:pt idx="4">
                  <c:v>17823</c:v>
                </c:pt>
                <c:pt idx="5">
                  <c:v>15618</c:v>
                </c:pt>
                <c:pt idx="6">
                  <c:v>14046</c:v>
                </c:pt>
                <c:pt idx="7">
                  <c:v>15851</c:v>
                </c:pt>
                <c:pt idx="8">
                  <c:v>11382</c:v>
                </c:pt>
                <c:pt idx="9">
                  <c:v>6360</c:v>
                </c:pt>
                <c:pt idx="10">
                  <c:v>2500</c:v>
                </c:pt>
                <c:pt idx="11">
                  <c:v>829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Штат</c:v>
                </c:pt>
              </c:strCache>
            </c:strRef>
          </c:tx>
          <c:spPr>
            <a:solidFill>
              <a:srgbClr val="2F6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6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saving</c:v>
                </c:pt>
              </c:strCache>
            </c:strRef>
          </c:tx>
          <c:spPr>
            <a:solidFill>
              <a:srgbClr val="FFD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Консерв.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113932</c:v>
                </c:pt>
                <c:pt idx="1">
                  <c:v>247163</c:v>
                </c:pt>
                <c:pt idx="2">
                  <c:v>370800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ППР_26.03.26_расшифровка .pdf
- User-provided asset: photo_2026-03-05_18-55-18.jpg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ППР_26.03.26_расшифровка 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Распредление тематик обращений за 1 месяц.xlsx, распредлеение обращений по штрафам.xlsx, Материалы для кейса №1.zip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Распредление тематик обращений за 1 месяц.xlsx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распредлеение обращений по штрафам.xlsx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распредлеение обращений по штрафам.xlsx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распредлеение обращений по штрафам.xlsx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Материалы для кейса №1.zip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ППР_26.03.26_расшифровка 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ППР_26.03.26_расшифровка 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ППР_26.03.26_расшифровка 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ППР_26.03.26_расшифровка 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распредлеение обращений по штрафам.xlsx
- Public salary benchmarks: SalaryExpert
- Public cloud pricing: Yandex Cloud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Шаблон Ганта.xlsx, Задачник 🚀 шаблон.xlsx, ППР_26.03.26_расшифровка 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file: ППР_26.03.26_расшифровка .pdf
- User-provided asset: photo_2026-03-05_18-55-18.jpg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Scooter Hub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Автоматизация обработки штрафов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</a:rPr>
              <a:t>за нарушения на самокатах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</a:rPr>
              <a:t>Проблема → анализ → решение → экономика → внедрение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438912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4498848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Ключевая идея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" y="4736592"/>
            <a:ext cx="4224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Не “бот для штрафов”, а управляемый decision pipeline: сбор доказуемого кейса, safe AUTO для формальных нарушений и ручной контур для серой зоны.</a:t>
            </a:r>
            <a:endParaRPr lang="en-US" sz="1120" dirty="0"/>
          </a:p>
        </p:txBody>
      </p:sp>
      <p:pic>
        <p:nvPicPr>
          <p:cNvPr id="9" name="Image 0" descr="/mnt/data/user-VfHPgnRcuyj0TLnVVFPdRtNZ/87d8e4550fd14864a2774734b7451a94/mnt/data/case1_extracted/Материалы для кейса №1/photo_2026-03-05_18-55-18.jpg">    </p:cNvPr>
          <p:cNvPicPr>
            <a:picLocks noChangeAspect="1"/>
          </p:cNvPicPr>
          <p:nvPr/>
        </p:nvPicPr>
        <p:blipFill>
          <a:blip r:embed="rId1"/>
          <a:srcRect l="0" r="0" t="10196" b="10196"/>
          <a:stretch/>
        </p:blipFill>
        <p:spPr>
          <a:xfrm>
            <a:off x="5806440" y="594360"/>
            <a:ext cx="56692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Проблема и подход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Цель — сделать обработку нарушений предсказуемой, масштабируемой и безопасной.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441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болит сегодня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1581912"/>
            <a:ext cx="3310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Нарушения фиксируются из разных источников, качество данных нестабильно, а оператор вручную восстанавливает: что произошло, где, когда и с какой поездкой это связано.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43400" y="12344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13441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Почему это важно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71416" y="1581912"/>
            <a:ext cx="3310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В сезон растут входящий поток, время обработки, количество уточнений и риск ошибок. Один неверный штраф порождает апелляции и повторные контакты.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474720" cy="1234440"/>
          </a:xfrm>
          <a:prstGeom prst="roundRect">
            <a:avLst>
              <a:gd name="adj" fmla="val 4444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13441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делаем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74736" y="1581912"/>
            <a:ext cx="32186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Строим intake + clarification + matching + conservative AUTO для доказуемых кейсов + manual review для серой зоны.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521208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898648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Принципы решения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77824" y="31821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136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 автоматизируем всё подряд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877824" y="35295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4838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Evidence quality и trip match важнее “красивого ML”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877824" y="38770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83133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Appeal rate и ложные штрафы — stop-metrics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877824" y="422452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17880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Профилактика нарушений так же важна, как и санкция</a:t>
            </a:r>
            <a:endParaRPr lang="en-US" sz="109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530352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2898648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должно быть в защите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64224" y="31821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3136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Аналитика обращений и сезонности</a:t>
            </a:r>
            <a:endParaRPr lang="en-US" sz="1090" dirty="0"/>
          </a:p>
        </p:txBody>
      </p:sp>
      <p:sp>
        <p:nvSpPr>
          <p:cNvPr id="29" name="Shape 27"/>
          <p:cNvSpPr/>
          <p:nvPr/>
        </p:nvSpPr>
        <p:spPr>
          <a:xfrm>
            <a:off x="6364224" y="35295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48386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Продуктовые доработки и интерфейсы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6364224" y="38770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38313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Архитектура и decision engine</a:t>
            </a:r>
            <a:endParaRPr lang="en-US" sz="1090" dirty="0"/>
          </a:p>
        </p:txBody>
      </p:sp>
      <p:sp>
        <p:nvSpPr>
          <p:cNvPr id="33" name="Shape 31"/>
          <p:cNvSpPr/>
          <p:nvPr/>
        </p:nvSpPr>
        <p:spPr>
          <a:xfrm>
            <a:off x="6364224" y="422452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417880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Экономика, Гант и задачник 7 команд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Что у нас есть в данных и как мы их используем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Честно отделяем факты, допущения и ограничения.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474720" cy="1325880"/>
          </a:xfrm>
          <a:prstGeom prst="roundRect">
            <a:avLst>
              <a:gd name="adj" fmla="val 4138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898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Support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1627632"/>
            <a:ext cx="3218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1 месяц тематик поддержки: структура входящего потока, топ-нагрузка, пересечения между линиями, место штрафной темы в общем контуре.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474720" cy="1325880"/>
          </a:xfrm>
          <a:prstGeom prst="roundRect">
            <a:avLst>
              <a:gd name="adj" fmla="val 4138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13898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Fines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71416" y="1627632"/>
            <a:ext cx="3218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27 месяцев штрафного ряда: сезонность, пики, состав нарушений и кандидаты в первую волну автоматизации.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474720" cy="1325880"/>
          </a:xfrm>
          <a:prstGeom prst="roundRect">
            <a:avLst>
              <a:gd name="adj" fmla="val 4138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13898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Фото и бриф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74736" y="1627632"/>
            <a:ext cx="3218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Реальные примеры входящих фото и требования кейса: где automation оправдана, а где опасна.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77240" y="30632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063240"/>
            <a:ext cx="73152" cy="786384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172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70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1832" y="34472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тематики поддержки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1832" y="3593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в одном месяце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80360" y="30632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3063240"/>
            <a:ext cx="73152" cy="78638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3172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226 904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44952" y="34472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обращения в support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44952" y="3593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по тематическому файлу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30632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3063240"/>
            <a:ext cx="73152" cy="786384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3172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130 735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48072" y="34472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штрафные кейсы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48072" y="3593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янв 2024 — мар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86600" y="30632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063240"/>
            <a:ext cx="73152" cy="7863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3172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51192" y="34472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основных нарушений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51192" y="3593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дают 92% потока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89720" y="30632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9720" y="3063240"/>
            <a:ext cx="73152" cy="786384"/>
          </a:xfrm>
          <a:prstGeom prst="rect">
            <a:avLst/>
          </a:prstGeom>
          <a:solidFill>
            <a:srgbClr val="D84A4A"/>
          </a:solidFill>
          <a:ln w="12700">
            <a:solidFill>
              <a:srgbClr val="D84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3172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354312" y="34472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канала intake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54312" y="3593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app / messenger / scout / camera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20624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" y="4315968"/>
            <a:ext cx="10716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Ключевое ограничение данных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77824" y="459943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455371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EXIF в пользовательских фото нестабилен, часть метаданных теряется в мессенджере.</a:t>
            </a:r>
            <a:endParaRPr lang="en-US" sz="1090" dirty="0"/>
          </a:p>
        </p:txBody>
      </p:sp>
      <p:sp>
        <p:nvSpPr>
          <p:cNvPr id="44" name="Shape 42"/>
          <p:cNvSpPr/>
          <p:nvPr/>
        </p:nvSpPr>
        <p:spPr>
          <a:xfrm>
            <a:off x="877824" y="494690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4901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Значит, решение нельзя строить только на фотографии: нужны quality gate, доуточнения и match с поездкой.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Структура поддержки: где реально сидит нагрузка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Штрафной контур — не самый объёмный, но один из самых чувствительных.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23444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32588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25896" y="1435608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Выводы по support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44184" y="171907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6733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Топ-5 тем дают ~75% потока — поддержка сверхконцентрирована.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6044184" y="206654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02082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Штрафы не самые массовые, но более чувствительные по спорности и цене ошибки.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6044184" y="241401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36829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Часть нагрузки — следствие слабой классификации и повторных касаний, а не чистый пользовательский спрос.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5897880" y="365760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25896" y="376732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автоматизировать первым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25896" y="4005072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FAQ и уточнения — для разгрузки. Штрафы — только там, где кейс доказуем.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549640" y="365760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77656" y="3767328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это значит для ops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677656" y="400507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Нужен двухконтурный support: массовый self-service и экспертный штрафной review.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Штрафной контур: какие нарушения реально формируют поток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Три нарушения дают почти весь объём, но автоматизировать их надо не только по частоте.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234440"/>
          <a:ext cx="48463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3258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25896" y="143560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Матрица приоритизации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44184" y="171907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67335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1-я волна: неправильная парковка, geofence-кейсы, повторная парковка.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6044184" y="206654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02082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HYBRID: езда вдвоём и неспешивание — визуально ярко, но хуже атрибуция к поездке.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6044184" y="241401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36829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MANUAL: несовершеннолетние, ДТП, порча имущества и все high-risk кейсы.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5897880" y="37490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25896" y="385876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Почему не “езда вдвоём” первой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25896" y="4096512"/>
            <a:ext cx="5093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Для первой волны важнее доказуемость и цена ошибки. Парковка проще связывается с местом, зоной и последней поездкой.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Сезонность и нагрузка: где будет самый опасный пик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Две сезонные волны; март и октябрь — риск ошибки прогноза; крупные города не в сезоне в декабре.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234440"/>
          <a:ext cx="6400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37160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43800" y="1371600"/>
            <a:ext cx="73152" cy="786384"/>
          </a:xfrm>
          <a:prstGeom prst="rect">
            <a:avLst/>
          </a:prstGeom>
          <a:solidFill>
            <a:srgbClr val="D84A4A"/>
          </a:solidFill>
          <a:ln w="12700">
            <a:solidFill>
              <a:srgbClr val="D84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08392" y="14813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май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08392" y="17556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пик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08392" y="190195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~17,8k кейсов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961120" y="137160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0" y="1371600"/>
            <a:ext cx="73152" cy="7863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25712" y="14813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август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25712" y="17556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пик 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25712" y="190195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~15,9k кейсов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378440" y="137160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78440" y="1371600"/>
            <a:ext cx="73152" cy="786384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43032" y="14813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543032" y="17556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штат max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543032" y="190195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операторов в модели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52360" y="2514600"/>
            <a:ext cx="4160520" cy="196596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0376" y="2624328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Управленческий вывод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598664" y="290779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08392" y="286207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Главный риск — не только рост объёма, но и рост доли сложных кейсов.</a:t>
            </a:r>
            <a:endParaRPr lang="en-US" sz="1090" dirty="0"/>
          </a:p>
        </p:txBody>
      </p:sp>
      <p:sp>
        <p:nvSpPr>
          <p:cNvPr id="26" name="Shape 23"/>
          <p:cNvSpPr/>
          <p:nvPr/>
        </p:nvSpPr>
        <p:spPr>
          <a:xfrm>
            <a:off x="7598664" y="325526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08392" y="320954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Найм / переобучение нужно начинать в феврале–марте.</a:t>
            </a:r>
            <a:endParaRPr lang="en-US" sz="1090" dirty="0"/>
          </a:p>
        </p:txBody>
      </p:sp>
      <p:sp>
        <p:nvSpPr>
          <p:cNvPr id="28" name="Shape 25"/>
          <p:cNvSpPr/>
          <p:nvPr/>
        </p:nvSpPr>
        <p:spPr>
          <a:xfrm>
            <a:off x="7598664" y="360273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08392" y="35570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Для крупных городов нужен отдельный staffing-буфер на апрель и август.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Помесячный staffing-план: как подготовить линию к сезону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Переводим прогноз в понятный операционный план.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Ключевые месяцы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1600200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8249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Март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240280" y="168249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6,7k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977640" y="168249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3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49808" y="2039112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2140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Апрель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2240280" y="2121408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11,0k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977640" y="212140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5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49808" y="2478024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6032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Май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240280" y="256032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17,8k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977640" y="25603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7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49808" y="2916936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9992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Июнь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240280" y="2999232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15,6k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977640" y="299923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6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49808" y="3355848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3814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Июль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2240280" y="343814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14,0k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3977640" y="343814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5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49808" y="3794760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87705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Август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2240280" y="387705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15,9k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3977640" y="387705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6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49808" y="4233672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31596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Сентябрь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2240280" y="4315968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11,4k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3977640" y="431596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4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49808" y="4672584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75488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Октябрь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2240280" y="475488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6,4k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3977640" y="475488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3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914400" y="141732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Месяц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40280" y="141732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Кейсы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50208" y="14173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Штат</a:t>
            </a:r>
            <a:endParaRPr lang="en-US" sz="10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5486400" y="132588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5532120" y="4480560"/>
            <a:ext cx="5623560" cy="1143000"/>
          </a:xfrm>
          <a:prstGeom prst="roundRect">
            <a:avLst>
              <a:gd name="adj" fmla="val 4800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0136" y="4590288"/>
            <a:ext cx="5367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надо сделать заранее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5678424" y="487375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88152" y="4828032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Февраль–март: нанять и переобучить линию под апрель–май.</a:t>
            </a:r>
            <a:endParaRPr lang="en-US" sz="1090" dirty="0"/>
          </a:p>
        </p:txBody>
      </p:sp>
      <p:sp>
        <p:nvSpPr>
          <p:cNvPr id="47" name="Shape 44"/>
          <p:cNvSpPr/>
          <p:nvPr/>
        </p:nvSpPr>
        <p:spPr>
          <a:xfrm>
            <a:off x="5678424" y="522122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88152" y="517550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Июль: точечное усиление под вторую волну в августе.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Фото и evidence quality: почему сырое обращение редко пригодно для санкции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По фото почти всегда видно самокат, но редко хватает связки “самокат + время + место + поездка”.</a:t>
            </a:r>
            <a:endParaRPr lang="en-US" sz="1050" dirty="0"/>
          </a:p>
        </p:txBody>
      </p:sp>
      <p:pic>
        <p:nvPicPr>
          <p:cNvPr id="6" name="Image 0" descr="/mnt/data/user-VfHPgnRcuyj0TLnVVFPdRtNZ/87d8e4550fd14864a2774734b7451a94/mnt/data/case1_extracted/Материалы для кейса №1/photo_2026-03-05_17-40-01.jpg">    </p:cNvPr>
          <p:cNvPicPr>
            <a:picLocks noChangeAspect="1"/>
          </p:cNvPicPr>
          <p:nvPr/>
        </p:nvPicPr>
        <p:blipFill>
          <a:blip r:embed="rId1"/>
          <a:srcRect l="14876" r="14876" t="0" b="0"/>
          <a:stretch/>
        </p:blipFill>
        <p:spPr>
          <a:xfrm>
            <a:off x="685800" y="1234440"/>
            <a:ext cx="2606040" cy="1828800"/>
          </a:xfrm>
          <a:prstGeom prst="rect">
            <a:avLst/>
          </a:prstGeom>
        </p:spPr>
      </p:pic>
      <p:pic>
        <p:nvPicPr>
          <p:cNvPr id="7" name="Image 1" descr="/mnt/data/user-VfHPgnRcuyj0TLnVVFPdRtNZ/87d8e4550fd14864a2774734b7451a94/mnt/data/case1_extracted/Материалы для кейса №1/1000041753.jpg">    </p:cNvPr>
          <p:cNvPicPr>
            <a:picLocks noChangeAspect="1"/>
          </p:cNvPicPr>
          <p:nvPr/>
        </p:nvPicPr>
        <p:blipFill>
          <a:blip r:embed="rId2"/>
          <a:srcRect l="0" r="0" t="33816" b="33816"/>
          <a:stretch/>
        </p:blipFill>
        <p:spPr>
          <a:xfrm>
            <a:off x="3520440" y="1234440"/>
            <a:ext cx="2606040" cy="1828800"/>
          </a:xfrm>
          <a:prstGeom prst="rect">
            <a:avLst/>
          </a:prstGeom>
        </p:spPr>
      </p:pic>
      <p:pic>
        <p:nvPicPr>
          <p:cNvPr id="8" name="Image 2" descr="/mnt/data/user-VfHPgnRcuyj0TLnVVFPdRtNZ/87d8e4550fd14864a2774734b7451a94/mnt/data/case1_extracted/Материалы для кейса №1/2026-03-06_14-22-09.png">    </p:cNvPr>
          <p:cNvPicPr>
            <a:picLocks noChangeAspect="1"/>
          </p:cNvPicPr>
          <p:nvPr/>
        </p:nvPicPr>
        <p:blipFill>
          <a:blip r:embed="rId3"/>
          <a:srcRect l="0" r="0" t="20358" b="20358"/>
          <a:stretch/>
        </p:blipFill>
        <p:spPr>
          <a:xfrm>
            <a:off x="6355080" y="1234440"/>
            <a:ext cx="2606040" cy="1828800"/>
          </a:xfrm>
          <a:prstGeom prst="rect">
            <a:avLst/>
          </a:prstGeom>
        </p:spPr>
      </p:pic>
      <p:pic>
        <p:nvPicPr>
          <p:cNvPr id="9" name="Image 3" descr="/mnt/data/user-VfHPgnRcuyj0TLnVVFPdRtNZ/87d8e4550fd14864a2774734b7451a94/mnt/data/case1_extracted/Материалы для кейса №1/photo_2026-03-05_16-23-11.jpg">    </p:cNvPr>
          <p:cNvPicPr>
            <a:picLocks noChangeAspect="1"/>
          </p:cNvPicPr>
          <p:nvPr/>
        </p:nvPicPr>
        <p:blipFill>
          <a:blip r:embed="rId4"/>
          <a:srcRect l="0" r="0" t="20588" b="20588"/>
          <a:stretch/>
        </p:blipFill>
        <p:spPr>
          <a:xfrm>
            <a:off x="9189720" y="1234440"/>
            <a:ext cx="2331720" cy="1828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" y="3429000"/>
            <a:ext cx="516636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859536" y="3538728"/>
            <a:ext cx="4910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Типовые дефициты данных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877824" y="382219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87552" y="377647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 видно номера / QR самоката</a:t>
            </a:r>
            <a:endParaRPr lang="en-US" sz="1090" dirty="0"/>
          </a:p>
        </p:txBody>
      </p:sp>
      <p:sp>
        <p:nvSpPr>
          <p:cNvPr id="14" name="Shape 8"/>
          <p:cNvSpPr/>
          <p:nvPr/>
        </p:nvSpPr>
        <p:spPr>
          <a:xfrm>
            <a:off x="877824" y="416966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987552" y="412394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Нет времени и/или геолокации</a:t>
            </a:r>
            <a:endParaRPr lang="en-US" sz="1090" dirty="0"/>
          </a:p>
        </p:txBody>
      </p:sp>
      <p:sp>
        <p:nvSpPr>
          <p:cNvPr id="16" name="Shape 10"/>
          <p:cNvSpPr/>
          <p:nvPr/>
        </p:nvSpPr>
        <p:spPr>
          <a:xfrm>
            <a:off x="877824" y="451713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87552" y="44714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Неочевиден тип нарушения или контекст сцены</a:t>
            </a:r>
            <a:endParaRPr lang="en-US" sz="1090" dirty="0"/>
          </a:p>
        </p:txBody>
      </p:sp>
      <p:sp>
        <p:nvSpPr>
          <p:cNvPr id="18" name="Shape 12"/>
          <p:cNvSpPr/>
          <p:nvPr/>
        </p:nvSpPr>
        <p:spPr>
          <a:xfrm>
            <a:off x="877824" y="486460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87552" y="481888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Нельзя уверенно связать кейс с поездкой</a:t>
            </a:r>
            <a:endParaRPr lang="en-US" sz="1090" dirty="0"/>
          </a:p>
        </p:txBody>
      </p:sp>
      <p:sp>
        <p:nvSpPr>
          <p:cNvPr id="20" name="Shape 14"/>
          <p:cNvSpPr/>
          <p:nvPr/>
        </p:nvSpPr>
        <p:spPr>
          <a:xfrm>
            <a:off x="6126480" y="3429000"/>
            <a:ext cx="516636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54496" y="3538728"/>
            <a:ext cx="4910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можно извлекать автоматически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272784" y="382219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382512" y="377647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Наличие самоката, людей, quality score</a:t>
            </a:r>
            <a:endParaRPr lang="en-US" sz="1090" dirty="0"/>
          </a:p>
        </p:txBody>
      </p:sp>
      <p:sp>
        <p:nvSpPr>
          <p:cNvPr id="24" name="Shape 18"/>
          <p:cNvSpPr/>
          <p:nvPr/>
        </p:nvSpPr>
        <p:spPr>
          <a:xfrm>
            <a:off x="6272784" y="416966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382512" y="412394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Сцену: газон, тротуар, проход, вход, парковка</a:t>
            </a:r>
            <a:endParaRPr lang="en-US" sz="1090" dirty="0"/>
          </a:p>
        </p:txBody>
      </p:sp>
      <p:sp>
        <p:nvSpPr>
          <p:cNvPr id="26" name="Shape 20"/>
          <p:cNvSpPr/>
          <p:nvPr/>
        </p:nvSpPr>
        <p:spPr>
          <a:xfrm>
            <a:off x="6272784" y="451713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382512" y="44714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Попытку прочитать номер/QR и watermark</a:t>
            </a:r>
            <a:endParaRPr lang="en-US" sz="1090" dirty="0"/>
          </a:p>
        </p:txBody>
      </p:sp>
      <p:sp>
        <p:nvSpPr>
          <p:cNvPr id="28" name="Shape 22"/>
          <p:cNvSpPr/>
          <p:nvPr/>
        </p:nvSpPr>
        <p:spPr>
          <a:xfrm>
            <a:off x="6272784" y="486460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382512" y="481888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Сигнал на clarification, а не только на штраф</a:t>
            </a:r>
            <a:endParaRPr lang="en-US" sz="1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Intake по каналам и система доуточнений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Нужны разные формы для app, messenger, scout и camera — и один слой умных уточнений.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34416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Пользователь в приложении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" y="1581912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Авто-сбор: user_id, гео, время, candidate trip. Обязательные поля: фото, тип нарушения, место.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34416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Мессенджер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39896" y="1581912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Самый высокий риск неполных кейсов. Нужны быстрые кнопки: тип нарушения, геопин, повторное фото.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537960" y="1234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134416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Скаут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65976" y="1581912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Можно требовать больше: фото общего плана, фото номера/QR, тип нарушения, GPS.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464040" y="123444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056" y="134416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Камера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92056" y="1581912"/>
            <a:ext cx="17556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Сильна по времени и месту, но часто слаба по атрибуции поездки; чаще HYBRID, чем AUTO.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990088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Логика доуточнений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77824" y="327355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2278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1 вопрос за раз; максимум 1–2 раунда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877824" y="362102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7530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Сначала качество фото, потом тип, потом место/время, потом номер/QR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877824" y="396849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92277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Нет ответа — waiting → operator / no sanction по policy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355080" y="2880360"/>
            <a:ext cx="233172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0358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User report form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3337560"/>
            <a:ext cx="192024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3657600"/>
            <a:ext cx="192024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977640"/>
            <a:ext cx="192024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4297680"/>
            <a:ext cx="192024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5400" y="2880360"/>
            <a:ext cx="233172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30358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Reviewer UI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098280" y="3337560"/>
            <a:ext cx="187452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7152" y="3392424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evidence bundle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98280" y="3657600"/>
            <a:ext cx="187452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3712464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trip match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98280" y="3977640"/>
            <a:ext cx="187452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17152" y="4032504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risk / policy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98280" y="4297680"/>
            <a:ext cx="1874520" cy="20116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4352544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decision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Профилактика по CJM: лучший штраф — тот, который не пришлось выставлять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В кикшеринге сильнее всего работает неудобство нарушения в моменте.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813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До первой поездки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1719072"/>
            <a:ext cx="17556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Онбординг + мини-тест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734056" y="19751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71800" y="137160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14813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Во время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99816" y="1719072"/>
            <a:ext cx="17556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Контекстные предупреждения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5065776" y="19751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03520" y="137160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FF4B8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4813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Завершение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31536" y="1719072"/>
            <a:ext cx="17556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Блокировка в запретной зоне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Обязательное фото парковки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397496" y="19751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635240" y="137160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63256" y="14813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После нарушения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63256" y="1719072"/>
            <a:ext cx="17556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Персональное объяснение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Микро-обучение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729216" y="19751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966960" y="1371600"/>
            <a:ext cx="201168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4976" y="148132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После повторов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094976" y="1719072"/>
            <a:ext cx="17556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Градуированные ограничения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31520" y="34747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358444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Лучшие механики 1-й волны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77824" y="38679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82219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Блокировка завершения в запрещённой зоне</a:t>
            </a:r>
            <a:endParaRPr lang="en-US" sz="1090" dirty="0"/>
          </a:p>
        </p:txBody>
      </p:sp>
      <p:sp>
        <p:nvSpPr>
          <p:cNvPr id="29" name="Shape 27"/>
          <p:cNvSpPr/>
          <p:nvPr/>
        </p:nvSpPr>
        <p:spPr>
          <a:xfrm>
            <a:off x="877824" y="42153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16966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Обязательное фото парковки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877824" y="45628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51713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Градуированные последствия для рецидивистов</a:t>
            </a:r>
            <a:endParaRPr lang="en-US" sz="1090" dirty="0"/>
          </a:p>
        </p:txBody>
      </p:sp>
      <p:sp>
        <p:nvSpPr>
          <p:cNvPr id="33" name="Shape 31"/>
          <p:cNvSpPr/>
          <p:nvPr/>
        </p:nvSpPr>
        <p:spPr>
          <a:xfrm>
            <a:off x="4343400" y="34747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71416" y="358444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реально меняет поведение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489704" y="38679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9432" y="382219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Неудобство нарушения в моменте</a:t>
            </a:r>
            <a:endParaRPr lang="en-US" sz="1090" dirty="0"/>
          </a:p>
        </p:txBody>
      </p:sp>
      <p:sp>
        <p:nvSpPr>
          <p:cNvPr id="37" name="Shape 35"/>
          <p:cNvSpPr/>
          <p:nvPr/>
        </p:nvSpPr>
        <p:spPr>
          <a:xfrm>
            <a:off x="4489704" y="42153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416966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Понятные последствия после нарушения</a:t>
            </a:r>
            <a:endParaRPr lang="en-US" sz="1090" dirty="0"/>
          </a:p>
        </p:txBody>
      </p:sp>
      <p:sp>
        <p:nvSpPr>
          <p:cNvPr id="39" name="Shape 37"/>
          <p:cNvSpPr/>
          <p:nvPr/>
        </p:nvSpPr>
        <p:spPr>
          <a:xfrm>
            <a:off x="4489704" y="45628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9432" y="451713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Позитивная мотивация как усилитель</a:t>
            </a:r>
            <a:endParaRPr lang="en-US" sz="1090" dirty="0"/>
          </a:p>
        </p:txBody>
      </p:sp>
      <p:sp>
        <p:nvSpPr>
          <p:cNvPr id="41" name="Shape 39"/>
          <p:cNvSpPr/>
          <p:nvPr/>
        </p:nvSpPr>
        <p:spPr>
          <a:xfrm>
            <a:off x="7955280" y="34747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83296" y="358444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Чего не делать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101584" y="38679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1312" y="382219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 строить профилактику только на страхе штрафа</a:t>
            </a:r>
            <a:endParaRPr lang="en-US" sz="1090" dirty="0"/>
          </a:p>
        </p:txBody>
      </p:sp>
      <p:sp>
        <p:nvSpPr>
          <p:cNvPr id="45" name="Shape 43"/>
          <p:cNvSpPr/>
          <p:nvPr/>
        </p:nvSpPr>
        <p:spPr>
          <a:xfrm>
            <a:off x="8101584" y="42153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11312" y="416966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 усложнять first-ride UX длинным обучением</a:t>
            </a:r>
            <a:endParaRPr lang="en-US" sz="1090" dirty="0"/>
          </a:p>
        </p:txBody>
      </p:sp>
      <p:sp>
        <p:nvSpPr>
          <p:cNvPr id="47" name="Shape 45"/>
          <p:cNvSpPr/>
          <p:nvPr/>
        </p:nvSpPr>
        <p:spPr>
          <a:xfrm>
            <a:off x="8101584" y="45628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11312" y="451713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 внедрять рейтинг раньше core pipeline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Целевая архитектура: от сигнала до решения, апелляции и аудита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11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Это decision pipeline, а не “одна модель, которая штрафует”.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81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Источники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1719072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App · Messenger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Scout · Camera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481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Ingress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16936" y="1719072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API Gateway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Auth · Queue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148132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Processing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65776" y="1719072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EXIF · Quality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CV / OCR · Scene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269480" y="13716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7496" y="148132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Enrichment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97496" y="1719072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Geofence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Trip match · Risk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601200" y="13716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9216" y="148132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Decision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29216" y="1719072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AUTO / CLARIFY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MANUAL / NO SANCTION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31520" y="274320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85292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Storage / control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77824" y="313639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0906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Fines DB</a:t>
            </a:r>
            <a:endParaRPr lang="en-US" sz="1090" dirty="0"/>
          </a:p>
        </p:txBody>
      </p:sp>
      <p:sp>
        <p:nvSpPr>
          <p:cNvPr id="25" name="Shape 23"/>
          <p:cNvSpPr/>
          <p:nvPr/>
        </p:nvSpPr>
        <p:spPr>
          <a:xfrm>
            <a:off x="877824" y="348386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4381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Append-only audit log</a:t>
            </a:r>
            <a:endParaRPr lang="en-US" sz="1090" dirty="0"/>
          </a:p>
        </p:txBody>
      </p:sp>
      <p:sp>
        <p:nvSpPr>
          <p:cNvPr id="27" name="Shape 25"/>
          <p:cNvSpPr/>
          <p:nvPr/>
        </p:nvSpPr>
        <p:spPr>
          <a:xfrm>
            <a:off x="877824" y="383133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7856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Monitoring &amp; alerts</a:t>
            </a:r>
            <a:endParaRPr lang="en-US" sz="1090" dirty="0"/>
          </a:p>
        </p:txBody>
      </p:sp>
      <p:sp>
        <p:nvSpPr>
          <p:cNvPr id="29" name="Shape 27"/>
          <p:cNvSpPr/>
          <p:nvPr/>
        </p:nvSpPr>
        <p:spPr>
          <a:xfrm>
            <a:off x="877824" y="417880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13308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Appeals service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4434840" y="274320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62856" y="285292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Надёжность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81144" y="313639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30906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At-least-once processing + idempotent workers</a:t>
            </a:r>
            <a:endParaRPr lang="en-US" sz="1090" dirty="0"/>
          </a:p>
        </p:txBody>
      </p:sp>
      <p:sp>
        <p:nvSpPr>
          <p:cNvPr id="35" name="Shape 33"/>
          <p:cNvSpPr/>
          <p:nvPr/>
        </p:nvSpPr>
        <p:spPr>
          <a:xfrm>
            <a:off x="4581144" y="348386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34381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DLQ / retries / checkpoints</a:t>
            </a:r>
            <a:endParaRPr lang="en-US" sz="1090" dirty="0"/>
          </a:p>
        </p:txBody>
      </p:sp>
      <p:sp>
        <p:nvSpPr>
          <p:cNvPr id="37" name="Shape 35"/>
          <p:cNvSpPr/>
          <p:nvPr/>
        </p:nvSpPr>
        <p:spPr>
          <a:xfrm>
            <a:off x="4581144" y="383133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37856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Queue держит пиковый вход и сбои воркеров</a:t>
            </a:r>
            <a:endParaRPr lang="en-US" sz="1090" dirty="0"/>
          </a:p>
        </p:txBody>
      </p:sp>
      <p:sp>
        <p:nvSpPr>
          <p:cNvPr id="39" name="Shape 37"/>
          <p:cNvSpPr/>
          <p:nvPr/>
        </p:nvSpPr>
        <p:spPr>
          <a:xfrm>
            <a:off x="8138160" y="2743200"/>
            <a:ext cx="3108960" cy="1920240"/>
          </a:xfrm>
          <a:prstGeom prst="roundRect">
            <a:avLst>
              <a:gd name="adj" fmla="val 2857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6176" y="2852928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Границы безопасности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284464" y="313639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3090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Geofence ±30 м → MANUAL</a:t>
            </a:r>
            <a:endParaRPr lang="en-US" sz="1090" dirty="0"/>
          </a:p>
        </p:txBody>
      </p:sp>
      <p:sp>
        <p:nvSpPr>
          <p:cNvPr id="43" name="Shape 41"/>
          <p:cNvSpPr/>
          <p:nvPr/>
        </p:nvSpPr>
        <p:spPr>
          <a:xfrm>
            <a:off x="8284464" y="348386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94192" y="3438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High-risk кейсы → MANUAL</a:t>
            </a:r>
            <a:endParaRPr lang="en-US" sz="1090" dirty="0"/>
          </a:p>
        </p:txBody>
      </p:sp>
      <p:sp>
        <p:nvSpPr>
          <p:cNvPr id="45" name="Shape 43"/>
          <p:cNvSpPr/>
          <p:nvPr/>
        </p:nvSpPr>
        <p:spPr>
          <a:xfrm>
            <a:off x="8284464" y="383133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94192" y="37856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Неполный кейс → clarification или no sanction</a:t>
            </a:r>
            <a:endParaRPr lang="en-US" sz="10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Decision engine и data model: как не усилить ошибки системы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Risk score влияет на маршрут кейса, но не заменяет evidence.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38988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Decision rules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167335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AUTO: good quality + scooter ID + strong trip match + low/medium-risk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877824" y="202082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9751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CLARIFICATION: не хватает 1–2 добираемых полей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877824" y="236829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3225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MANUAL: buffer geofence, conflict signals, high-risk нарушения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877824" y="271576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670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NO SANCTION: кейс остаётся недоказуемым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4526280" y="12801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3898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Risk score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72584" y="167335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6276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Low risk: warning / grace для первого minor-case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4672584" y="202082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19751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Medium risk: AUTO только для формальных кейсов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4672584" y="236829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32257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High risk: чаще HYBRID / MANUAL, а не агрессивный AUTO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8229600" y="1280160"/>
            <a:ext cx="3108960" cy="1828800"/>
          </a:xfrm>
          <a:prstGeom prst="roundRect">
            <a:avLst>
              <a:gd name="adj" fmla="val 3000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1389888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Этические guardrails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75904" y="167335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16276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 использовать демографию и адрес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8375904" y="202082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1975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Appeal-success снижает AUTO, а не “подозрительность”</a:t>
            </a:r>
            <a:endParaRPr lang="en-US" sz="1090" dirty="0"/>
          </a:p>
        </p:txBody>
      </p:sp>
      <p:sp>
        <p:nvSpPr>
          <p:cNvPr id="30" name="Shape 28"/>
          <p:cNvSpPr/>
          <p:nvPr/>
        </p:nvSpPr>
        <p:spPr>
          <a:xfrm>
            <a:off x="8375904" y="236829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23225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Слабый evidence нельзя компенсировать плохой историей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777240" y="379476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390448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users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05256" y="4142232"/>
            <a:ext cx="1618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user_id PK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3017520" y="379476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45536" y="390448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trips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257800" y="379476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85816" y="390448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fines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498080" y="379476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6096" y="390448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user_fine_history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738360" y="379476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66376" y="390448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appeals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2670048" y="4114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910328" y="4114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150608" y="4114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390888" y="4114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777240" y="498348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256" y="5093208"/>
            <a:ext cx="10259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Ключ связи: trips.user_id → users.user_id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05256" y="533095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Нельзя использовать phone/email напрямую: это PII, они изменяемы и плохо подходят как operational join key.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Экономика проекта: где рождается эффект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13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Считаем не только “модель против оператора”, а всю цепочку ручной нагрузки вокруг штрафного кейса.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0574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73152" cy="786384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356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799 тыс. ₽/мес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70992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current 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185623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manual handling + clarifications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1325880"/>
            <a:ext cx="20574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325880"/>
            <a:ext cx="73152" cy="78638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4356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3,5 млн 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82112" y="170992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CAPEX 1-й волны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82112" y="185623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узкий, реалистичный scope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1325880"/>
            <a:ext cx="20574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325880"/>
            <a:ext cx="73152" cy="786384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14356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247 тыс. ₽/мес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68112" y="170992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Net saving базовый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68112" y="185623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после нового OPEX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89520" y="1325880"/>
            <a:ext cx="20574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325880"/>
            <a:ext cx="73152" cy="7863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14356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14 мес.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54112" y="170992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Payback базовый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54112" y="185623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при conservative policy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260604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271576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Где экономим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77824" y="299923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29535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Снижение AHT и ручных минут</a:t>
            </a:r>
            <a:endParaRPr lang="en-US" sz="1090" dirty="0"/>
          </a:p>
        </p:txBody>
      </p:sp>
      <p:sp>
        <p:nvSpPr>
          <p:cNvPr id="30" name="Shape 28"/>
          <p:cNvSpPr/>
          <p:nvPr/>
        </p:nvSpPr>
        <p:spPr>
          <a:xfrm>
            <a:off x="877824" y="334670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33009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Меньше доуточнений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877824" y="369417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6484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Меньше эскалаций и повторных касаний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877824" y="404164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39959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Меньше ручного разбора апелляций</a:t>
            </a:r>
            <a:endParaRPr lang="en-US" sz="109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709160" y="2651760"/>
          <a:ext cx="3383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8321040" y="260604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49056" y="271576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Главный риск экономики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8467344" y="299923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77072" y="29535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Если вырастут ложные штрафы и appeals, payback ломается.</a:t>
            </a:r>
            <a:endParaRPr lang="en-US" sz="1090" dirty="0"/>
          </a:p>
        </p:txBody>
      </p:sp>
      <p:sp>
        <p:nvSpPr>
          <p:cNvPr id="41" name="Shape 38"/>
          <p:cNvSpPr/>
          <p:nvPr/>
        </p:nvSpPr>
        <p:spPr>
          <a:xfrm>
            <a:off x="8467344" y="334670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77072" y="3300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Поэтому первая волна должна быть узкой и policy-консервативной.</a:t>
            </a:r>
            <a:endParaRPr lang="en-US" sz="10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Гант и задачник: как довести проект до запуска за 4 месяца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Проект реалистичен только как поэтапный rollout с жёсткими зависимостями между 7 командами.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38988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Июнь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" y="1627632"/>
            <a:ext cx="230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Анализ и проектирование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520440" y="12801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38988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Июль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48456" y="1627632"/>
            <a:ext cx="230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Build и первые модели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355080" y="12801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38988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Август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83096" y="1627632"/>
            <a:ext cx="230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Закрытый тест и правки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189720" y="12801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17736" y="138988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Сентябрь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317736" y="1627632"/>
            <a:ext cx="23042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Rollout и стабилизация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31520" y="2560320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670048"/>
            <a:ext cx="3447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Критический путь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77824" y="29535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29077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Analytics → Product PRD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877824" y="33009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25526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Product PRD → ML first version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877824" y="36484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60273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ML → ML-development integration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877824" y="399592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9502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Integration → Operations test → fixes → rollout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4617720" y="256032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2670048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Чекпоинты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764024" y="29535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90779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CP1: аналитика + PRD + ТЗ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4764024" y="33009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25526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CP2: forms + first models + MVP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4764024" y="36484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360273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CP3: closed test + fixes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4764024" y="399592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95020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CP4: rollout + monitoring + trained ops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8183880" y="2560320"/>
            <a:ext cx="3063240" cy="2011680"/>
          </a:xfrm>
          <a:prstGeom prst="roundRect">
            <a:avLst>
              <a:gd name="adj" fmla="val 2727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11896" y="267004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Главные blockers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330184" y="295351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9912" y="290779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Задержка Analytics в июне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8330184" y="330098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39912" y="325526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Раздувание scope первой волны</a:t>
            </a:r>
            <a:endParaRPr lang="en-US" sz="1090" dirty="0"/>
          </a:p>
        </p:txBody>
      </p:sp>
      <p:sp>
        <p:nvSpPr>
          <p:cNvPr id="44" name="Shape 42"/>
          <p:cNvSpPr/>
          <p:nvPr/>
        </p:nvSpPr>
        <p:spPr>
          <a:xfrm>
            <a:off x="8330184" y="364845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360273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Поздний first model от ML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8330184" y="399592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9912" y="39502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Недостаточное время на Ops test</a:t>
            </a:r>
            <a:endParaRPr lang="en-US" sz="10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Финальная рекомендация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0" y="338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Scooter Hub · 15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Первая волна должна быть узкой, управляемой и безопасной — тогда проект и защищается, и окупается.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FF8C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344168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Что запускаем в первой волне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162763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5819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Guided intake по каналам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877824" y="197510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92938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Систему автоматических доуточнений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877824" y="232257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768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Parking / geofence automation для high-confidence кейсов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877824" y="2670048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6243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Manual review + audit + monitoring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6355080" y="1234440"/>
            <a:ext cx="4937760" cy="192024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1344168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Почему это сильное решение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01384" y="1627632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158191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Показывает путь от данных к продукту, архитектуре и экономике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501384" y="1975104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192938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Не обещает опасный full-auto там, где кейс недоказуем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6501384" y="2322576"/>
            <a:ext cx="54864" cy="5486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227685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111111"/>
                </a:solidFill>
              </a:rPr>
              <a:t>Дает быстрый эффект в самой дорогой части процесса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777240" y="36576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376732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Итог по защите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5256" y="400507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Мы не строим идеальный AI, который сам штрафует всех. Мы строим систему, которую можно масштабировать, контролировать и защищать перед бизнесом и ops.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434840" y="36576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62856" y="376732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Итог по бизнесу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62856" y="400507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Главный payback — снижение ручных минут, уточнений и downstream-споров. Appeal rate остаётся stop-metric.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092440" y="365760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0456" y="3767328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Итог по rollout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20456" y="4005072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Февраль–март: подготовка линии. Июнь–сентябрь: build → test → rollout. Первая волна — parking first.</a:t>
            </a:r>
            <a:endParaRPr lang="en-US" sz="1120" dirty="0"/>
          </a:p>
        </p:txBody>
      </p:sp>
      <p:pic>
        <p:nvPicPr>
          <p:cNvPr id="33" name="Image 0" descr="/mnt/data/user-VfHPgnRcuyj0TLnVVFPdRtNZ/87d8e4550fd14864a2774734b7451a94/mnt/data/case1_extracted/Материалы для кейса №1/photo_2026-03-05_18-55-18.jpg">    </p:cNvPr>
          <p:cNvPicPr>
            <a:picLocks noChangeAspect="1"/>
          </p:cNvPicPr>
          <p:nvPr/>
        </p:nvPicPr>
        <p:blipFill>
          <a:blip r:embed="rId1"/>
          <a:srcRect l="0" r="0" t="35641" b="35641"/>
          <a:stretch/>
        </p:blipFill>
        <p:spPr>
          <a:xfrm>
            <a:off x="8138160" y="4800600"/>
            <a:ext cx="301752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Scooter Hub — Автоматизация обработки штрафов</dc:title>
  <dc:subject>Ready-for-defense deck</dc:subject>
  <dc:creator>OpenAI</dc:creator>
  <cp:lastModifiedBy>OpenAI</cp:lastModifiedBy>
  <cp:revision>1</cp:revision>
  <dcterms:created xsi:type="dcterms:W3CDTF">2026-04-06T02:13:36Z</dcterms:created>
  <dcterms:modified xsi:type="dcterms:W3CDTF">2026-04-06T02:13:36Z</dcterms:modified>
</cp:coreProperties>
</file>