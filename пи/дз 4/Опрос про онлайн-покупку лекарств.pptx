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27"/>
  </p:normalViewPr>
  <p:slideViewPr>
    <p:cSldViewPr snapToGrid="0">
      <p:cViewPr varScale="1">
        <p:scale>
          <a:sx n="104" d="100"/>
          <a:sy n="104" d="100"/>
        </p:scale>
        <p:origin x="23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11/10/25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11/10/25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11/10/25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11/10/25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11/10/25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11/10/25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11/10/25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11/10/25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11/10/25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11/10/25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11/10/25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11/10/25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11/10/25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11/10/25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11/10/25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3ABC8-C222-7161-5E26-7EF8174A8E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Исследование пользовательского опыта онлайн-покупки лекарств</a:t>
            </a:r>
            <a:endParaRPr lang="en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7445B5-A4E5-6190-AE5D-F09AAA657D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280846"/>
            <a:ext cx="10572000" cy="941050"/>
          </a:xfrm>
        </p:spPr>
        <p:txBody>
          <a:bodyPr>
            <a:normAutofit/>
          </a:bodyPr>
          <a:lstStyle/>
          <a:p>
            <a:r>
              <a:rPr lang="ru-RU" dirty="0"/>
              <a:t>Для проверки гипотез исследования был проведен опрос; опрошены 43 респондента</a:t>
            </a:r>
            <a:br>
              <a:rPr lang="ru-RU" dirty="0"/>
            </a:br>
            <a:r>
              <a:rPr lang="ru-RU" dirty="0"/>
              <a:t>в ноябре 2025 года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764331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D047F-7F7D-8271-FD1C-0D7CAA28D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опроса</a:t>
            </a:r>
            <a:endParaRPr lang="en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5162E-99D9-D102-2B31-5CE163FBDD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354633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3169F-5A1C-E363-C40D-25886995E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Аудитория</a:t>
            </a:r>
            <a:endParaRPr lang="en-RU" dirty="0"/>
          </a:p>
        </p:txBody>
      </p:sp>
      <p:pic>
        <p:nvPicPr>
          <p:cNvPr id="1032" name="Picture 8" descr="Диаграмма ответов в Формах. Вопрос: Сколько Вам лет?. Количество ответов: 43 ответа.">
            <a:extLst>
              <a:ext uri="{FF2B5EF4-FFF2-40B4-BE49-F238E27FC236}">
                <a16:creationId xmlns:a16="http://schemas.microsoft.com/office/drawing/2014/main" id="{57C8F5C0-6682-75CC-16C6-DA8415259DD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504" y="3989102"/>
            <a:ext cx="5755493" cy="2421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Диаграмма ответов в Формах. Вопрос: Где Вы проживаете?. Количество ответов: 43 ответа.">
            <a:extLst>
              <a:ext uri="{FF2B5EF4-FFF2-40B4-BE49-F238E27FC236}">
                <a16:creationId xmlns:a16="http://schemas.microsoft.com/office/drawing/2014/main" id="{D8E21E46-726C-467E-943B-678D35CB9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567392"/>
            <a:ext cx="5756339" cy="2421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Диаграмма ответов в Формах. Вопрос: Ваш доход в месяц (в среднем на одного человека в семье)?. Количество ответов: 43 ответа.">
            <a:extLst>
              <a:ext uri="{FF2B5EF4-FFF2-40B4-BE49-F238E27FC236}">
                <a16:creationId xmlns:a16="http://schemas.microsoft.com/office/drawing/2014/main" id="{020511B1-F534-7A37-072F-65801B909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154" y="3976694"/>
            <a:ext cx="5757185" cy="2434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Диаграмма ответов в Формах. Вопрос: Ваш пол. Количество ответов: 43 ответа.">
            <a:extLst>
              <a:ext uri="{FF2B5EF4-FFF2-40B4-BE49-F238E27FC236}">
                <a16:creationId xmlns:a16="http://schemas.microsoft.com/office/drawing/2014/main" id="{BE5B9B0B-420F-EA8F-E58D-3E7BD3E983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659" y="1567392"/>
            <a:ext cx="5756339" cy="2421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2395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30600-EDD1-4788-BFB6-36B00B062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Аудитория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502DD-FB6D-3AD4-F6F7-90082D833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RU"/>
          </a:p>
        </p:txBody>
      </p:sp>
      <p:pic>
        <p:nvPicPr>
          <p:cNvPr id="2050" name="Picture 2" descr="Диаграмма ответов в Формах. Вопрос: Для кого Вы чаще всего покупаете лекарства?. Количество ответов: 43 ответа.">
            <a:extLst>
              <a:ext uri="{FF2B5EF4-FFF2-40B4-BE49-F238E27FC236}">
                <a16:creationId xmlns:a16="http://schemas.microsoft.com/office/drawing/2014/main" id="{FED7321B-3FF3-5188-663A-454A2FE088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7" b="9716"/>
          <a:stretch/>
        </p:blipFill>
        <p:spPr bwMode="auto">
          <a:xfrm>
            <a:off x="275967" y="2816289"/>
            <a:ext cx="5820032" cy="244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Диаграмма ответов в Формах. Вопрос: Как часто Вы покупаете лекарства онлайн, а не в физической аптеке?. Количество ответов: 43 ответа.">
            <a:extLst>
              <a:ext uri="{FF2B5EF4-FFF2-40B4-BE49-F238E27FC236}">
                <a16:creationId xmlns:a16="http://schemas.microsoft.com/office/drawing/2014/main" id="{C3E69952-0BD9-014D-A27B-E819DDB12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2816288"/>
            <a:ext cx="5820032" cy="244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7678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30600-EDD1-4788-BFB6-36B00B062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Оффлайн-покупатели</a:t>
            </a:r>
            <a:endParaRPr lang="en-RU" dirty="0"/>
          </a:p>
        </p:txBody>
      </p:sp>
      <p:pic>
        <p:nvPicPr>
          <p:cNvPr id="3074" name="Picture 2" descr="Диаграмма ответов в Формах. Вопрос: Почему Вы предпочитаете оффлайн-покупки?. Количество ответов: 23 ответа.">
            <a:extLst>
              <a:ext uri="{FF2B5EF4-FFF2-40B4-BE49-F238E27FC236}">
                <a16:creationId xmlns:a16="http://schemas.microsoft.com/office/drawing/2014/main" id="{42AF3522-9D4A-CB2D-B231-38A37B5DF6D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86" y="2916195"/>
            <a:ext cx="6161987" cy="292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Диаграмма ответов в Формах. Вопрос: Какие преимущества онлайн-магазинов могли бы убедить Вас чаще покупать лекарства онлайн?. Количество ответов: 23 ответа.">
            <a:extLst>
              <a:ext uri="{FF2B5EF4-FFF2-40B4-BE49-F238E27FC236}">
                <a16:creationId xmlns:a16="http://schemas.microsoft.com/office/drawing/2014/main" id="{675AEA92-3D62-98FC-56C8-11A87968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1116" y="2916195"/>
            <a:ext cx="5777317" cy="292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6881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30600-EDD1-4788-BFB6-36B00B062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Покупки онлайн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9DA18-452A-DDBD-0E84-CC9B885EE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8"/>
            <a:ext cx="10554574" cy="693908"/>
          </a:xfrm>
        </p:spPr>
        <p:txBody>
          <a:bodyPr/>
          <a:lstStyle/>
          <a:p>
            <a:r>
              <a:rPr lang="ru-RU" dirty="0"/>
              <a:t>Основные гипотезы: Пользователям важны стоимость, скидки и акции, бонусная программа. Пользователям важно доверие и надежность сервиса. </a:t>
            </a:r>
            <a:endParaRPr lang="en-RU" dirty="0"/>
          </a:p>
        </p:txBody>
      </p:sp>
      <p:pic>
        <p:nvPicPr>
          <p:cNvPr id="4098" name="Picture 2" descr="Диаграмма ответов в Формах. Вопрос: Какие критерии для Вас важнее всего при выборе онлайн-аптеки?. Количество ответов: 20 ответов.">
            <a:extLst>
              <a:ext uri="{FF2B5EF4-FFF2-40B4-BE49-F238E27FC236}">
                <a16:creationId xmlns:a16="http://schemas.microsoft.com/office/drawing/2014/main" id="{0BFB1B7E-14AD-4623-2442-5E707E3F25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33" y="3218142"/>
            <a:ext cx="6096000" cy="2897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FA33110-52BB-0344-705E-C4AAB3F4B7B2}"/>
              </a:ext>
            </a:extLst>
          </p:cNvPr>
          <p:cNvSpPr txBox="1">
            <a:spLocks/>
          </p:cNvSpPr>
          <p:nvPr/>
        </p:nvSpPr>
        <p:spPr>
          <a:xfrm>
            <a:off x="6808572" y="3026938"/>
            <a:ext cx="4898347" cy="3089186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Чаще всего пользователи заказывают товары в сервисах:</a:t>
            </a:r>
          </a:p>
          <a:p>
            <a:pPr lvl="1"/>
            <a:r>
              <a:rPr lang="ru-RU" dirty="0" err="1"/>
              <a:t>Аптека.ру</a:t>
            </a:r>
            <a:endParaRPr lang="ru-RU" dirty="0"/>
          </a:p>
          <a:p>
            <a:pPr lvl="1"/>
            <a:r>
              <a:rPr lang="ru-RU" dirty="0" err="1"/>
              <a:t>Еаптека</a:t>
            </a:r>
            <a:endParaRPr lang="ru-RU" dirty="0"/>
          </a:p>
          <a:p>
            <a:pPr lvl="1"/>
            <a:r>
              <a:rPr lang="ru-RU" dirty="0"/>
              <a:t>Аптека «Апрель»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446366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30600-EDD1-4788-BFB6-36B00B062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Покупки онлайн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9DA18-452A-DDBD-0E84-CC9B885EE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8"/>
            <a:ext cx="10554574" cy="693908"/>
          </a:xfrm>
        </p:spPr>
        <p:txBody>
          <a:bodyPr/>
          <a:lstStyle/>
          <a:p>
            <a:r>
              <a:rPr lang="ru-RU" dirty="0"/>
              <a:t>Пользователи в основном довольны любимыми сервисами. Самые частые трудности – это отсутствие товара в наличии, высокая цена.</a:t>
            </a:r>
            <a:endParaRPr lang="en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6EE07A-B946-1D9D-914B-1CFD9F5E282E}"/>
              </a:ext>
            </a:extLst>
          </p:cNvPr>
          <p:cNvSpPr txBox="1"/>
          <p:nvPr/>
        </p:nvSpPr>
        <p:spPr>
          <a:xfrm>
            <a:off x="7302843" y="345989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R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A00EFA-FD69-EA99-CC93-23EF0973A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53" y="3829224"/>
            <a:ext cx="5892800" cy="1568245"/>
          </a:xfrm>
          <a:prstGeom prst="rect">
            <a:avLst/>
          </a:prstGeom>
        </p:spPr>
      </p:pic>
      <p:pic>
        <p:nvPicPr>
          <p:cNvPr id="6148" name="Picture 4" descr="Диаграмма ответов в Формах. Вопрос: С какими трудностями/неудобствами Вы чаще всего сталкиваетесь при заказе лекарств онлайн?. Количество ответов: 20 ответов.">
            <a:extLst>
              <a:ext uri="{FF2B5EF4-FFF2-40B4-BE49-F238E27FC236}">
                <a16:creationId xmlns:a16="http://schemas.microsoft.com/office/drawing/2014/main" id="{551D70DA-45BE-80A6-B34C-F64D828A13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8348" y="3151767"/>
            <a:ext cx="5892799" cy="2994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3639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30600-EDD1-4788-BFB6-36B00B062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Покупки онлайн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9DA18-452A-DDBD-0E84-CC9B885EE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8"/>
            <a:ext cx="10554574" cy="970450"/>
          </a:xfrm>
        </p:spPr>
        <p:txBody>
          <a:bodyPr>
            <a:normAutofit/>
          </a:bodyPr>
          <a:lstStyle/>
          <a:p>
            <a:r>
              <a:rPr lang="ru-RU" dirty="0"/>
              <a:t>Большинство пользователей никогда не заказывают лекарства на маркетплейсах, так как не доверяют качеству товаров на маркетплейсах, а также купить товар в аптеке часто бывает быстрее, и можно проконсультироваться с фармацевтом.</a:t>
            </a:r>
            <a:endParaRPr lang="en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6EE07A-B946-1D9D-914B-1CFD9F5E282E}"/>
              </a:ext>
            </a:extLst>
          </p:cNvPr>
          <p:cNvSpPr txBox="1"/>
          <p:nvPr/>
        </p:nvSpPr>
        <p:spPr>
          <a:xfrm>
            <a:off x="7302843" y="345989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RU" dirty="0"/>
          </a:p>
        </p:txBody>
      </p:sp>
      <p:pic>
        <p:nvPicPr>
          <p:cNvPr id="8194" name="Picture 2" descr="Диаграмма ответов в Формах. Вопрос: Как часто Вы покупаете лекарства на маркетплейсах (Ozon, Wildberries...)?. Количество ответов: 20 ответов.">
            <a:extLst>
              <a:ext uri="{FF2B5EF4-FFF2-40B4-BE49-F238E27FC236}">
                <a16:creationId xmlns:a16="http://schemas.microsoft.com/office/drawing/2014/main" id="{0EC54483-9375-73D9-1C57-7D8FC658B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489" y="3429000"/>
            <a:ext cx="7079019" cy="2978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4170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30600-EDD1-4788-BFB6-36B00B062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Покупки онлайн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9DA18-452A-DDBD-0E84-CC9B885EE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8"/>
            <a:ext cx="10554574" cy="970450"/>
          </a:xfrm>
        </p:spPr>
        <p:txBody>
          <a:bodyPr>
            <a:normAutofit/>
          </a:bodyPr>
          <a:lstStyle/>
          <a:p>
            <a:r>
              <a:rPr lang="ru-RU" dirty="0"/>
              <a:t>Киллер-фича разрабатываемого продукта – автозаказ лекарств. Пользователям нравится эта идея, но есть важные критерии. Я подобрала разные варианты решения проблемы и предложила пользователям выбрать, какие из них самые важные для них.</a:t>
            </a:r>
            <a:endParaRPr lang="en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6EE07A-B946-1D9D-914B-1CFD9F5E282E}"/>
              </a:ext>
            </a:extLst>
          </p:cNvPr>
          <p:cNvSpPr txBox="1"/>
          <p:nvPr/>
        </p:nvSpPr>
        <p:spPr>
          <a:xfrm>
            <a:off x="7302843" y="345989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RU" dirty="0"/>
          </a:p>
        </p:txBody>
      </p:sp>
      <p:pic>
        <p:nvPicPr>
          <p:cNvPr id="10242" name="Picture 2" descr="Диаграмма ответов в Формах. Вопрос: Если бы онлайн-сервис покупки лекарств предлагал возможность настроить автозаказ лекарств, какие критерии были бы важнее всего для Вас?. Количество ответов: 20 ответов.">
            <a:extLst>
              <a:ext uri="{FF2B5EF4-FFF2-40B4-BE49-F238E27FC236}">
                <a16:creationId xmlns:a16="http://schemas.microsoft.com/office/drawing/2014/main" id="{57E26A6F-DE28-E4D5-3584-E2F387F4D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9852" y="3310355"/>
            <a:ext cx="6532296" cy="3319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4666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30600-EDD1-4788-BFB6-36B00B062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Заказы с доставкой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9DA18-452A-DDBD-0E84-CC9B885EE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8"/>
            <a:ext cx="10554574" cy="970450"/>
          </a:xfrm>
        </p:spPr>
        <p:txBody>
          <a:bodyPr>
            <a:normAutofit/>
          </a:bodyPr>
          <a:lstStyle/>
          <a:p>
            <a:endParaRPr lang="en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6EE07A-B946-1D9D-914B-1CFD9F5E282E}"/>
              </a:ext>
            </a:extLst>
          </p:cNvPr>
          <p:cNvSpPr txBox="1"/>
          <p:nvPr/>
        </p:nvSpPr>
        <p:spPr>
          <a:xfrm>
            <a:off x="7302843" y="345989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RU" dirty="0"/>
          </a:p>
        </p:txBody>
      </p:sp>
      <p:pic>
        <p:nvPicPr>
          <p:cNvPr id="12290" name="Picture 2" descr="Диаграмма ответов в Формах. Вопрос: Как часто Вы заказываете лекарства с доставкой?. Количество ответов: 20 ответов.">
            <a:extLst>
              <a:ext uri="{FF2B5EF4-FFF2-40B4-BE49-F238E27FC236}">
                <a16:creationId xmlns:a16="http://schemas.microsoft.com/office/drawing/2014/main" id="{EAF76D76-D05B-A4A8-BEBB-3C6FDE18C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302" y="2343341"/>
            <a:ext cx="10231394" cy="4304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9365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30600-EDD1-4788-BFB6-36B00B062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Заказы с доставкой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9DA18-452A-DDBD-0E84-CC9B885EE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8"/>
            <a:ext cx="10554574" cy="970450"/>
          </a:xfrm>
        </p:spPr>
        <p:txBody>
          <a:bodyPr>
            <a:normAutofit/>
          </a:bodyPr>
          <a:lstStyle/>
          <a:p>
            <a:endParaRPr lang="en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6EE07A-B946-1D9D-914B-1CFD9F5E282E}"/>
              </a:ext>
            </a:extLst>
          </p:cNvPr>
          <p:cNvSpPr txBox="1"/>
          <p:nvPr/>
        </p:nvSpPr>
        <p:spPr>
          <a:xfrm>
            <a:off x="7302843" y="345989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RU" dirty="0"/>
          </a:p>
        </p:txBody>
      </p:sp>
      <p:pic>
        <p:nvPicPr>
          <p:cNvPr id="14338" name="Picture 2" descr="Диаграмма ответов в Формах. Вопрос: С какими трудностями/неудобствами Вы чаще всего сталкиваетесь при заказе лекарств с доставкой?. Количество ответов: 20 ответов.">
            <a:extLst>
              <a:ext uri="{FF2B5EF4-FFF2-40B4-BE49-F238E27FC236}">
                <a16:creationId xmlns:a16="http://schemas.microsoft.com/office/drawing/2014/main" id="{A02FCCF9-ADCD-DEA8-845F-C9A83449B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0307" y="2361933"/>
            <a:ext cx="8291384" cy="4213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2023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30600-EDD1-4788-BFB6-36B00B062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Доставка рецептурных препаратов</a:t>
            </a:r>
            <a:endParaRPr lang="en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6EE07A-B946-1D9D-914B-1CFD9F5E282E}"/>
              </a:ext>
            </a:extLst>
          </p:cNvPr>
          <p:cNvSpPr txBox="1"/>
          <p:nvPr/>
        </p:nvSpPr>
        <p:spPr>
          <a:xfrm>
            <a:off x="7302843" y="345989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RU" dirty="0"/>
          </a:p>
        </p:txBody>
      </p:sp>
      <p:pic>
        <p:nvPicPr>
          <p:cNvPr id="15362" name="Picture 2" descr="Диаграмма ответов в Формах. Вопрос: Как часто Вы покупаете рецептурные препараты?. Количество ответов: 20 ответов.">
            <a:extLst>
              <a:ext uri="{FF2B5EF4-FFF2-40B4-BE49-F238E27FC236}">
                <a16:creationId xmlns:a16="http://schemas.microsoft.com/office/drawing/2014/main" id="{9F3AD848-18DD-08FF-D23F-362BC454771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81" y="3056994"/>
            <a:ext cx="5995019" cy="2522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Диаграмма ответов в Формах. Вопрос: С какими трудностями/неудобствами Вы чаще всего сталкиваетесь при заказе рецептурных лекарств?. Количество ответов: 20 ответов.">
            <a:extLst>
              <a:ext uri="{FF2B5EF4-FFF2-40B4-BE49-F238E27FC236}">
                <a16:creationId xmlns:a16="http://schemas.microsoft.com/office/drawing/2014/main" id="{41B902F9-8A09-2970-F854-61CADE367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2794619"/>
            <a:ext cx="5996114" cy="3047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3441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D709D-3E5C-1811-5E4D-70CA733CA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 и рекомендации</a:t>
            </a:r>
            <a:endParaRPr lang="en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8972DE-AB43-A416-1010-7306D75C158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799913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F8B73-F2A5-8ACB-D0FA-F07BC603A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Цена и доставка</a:t>
            </a:r>
            <a:endParaRPr lang="en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46FD4-1C92-B7DA-6949-BE622EB88D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08D75-81BB-1239-8666-72263D121C0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574642" y="1081457"/>
            <a:ext cx="3810001" cy="4837430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Пользователям действительно в первую очередь важна цена, а во вторую очередь важна скорость доставки. Рекомендуется ввести понятную бонусную программу и маркетинговые акции и скидки для привлечения пользователей, а также стоит и дальше развивать логистику.</a:t>
            </a:r>
          </a:p>
          <a:p>
            <a:r>
              <a:rPr lang="ru-RU" dirty="0"/>
              <a:t>Рекомендуется рассмотреть функцию выбора времени доставки. Невозможность согласовать время доставки – основная проблема пользователей при покупке с доставкой.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243012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F8B73-F2A5-8ACB-D0FA-F07BC603A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Доверие пользователей</a:t>
            </a:r>
            <a:endParaRPr lang="en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46FD4-1C92-B7DA-6949-BE622EB88D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08D75-81BB-1239-8666-72263D121C0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ru-RU" dirty="0"/>
              <a:t>Пользователи очень слабо доверяют маркетплейсам из-за того, что боятся получить некачественный товар. Рекомендуется ввести систему подтверждения качества товара в нашем маркетплейсе.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98858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F8B73-F2A5-8ACB-D0FA-F07BC603A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Автозаказ лекарств</a:t>
            </a:r>
            <a:endParaRPr lang="en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46FD4-1C92-B7DA-6949-BE622EB88D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08D75-81BB-1239-8666-72263D121C0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960998"/>
          </a:xfrm>
        </p:spPr>
        <p:txBody>
          <a:bodyPr>
            <a:normAutofit/>
          </a:bodyPr>
          <a:lstStyle/>
          <a:p>
            <a:r>
              <a:rPr lang="ru-RU" dirty="0"/>
              <a:t>Пользователям понравится автозаказ лекарств, однако не всем нужно принимать лекарства очень регулярно, и большинство пользователей были бы рады возможности отказаться от автозаказа в текущем месяце, если лекарство еще не закончилось и </a:t>
            </a:r>
            <a:r>
              <a:rPr lang="ru-RU" dirty="0" err="1"/>
              <a:t>дозаказывать</a:t>
            </a:r>
            <a:r>
              <a:rPr lang="ru-RU" dirty="0"/>
              <a:t> его не нужно. Также пользователям важно, чтобы цена оставалась фиксированной – нужно рассмотреть варианты реализации подписки на лекарство по фиксированной цене.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574321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F8B73-F2A5-8ACB-D0FA-F07BC603A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Электронные рецепты</a:t>
            </a:r>
            <a:endParaRPr lang="en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46FD4-1C92-B7DA-6949-BE622EB88D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08D75-81BB-1239-8666-72263D121C0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960998"/>
          </a:xfrm>
        </p:spPr>
        <p:txBody>
          <a:bodyPr>
            <a:normAutofit/>
          </a:bodyPr>
          <a:lstStyle/>
          <a:p>
            <a:r>
              <a:rPr lang="ru-RU" dirty="0"/>
              <a:t>Пользователям неудобно пользоваться бумажными рецептами – они теряются, забываются, рвутся и мнутся, фотография рецепта не подходит для подтверждения. Рекомендуется рассмотреть реализацию электронных рецептов в нашем маркетплейсе.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379267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50FFB-8AAF-FAE5-2864-5D2A0621D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  <a:endParaRPr lang="en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CC2E20-82A9-F369-D988-50A004C09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958961"/>
          </a:xfrm>
        </p:spPr>
        <p:txBody>
          <a:bodyPr/>
          <a:lstStyle/>
          <a:p>
            <a:r>
              <a:rPr lang="ru-RU" dirty="0"/>
              <a:t>Спасибо, что прослушали презентацию результатов опроса. Ответы респондентов в этом опросе помогут нам сделать наш сервис лучше и привлекательнее для пользователей, и мы достигнем успеха, если прислушаемся к нашим пользователям.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6716402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36</TotalTime>
  <Words>390</Words>
  <Application>Microsoft Macintosh PowerPoint</Application>
  <PresentationFormat>Widescreen</PresentationFormat>
  <Paragraphs>33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Century Gothic</vt:lpstr>
      <vt:lpstr>Wingdings 2</vt:lpstr>
      <vt:lpstr>Quotable</vt:lpstr>
      <vt:lpstr>Исследование пользовательского опыта онлайн-покупки лекарств</vt:lpstr>
      <vt:lpstr>Результаты опроса</vt:lpstr>
      <vt:lpstr>Аудитория</vt:lpstr>
      <vt:lpstr>Аудитория</vt:lpstr>
      <vt:lpstr>Оффлайн-покупатели</vt:lpstr>
      <vt:lpstr>Покупки онлайн</vt:lpstr>
      <vt:lpstr>Покупки онлайн</vt:lpstr>
      <vt:lpstr>Покупки онлайн</vt:lpstr>
      <vt:lpstr>Покупки онлайн</vt:lpstr>
      <vt:lpstr>Заказы с доставкой</vt:lpstr>
      <vt:lpstr>Заказы с доставкой</vt:lpstr>
      <vt:lpstr>Доставка рецептурных препаратов</vt:lpstr>
      <vt:lpstr>Выводы и рекомендации</vt:lpstr>
      <vt:lpstr>Цена и доставка</vt:lpstr>
      <vt:lpstr>Доверие пользователей</vt:lpstr>
      <vt:lpstr>Автозаказ лекарств</vt:lpstr>
      <vt:lpstr>Электронные рецепты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Исследование пользовательского опыта онлайн-покупки лекарств</dc:title>
  <dc:creator>Софья Зименкова</dc:creator>
  <cp:lastModifiedBy>Софья Зименкова</cp:lastModifiedBy>
  <cp:revision>1</cp:revision>
  <dcterms:created xsi:type="dcterms:W3CDTF">2025-11-09T21:02:55Z</dcterms:created>
  <dcterms:modified xsi:type="dcterms:W3CDTF">2025-11-09T21:39:15Z</dcterms:modified>
</cp:coreProperties>
</file>